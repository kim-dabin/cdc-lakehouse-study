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aaec2f865d486f" /><Relationship Type="http://schemas.openxmlformats.org/officeDocument/2006/relationships/extended-properties" Target="/docProps/app.xml" Id="R76e414f3143446e6" /><Relationship Type="http://schemas.openxmlformats.org/officeDocument/2006/relationships/officeDocument" Target="/ppt/presentation.xml" Id="R68e1c123b9bc463a" /></Relationships>
</file>

<file path=ppt/presentation.xml><?xml version="1.0" encoding="utf-8"?>
<p:presentation xmlns:p="http://schemas.openxmlformats.org/presentationml/2006/main">
  <p:sldMasterIdLst>
    <p:sldMasterId xmlns:r="http://schemas.openxmlformats.org/officeDocument/2006/relationships" id="2147483648" r:id="R558cbe26f0654082"/>
  </p:sldMasterIdLst>
  <p:notesMasterIdLst>
    <p:notesMasterId xmlns:r="http://schemas.openxmlformats.org/officeDocument/2006/relationships" r:id="Rc3c581dca2474315"/>
  </p:notesMasterIdLst>
  <p:sldIdLst>
    <p:sldId xmlns:r="http://schemas.openxmlformats.org/officeDocument/2006/relationships" id="256" r:id="R07c1124e31a54098"/>
    <p:sldId xmlns:r="http://schemas.openxmlformats.org/officeDocument/2006/relationships" id="257" r:id="Racf4d980b8f74d44"/>
    <p:sldId xmlns:r="http://schemas.openxmlformats.org/officeDocument/2006/relationships" id="258" r:id="R9479f6039dd6481d"/>
    <p:sldId xmlns:r="http://schemas.openxmlformats.org/officeDocument/2006/relationships" id="259" r:id="Re97fd6a18ebd4846"/>
    <p:sldId xmlns:r="http://schemas.openxmlformats.org/officeDocument/2006/relationships" id="260" r:id="Rb8d8fcc82d6844c8"/>
    <p:sldId xmlns:r="http://schemas.openxmlformats.org/officeDocument/2006/relationships" id="261" r:id="R89b77c0cd0514591"/>
    <p:sldId xmlns:r="http://schemas.openxmlformats.org/officeDocument/2006/relationships" id="262" r:id="Rc951f17b91ee43ab"/>
    <p:sldId xmlns:r="http://schemas.openxmlformats.org/officeDocument/2006/relationships" id="263" r:id="R540a075daa7e4292"/>
    <p:sldId xmlns:r="http://schemas.openxmlformats.org/officeDocument/2006/relationships" id="264" r:id="Ra91d2bc389a94a03"/>
    <p:sldId xmlns:r="http://schemas.openxmlformats.org/officeDocument/2006/relationships" id="265" r:id="R0f76d3c9b4524707"/>
    <p:sldId xmlns:r="http://schemas.openxmlformats.org/officeDocument/2006/relationships" id="266" r:id="R5c2b5bc1b8904b82"/>
    <p:sldId xmlns:r="http://schemas.openxmlformats.org/officeDocument/2006/relationships" id="267" r:id="Rc5519ea9a0a84946"/>
    <p:sldId xmlns:r="http://schemas.openxmlformats.org/officeDocument/2006/relationships" id="268" r:id="R4594bb13f4eb4310"/>
    <p:sldId xmlns:r="http://schemas.openxmlformats.org/officeDocument/2006/relationships" id="269" r:id="Rfc426071982341e0"/>
    <p:sldId xmlns:r="http://schemas.openxmlformats.org/officeDocument/2006/relationships" id="270" r:id="R1a9f630fbfc04edc"/>
    <p:sldId xmlns:r="http://schemas.openxmlformats.org/officeDocument/2006/relationships" id="271" r:id="Rb049b71a21484ba3"/>
    <p:sldId xmlns:r="http://schemas.openxmlformats.org/officeDocument/2006/relationships" id="272" r:id="R56c47d136d8a44aa"/>
    <p:sldId xmlns:r="http://schemas.openxmlformats.org/officeDocument/2006/relationships" id="273" r:id="R5971ba9196db447b"/>
    <p:sldId xmlns:r="http://schemas.openxmlformats.org/officeDocument/2006/relationships" id="274" r:id="R72a3ee18b98b4aa7"/>
    <p:sldId xmlns:r="http://schemas.openxmlformats.org/officeDocument/2006/relationships" id="275" r:id="Rc4570a0e3bcc4acb"/>
    <p:sldId xmlns:r="http://schemas.openxmlformats.org/officeDocument/2006/relationships" id="276" r:id="Rae5bc63e623048a1"/>
    <p:sldId xmlns:r="http://schemas.openxmlformats.org/officeDocument/2006/relationships" id="277" r:id="R27c6263f5655470d"/>
    <p:sldId xmlns:r="http://schemas.openxmlformats.org/officeDocument/2006/relationships" id="278" r:id="R998f83be18904fad"/>
    <p:sldId xmlns:r="http://schemas.openxmlformats.org/officeDocument/2006/relationships" id="279" r:id="R06e0c9cff20045c9"/>
    <p:sldId xmlns:r="http://schemas.openxmlformats.org/officeDocument/2006/relationships" id="280" r:id="R81a1fd841a314fd1"/>
    <p:sldId xmlns:r="http://schemas.openxmlformats.org/officeDocument/2006/relationships" id="281" r:id="Rb79ed464512f4615"/>
    <p:sldId xmlns:r="http://schemas.openxmlformats.org/officeDocument/2006/relationships" id="282" r:id="R8204a416726044d5"/>
    <p:sldId xmlns:r="http://schemas.openxmlformats.org/officeDocument/2006/relationships" id="283" r:id="Re807f328e56d4bc5"/>
    <p:sldId xmlns:r="http://schemas.openxmlformats.org/officeDocument/2006/relationships" id="284" r:id="Rfc6cf428b0914c38"/>
    <p:sldId xmlns:r="http://schemas.openxmlformats.org/officeDocument/2006/relationships" id="285" r:id="R9f552a4f52cd46ae"/>
    <p:sldId xmlns:r="http://schemas.openxmlformats.org/officeDocument/2006/relationships" id="286" r:id="Rd6d5671d55e6481d"/>
    <p:sldId xmlns:r="http://schemas.openxmlformats.org/officeDocument/2006/relationships" id="287" r:id="R2c357bd54b274559"/>
    <p:sldId xmlns:r="http://schemas.openxmlformats.org/officeDocument/2006/relationships" id="288" r:id="R4165c3e5982e46f1"/>
    <p:sldId xmlns:r="http://schemas.openxmlformats.org/officeDocument/2006/relationships" id="289" r:id="R8ac9f22736ca4e2a"/>
    <p:sldId xmlns:r="http://schemas.openxmlformats.org/officeDocument/2006/relationships" id="290" r:id="R1794674754864910"/>
    <p:sldId xmlns:r="http://schemas.openxmlformats.org/officeDocument/2006/relationships" id="291" r:id="Rf38d77c217474ff4"/>
    <p:sldId xmlns:r="http://schemas.openxmlformats.org/officeDocument/2006/relationships" id="292" r:id="Rf60e52e3731748dc"/>
    <p:sldId xmlns:r="http://schemas.openxmlformats.org/officeDocument/2006/relationships" id="293" r:id="R15e176d64a6c4870"/>
    <p:sldId xmlns:r="http://schemas.openxmlformats.org/officeDocument/2006/relationships" id="294" r:id="R933c076b771f4f3a"/>
    <p:sldId xmlns:r="http://schemas.openxmlformats.org/officeDocument/2006/relationships" id="295" r:id="Ra788a63671e44a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c6f45284454ee1" /><Relationship Type="http://schemas.openxmlformats.org/officeDocument/2006/relationships/slideMaster" Target="/ppt/slideMasters/slideMaster1.xml" Id="R558cbe26f0654082" /><Relationship Type="http://schemas.openxmlformats.org/officeDocument/2006/relationships/notesMaster" Target="/ppt/notesMasters/notesMaster1.xml" Id="Rc3c581dca2474315" /><Relationship Type="http://schemas.openxmlformats.org/officeDocument/2006/relationships/presProps" Target="/ppt/presProps.xml" Id="Ra107d077f8414b73" /><Relationship Type="http://schemas.openxmlformats.org/officeDocument/2006/relationships/tableStyles" Target="/ppt/tableStyles.xml" Id="Rf85a691a5dc14114" /><Relationship Type="http://schemas.openxmlformats.org/officeDocument/2006/relationships/slide" Target="/ppt/slides/slide1.xml" Id="R07c1124e31a54098" /><Relationship Type="http://schemas.openxmlformats.org/officeDocument/2006/relationships/slide" Target="/ppt/slides/slide2.xml" Id="Racf4d980b8f74d44" /><Relationship Type="http://schemas.openxmlformats.org/officeDocument/2006/relationships/slide" Target="/ppt/slides/slide3.xml" Id="R9479f6039dd6481d" /><Relationship Type="http://schemas.openxmlformats.org/officeDocument/2006/relationships/slide" Target="/ppt/slides/slide4.xml" Id="Re97fd6a18ebd4846" /><Relationship Type="http://schemas.openxmlformats.org/officeDocument/2006/relationships/slide" Target="/ppt/slides/slide5.xml" Id="Rb8d8fcc82d6844c8" /><Relationship Type="http://schemas.openxmlformats.org/officeDocument/2006/relationships/slide" Target="/ppt/slides/slide6.xml" Id="R89b77c0cd0514591" /><Relationship Type="http://schemas.openxmlformats.org/officeDocument/2006/relationships/slide" Target="/ppt/slides/slide7.xml" Id="Rc951f17b91ee43ab" /><Relationship Type="http://schemas.openxmlformats.org/officeDocument/2006/relationships/slide" Target="/ppt/slides/slide8.xml" Id="R540a075daa7e4292" /><Relationship Type="http://schemas.openxmlformats.org/officeDocument/2006/relationships/slide" Target="/ppt/slides/slide9.xml" Id="Ra91d2bc389a94a03" /><Relationship Type="http://schemas.openxmlformats.org/officeDocument/2006/relationships/slide" Target="/ppt/slides/slide10.xml" Id="R0f76d3c9b4524707" /><Relationship Type="http://schemas.openxmlformats.org/officeDocument/2006/relationships/slide" Target="/ppt/slides/slide11.xml" Id="R5c2b5bc1b8904b82" /><Relationship Type="http://schemas.openxmlformats.org/officeDocument/2006/relationships/slide" Target="/ppt/slides/slide12.xml" Id="Rc5519ea9a0a84946" /><Relationship Type="http://schemas.openxmlformats.org/officeDocument/2006/relationships/slide" Target="/ppt/slides/slide13.xml" Id="R4594bb13f4eb4310" /><Relationship Type="http://schemas.openxmlformats.org/officeDocument/2006/relationships/slide" Target="/ppt/slides/slide14.xml" Id="Rfc426071982341e0" /><Relationship Type="http://schemas.openxmlformats.org/officeDocument/2006/relationships/slide" Target="/ppt/slides/slide15.xml" Id="R1a9f630fbfc04edc" /><Relationship Type="http://schemas.openxmlformats.org/officeDocument/2006/relationships/slide" Target="/ppt/slides/slide16.xml" Id="Rb049b71a21484ba3" /><Relationship Type="http://schemas.openxmlformats.org/officeDocument/2006/relationships/slide" Target="/ppt/slides/slide17.xml" Id="R56c47d136d8a44aa" /><Relationship Type="http://schemas.openxmlformats.org/officeDocument/2006/relationships/slide" Target="/ppt/slides/slide18.xml" Id="R5971ba9196db447b" /><Relationship Type="http://schemas.openxmlformats.org/officeDocument/2006/relationships/slide" Target="/ppt/slides/slide19.xml" Id="R72a3ee18b98b4aa7" /><Relationship Type="http://schemas.openxmlformats.org/officeDocument/2006/relationships/slide" Target="/ppt/slides/slide20.xml" Id="Rc4570a0e3bcc4acb" /><Relationship Type="http://schemas.openxmlformats.org/officeDocument/2006/relationships/slide" Target="/ppt/slides/slide21.xml" Id="Rae5bc63e623048a1" /><Relationship Type="http://schemas.openxmlformats.org/officeDocument/2006/relationships/slide" Target="/ppt/slides/slide22.xml" Id="R27c6263f5655470d" /><Relationship Type="http://schemas.openxmlformats.org/officeDocument/2006/relationships/slide" Target="/ppt/slides/slide23.xml" Id="R998f83be18904fad" /><Relationship Type="http://schemas.openxmlformats.org/officeDocument/2006/relationships/slide" Target="/ppt/slides/slide24.xml" Id="R06e0c9cff20045c9" /><Relationship Type="http://schemas.openxmlformats.org/officeDocument/2006/relationships/slide" Target="/ppt/slides/slide25.xml" Id="R81a1fd841a314fd1" /><Relationship Type="http://schemas.openxmlformats.org/officeDocument/2006/relationships/slide" Target="/ppt/slides/slide26.xml" Id="Rb79ed464512f4615" /><Relationship Type="http://schemas.openxmlformats.org/officeDocument/2006/relationships/slide" Target="/ppt/slides/slide27.xml" Id="R8204a416726044d5" /><Relationship Type="http://schemas.openxmlformats.org/officeDocument/2006/relationships/slide" Target="/ppt/slides/slide28.xml" Id="Re807f328e56d4bc5" /><Relationship Type="http://schemas.openxmlformats.org/officeDocument/2006/relationships/slide" Target="/ppt/slides/slide29.xml" Id="Rfc6cf428b0914c38" /><Relationship Type="http://schemas.openxmlformats.org/officeDocument/2006/relationships/slide" Target="/ppt/slides/slide30.xml" Id="R9f552a4f52cd46ae" /><Relationship Type="http://schemas.openxmlformats.org/officeDocument/2006/relationships/slide" Target="/ppt/slides/slide31.xml" Id="Rd6d5671d55e6481d" /><Relationship Type="http://schemas.openxmlformats.org/officeDocument/2006/relationships/slide" Target="/ppt/slides/slide32.xml" Id="R2c357bd54b274559" /><Relationship Type="http://schemas.openxmlformats.org/officeDocument/2006/relationships/slide" Target="/ppt/slides/slide33.xml" Id="R4165c3e5982e46f1" /><Relationship Type="http://schemas.openxmlformats.org/officeDocument/2006/relationships/slide" Target="/ppt/slides/slide34.xml" Id="R8ac9f22736ca4e2a" /><Relationship Type="http://schemas.openxmlformats.org/officeDocument/2006/relationships/slide" Target="/ppt/slides/slide35.xml" Id="R1794674754864910" /><Relationship Type="http://schemas.openxmlformats.org/officeDocument/2006/relationships/slide" Target="/ppt/slides/slide36.xml" Id="Rf38d77c217474ff4" /><Relationship Type="http://schemas.openxmlformats.org/officeDocument/2006/relationships/slide" Target="/ppt/slides/slide37.xml" Id="Rf60e52e3731748dc" /><Relationship Type="http://schemas.openxmlformats.org/officeDocument/2006/relationships/slide" Target="/ppt/slides/slide38.xml" Id="R15e176d64a6c4870" /><Relationship Type="http://schemas.openxmlformats.org/officeDocument/2006/relationships/slide" Target="/ppt/slides/slide39.xml" Id="R933c076b771f4f3a" /><Relationship Type="http://schemas.openxmlformats.org/officeDocument/2006/relationships/slide" Target="/ppt/slides/slide40.xml" Id="Ra788a63671e44a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21b91f1ce248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4858b9c96f43be" /><Relationship Type="http://schemas.openxmlformats.org/officeDocument/2006/relationships/notesMaster" Target="/ppt/notesMasters/notesMaster1.xml" Id="Rbae0717ba45f44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ff1f47df584bbe" /><Relationship Type="http://schemas.openxmlformats.org/officeDocument/2006/relationships/notesMaster" Target="/ppt/notesMasters/notesMaster1.xml" Id="R2d4d140ef96e47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b89ba76c1f49bb" /><Relationship Type="http://schemas.openxmlformats.org/officeDocument/2006/relationships/notesMaster" Target="/ppt/notesMasters/notesMaster1.xml" Id="Rac894a139acc4b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3192b82a714eb0" /><Relationship Type="http://schemas.openxmlformats.org/officeDocument/2006/relationships/notesMaster" Target="/ppt/notesMasters/notesMaster1.xml" Id="R4c1c68e1ec4244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080c0de205e4992" /><Relationship Type="http://schemas.openxmlformats.org/officeDocument/2006/relationships/notesMaster" Target="/ppt/notesMasters/notesMaster1.xml" Id="R55899cb070034e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4724173c0540bd" /><Relationship Type="http://schemas.openxmlformats.org/officeDocument/2006/relationships/notesMaster" Target="/ppt/notesMasters/notesMaster1.xml" Id="R847066cc3af045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2a0e5cfd8147c1" /><Relationship Type="http://schemas.openxmlformats.org/officeDocument/2006/relationships/notesMaster" Target="/ppt/notesMasters/notesMaster1.xml" Id="Ra2e98780117a437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bf9b8072154b44" /><Relationship Type="http://schemas.openxmlformats.org/officeDocument/2006/relationships/notesMaster" Target="/ppt/notesMasters/notesMaster1.xml" Id="R2ff33e51639a42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fbbe51cc6242d8" /><Relationship Type="http://schemas.openxmlformats.org/officeDocument/2006/relationships/notesMaster" Target="/ppt/notesMasters/notesMaster1.xml" Id="R8501e32d1e614f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db4948fbd34aae" /><Relationship Type="http://schemas.openxmlformats.org/officeDocument/2006/relationships/notesMaster" Target="/ppt/notesMasters/notesMaster1.xml" Id="Rb83be3849e8547a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a3db888ae94ce6" /><Relationship Type="http://schemas.openxmlformats.org/officeDocument/2006/relationships/notesMaster" Target="/ppt/notesMasters/notesMaster1.xml" Id="Rc5a6dbbbd5404c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341cf62c284df4" /><Relationship Type="http://schemas.openxmlformats.org/officeDocument/2006/relationships/notesMaster" Target="/ppt/notesMasters/notesMaster1.xml" Id="R5c9e0a407f714c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3646ba9e9c4cb6" /><Relationship Type="http://schemas.openxmlformats.org/officeDocument/2006/relationships/notesMaster" Target="/ppt/notesMasters/notesMaster1.xml" Id="R0a734503cb554f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78c0e166b54feb" /><Relationship Type="http://schemas.openxmlformats.org/officeDocument/2006/relationships/notesMaster" Target="/ppt/notesMasters/notesMaster1.xml" Id="R26807bd02d944b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f746e762164032" /><Relationship Type="http://schemas.openxmlformats.org/officeDocument/2006/relationships/notesMaster" Target="/ppt/notesMasters/notesMaster1.xml" Id="R8d84b7d1ed36422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a7c6e341d9a41ea" /><Relationship Type="http://schemas.openxmlformats.org/officeDocument/2006/relationships/notesMaster" Target="/ppt/notesMasters/notesMaster1.xml" Id="R7395a5ad480e4fd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b272e469cae4fa8" /><Relationship Type="http://schemas.openxmlformats.org/officeDocument/2006/relationships/notesMaster" Target="/ppt/notesMasters/notesMaster1.xml" Id="R33fbef5931ef466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a2c3fafc3c6473e" /><Relationship Type="http://schemas.openxmlformats.org/officeDocument/2006/relationships/notesMaster" Target="/ppt/notesMasters/notesMaster1.xml" Id="R60054dbf437e4d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997456569249d2" /><Relationship Type="http://schemas.openxmlformats.org/officeDocument/2006/relationships/notesMaster" Target="/ppt/notesMasters/notesMaster1.xml" Id="R32071d62d8204f4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6b609bee0d425e" /><Relationship Type="http://schemas.openxmlformats.org/officeDocument/2006/relationships/notesMaster" Target="/ppt/notesMasters/notesMaster1.xml" Id="R1bc1be4239ca42f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46639b01b64a18" /><Relationship Type="http://schemas.openxmlformats.org/officeDocument/2006/relationships/notesMaster" Target="/ppt/notesMasters/notesMaster1.xml" Id="R64e8d93de04747a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c74e7da4ddc41d7" /><Relationship Type="http://schemas.openxmlformats.org/officeDocument/2006/relationships/notesMaster" Target="/ppt/notesMasters/notesMaster1.xml" Id="R5f657db3a38649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9b8b5563fa34be4" /><Relationship Type="http://schemas.openxmlformats.org/officeDocument/2006/relationships/notesMaster" Target="/ppt/notesMasters/notesMaster1.xml" Id="R65d3ec90abdf4e2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2ffec5558b54fd2" /><Relationship Type="http://schemas.openxmlformats.org/officeDocument/2006/relationships/notesMaster" Target="/ppt/notesMasters/notesMaster1.xml" Id="R5dc03b276e5d4a8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410fa124e4540bb" /><Relationship Type="http://schemas.openxmlformats.org/officeDocument/2006/relationships/notesMaster" Target="/ppt/notesMasters/notesMaster1.xml" Id="R07b93ca4dabd48b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c10d350e9824237" /><Relationship Type="http://schemas.openxmlformats.org/officeDocument/2006/relationships/notesMaster" Target="/ppt/notesMasters/notesMaster1.xml" Id="Rff894be445e547c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fcd78b1c7884c5f" /><Relationship Type="http://schemas.openxmlformats.org/officeDocument/2006/relationships/notesMaster" Target="/ppt/notesMasters/notesMaster1.xml" Id="R8a68f6607cdb436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ecdd135a8a049a3" /><Relationship Type="http://schemas.openxmlformats.org/officeDocument/2006/relationships/notesMaster" Target="/ppt/notesMasters/notesMaster1.xml" Id="Rc89c4ccf093840d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17a0c8506a24cd3" /><Relationship Type="http://schemas.openxmlformats.org/officeDocument/2006/relationships/notesMaster" Target="/ppt/notesMasters/notesMaster1.xml" Id="R2b616528205b4cf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67d9a8e88ca48ff" /><Relationship Type="http://schemas.openxmlformats.org/officeDocument/2006/relationships/notesMaster" Target="/ppt/notesMasters/notesMaster1.xml" Id="Rd61a49d8c0d14a9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3e318af007346cc" /><Relationship Type="http://schemas.openxmlformats.org/officeDocument/2006/relationships/notesMaster" Target="/ppt/notesMasters/notesMaster1.xml" Id="Rb8b5537e5dbd413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0e14bfa0fbc42b7" /><Relationship Type="http://schemas.openxmlformats.org/officeDocument/2006/relationships/notesMaster" Target="/ppt/notesMasters/notesMaster1.xml" Id="R3bb31da2bb88436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ac316f61d4546f3" /><Relationship Type="http://schemas.openxmlformats.org/officeDocument/2006/relationships/notesMaster" Target="/ppt/notesMasters/notesMaster1.xml" Id="Rdcfde88092fe4ac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d742185d87f4e2e" /><Relationship Type="http://schemas.openxmlformats.org/officeDocument/2006/relationships/notesMaster" Target="/ppt/notesMasters/notesMaster1.xml" Id="Rab16b919c2804f1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f98536688144015" /><Relationship Type="http://schemas.openxmlformats.org/officeDocument/2006/relationships/notesMaster" Target="/ppt/notesMasters/notesMaster1.xml" Id="R581203c45d0a4b6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8c8ebd28dc54fac" /><Relationship Type="http://schemas.openxmlformats.org/officeDocument/2006/relationships/notesMaster" Target="/ppt/notesMasters/notesMaster1.xml" Id="Rc6fbc31c5f00430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3518c8ceb894f8f" /><Relationship Type="http://schemas.openxmlformats.org/officeDocument/2006/relationships/notesMaster" Target="/ppt/notesMasters/notesMaster1.xml" Id="R6e3637ad50934b7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2cae4a54f564784" /><Relationship Type="http://schemas.openxmlformats.org/officeDocument/2006/relationships/notesMaster" Target="/ppt/notesMasters/notesMaster1.xml" Id="R46d420f4cd0d448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048f1020e6e4e64" /><Relationship Type="http://schemas.openxmlformats.org/officeDocument/2006/relationships/notesMaster" Target="/ppt/notesMasters/notesMaster1.xml" Id="Rba7ab04bec9d46d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0e16c7b39114c16" /><Relationship Type="http://schemas.openxmlformats.org/officeDocument/2006/relationships/notesMaster" Target="/ppt/notesMasters/notesMaster1.xml" Id="R64e243c441424a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00:00–00:02</a:t>
            </a:r>
          </a:p>
          <a:p xmlns:a="http://schemas.openxmlformats.org/drawingml/2006/main">
            <a:r>
              <a:t>정규 과정에서 배운 Kafka, Spark, Docker 등을 재설치하는 수업이 아니다. 오늘은 변경 데이터가 지표가 되는 과정과 자기 프로젝트의 첫 설계를 만든다.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00:02–00:04</a:t>
            </a:r>
          </a:p>
          <a:p xmlns:a="http://schemas.openxmlformats.org/drawingml/2006/main">
            <a:r>
              <a:t>학생이 제출할 두 파일을 안내한다. student-worksheet.sql과 submission.md. 프로젝트 발표는 8회 스터디 이후 별도 일정.</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00:04–00:05</a:t>
            </a:r>
          </a:p>
          <a:p xmlns:a="http://schemas.openxmlformats.org/drawingml/2006/main">
            <a:r>
              <a:t>각 구간의 시간을 지킨다. 서버 준비는 수업 전에 마친다. 개인 설계 25분을 확보한다.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00:05–00:08</a:t>
            </a:r>
          </a:p>
          <a:p xmlns:a="http://schemas.openxmlformats.org/drawingml/2006/main">
            <a:r>
              <a:t>채팅으로 예상값을 받는다. 정답 80,000원. 어느 계층을 조회해야 할지 질문한다. 오늘 예제는 회계상 매출이 아니라 순결제액이다.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00:08–00:10</a:t>
            </a:r>
          </a:p>
          <a:p xmlns:a="http://schemas.openxmlformats.org/drawingml/2006/main">
            <a:r>
              <a:t>실시간의 기준을 0초로 약속하지 않는다. 취소 추이와 다음 날 정산의 요구가 다름을 토론한다. 오늘 수집은 스트리밍이고 Silver/Gold는 수동 갱신이므로 지표가 잠시 과거 값임을 예고한다.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00:10–00:25</a:t>
            </a:r>
          </a:p>
          <a:p xmlns:a="http://schemas.openxmlformats.org/drawingml/2006/main">
            <a:r>
              <a:t>전체 그림을 보여주며 경로를 한 번 훑는다. Bronze는 CDC 원문 append 이력. Flink upsert로 현재 상태를 직접 만드는 구조가 아니다. dbt-spark가 Spark Thrift를 통해 SQL을 실행한다. 원본: docs/diagrams/01-data-flow.drawio.</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00:10–00:25</a:t>
            </a:r>
          </a:p>
          <a:p xmlns:a="http://schemas.openxmlformats.org/drawingml/2006/main">
            <a:r>
              <a:t>학생에게 UPDATE 이전 값이 어디에 남는지 묻는다. Silver의 중복 제거와 LSN/offset 순서, 삭제 표시는 후속 회차 구현 주제다.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00:10–00:25</a:t>
            </a:r>
          </a:p>
          <a:p xmlns:a="http://schemas.openxmlformats.org/drawingml/2006/main">
            <a:r>
              <a:t>MinIO는 수업의 S3 호환 저장소. 데이터 파일뿐 아니라 Iceberg metadata/manifest 파일도 저장한다. Catalog PostgreSQL은 별도 서비스이며 현재 metadata 파일 위치 등을 관리한다. Flink state volume은 Iceberg 테이블 저장소와 별개. 원본: docs/diagrams/02-storage-metadata.drawio.</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00:10–00:25</a:t>
            </a:r>
          </a:p>
          <a:p xmlns:a="http://schemas.openxmlformats.org/drawingml/2006/main">
            <a:r>
              <a:t>Mac mini macOS와 Lima Linux VM은 같은 물리 장비 안의 두 경계다. GitHub는 코드와 실습 자료를 저장한다. 런타임 데이터는 VM 볼륨에 남는다. Airflow는 1회차 중지. 학생은 SSH나 서버 설치 없이 자료를 작성한다. 원본: docs/diagrams/03-runtime.drawio.</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00:10–00:25</a:t>
            </a:r>
          </a:p>
          <a:p xmlns:a="http://schemas.openxmlformats.org/drawingml/2006/main">
            <a:r>
              <a:t>세 장 설명과 이 슬라이드까지 총 15분. RUNNING 상태만으로 결과를 판단하지 않는다. Airflow를 이후 회차에 연결해 주기 실행하며 현재 계획은 5분 간격이다. 질문: 원천이 바뀌었는데 Gold가 그대로면 어디를 확인할까?</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00:25–00:30</a:t>
            </a:r>
          </a:p>
          <a:p xmlns:a="http://schemas.openxmlformats.org/drawingml/2006/main">
            <a:r>
              <a:t>주문에 결제 여러 건, 결제에 환불 여러 건이 가능하다. 수정 대상은 PK로 찾는다. 학생에게 FK를 따라 환불이 어느 주문으로 연결되는지 설명하게 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00:30–00:35</a:t>
            </a:r>
          </a:p>
          <a:p xmlns:a="http://schemas.openxmlformats.org/drawingml/2006/main">
            <a:r>
              <a:t>테스트 날짜는 합성 데이터로 강의 일정과 관계 없다. 회계상 매출이나 환불 발생일 집계로 부르지 않는다. success 상태의 결제와 환불만 포함하며 실패 건은 제외한다. 학생 설계에도 기준 시각과 포함 상태를 기록하게 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00:35–00:38</a:t>
            </a:r>
          </a:p>
          <a:p xmlns:a="http://schemas.openxmlformats.org/drawingml/2006/main">
            <a:r>
              <a:t>GitHub labs/session01에서 두 파일을 받아 개인 폴더에 복사한다. 학생에게 저장소 접근 권한이 없으면 강사가 파일을 미리 배포한다. 학생 SQL 자동 실행이나 공용 저장소 직접 push를 요구하지 않는다.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00:38–00:42</a:t>
            </a:r>
          </a:p>
          <a:p xmlns:a="http://schemas.openxmlformats.org/drawingml/2006/main">
            <a:r>
              <a:t>학생 작성 시간. ID와 FK가 같은 주문을 가리키는지 확인한다. 예제 날짜는 테스트 값. 서버 실행은 강사 파일과 별도 CASE_ID로 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00:42–00:45</a:t>
            </a:r>
          </a:p>
          <a:p xmlns:a="http://schemas.openxmlformats.org/drawingml/2006/main">
            <a:r>
              <a:t>답 80,000원과 70,000원. WHERE 빠진 SQL은 전체 행을 수정하므로 자기 키를 명시하게 한다. 같은 환불의 정정이므로 20,000+30,000으로 더하지 않는다.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00:45–00:50</a:t>
            </a:r>
          </a:p>
          <a:p xmlns:a="http://schemas.openxmlformats.org/drawingml/2006/main">
            <a:r>
              <a:t>5분 동안 SELECT 초안을 작성하고 1–2개 답안을 확인한다. 직접 1:N JOIN 후 SUM하면 결제액이 환불 건수만큼 늘 수 있다. 시간이 부족하면 부록 정답을 읽고 숙제로 다시 작성한다.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00:50–00:54</a:t>
            </a:r>
          </a:p>
          <a:p xmlns:a="http://schemas.openxmlformats.org/drawingml/2006/main">
            <a:r>
              <a:t>맥미니에서 CASE_ID는 매 회차 새 값. 실행 순서: payment, source, wait --event payment, bronze, refresh, check --expected 100000 --evidence. SQL 원문을 먼저 보여준다. 대기 중 학생 원천 SELECT를 검토한다. 상세 명령은 부록과 runbook.md.</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00:54–00:56</a:t>
            </a:r>
          </a:p>
          <a:p xmlns:a="http://schemas.openxmlformats.org/drawingml/2006/main">
            <a:r>
              <a:t>bronze 출력에서 실제 필드를 가리킨다. payment 이벤트가 보였다고 Gold 갱신까지 완료됐다고 말하지 않는다. Debezium 초기 snapshot의 r은 이후 회차에 다룬다.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00:56–00:59</a:t>
            </a:r>
          </a:p>
          <a:p xmlns:a="http://schemas.openxmlformats.org/drawingml/2006/main">
            <a:r>
              <a:t>refund, wait --event refund, bronze, layers 순서. 이 단계에서 refresh를 먼저 실행하면 의도한 차이가 사라진다. Airflow가 중지되어 있어야 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00:59–01:02</a:t>
            </a:r>
          </a:p>
          <a:p xmlns:a="http://schemas.openxmlformats.org/drawingml/2006/main">
            <a:r>
              <a:t>먼저 layers에서 80,000/100,000을 관찰하고 refresh와 check --expected 80000 --evidence 실행. 이는 시나리오 기대값 표다. 실제 결과는 학생 관찰표에 별도로 작성. 2026-10-14 리허설에서도 동일 상태를 확인했다. 출처 labs/session01/rehearsal.md.</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01:02–01:05</a:t>
            </a:r>
          </a:p>
          <a:p xmlns:a="http://schemas.openxmlformats.org/drawingml/2006/main">
            <a:r>
              <a:t>학생 가이드 관찰표를 채우게 한다. 폴링과 조회 시간이 포함된 관찰 지연임을 설명한다. 정밀한 지연 계측은 후속 과제. 결론: downstream refresh 여부를 확인한다.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01:05–01:10</a:t>
            </a:r>
          </a:p>
          <a:p xmlns:a="http://schemas.openxmlformats.org/drawingml/2006/main">
            <a:r>
              <a:t>슬라이드 유지. 전체 120분에 휴식 포함. 삭제 예고는 선택 부록이며 핵심 시간을 줄이지 않는다.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01:10–01:14</a:t>
            </a:r>
          </a:p>
          <a:p xmlns:a="http://schemas.openxmlformats.org/drawingml/2006/main">
            <a:r>
              <a:t>학생 예상값을 받은 뒤 실제 강사용 namespace SQL 실행. correction, wait --event correction, bronze 순서. 위 SQL은 개념 설명용 학생 ID이며 강사 helper가 자신의 CASE_ID를 사용한다.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01:14–01:18</a:t>
            </a:r>
          </a:p>
          <a:p xmlns:a="http://schemas.openxmlformats.org/drawingml/2006/main">
            <a:r>
              <a:t>Bronze에서 이력을 보여주고 refresh, check --expected 70000 --evidence. Silver가 동일 키 한 행인지 확인한다. source-answer로 원천 결과와 비교한다.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01:18–01:21</a:t>
            </a:r>
          </a:p>
          <a:p xmlns:a="http://schemas.openxmlformats.org/drawingml/2006/main">
            <a:r>
              <a:t>20,000원 환불과 새 30,000원 환불이라면 50,000원이지만 이번은 같은 행 정정이므로 70,000원. 학생 관찰표의 마지막 행을 완성한다.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01:21–01:25</a:t>
            </a:r>
          </a:p>
          <a:p xmlns:a="http://schemas.openxmlformats.org/drawingml/2006/main">
            <a:r>
              <a:t>학생 한두 명에게 설명 요청. 답 Bronze 이력, Silver 현재 상태, Gold 실제 조회와 원천 대조. 서버 상태만으로 판단하지 않는 습관을 연결한다.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01:25–01:28</a:t>
            </a:r>
          </a:p>
          <a:p xmlns:a="http://schemas.openxmlformats.org/drawingml/2006/main">
            <a:r>
              <a:t>이 슬라이드 안내 3분 + 학생 작성 22분으로 전체25분. 강사는 작성 동안 피드백한다. 결제 예제를 그대로 따라야 하는 공통 프로젝트가 아니다.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01:28–01:33</a:t>
            </a:r>
          </a:p>
          <a:p xmlns:a="http://schemas.openxmlformats.org/drawingml/2006/main">
            <a:r>
              <a:t>예시는 선택지를 좁히는 용도다. 학생 자신의 도메인으로 설계한다. 지표 사용자가 무슨 결정을 할지, 얼마의 지연을 허용하는지 이유를 쓰게 한다. 5분 사용자·지표 정의.</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01:28–01:33</a:t>
            </a:r>
          </a:p>
          <a:p xmlns:a="http://schemas.openxmlformats.org/drawingml/2006/main">
            <a:r>
              <a:t>앞 슬라이드와 같은 5분 활동에 사용하며 둘을 따로 5분씩 진행하지 않는다. 예: 물류 담당자가 출고 대기 건수를 보고 추가 배차, 5분 이내 반영. 수치는 학생 요구사항 예시다.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01:33–01:41</a:t>
            </a:r>
          </a:p>
          <a:p xmlns:a="http://schemas.openxmlformats.org/drawingml/2006/main">
            <a:r>
              <a:t>8분 학생 설계. 피드백: 상태 변화가 무엇을 의미하는가? 수정된 행을 어떤 키로 찾는가? 새 테이블은 기존 connector가 자동 수집하지 않는다. 이후 회차에서 publication과 connector·모델을 연결한다.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01:41–01:45</a:t>
            </a:r>
          </a:p>
          <a:p xmlns:a="http://schemas.openxmlformats.org/drawingml/2006/main">
            <a:r>
              <a:t>DDL 작성 4분. customer_id 참조 테이블은 설계서에 관계를 적거나 FK를 추가한다. 타임존과 상태값을 명확히 한다. 이 SQL만으로 CDC 수집 설정까지 자동 연결되지 않는다.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01:45–01:50</a:t>
            </a:r>
          </a:p>
          <a:p xmlns:a="http://schemas.openxmlformats.org/drawingml/2006/main">
            <a:r>
              <a:t>5분 기대값 작성. 같은 오늘의 서비스 날짜라는 전제. 학생에게 입력·수정·삭제 시나리오 중 수정 하나를 수업 중 완성하게 한다. 나머지 DML은 다음 회차 전 과제.</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01:50–01:54</a:t>
            </a:r>
          </a:p>
          <a:p xmlns:a="http://schemas.openxmlformats.org/drawingml/2006/main">
            <a:r>
              <a:t>학생 설계 1–2개를 짧게 검토한다. 정식 발표가 아니다. 지표 여러 개·플랫폼 전체 구축으로 범위가 커지면 지표 하나로 좁힌다.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01:54–01:57</a:t>
            </a:r>
          </a:p>
          <a:p xmlns:a="http://schemas.openxmlformats.org/drawingml/2006/main">
            <a:r>
              <a:t>학생이 제출 설계서에 세 문장을 채운다. 답 변경 이력/현재 상태, Bronze 수집과 Silver/Gold refresh, 자기 변경 시나리오. 정답 암기보다 계층별 근거 설명.</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01:57–02:00</a:t>
            </a:r>
          </a:p>
          <a:p xmlns:a="http://schemas.openxmlformats.org/drawingml/2006/main">
            <a:r>
              <a:t>student-worksheet.sql과 submission.md 제출. 제출 채널은 강사 안내에 따르며 없는 링크를 만들지 않는다. 발표는 8회 스터디 뒤 별도 일정. 다음 회차는 원천 모델과 CDC 수집을 프로젝트에 연결.</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수업 전</a:t>
            </a:r>
          </a:p>
          <a:p xmlns:a="http://schemas.openxmlformats.org/drawingml/2006/main">
            <a:r>
              <a:t>수업 전30–45분 확보. ssh mini, cd ~/bootcamp/cdc-lakehouse-study. ./scripts/lab.sh --profile orchestration stop airflow. ./scripts/bootstrap.sh. ./scripts/lab.sh exec -T runner python labs/session01/preflight.py. VM여유2GiB최소,5GiB권장. 종료는 ./scripts/stop.sh. 다른 데모나 전체VM을 중단하지 않는다.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강사 참고</a:t>
            </a:r>
          </a:p>
          <a:p xmlns:a="http://schemas.openxmlformats.org/drawingml/2006/main">
            <a:r>
              <a:t>맥미니 프로젝트 폴더에서 실행. unique는 매 수업 교체. payment 전에 cat labs/session01/sql/01-payment.sql. refund 후 bronze도 확인. refresh전 차이를 반드시 관찰. evidence보관시check에 --evidence.</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강사 참고</a:t>
            </a:r>
          </a:p>
          <a:p xmlns:a="http://schemas.openxmlformats.org/drawingml/2006/main">
            <a:r>
              <a:t>기본 수업 명령으로 충분. DELETE는 선택 예고만. 같은 장애 디버깅이5분 넘으면 실제실행을 중단하고 rehearsal.md의 기록임을 명시해 화면을 보여준다. 학생은 SQL과 설계를 계속한다.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학생 답안 참고</a:t>
            </a:r>
          </a:p>
          <a:p xmlns:a="http://schemas.openxmlformats.org/drawingml/2006/main">
            <a:r>
              <a:t>다음 슬라이드와 하나의 쿼리. 원본 labs/session01/sql/expected-source-query.sql. 학생은 자신의 order_id로 필터. 직접 원천검증 쿼리를 만들어 Gold와 대조한다.</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진행 시간: 학생 답안 참고</a:t>
            </a:r>
          </a:p>
          <a:p xmlns:a="http://schemas.openxmlformats.org/drawingml/2006/main">
            <a:r>
              <a:t>환불없음0, 실패상태제외, 여러결제·환불이 있어도 올바른지 점검한다. 실제 강사 원본은 psql namespace변수를 사용한다. 학생 예시는 평문ID. 수업 시간에 어려우면 숙제로 다시 작성.</a:t>
            </a:r>
          </a:p>
          <a:p xmlns:a="http://schemas.openxmlformats.org/drawingml/2006/main">
            <a:r>
              <a:t>자료: labs/session01/instructor-guide.md, student-guide.md, runbook.md. 화면의 시간은 수업 시작 후 경과 시간입니다.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d977ff521e40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3d8eaba7a443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335df244ac549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bac26eb0044fe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36644abfc846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6bc3417c9a940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DAEE75-77AB-4086-AF47-EF401BCBFB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59DF394-2348-4DCA-B9F7-B9BCA0928D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DABE49-B280-40A8-BB70-AE2AC9CFF2F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74975A-BE6A-4303-AA38-5B54761BD5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D12623-A29B-48A9-A790-B81A6402AB0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7B272D-8FAB-418B-AB1A-61A2E820EF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9A10DE2-47E5-4531-9E88-DEF9FEC6CD9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BA7E89-B67B-43D5-80C4-225C87349A0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52FBC4-E555-4475-B97B-567BC13391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97D390-0A45-40FB-9CAF-C1E5678160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0b431338da4e2f" /><Relationship Type="http://schemas.openxmlformats.org/officeDocument/2006/relationships/slideLayout" Target="/ppt/slideLayouts/slideLayout1.xml" Id="R4bc6eb3572a8481c" /><Relationship Type="http://schemas.openxmlformats.org/officeDocument/2006/relationships/slideLayout" Target="/ppt/slideLayouts/slideLayout2.xml" Id="R71946f402c674362" /><Relationship Type="http://schemas.openxmlformats.org/officeDocument/2006/relationships/slideLayout" Target="/ppt/slideLayouts/slideLayout3.xml" Id="Reda64d5079c94695" /><Relationship Type="http://schemas.openxmlformats.org/officeDocument/2006/relationships/slideLayout" Target="/ppt/slideLayouts/slideLayout4.xml" Id="R316dacc4dafd4226" /><Relationship Type="http://schemas.openxmlformats.org/officeDocument/2006/relationships/slideLayout" Target="/ppt/slideLayouts/slideLayout5.xml" Id="Ra8ba2de47e614e4a" /><Relationship Type="http://schemas.openxmlformats.org/officeDocument/2006/relationships/slideLayout" Target="/ppt/slideLayouts/slideLayout6.xml" Id="R80281786384b4e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c6eb3572a8481c"/>
    <p:sldLayoutId xmlns:r="http://schemas.openxmlformats.org/officeDocument/2006/relationships" id="2147483650" r:id="R71946f402c674362"/>
    <p:sldLayoutId xmlns:r="http://schemas.openxmlformats.org/officeDocument/2006/relationships" id="2147483651" r:id="Reda64d5079c94695"/>
    <p:sldLayoutId xmlns:r="http://schemas.openxmlformats.org/officeDocument/2006/relationships" id="2147483652" r:id="R316dacc4dafd4226"/>
    <p:sldLayoutId xmlns:r="http://schemas.openxmlformats.org/officeDocument/2006/relationships" id="2147483653" r:id="Ra8ba2de47e614e4a"/>
    <p:sldLayoutId xmlns:r="http://schemas.openxmlformats.org/officeDocument/2006/relationships" id="2147483654" r:id="R80281786384b4e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26c09a814b4bbb" /><Relationship Type="http://schemas.openxmlformats.org/officeDocument/2006/relationships/notesSlide" Target="/ppt/notesSlides/notesSlide1.xml" Id="R33c2e70a55a141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3cc253433e4bfb" /><Relationship Type="http://schemas.openxmlformats.org/officeDocument/2006/relationships/notesSlide" Target="/ppt/notesSlides/notesSlide2.xml" Id="R66aad9ac62054a8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cbade078af4186" /><Relationship Type="http://schemas.openxmlformats.org/officeDocument/2006/relationships/notesSlide" Target="/ppt/notesSlides/notesSlide3.xml" Id="R17b16b6303cf4d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e9ad8d936c5495c" /><Relationship Type="http://schemas.openxmlformats.org/officeDocument/2006/relationships/notesSlide" Target="/ppt/notesSlides/notesSlide4.xml" Id="R0c09d640d39e43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dfd58ebe54d4508" /><Relationship Type="http://schemas.openxmlformats.org/officeDocument/2006/relationships/notesSlide" Target="/ppt/notesSlides/notesSlide5.xml" Id="R36aacc5a80604c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cc51210c9ab4382" /><Relationship Type="http://schemas.openxmlformats.org/officeDocument/2006/relationships/image" Target="/ppt/media/image.png" Id="Rf0f1f97806094a65" /><Relationship Type="http://schemas.openxmlformats.org/officeDocument/2006/relationships/notesSlide" Target="/ppt/notesSlides/notesSlide6.xml" Id="Rba3b15faf74a42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0e61580430b4bbb" /><Relationship Type="http://schemas.openxmlformats.org/officeDocument/2006/relationships/notesSlide" Target="/ppt/notesSlides/notesSlide7.xml" Id="Rd192daaac0aa43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d5e22754a74a41" /><Relationship Type="http://schemas.openxmlformats.org/officeDocument/2006/relationships/image" Target="/ppt/media/image2.png" Id="R044470835afb4ce9" /><Relationship Type="http://schemas.openxmlformats.org/officeDocument/2006/relationships/notesSlide" Target="/ppt/notesSlides/notesSlide8.xml" Id="Rc7b5ed0a387941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3361aed1884720" /><Relationship Type="http://schemas.openxmlformats.org/officeDocument/2006/relationships/image" Target="/ppt/media/image3.png" Id="R3ba8df07dfff4ed3" /><Relationship Type="http://schemas.openxmlformats.org/officeDocument/2006/relationships/notesSlide" Target="/ppt/notesSlides/notesSlide9.xml" Id="Rd7c782c93ea647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35e0dc9a5574bb4" /><Relationship Type="http://schemas.openxmlformats.org/officeDocument/2006/relationships/notesSlide" Target="/ppt/notesSlides/notesSlide10.xml" Id="R294edd419aeb4c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44253fb2464d6e" /><Relationship Type="http://schemas.openxmlformats.org/officeDocument/2006/relationships/notesSlide" Target="/ppt/notesSlides/notesSlide11.xml" Id="Rb824183d12cf401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1ffb6d7b36d4844" /><Relationship Type="http://schemas.openxmlformats.org/officeDocument/2006/relationships/notesSlide" Target="/ppt/notesSlides/notesSlide12.xml" Id="R9bfd7dbca8db4ef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c598c3bd8e14e22" /><Relationship Type="http://schemas.openxmlformats.org/officeDocument/2006/relationships/notesSlide" Target="/ppt/notesSlides/notesSlide13.xml" Id="R6ea48d6f510247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e3cb073fea34e88" /><Relationship Type="http://schemas.openxmlformats.org/officeDocument/2006/relationships/notesSlide" Target="/ppt/notesSlides/notesSlide14.xml" Id="Redf17757618a40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09e2d3cd4944c8a" /><Relationship Type="http://schemas.openxmlformats.org/officeDocument/2006/relationships/notesSlide" Target="/ppt/notesSlides/notesSlide15.xml" Id="R7dff0b7c9a3b47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afadbc937ef4c69" /><Relationship Type="http://schemas.openxmlformats.org/officeDocument/2006/relationships/notesSlide" Target="/ppt/notesSlides/notesSlide16.xml" Id="R26a07f3221c942c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1c6bd3236a04e3b" /><Relationship Type="http://schemas.openxmlformats.org/officeDocument/2006/relationships/notesSlide" Target="/ppt/notesSlides/notesSlide17.xml" Id="Rcb113efdd6b44e1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f20aaa7ba5540ce" /><Relationship Type="http://schemas.openxmlformats.org/officeDocument/2006/relationships/notesSlide" Target="/ppt/notesSlides/notesSlide18.xml" Id="Rac756e251861424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ad3ad72284b4f05" /><Relationship Type="http://schemas.openxmlformats.org/officeDocument/2006/relationships/notesSlide" Target="/ppt/notesSlides/notesSlide19.xml" Id="Ra8aed6c09716446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f06fab3775e4d1b" /><Relationship Type="http://schemas.openxmlformats.org/officeDocument/2006/relationships/notesSlide" Target="/ppt/notesSlides/notesSlide20.xml" Id="Raabc31340a394f8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4f770d541c74192" /><Relationship Type="http://schemas.openxmlformats.org/officeDocument/2006/relationships/notesSlide" Target="/ppt/notesSlides/notesSlide21.xml" Id="Rf6cb0b95e0e14a8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bd019bc247b473f" /><Relationship Type="http://schemas.openxmlformats.org/officeDocument/2006/relationships/notesSlide" Target="/ppt/notesSlides/notesSlide22.xml" Id="R4409ddccd8db414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f0a9b557dd3341f3" /><Relationship Type="http://schemas.openxmlformats.org/officeDocument/2006/relationships/notesSlide" Target="/ppt/notesSlides/notesSlide23.xml" Id="Rdebdc86b6e4b472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e61bda071cc4314" /><Relationship Type="http://schemas.openxmlformats.org/officeDocument/2006/relationships/notesSlide" Target="/ppt/notesSlides/notesSlide24.xml" Id="R737dbf7fb20a4a0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c7aa94f83e02462a" /><Relationship Type="http://schemas.openxmlformats.org/officeDocument/2006/relationships/notesSlide" Target="/ppt/notesSlides/notesSlide25.xml" Id="R3065afac64cd425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d6e84f631134eb1" /><Relationship Type="http://schemas.openxmlformats.org/officeDocument/2006/relationships/notesSlide" Target="/ppt/notesSlides/notesSlide26.xml" Id="R26804baad38b4f7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ad0f3ace8644e80" /><Relationship Type="http://schemas.openxmlformats.org/officeDocument/2006/relationships/notesSlide" Target="/ppt/notesSlides/notesSlide27.xml" Id="R716e2eaa85a84c5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98866c4b46848f2" /><Relationship Type="http://schemas.openxmlformats.org/officeDocument/2006/relationships/notesSlide" Target="/ppt/notesSlides/notesSlide28.xml" Id="R1817b3c69e1d4a9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016632947dc403b" /><Relationship Type="http://schemas.openxmlformats.org/officeDocument/2006/relationships/notesSlide" Target="/ppt/notesSlides/notesSlide29.xml" Id="Rdc12d0d9a23c42e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75ee71b4c264fdc" /><Relationship Type="http://schemas.openxmlformats.org/officeDocument/2006/relationships/notesSlide" Target="/ppt/notesSlides/notesSlide30.xml" Id="Refeefe506550421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1750025f8c14377" /><Relationship Type="http://schemas.openxmlformats.org/officeDocument/2006/relationships/notesSlide" Target="/ppt/notesSlides/notesSlide31.xml" Id="R70557fff339b488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f6ff3f4439c4fd2" /><Relationship Type="http://schemas.openxmlformats.org/officeDocument/2006/relationships/notesSlide" Target="/ppt/notesSlides/notesSlide32.xml" Id="Rce51480cb5dc46b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cbf4b1a319e4d8a" /><Relationship Type="http://schemas.openxmlformats.org/officeDocument/2006/relationships/notesSlide" Target="/ppt/notesSlides/notesSlide33.xml" Id="R2dca4209b674470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3fe037343d64adc" /><Relationship Type="http://schemas.openxmlformats.org/officeDocument/2006/relationships/notesSlide" Target="/ppt/notesSlides/notesSlide34.xml" Id="Rad4435f00a6c4f6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cd9bd289d51440c" /><Relationship Type="http://schemas.openxmlformats.org/officeDocument/2006/relationships/notesSlide" Target="/ppt/notesSlides/notesSlide35.xml" Id="R4e80601a5aab44f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55aa90c877e4f68" /><Relationship Type="http://schemas.openxmlformats.org/officeDocument/2006/relationships/notesSlide" Target="/ppt/notesSlides/notesSlide36.xml" Id="Ra96863e80fda41f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0b1e1d5827b48a8" /><Relationship Type="http://schemas.openxmlformats.org/officeDocument/2006/relationships/notesSlide" Target="/ppt/notesSlides/notesSlide37.xml" Id="Rb01e8964a2114a3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5b26fe932f044bc3" /><Relationship Type="http://schemas.openxmlformats.org/officeDocument/2006/relationships/notesSlide" Target="/ppt/notesSlides/notesSlide38.xml" Id="R9a4375a01a02447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2dd2b33cbab41d9" /><Relationship Type="http://schemas.openxmlformats.org/officeDocument/2006/relationships/notesSlide" Target="/ppt/notesSlides/notesSlide39.xml" Id="R0b37c3262b5642a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97710613ce9242cc" /><Relationship Type="http://schemas.openxmlformats.org/officeDocument/2006/relationships/notesSlide" Target="/ppt/notesSlides/notesSlide40.xml" Id="R3e1cc5d6e9a34271" /></Relationships>
</file>

<file path=ppt/slides/slide1.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48D93D-BA87-4FBF-B54B-34BE72D35EBB}"/>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변경 데이터와 분석 마트</a:t>
            </a:r>
          </a:p>
        </p:txBody>
      </p:sp>
      <p:sp>
        <p:nvSpPr>
          <p:cNvPr id="2" name="">
            <a:extLst xmlns:a="http://schemas.openxmlformats.org/drawingml/2006/main">
              <a:ext uri="{FF2B5EF4-FFF2-40B4-BE49-F238E27FC236}">
                <a16:creationId xmlns:a16="http://schemas.microsoft.com/office/drawing/2014/main" id="{157BD656-0C43-45FC-A826-E4DEA7F83039}"/>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00:00–00:02     01</a:t>
            </a:r>
          </a:p>
        </p:txBody>
      </p:sp>
      <p:sp>
        <p:nvSpPr>
          <p:cNvPr id="3" name="">
            <a:extLst xmlns:a="http://schemas.openxmlformats.org/drawingml/2006/main">
              <a:ext uri="{FF2B5EF4-FFF2-40B4-BE49-F238E27FC236}">
                <a16:creationId xmlns:a16="http://schemas.microsoft.com/office/drawing/2014/main" id="{558C1868-1631-4163-B487-AF15C10A2130}"/>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1회차 실무 프로젝트 스터디</a:t>
            </a:r>
          </a:p>
        </p:txBody>
      </p:sp>
      <p:sp>
        <p:nvSpPr>
          <p:cNvPr id="4" name="">
            <a:extLst xmlns:a="http://schemas.openxmlformats.org/drawingml/2006/main">
              <a:ext uri="{FF2B5EF4-FFF2-40B4-BE49-F238E27FC236}">
                <a16:creationId xmlns:a16="http://schemas.microsoft.com/office/drawing/2014/main" id="{E0912A5B-2D43-4FEF-8484-4D4BC5E51DBC}"/>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PostgreSQL CDC · Flink · Iceberg · Spark SQL · dbt</a:t>
            </a:r>
          </a:p>
        </p:txBody>
      </p:sp>
      <p:sp>
        <p:nvSpPr>
          <p:cNvPr id="5" name="">
            <a:extLst xmlns:a="http://schemas.openxmlformats.org/drawingml/2006/main">
              <a:ext uri="{FF2B5EF4-FFF2-40B4-BE49-F238E27FC236}">
                <a16:creationId xmlns:a16="http://schemas.microsoft.com/office/drawing/2014/main" id="{75DDF674-AB30-4B6F-B84A-2CC1DF3E176F}"/>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강사 맥미니 시연 / 학생 SQL·설계서 작성</a:t>
            </a:r>
          </a:p>
        </p:txBody>
      </p:sp>
    </p:spTree>
    <p:extLst>
      <p:ext uri="{BB962C8B-B14F-4D97-AF65-F5344CB8AC3E}">
        <p14:creationId xmlns:p14="http://schemas.microsoft.com/office/powerpoint/2010/main" val="1849371160"/>
      </p:ext>
    </p:extLst>
  </p:cSld>
</p:sld>
</file>

<file path=ppt/slides/slide2.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5FDFE5-7C39-43D6-88E2-ADFDFBBF1081}"/>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오늘 남길 결과</a:t>
            </a:r>
          </a:p>
        </p:txBody>
      </p:sp>
      <p:sp>
        <p:nvSpPr>
          <p:cNvPr id="2" name="">
            <a:extLst xmlns:a="http://schemas.openxmlformats.org/drawingml/2006/main">
              <a:ext uri="{FF2B5EF4-FFF2-40B4-BE49-F238E27FC236}">
                <a16:creationId xmlns:a16="http://schemas.microsoft.com/office/drawing/2014/main" id="{BA255753-6BB9-4389-958D-AEE437647C4D}"/>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00:02–00:04     02</a:t>
            </a:r>
          </a:p>
        </p:txBody>
      </p:sp>
      <p:sp>
        <p:nvSpPr>
          <p:cNvPr id="3" name="">
            <a:extLst xmlns:a="http://schemas.openxmlformats.org/drawingml/2006/main">
              <a:ext uri="{FF2B5EF4-FFF2-40B4-BE49-F238E27FC236}">
                <a16:creationId xmlns:a16="http://schemas.microsoft.com/office/drawing/2014/main" id="{50FFE5A4-28D8-4493-8D1B-2F7082EA9F70}"/>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원천 변경과 분석 지표 사이의 지연 설명</a:t>
            </a:r>
          </a:p>
        </p:txBody>
      </p:sp>
      <p:sp>
        <p:nvSpPr>
          <p:cNvPr id="4" name="">
            <a:extLst xmlns:a="http://schemas.openxmlformats.org/drawingml/2006/main">
              <a:ext uri="{FF2B5EF4-FFF2-40B4-BE49-F238E27FC236}">
                <a16:creationId xmlns:a16="http://schemas.microsoft.com/office/drawing/2014/main" id="{0A47D560-0EAB-4B90-8F58-C6CFA2ADFA06}"/>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결제·환불·정정 SQL과 관찰 기록</a:t>
            </a:r>
          </a:p>
        </p:txBody>
      </p:sp>
      <p:sp>
        <p:nvSpPr>
          <p:cNvPr id="5" name="">
            <a:extLst xmlns:a="http://schemas.openxmlformats.org/drawingml/2006/main">
              <a:ext uri="{FF2B5EF4-FFF2-40B4-BE49-F238E27FC236}">
                <a16:creationId xmlns:a16="http://schemas.microsoft.com/office/drawing/2014/main" id="{8281B504-EE85-4BBD-B9FC-33CD70C91EA6}"/>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내 지표 하나, 테이블 관계, DDL 하나</a:t>
            </a:r>
          </a:p>
        </p:txBody>
      </p:sp>
    </p:spTree>
    <p:extLst>
      <p:ext uri="{BB962C8B-B14F-4D97-AF65-F5344CB8AC3E}">
        <p14:creationId xmlns:p14="http://schemas.microsoft.com/office/powerpoint/2010/main" val="1246196618"/>
      </p:ext>
    </p:extLst>
  </p:cSld>
</p:sld>
</file>

<file path=ppt/slides/slide3.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3134EE3-EA1A-4CBF-B7ED-459399152D28}"/>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120분 수업 흐름</a:t>
            </a:r>
          </a:p>
        </p:txBody>
      </p:sp>
      <p:sp>
        <p:nvSpPr>
          <p:cNvPr id="2" name="">
            <a:extLst xmlns:a="http://schemas.openxmlformats.org/drawingml/2006/main">
              <a:ext uri="{FF2B5EF4-FFF2-40B4-BE49-F238E27FC236}">
                <a16:creationId xmlns:a16="http://schemas.microsoft.com/office/drawing/2014/main" id="{0CC8392F-5711-4751-BBF5-65DA7619F359}"/>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00:04–00:05     03</a:t>
            </a:r>
          </a:p>
        </p:txBody>
      </p:sp>
      <p:graphicFrame>
        <p:nvGraphicFramePr>
          <p:cNvPr id="3" name="">
            <a:extLst xmlns:a="http://schemas.openxmlformats.org/drawingml/2006/main">
              <a:ext uri="{FF2B5EF4-FFF2-40B4-BE49-F238E27FC236}">
                <a16:creationId xmlns:a16="http://schemas.microsoft.com/office/drawing/2014/main" id="{0D7FEC26-487D-4CD6-A50B-D2B115795083}"/>
              </a:ext>
            </a:extLst>
          </p:cNvPr>
          <p:cNvGraphicFramePr/>
          <p:nvPr/>
        </p:nvGraphicFramePr>
        <p:xfrm>
          <a:off xmlns:a="http://schemas.openxmlformats.org/drawingml/2006/main" x="609600" y="1657350"/>
          <a:ext xmlns:a="http://schemas.openxmlformats.org/drawingml/2006/main" cx="10972800" cy="4191000"/>
        </p:xfrm>
        <a:graphic xmlns:a="http://schemas.openxmlformats.org/drawingml/2006/main">
          <a:graphicData uri="http://schemas.openxmlformats.org/drawingml/2006/table">
            <a:tbl>
              <a:tblPr/>
              <a:tblGrid>
                <a:gridCol w="2190750"/>
                <a:gridCol w="4000500"/>
                <a:gridCol w="4781550"/>
              </a:tblGrid>
              <a:tr h="419100">
                <a:tc>
                  <a:txBody>
                    <a:bodyPr/>
                    <a:lstStyle/>
                    <a:p>
                      <a:r>
                        <a:rPr sz="1650" b="1">
                          <a:solidFill>
                            <a:srgbClr val="FFFFFF"/>
                          </a:solidFill>
                          <a:latin typeface="Apple SD Gothic Neo"/>
                          <a:ea typeface="Apple SD Gothic Neo"/>
                          <a:cs typeface="Apple SD Gothic Neo"/>
                        </a:rPr>
                        <a:t>시간</a:t>
                      </a:r>
                    </a:p>
                  </a:txBody>
                  <a:tcPr marL="152400" marR="114300" marT="38100" marB="38100">
                    <a:lnL w="9525">
                      <a:solidFill>
                        <a:srgbClr val="D8E2E9"/>
                      </a:solidFill>
                    </a:lnL>
                    <a:lnR w="9525">
                      <a:solidFill>
                        <a:srgbClr val="D8E2E9"/>
                      </a:solidFill>
                    </a:lnR>
                    <a:lnT w="9525">
                      <a:solidFill>
                        <a:srgbClr val="D8E2E9"/>
                      </a:solidFill>
                    </a:lnT>
                    <a:lnB w="9525">
                      <a:solidFill>
                        <a:srgbClr val="D8E2E9"/>
                      </a:solidFill>
                    </a:lnB>
                    <a:solidFill>
                      <a:srgbClr val="142D43"/>
                    </a:solidFill>
                  </a:tcPr>
                </a:tc>
                <a:tc>
                  <a:txBody>
                    <a:bodyPr/>
                    <a:lstStyle/>
                    <a:p>
                      <a:r>
                        <a:rPr sz="1650" b="1">
                          <a:solidFill>
                            <a:srgbClr val="FFFFFF"/>
                          </a:solidFill>
                          <a:latin typeface="Apple SD Gothic Neo"/>
                          <a:ea typeface="Apple SD Gothic Neo"/>
                          <a:cs typeface="Apple SD Gothic Neo"/>
                        </a:rPr>
                        <a:t>내용</a:t>
                      </a:r>
                    </a:p>
                  </a:txBody>
                  <a:tcPr marL="152400" marR="114300" marT="38100" marB="38100">
                    <a:lnR w="9525">
                      <a:solidFill>
                        <a:srgbClr val="D8E2E9"/>
                      </a:solidFill>
                    </a:lnR>
                    <a:lnT w="9525">
                      <a:solidFill>
                        <a:srgbClr val="D8E2E9"/>
                      </a:solidFill>
                    </a:lnT>
                    <a:lnB w="9525">
                      <a:solidFill>
                        <a:srgbClr val="D8E2E9"/>
                      </a:solidFill>
                    </a:lnB>
                    <a:solidFill>
                      <a:srgbClr val="142D43"/>
                    </a:solidFill>
                  </a:tcPr>
                </a:tc>
                <a:tc>
                  <a:txBody>
                    <a:bodyPr/>
                    <a:lstStyle/>
                    <a:p>
                      <a:r>
                        <a:rPr sz="1650" b="1">
                          <a:solidFill>
                            <a:srgbClr val="FFFFFF"/>
                          </a:solidFill>
                          <a:latin typeface="Apple SD Gothic Neo"/>
                          <a:ea typeface="Apple SD Gothic Neo"/>
                          <a:cs typeface="Apple SD Gothic Neo"/>
                        </a:rPr>
                        <a:t>학생 활동</a:t>
                      </a:r>
                    </a:p>
                  </a:txBody>
                  <a:tcPr marL="152400" marR="114300" marT="38100" marB="38100">
                    <a:lnR w="9525">
                      <a:solidFill>
                        <a:srgbClr val="D8E2E9"/>
                      </a:solidFill>
                    </a:lnR>
                    <a:lnT w="9525">
                      <a:solidFill>
                        <a:srgbClr val="D8E2E9"/>
                      </a:solidFill>
                    </a:lnT>
                    <a:lnB w="9525">
                      <a:solidFill>
                        <a:srgbClr val="D8E2E9"/>
                      </a:solidFill>
                    </a:lnB>
                    <a:solidFill>
                      <a:srgbClr val="142D43"/>
                    </a:solidFill>
                  </a:tcPr>
                </a:tc>
              </a:tr>
              <a:tr h="419100">
                <a:tc>
                  <a:txBody>
                    <a:bodyPr/>
                    <a:lstStyle/>
                    <a:p>
                      <a:r>
                        <a:rPr sz="1650">
                          <a:solidFill>
                            <a:srgbClr val="142D43"/>
                          </a:solidFill>
                          <a:latin typeface="Apple SD Gothic Neo"/>
                          <a:ea typeface="Apple SD Gothic Neo"/>
                          <a:cs typeface="Apple SD Gothic Neo"/>
                        </a:rPr>
                        <a:t>00:00–00:10</a:t>
                      </a:r>
                    </a:p>
                  </a:txBody>
                  <a:tcPr marL="152400" marR="114300" marT="38100" marB="38100">
                    <a:lnL w="9525">
                      <a:solidFill>
                        <a:srgbClr val="D8E2E9"/>
                      </a:solidFill>
                    </a:lnL>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문제와 지표의 지연</a:t>
                      </a:r>
                    </a:p>
                  </a:txBody>
                  <a:tcPr marL="152400" marR="114300" marT="38100" marB="38100">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예상값·허용 지연</a:t>
                      </a:r>
                    </a:p>
                  </a:txBody>
                  <a:tcPr marL="152400" marR="114300" marT="38100" marB="38100">
                    <a:lnR w="9525">
                      <a:solidFill>
                        <a:srgbClr val="D8E2E9"/>
                      </a:solidFill>
                    </a:lnR>
                    <a:lnB w="9525">
                      <a:solidFill>
                        <a:srgbClr val="D8E2E9"/>
                      </a:solidFill>
                    </a:lnB>
                  </a:tcPr>
                </a:tc>
              </a:tr>
              <a:tr h="419100">
                <a:tc>
                  <a:txBody>
                    <a:bodyPr/>
                    <a:lstStyle/>
                    <a:p>
                      <a:r>
                        <a:rPr sz="1650">
                          <a:solidFill>
                            <a:srgbClr val="142D43"/>
                          </a:solidFill>
                          <a:latin typeface="Apple SD Gothic Neo"/>
                          <a:ea typeface="Apple SD Gothic Neo"/>
                          <a:cs typeface="Apple SD Gothic Neo"/>
                        </a:rPr>
                        <a:t>00:10–00:25</a:t>
                      </a:r>
                    </a:p>
                  </a:txBody>
                  <a:tcPr marL="152400" marR="114300" marT="38100" marB="38100">
                    <a:lnL w="9525">
                      <a:solidFill>
                        <a:srgbClr val="D8E2E9"/>
                      </a:solidFill>
                    </a:lnL>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세 장의 아키텍처</a:t>
                      </a:r>
                    </a:p>
                  </a:txBody>
                  <a:tcPr marL="152400" marR="114300" marT="38100" marB="38100">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계층별 역할 기록</a:t>
                      </a:r>
                    </a:p>
                  </a:txBody>
                  <a:tcPr marL="152400" marR="114300" marT="38100" marB="38100">
                    <a:lnR w="9525">
                      <a:solidFill>
                        <a:srgbClr val="D8E2E9"/>
                      </a:solidFill>
                    </a:lnR>
                    <a:lnB w="9525">
                      <a:solidFill>
                        <a:srgbClr val="D8E2E9"/>
                      </a:solidFill>
                    </a:lnB>
                  </a:tcPr>
                </a:tc>
              </a:tr>
              <a:tr h="419100">
                <a:tc>
                  <a:txBody>
                    <a:bodyPr/>
                    <a:lstStyle/>
                    <a:p>
                      <a:r>
                        <a:rPr sz="1650">
                          <a:solidFill>
                            <a:srgbClr val="142D43"/>
                          </a:solidFill>
                          <a:latin typeface="Apple SD Gothic Neo"/>
                          <a:ea typeface="Apple SD Gothic Neo"/>
                          <a:cs typeface="Apple SD Gothic Neo"/>
                        </a:rPr>
                        <a:t>00:25–00:35</a:t>
                      </a:r>
                    </a:p>
                  </a:txBody>
                  <a:tcPr marL="152400" marR="114300" marT="38100" marB="38100">
                    <a:lnL w="9525">
                      <a:solidFill>
                        <a:srgbClr val="D8E2E9"/>
                      </a:solidFill>
                    </a:lnL>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원천 모델과 지표 정의</a:t>
                      </a:r>
                    </a:p>
                  </a:txBody>
                  <a:tcPr marL="152400" marR="114300" marT="38100" marB="38100">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PK/FK와 한 행의 의미</a:t>
                      </a:r>
                    </a:p>
                  </a:txBody>
                  <a:tcPr marL="152400" marR="114300" marT="38100" marB="38100">
                    <a:lnR w="9525">
                      <a:solidFill>
                        <a:srgbClr val="D8E2E9"/>
                      </a:solidFill>
                    </a:lnR>
                    <a:lnB w="9525">
                      <a:solidFill>
                        <a:srgbClr val="D8E2E9"/>
                      </a:solidFill>
                    </a:lnB>
                  </a:tcPr>
                </a:tc>
              </a:tr>
              <a:tr h="419100">
                <a:tc>
                  <a:txBody>
                    <a:bodyPr/>
                    <a:lstStyle/>
                    <a:p>
                      <a:r>
                        <a:rPr sz="1650">
                          <a:solidFill>
                            <a:srgbClr val="142D43"/>
                          </a:solidFill>
                          <a:latin typeface="Apple SD Gothic Neo"/>
                          <a:ea typeface="Apple SD Gothic Neo"/>
                          <a:cs typeface="Apple SD Gothic Neo"/>
                        </a:rPr>
                        <a:t>00:35–00:50</a:t>
                      </a:r>
                    </a:p>
                  </a:txBody>
                  <a:tcPr marL="152400" marR="114300" marT="38100" marB="38100">
                    <a:lnL w="9525">
                      <a:solidFill>
                        <a:srgbClr val="D8E2E9"/>
                      </a:solidFill>
                    </a:lnL>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SQL 작성</a:t>
                      </a:r>
                    </a:p>
                  </a:txBody>
                  <a:tcPr marL="152400" marR="114300" marT="38100" marB="38100">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입력·환불·정정 SQL</a:t>
                      </a:r>
                    </a:p>
                  </a:txBody>
                  <a:tcPr marL="152400" marR="114300" marT="38100" marB="38100">
                    <a:lnR w="9525">
                      <a:solidFill>
                        <a:srgbClr val="D8E2E9"/>
                      </a:solidFill>
                    </a:lnR>
                    <a:lnB w="9525">
                      <a:solidFill>
                        <a:srgbClr val="D8E2E9"/>
                      </a:solidFill>
                    </a:lnB>
                  </a:tcPr>
                </a:tc>
              </a:tr>
              <a:tr h="419100">
                <a:tc>
                  <a:txBody>
                    <a:bodyPr/>
                    <a:lstStyle/>
                    <a:p>
                      <a:r>
                        <a:rPr sz="1650">
                          <a:solidFill>
                            <a:srgbClr val="142D43"/>
                          </a:solidFill>
                          <a:latin typeface="Apple SD Gothic Neo"/>
                          <a:ea typeface="Apple SD Gothic Neo"/>
                          <a:cs typeface="Apple SD Gothic Neo"/>
                        </a:rPr>
                        <a:t>00:50–01:05</a:t>
                      </a:r>
                    </a:p>
                  </a:txBody>
                  <a:tcPr marL="152400" marR="114300" marT="38100" marB="38100">
                    <a:lnL w="9525">
                      <a:solidFill>
                        <a:srgbClr val="D8E2E9"/>
                      </a:solidFill>
                    </a:lnL>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결제·환불 시연</a:t>
                      </a:r>
                    </a:p>
                  </a:txBody>
                  <a:tcPr marL="152400" marR="114300" marT="38100" marB="38100">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갱신 전후 비교</a:t>
                      </a:r>
                    </a:p>
                  </a:txBody>
                  <a:tcPr marL="152400" marR="114300" marT="38100" marB="38100">
                    <a:lnR w="9525">
                      <a:solidFill>
                        <a:srgbClr val="D8E2E9"/>
                      </a:solidFill>
                    </a:lnR>
                    <a:lnB w="9525">
                      <a:solidFill>
                        <a:srgbClr val="D8E2E9"/>
                      </a:solidFill>
                    </a:lnB>
                  </a:tcPr>
                </a:tc>
              </a:tr>
              <a:tr h="419100">
                <a:tc>
                  <a:txBody>
                    <a:bodyPr/>
                    <a:lstStyle/>
                    <a:p>
                      <a:r>
                        <a:rPr sz="1650">
                          <a:solidFill>
                            <a:srgbClr val="142D43"/>
                          </a:solidFill>
                          <a:latin typeface="Apple SD Gothic Neo"/>
                          <a:ea typeface="Apple SD Gothic Neo"/>
                          <a:cs typeface="Apple SD Gothic Neo"/>
                        </a:rPr>
                        <a:t>01:05–01:10</a:t>
                      </a:r>
                    </a:p>
                  </a:txBody>
                  <a:tcPr marL="152400" marR="114300" marT="38100" marB="38100">
                    <a:lnL w="9525">
                      <a:solidFill>
                        <a:srgbClr val="D8E2E9"/>
                      </a:solidFill>
                    </a:lnL>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휴식</a:t>
                      </a:r>
                    </a:p>
                  </a:txBody>
                  <a:tcPr marL="152400" marR="114300" marT="38100" marB="38100">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
                      </a:r>
                    </a:p>
                  </a:txBody>
                  <a:tcPr marL="152400" marR="114300" marT="38100" marB="38100">
                    <a:lnR w="9525">
                      <a:solidFill>
                        <a:srgbClr val="D8E2E9"/>
                      </a:solidFill>
                    </a:lnR>
                    <a:lnB w="9525">
                      <a:solidFill>
                        <a:srgbClr val="D8E2E9"/>
                      </a:solidFill>
                    </a:lnB>
                  </a:tcPr>
                </a:tc>
              </a:tr>
              <a:tr h="419100">
                <a:tc>
                  <a:txBody>
                    <a:bodyPr/>
                    <a:lstStyle/>
                    <a:p>
                      <a:r>
                        <a:rPr sz="1650">
                          <a:solidFill>
                            <a:srgbClr val="142D43"/>
                          </a:solidFill>
                          <a:latin typeface="Apple SD Gothic Neo"/>
                          <a:ea typeface="Apple SD Gothic Neo"/>
                          <a:cs typeface="Apple SD Gothic Neo"/>
                        </a:rPr>
                        <a:t>01:10–01:25</a:t>
                      </a:r>
                    </a:p>
                  </a:txBody>
                  <a:tcPr marL="152400" marR="114300" marT="38100" marB="38100">
                    <a:lnL w="9525">
                      <a:solidFill>
                        <a:srgbClr val="D8E2E9"/>
                      </a:solidFill>
                    </a:lnL>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환불 정정 시연</a:t>
                      </a:r>
                    </a:p>
                  </a:txBody>
                  <a:tcPr marL="152400" marR="114300" marT="38100" marB="38100">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이력과 최신 상태 비교</a:t>
                      </a:r>
                    </a:p>
                  </a:txBody>
                  <a:tcPr marL="152400" marR="114300" marT="38100" marB="38100">
                    <a:lnR w="9525">
                      <a:solidFill>
                        <a:srgbClr val="D8E2E9"/>
                      </a:solidFill>
                    </a:lnR>
                    <a:lnB w="9525">
                      <a:solidFill>
                        <a:srgbClr val="D8E2E9"/>
                      </a:solidFill>
                    </a:lnB>
                  </a:tcPr>
                </a:tc>
              </a:tr>
              <a:tr h="419100">
                <a:tc>
                  <a:txBody>
                    <a:bodyPr/>
                    <a:lstStyle/>
                    <a:p>
                      <a:r>
                        <a:rPr sz="1650">
                          <a:solidFill>
                            <a:srgbClr val="142D43"/>
                          </a:solidFill>
                          <a:latin typeface="Apple SD Gothic Neo"/>
                          <a:ea typeface="Apple SD Gothic Neo"/>
                          <a:cs typeface="Apple SD Gothic Neo"/>
                        </a:rPr>
                        <a:t>01:25–01:50</a:t>
                      </a:r>
                    </a:p>
                  </a:txBody>
                  <a:tcPr marL="152400" marR="114300" marT="38100" marB="38100">
                    <a:lnL w="9525">
                      <a:solidFill>
                        <a:srgbClr val="D8E2E9"/>
                      </a:solidFill>
                    </a:lnL>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개인 프로젝트 설계</a:t>
                      </a:r>
                    </a:p>
                  </a:txBody>
                  <a:tcPr marL="152400" marR="114300" marT="38100" marB="38100">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지표·관계·DDL</a:t>
                      </a:r>
                    </a:p>
                  </a:txBody>
                  <a:tcPr marL="152400" marR="114300" marT="38100" marB="38100">
                    <a:lnR w="9525">
                      <a:solidFill>
                        <a:srgbClr val="D8E2E9"/>
                      </a:solidFill>
                    </a:lnR>
                    <a:lnB w="9525">
                      <a:solidFill>
                        <a:srgbClr val="D8E2E9"/>
                      </a:solidFill>
                    </a:lnB>
                  </a:tcPr>
                </a:tc>
              </a:tr>
              <a:tr h="419100">
                <a:tc>
                  <a:txBody>
                    <a:bodyPr/>
                    <a:lstStyle/>
                    <a:p>
                      <a:r>
                        <a:rPr sz="1650">
                          <a:solidFill>
                            <a:srgbClr val="142D43"/>
                          </a:solidFill>
                          <a:latin typeface="Apple SD Gothic Neo"/>
                          <a:ea typeface="Apple SD Gothic Neo"/>
                          <a:cs typeface="Apple SD Gothic Neo"/>
                        </a:rPr>
                        <a:t>01:50–02:00</a:t>
                      </a:r>
                    </a:p>
                  </a:txBody>
                  <a:tcPr marL="152400" marR="114300" marT="38100" marB="38100">
                    <a:lnL w="9525">
                      <a:solidFill>
                        <a:srgbClr val="D8E2E9"/>
                      </a:solidFill>
                    </a:lnL>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설계 점검과 제출</a:t>
                      </a:r>
                    </a:p>
                  </a:txBody>
                  <a:tcPr marL="152400" marR="114300" marT="38100" marB="38100">
                    <a:lnR w="9525">
                      <a:solidFill>
                        <a:srgbClr val="D8E2E9"/>
                      </a:solidFill>
                    </a:lnR>
                    <a:lnB w="9525">
                      <a:solidFill>
                        <a:srgbClr val="D8E2E9"/>
                      </a:solidFill>
                    </a:lnB>
                  </a:tcPr>
                </a:tc>
                <a:tc>
                  <a:txBody>
                    <a:bodyPr/>
                    <a:lstStyle/>
                    <a:p>
                      <a:r>
                        <a:rPr sz="1650">
                          <a:solidFill>
                            <a:srgbClr val="142D43"/>
                          </a:solidFill>
                          <a:latin typeface="Apple SD Gothic Neo"/>
                          <a:ea typeface="Apple SD Gothic Neo"/>
                          <a:cs typeface="Apple SD Gothic Neo"/>
                        </a:rPr>
                        <a:t>종료 질문·과제 확인</a:t>
                      </a:r>
                    </a:p>
                  </a:txBody>
                  <a:tcPr marL="152400" marR="114300" marT="38100" marB="38100">
                    <a:lnR w="9525">
                      <a:solidFill>
                        <a:srgbClr val="D8E2E9"/>
                      </a:solidFill>
                    </a:lnR>
                    <a:lnB w="9525">
                      <a:solidFill>
                        <a:srgbClr val="D8E2E9"/>
                      </a:solidFill>
                    </a:lnB>
                  </a:tcPr>
                </a:tc>
              </a:tr>
            </a:tbl>
          </a:graphicData>
        </a:graphic>
      </p:graphicFrame>
    </p:spTree>
    <p:extLst>
      <p:ext uri="{BB962C8B-B14F-4D97-AF65-F5344CB8AC3E}">
        <p14:creationId xmlns:p14="http://schemas.microsoft.com/office/powerpoint/2010/main" val="2074591422"/>
      </p:ext>
    </p:extLst>
  </p:cSld>
</p:sld>
</file>

<file path=ppt/slides/slide4.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A7FDA04-6CD7-4792-A0F2-F40EFAD1C006}"/>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환불했는데 지표는 그대로</a:t>
            </a:r>
          </a:p>
        </p:txBody>
      </p:sp>
      <p:sp>
        <p:nvSpPr>
          <p:cNvPr id="2" name="">
            <a:extLst xmlns:a="http://schemas.openxmlformats.org/drawingml/2006/main">
              <a:ext uri="{FF2B5EF4-FFF2-40B4-BE49-F238E27FC236}">
                <a16:creationId xmlns:a16="http://schemas.microsoft.com/office/drawing/2014/main" id="{354014E4-B85A-42D9-A920-B55609BCC0A2}"/>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00:05–00:08     04</a:t>
            </a:r>
          </a:p>
        </p:txBody>
      </p:sp>
      <p:sp>
        <p:nvSpPr>
          <p:cNvPr id="3" name="">
            <a:extLst xmlns:a="http://schemas.openxmlformats.org/drawingml/2006/main">
              <a:ext uri="{FF2B5EF4-FFF2-40B4-BE49-F238E27FC236}">
                <a16:creationId xmlns:a16="http://schemas.microsoft.com/office/drawing/2014/main" id="{72B225E8-34AD-4BC6-8568-8DCB61028D81}"/>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결제 100,000원 / 환불 20,000원</a:t>
            </a:r>
          </a:p>
        </p:txBody>
      </p:sp>
      <p:sp>
        <p:nvSpPr>
          <p:cNvPr id="4" name="">
            <a:extLst xmlns:a="http://schemas.openxmlformats.org/drawingml/2006/main">
              <a:ext uri="{FF2B5EF4-FFF2-40B4-BE49-F238E27FC236}">
                <a16:creationId xmlns:a16="http://schemas.microsoft.com/office/drawing/2014/main" id="{898E1B35-EDF7-4E9F-8741-47B5ACD3FF32}"/>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대시보드에는 여전히 100,000원</a:t>
            </a:r>
          </a:p>
        </p:txBody>
      </p:sp>
      <p:sp>
        <p:nvSpPr>
          <p:cNvPr id="5" name="">
            <a:extLst xmlns:a="http://schemas.openxmlformats.org/drawingml/2006/main">
              <a:ext uri="{FF2B5EF4-FFF2-40B4-BE49-F238E27FC236}">
                <a16:creationId xmlns:a16="http://schemas.microsoft.com/office/drawing/2014/main" id="{767B4B50-72EA-49C9-81FE-16839947E4EC}"/>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현재 순결제액은 얼마여야 할까요?</a:t>
            </a:r>
          </a:p>
        </p:txBody>
      </p:sp>
    </p:spTree>
    <p:extLst>
      <p:ext uri="{BB962C8B-B14F-4D97-AF65-F5344CB8AC3E}">
        <p14:creationId xmlns:p14="http://schemas.microsoft.com/office/powerpoint/2010/main" val="163318128"/>
      </p:ext>
    </p:extLst>
  </p:cSld>
</p:sld>
</file>

<file path=ppt/slides/slide5.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BF6A21-97FF-42AF-89E3-EF262DD5DDBB}"/>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지표의 허용 지연</a:t>
            </a:r>
          </a:p>
        </p:txBody>
      </p:sp>
      <p:sp>
        <p:nvSpPr>
          <p:cNvPr id="2" name="">
            <a:extLst xmlns:a="http://schemas.openxmlformats.org/drawingml/2006/main">
              <a:ext uri="{FF2B5EF4-FFF2-40B4-BE49-F238E27FC236}">
                <a16:creationId xmlns:a16="http://schemas.microsoft.com/office/drawing/2014/main" id="{C257D0E1-45DA-4417-9072-DEBA7104B091}"/>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00:08–00:10     05</a:t>
            </a:r>
          </a:p>
        </p:txBody>
      </p:sp>
      <p:sp>
        <p:nvSpPr>
          <p:cNvPr id="3" name="">
            <a:extLst xmlns:a="http://schemas.openxmlformats.org/drawingml/2006/main">
              <a:ext uri="{FF2B5EF4-FFF2-40B4-BE49-F238E27FC236}">
                <a16:creationId xmlns:a16="http://schemas.microsoft.com/office/drawing/2014/main" id="{1C4CD93F-89B6-4F63-8204-2375B003E590}"/>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이 지표를 보고 누가 어떤 판단을 하나요?</a:t>
            </a:r>
          </a:p>
        </p:txBody>
      </p:sp>
      <p:sp>
        <p:nvSpPr>
          <p:cNvPr id="4" name="">
            <a:extLst xmlns:a="http://schemas.openxmlformats.org/drawingml/2006/main">
              <a:ext uri="{FF2B5EF4-FFF2-40B4-BE49-F238E27FC236}">
                <a16:creationId xmlns:a16="http://schemas.microsoft.com/office/drawing/2014/main" id="{C9B795EA-1E7C-4A4A-B4F1-3498477DD9F7}"/>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몇 초 또는 몇 분까지 기다릴 수 있나요?</a:t>
            </a:r>
          </a:p>
        </p:txBody>
      </p:sp>
      <p:sp>
        <p:nvSpPr>
          <p:cNvPr id="5" name="">
            <a:extLst xmlns:a="http://schemas.openxmlformats.org/drawingml/2006/main">
              <a:ext uri="{FF2B5EF4-FFF2-40B4-BE49-F238E27FC236}">
                <a16:creationId xmlns:a16="http://schemas.microsoft.com/office/drawing/2014/main" id="{7D75A6A5-4EEE-41AD-BA82-6241AD751CEC}"/>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원천 변경 시각과 Gold 반영 시각을 기록합니다</a:t>
            </a:r>
          </a:p>
        </p:txBody>
      </p:sp>
    </p:spTree>
    <p:extLst>
      <p:ext uri="{BB962C8B-B14F-4D97-AF65-F5344CB8AC3E}">
        <p14:creationId xmlns:p14="http://schemas.microsoft.com/office/powerpoint/2010/main" val="1137109091"/>
      </p:ext>
    </p:extLst>
  </p:cSld>
</p:sld>
</file>

<file path=ppt/slides/slide6.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6DF9BB-475F-4DC1-B087-DE98666186BE}"/>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아키텍처 1. 데이터 흐름</a:t>
            </a:r>
          </a:p>
        </p:txBody>
      </p:sp>
      <p:sp>
        <p:nvSpPr>
          <p:cNvPr id="2" name="">
            <a:extLst xmlns:a="http://schemas.openxmlformats.org/drawingml/2006/main">
              <a:ext uri="{FF2B5EF4-FFF2-40B4-BE49-F238E27FC236}">
                <a16:creationId xmlns:a16="http://schemas.microsoft.com/office/drawing/2014/main" id="{95FF2101-800F-440C-B07D-0ADA817D0084}"/>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00:10–00:25     06</a:t>
            </a:r>
          </a:p>
        </p:txBody>
      </p:sp>
      <p:pic>
        <p:nvPicPr>
          <p:cNvPr id="3" name="">
            <a:extLst xmlns:a="http://schemas.openxmlformats.org/drawingml/2006/main">
              <a:ext uri="{FF2B5EF4-FFF2-40B4-BE49-F238E27FC236}">
                <a16:creationId xmlns:a16="http://schemas.microsoft.com/office/drawing/2014/main" id="{ADE60816-50C6-459A-91A7-D3BCDAFF1872}"/>
              </a:ext>
            </a:extLst>
          </p:cNvPr>
          <p:cNvPicPr>
            <a:picLocks xmlns:a="http://schemas.openxmlformats.org/drawingml/2006/main" noChangeAspect="1"/>
          </p:cNvPicPr>
          <p:nvPr/>
        </p:nvPicPr>
        <p:blipFill>
          <a:blip xmlns:r="http://schemas.openxmlformats.org/officeDocument/2006/relationships" xmlns:a="http://schemas.openxmlformats.org/drawingml/2006/main" r:embed="Rf0f1f97806094a65"/>
          <a:stretch xmlns:a="http://schemas.openxmlformats.org/drawingml/2006/main"/>
        </p:blipFill>
        <p:spPr>
          <a:xfrm xmlns:a="http://schemas.openxmlformats.org/drawingml/2006/main">
            <a:off x="857469" y="1428750"/>
            <a:ext cx="7257611" cy="4819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4D94F4-5131-4FF1-994F-05B5627C78EF}"/>
              </a:ext>
            </a:extLst>
          </p:cNvPr>
          <p:cNvSpPr>
            <a:spLocks xmlns:a="http://schemas.openxmlformats.org/drawingml/2006/main" noGrp="1"/>
          </p:cNvSpPr>
          <p:nvPr/>
        </p:nvSpPr>
        <p:spPr>
          <a:xfrm xmlns:a="http://schemas.openxmlformats.org/drawingml/2006/main">
            <a:off x="8972550" y="1762125"/>
            <a:ext cx="257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087F8C"/>
                </a:solidFill>
                <a:latin typeface="Apple SD Gothic Neo"/>
                <a:ea typeface="Apple SD Gothic Neo"/>
                <a:cs typeface="Apple SD Gothic Neo"/>
              </a:defRPr>
            </a:defPPr>
          </a:lstStyle>
          <a:p xmlns:a="http://schemas.openxmlformats.org/drawingml/2006/main">
            <a:pPr>
              <a:defRPr sz="2025" b="1">
                <a:solidFill>
                  <a:srgbClr val="087F8C"/>
                </a:solidFill>
                <a:latin typeface="Apple SD Gothic Neo"/>
                <a:ea typeface="Apple SD Gothic Neo"/>
                <a:cs typeface="Apple SD Gothic Neo"/>
              </a:defRPr>
            </a:pPr>
            <a:r>
              <a:rPr sz="2025" b="1">
                <a:solidFill>
                  <a:srgbClr val="087F8C"/>
                </a:solidFill>
                <a:latin typeface="Apple SD Gothic Neo"/>
                <a:ea typeface="Apple SD Gothic Neo"/>
                <a:cs typeface="Apple SD Gothic Neo"/>
              </a:rPr>
              <a:t>변경 수집과</a:t>
            </a:r>
          </a:p>
          <a:p xmlns:a="http://schemas.openxmlformats.org/drawingml/2006/main">
            <a:pPr>
              <a:defRPr sz="2025" b="1">
                <a:solidFill>
                  <a:srgbClr val="087F8C"/>
                </a:solidFill>
                <a:latin typeface="Apple SD Gothic Neo"/>
                <a:ea typeface="Apple SD Gothic Neo"/>
                <a:cs typeface="Apple SD Gothic Neo"/>
              </a:defRPr>
            </a:pPr>
            <a:r>
              <a:rPr sz="2025" b="1">
                <a:solidFill>
                  <a:srgbClr val="087F8C"/>
                </a:solidFill>
                <a:latin typeface="Apple SD Gothic Neo"/>
                <a:ea typeface="Apple SD Gothic Neo"/>
                <a:cs typeface="Apple SD Gothic Neo"/>
              </a:rPr>
              <a:t>Bronze 적재</a:t>
            </a:r>
          </a:p>
        </p:txBody>
      </p:sp>
      <p:sp>
        <p:nvSpPr>
          <p:cNvPr id="5" name="">
            <a:extLst xmlns:a="http://schemas.openxmlformats.org/drawingml/2006/main">
              <a:ext uri="{FF2B5EF4-FFF2-40B4-BE49-F238E27FC236}">
                <a16:creationId xmlns:a16="http://schemas.microsoft.com/office/drawing/2014/main" id="{2DD5C882-33E2-4FBB-AFB3-AE2BC26A0684}"/>
              </a:ext>
            </a:extLst>
          </p:cNvPr>
          <p:cNvSpPr>
            <a:spLocks xmlns:a="http://schemas.openxmlformats.org/drawingml/2006/main" noGrp="1"/>
          </p:cNvSpPr>
          <p:nvPr/>
        </p:nvSpPr>
        <p:spPr>
          <a:xfrm xmlns:a="http://schemas.openxmlformats.org/drawingml/2006/main">
            <a:off x="8972550" y="3114675"/>
            <a:ext cx="257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42D43"/>
                </a:solidFill>
                <a:latin typeface="Apple SD Gothic Neo"/>
                <a:ea typeface="Apple SD Gothic Neo"/>
                <a:cs typeface="Apple SD Gothic Neo"/>
              </a:defRPr>
            </a:defPPr>
          </a:lstStyle>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Spark로</a:t>
            </a:r>
          </a:p>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Silver 갱신</a:t>
            </a:r>
          </a:p>
        </p:txBody>
      </p:sp>
      <p:sp>
        <p:nvSpPr>
          <p:cNvPr id="6" name="">
            <a:extLst xmlns:a="http://schemas.openxmlformats.org/drawingml/2006/main">
              <a:ext uri="{FF2B5EF4-FFF2-40B4-BE49-F238E27FC236}">
                <a16:creationId xmlns:a16="http://schemas.microsoft.com/office/drawing/2014/main" id="{986E46DA-324E-448E-90D0-F4695EF055FC}"/>
              </a:ext>
            </a:extLst>
          </p:cNvPr>
          <p:cNvSpPr>
            <a:spLocks xmlns:a="http://schemas.openxmlformats.org/drawingml/2006/main" noGrp="1"/>
          </p:cNvSpPr>
          <p:nvPr/>
        </p:nvSpPr>
        <p:spPr>
          <a:xfrm xmlns:a="http://schemas.openxmlformats.org/drawingml/2006/main">
            <a:off x="8972550" y="4467225"/>
            <a:ext cx="257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42D43"/>
                </a:solidFill>
                <a:latin typeface="Apple SD Gothic Neo"/>
                <a:ea typeface="Apple SD Gothic Neo"/>
                <a:cs typeface="Apple SD Gothic Neo"/>
              </a:defRPr>
            </a:defPPr>
          </a:lstStyle>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dbt 모델을</a:t>
            </a:r>
          </a:p>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Spark에서 실행</a:t>
            </a:r>
          </a:p>
        </p:txBody>
      </p:sp>
    </p:spTree>
    <p:extLst>
      <p:ext uri="{BB962C8B-B14F-4D97-AF65-F5344CB8AC3E}">
        <p14:creationId xmlns:p14="http://schemas.microsoft.com/office/powerpoint/2010/main" val="87477406"/>
      </p:ext>
    </p:extLst>
  </p:cSld>
</p:sld>
</file>

<file path=ppt/slides/slide7.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092C599-33F3-4F93-8151-8868DBF5A886}"/>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Bronze · Silver · Gold</a:t>
            </a:r>
          </a:p>
        </p:txBody>
      </p:sp>
      <p:sp>
        <p:nvSpPr>
          <p:cNvPr id="2" name="">
            <a:extLst xmlns:a="http://schemas.openxmlformats.org/drawingml/2006/main">
              <a:ext uri="{FF2B5EF4-FFF2-40B4-BE49-F238E27FC236}">
                <a16:creationId xmlns:a16="http://schemas.microsoft.com/office/drawing/2014/main" id="{B64EEDE6-FC0C-4E0E-BE6F-F5BC6E4D22A9}"/>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00:10–00:25     07</a:t>
            </a:r>
          </a:p>
        </p:txBody>
      </p:sp>
      <p:graphicFrame>
        <p:nvGraphicFramePr>
          <p:cNvPr id="3" name="">
            <a:extLst xmlns:a="http://schemas.openxmlformats.org/drawingml/2006/main">
              <a:ext uri="{FF2B5EF4-FFF2-40B4-BE49-F238E27FC236}">
                <a16:creationId xmlns:a16="http://schemas.microsoft.com/office/drawing/2014/main" id="{7C7D9C3C-3B59-47F0-BCAA-C7178AF24FD8}"/>
              </a:ext>
            </a:extLst>
          </p:cNvPr>
          <p:cNvGraphicFramePr/>
          <p:nvPr/>
        </p:nvGraphicFramePr>
        <p:xfrm>
          <a:off xmlns:a="http://schemas.openxmlformats.org/drawingml/2006/main" x="609600" y="1657350"/>
          <a:ext xmlns:a="http://schemas.openxmlformats.org/drawingml/2006/main" cx="10972800" cy="2743200"/>
        </p:xfrm>
        <a:graphic xmlns:a="http://schemas.openxmlformats.org/drawingml/2006/main">
          <a:graphicData uri="http://schemas.openxmlformats.org/drawingml/2006/table">
            <a:tbl>
              <a:tblPr/>
              <a:tblGrid>
                <a:gridCol w="1905000"/>
                <a:gridCol w="3905250"/>
                <a:gridCol w="5162550"/>
              </a:tblGrid>
              <a:tr h="685800">
                <a:tc>
                  <a:txBody>
                    <a:bodyPr/>
                    <a:lstStyle/>
                    <a:p>
                      <a:r>
                        <a:rPr sz="1950" b="1">
                          <a:solidFill>
                            <a:srgbClr val="FFFFFF"/>
                          </a:solidFill>
                          <a:latin typeface="Apple SD Gothic Neo"/>
                          <a:ea typeface="Apple SD Gothic Neo"/>
                          <a:cs typeface="Apple SD Gothic Neo"/>
                        </a:rPr>
                        <a:t>계층</a:t>
                      </a:r>
                    </a:p>
                  </a:txBody>
                  <a:tcPr marL="152400" marR="114300" marT="114300" marB="95250">
                    <a:lnL w="9525">
                      <a:solidFill>
                        <a:srgbClr val="D8E2E9"/>
                      </a:solidFill>
                    </a:lnL>
                    <a:lnR w="9525">
                      <a:solidFill>
                        <a:srgbClr val="D8E2E9"/>
                      </a:solidFill>
                    </a:lnR>
                    <a:lnT w="9525">
                      <a:solidFill>
                        <a:srgbClr val="D8E2E9"/>
                      </a:solidFill>
                    </a:lnT>
                    <a:lnB w="9525">
                      <a:solidFill>
                        <a:srgbClr val="D8E2E9"/>
                      </a:solidFill>
                    </a:lnB>
                    <a:solidFill>
                      <a:srgbClr val="142D43"/>
                    </a:solidFill>
                  </a:tcPr>
                </a:tc>
                <a:tc>
                  <a:txBody>
                    <a:bodyPr/>
                    <a:lstStyle/>
                    <a:p>
                      <a:r>
                        <a:rPr sz="1950" b="1">
                          <a:solidFill>
                            <a:srgbClr val="FFFFFF"/>
                          </a:solidFill>
                          <a:latin typeface="Apple SD Gothic Neo"/>
                          <a:ea typeface="Apple SD Gothic Neo"/>
                          <a:cs typeface="Apple SD Gothic Neo"/>
                        </a:rPr>
                        <a:t>남기는 데이터</a:t>
                      </a:r>
                    </a:p>
                  </a:txBody>
                  <a:tcPr marL="152400" marR="114300" marT="114300" marB="95250">
                    <a:lnR w="9525">
                      <a:solidFill>
                        <a:srgbClr val="D8E2E9"/>
                      </a:solidFill>
                    </a:lnR>
                    <a:lnT w="9525">
                      <a:solidFill>
                        <a:srgbClr val="D8E2E9"/>
                      </a:solidFill>
                    </a:lnT>
                    <a:lnB w="9525">
                      <a:solidFill>
                        <a:srgbClr val="D8E2E9"/>
                      </a:solidFill>
                    </a:lnB>
                    <a:solidFill>
                      <a:srgbClr val="142D43"/>
                    </a:solidFill>
                  </a:tcPr>
                </a:tc>
                <a:tc>
                  <a:txBody>
                    <a:bodyPr/>
                    <a:lstStyle/>
                    <a:p>
                      <a:r>
                        <a:rPr sz="1950" b="1">
                          <a:solidFill>
                            <a:srgbClr val="FFFFFF"/>
                          </a:solidFill>
                          <a:latin typeface="Apple SD Gothic Neo"/>
                          <a:ea typeface="Apple SD Gothic Neo"/>
                          <a:cs typeface="Apple SD Gothic Neo"/>
                        </a:rPr>
                        <a:t>환불 정정 후</a:t>
                      </a:r>
                    </a:p>
                  </a:txBody>
                  <a:tcPr marL="152400" marR="114300" marT="114300" marB="95250">
                    <a:lnR w="9525">
                      <a:solidFill>
                        <a:srgbClr val="D8E2E9"/>
                      </a:solidFill>
                    </a:lnR>
                    <a:lnT w="9525">
                      <a:solidFill>
                        <a:srgbClr val="D8E2E9"/>
                      </a:solidFill>
                    </a:lnT>
                    <a:lnB w="9525">
                      <a:solidFill>
                        <a:srgbClr val="D8E2E9"/>
                      </a:solidFill>
                    </a:lnB>
                    <a:solidFill>
                      <a:srgbClr val="142D43"/>
                    </a:solidFill>
                  </a:tcPr>
                </a:tc>
              </a:tr>
              <a:tr h="685800">
                <a:tc>
                  <a:txBody>
                    <a:bodyPr/>
                    <a:lstStyle/>
                    <a:p>
                      <a:r>
                        <a:rPr sz="2025">
                          <a:solidFill>
                            <a:srgbClr val="142D43"/>
                          </a:solidFill>
                          <a:latin typeface="Apple SD Gothic Neo"/>
                          <a:ea typeface="Apple SD Gothic Neo"/>
                          <a:cs typeface="Apple SD Gothic Neo"/>
                        </a:rPr>
                        <a:t>Bronze</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CDC 원문과 수집 위치</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20,000원 입력 + 30,000원 정정 이력</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Silver</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버전 순서에 따른 현재 상태</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같은 refund_id 한 행, 30,000원</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Gold</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정의한 지표와 집계 결과</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주문일 기준 순결제액 70,000원</a:t>
                      </a:r>
                    </a:p>
                  </a:txBody>
                  <a:tcPr marL="152400" marR="114300" marT="114300" marB="95250">
                    <a:lnR w="9525">
                      <a:solidFill>
                        <a:srgbClr val="D8E2E9"/>
                      </a:solidFill>
                    </a:lnR>
                    <a:lnB w="9525">
                      <a:solidFill>
                        <a:srgbClr val="D8E2E9"/>
                      </a:solidFill>
                    </a:lnB>
                  </a:tcPr>
                </a:tc>
              </a:tr>
            </a:tbl>
          </a:graphicData>
        </a:graphic>
      </p:graphicFrame>
    </p:spTree>
    <p:extLst>
      <p:ext uri="{BB962C8B-B14F-4D97-AF65-F5344CB8AC3E}">
        <p14:creationId xmlns:p14="http://schemas.microsoft.com/office/powerpoint/2010/main" val="1093693198"/>
      </p:ext>
    </p:extLst>
  </p:cSld>
</p:sld>
</file>

<file path=ppt/slides/slide8.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3CFC29-5B7D-4F46-9E8A-68CE2A26AE44}"/>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아키텍처 2. 저장소와 메타데이터</a:t>
            </a:r>
          </a:p>
        </p:txBody>
      </p:sp>
      <p:sp>
        <p:nvSpPr>
          <p:cNvPr id="2" name="">
            <a:extLst xmlns:a="http://schemas.openxmlformats.org/drawingml/2006/main">
              <a:ext uri="{FF2B5EF4-FFF2-40B4-BE49-F238E27FC236}">
                <a16:creationId xmlns:a16="http://schemas.microsoft.com/office/drawing/2014/main" id="{15FF3BF8-BA1A-48DD-B4D0-E2B178C864AB}"/>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00:10–00:25     08</a:t>
            </a:r>
          </a:p>
        </p:txBody>
      </p:sp>
      <p:pic>
        <p:nvPicPr>
          <p:cNvPr id="3" name="">
            <a:extLst xmlns:a="http://schemas.openxmlformats.org/drawingml/2006/main">
              <a:ext uri="{FF2B5EF4-FFF2-40B4-BE49-F238E27FC236}">
                <a16:creationId xmlns:a16="http://schemas.microsoft.com/office/drawing/2014/main" id="{6EADBCAB-043B-44DB-B057-9F3E6146AC45}"/>
              </a:ext>
            </a:extLst>
          </p:cNvPr>
          <p:cNvPicPr>
            <a:picLocks xmlns:a="http://schemas.openxmlformats.org/drawingml/2006/main" noChangeAspect="1"/>
          </p:cNvPicPr>
          <p:nvPr/>
        </p:nvPicPr>
        <p:blipFill>
          <a:blip xmlns:r="http://schemas.openxmlformats.org/officeDocument/2006/relationships" xmlns:a="http://schemas.openxmlformats.org/drawingml/2006/main" r:embed="R044470835afb4ce9"/>
          <a:stretch xmlns:a="http://schemas.openxmlformats.org/drawingml/2006/main"/>
        </p:blipFill>
        <p:spPr>
          <a:xfrm xmlns:a="http://schemas.openxmlformats.org/drawingml/2006/main">
            <a:off x="1012329" y="1428750"/>
            <a:ext cx="6947892" cy="4819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210D595-E7C6-4A35-93CA-244F3B492226}"/>
              </a:ext>
            </a:extLst>
          </p:cNvPr>
          <p:cNvSpPr>
            <a:spLocks xmlns:a="http://schemas.openxmlformats.org/drawingml/2006/main" noGrp="1"/>
          </p:cNvSpPr>
          <p:nvPr/>
        </p:nvSpPr>
        <p:spPr>
          <a:xfrm xmlns:a="http://schemas.openxmlformats.org/drawingml/2006/main">
            <a:off x="8972550" y="1762125"/>
            <a:ext cx="257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087F8C"/>
                </a:solidFill>
                <a:latin typeface="Apple SD Gothic Neo"/>
                <a:ea typeface="Apple SD Gothic Neo"/>
                <a:cs typeface="Apple SD Gothic Neo"/>
              </a:defRPr>
            </a:defPPr>
          </a:lstStyle>
          <a:p xmlns:a="http://schemas.openxmlformats.org/drawingml/2006/main">
            <a:pPr>
              <a:defRPr sz="2025" b="1">
                <a:solidFill>
                  <a:srgbClr val="087F8C"/>
                </a:solidFill>
                <a:latin typeface="Apple SD Gothic Neo"/>
                <a:ea typeface="Apple SD Gothic Neo"/>
                <a:cs typeface="Apple SD Gothic Neo"/>
              </a:defRPr>
            </a:pPr>
            <a:r>
              <a:rPr sz="2025" b="1">
                <a:solidFill>
                  <a:srgbClr val="087F8C"/>
                </a:solidFill>
                <a:latin typeface="Apple SD Gothic Neo"/>
                <a:ea typeface="Apple SD Gothic Neo"/>
                <a:cs typeface="Apple SD Gothic Neo"/>
              </a:rPr>
              <a:t>MinIO에</a:t>
            </a:r>
          </a:p>
          <a:p xmlns:a="http://schemas.openxmlformats.org/drawingml/2006/main">
            <a:pPr>
              <a:defRPr sz="2025" b="1">
                <a:solidFill>
                  <a:srgbClr val="087F8C"/>
                </a:solidFill>
                <a:latin typeface="Apple SD Gothic Neo"/>
                <a:ea typeface="Apple SD Gothic Neo"/>
                <a:cs typeface="Apple SD Gothic Neo"/>
              </a:defRPr>
            </a:pPr>
            <a:r>
              <a:rPr sz="2025" b="1">
                <a:solidFill>
                  <a:srgbClr val="087F8C"/>
                </a:solidFill>
                <a:latin typeface="Apple SD Gothic Neo"/>
                <a:ea typeface="Apple SD Gothic Neo"/>
                <a:cs typeface="Apple SD Gothic Neo"/>
              </a:rPr>
              <a:t>파일 저장</a:t>
            </a:r>
          </a:p>
        </p:txBody>
      </p:sp>
      <p:sp>
        <p:nvSpPr>
          <p:cNvPr id="5" name="">
            <a:extLst xmlns:a="http://schemas.openxmlformats.org/drawingml/2006/main">
              <a:ext uri="{FF2B5EF4-FFF2-40B4-BE49-F238E27FC236}">
                <a16:creationId xmlns:a16="http://schemas.microsoft.com/office/drawing/2014/main" id="{23100306-1031-4E76-87BC-88CF9F573179}"/>
              </a:ext>
            </a:extLst>
          </p:cNvPr>
          <p:cNvSpPr>
            <a:spLocks xmlns:a="http://schemas.openxmlformats.org/drawingml/2006/main" noGrp="1"/>
          </p:cNvSpPr>
          <p:nvPr/>
        </p:nvSpPr>
        <p:spPr>
          <a:xfrm xmlns:a="http://schemas.openxmlformats.org/drawingml/2006/main">
            <a:off x="8972550" y="3114675"/>
            <a:ext cx="257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42D43"/>
                </a:solidFill>
                <a:latin typeface="Apple SD Gothic Neo"/>
                <a:ea typeface="Apple SD Gothic Neo"/>
                <a:cs typeface="Apple SD Gothic Neo"/>
              </a:defRPr>
            </a:defPPr>
          </a:lstStyle>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Catalog에</a:t>
            </a:r>
          </a:p>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테이블 위치 관리</a:t>
            </a:r>
          </a:p>
        </p:txBody>
      </p:sp>
      <p:sp>
        <p:nvSpPr>
          <p:cNvPr id="6" name="">
            <a:extLst xmlns:a="http://schemas.openxmlformats.org/drawingml/2006/main">
              <a:ext uri="{FF2B5EF4-FFF2-40B4-BE49-F238E27FC236}">
                <a16:creationId xmlns:a16="http://schemas.microsoft.com/office/drawing/2014/main" id="{9FB406FE-DEB6-446A-9B16-C1C9368D1886}"/>
              </a:ext>
            </a:extLst>
          </p:cNvPr>
          <p:cNvSpPr>
            <a:spLocks xmlns:a="http://schemas.openxmlformats.org/drawingml/2006/main" noGrp="1"/>
          </p:cNvSpPr>
          <p:nvPr/>
        </p:nvSpPr>
        <p:spPr>
          <a:xfrm xmlns:a="http://schemas.openxmlformats.org/drawingml/2006/main">
            <a:off x="8972550" y="4467225"/>
            <a:ext cx="257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42D43"/>
                </a:solidFill>
                <a:latin typeface="Apple SD Gothic Neo"/>
                <a:ea typeface="Apple SD Gothic Neo"/>
                <a:cs typeface="Apple SD Gothic Neo"/>
              </a:defRPr>
            </a:defPPr>
          </a:lstStyle>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Flink 복구 상태는</a:t>
            </a:r>
          </a:p>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별도 저장</a:t>
            </a:r>
          </a:p>
        </p:txBody>
      </p:sp>
    </p:spTree>
    <p:extLst>
      <p:ext uri="{BB962C8B-B14F-4D97-AF65-F5344CB8AC3E}">
        <p14:creationId xmlns:p14="http://schemas.microsoft.com/office/powerpoint/2010/main" val="579202252"/>
      </p:ext>
    </p:extLst>
  </p:cSld>
</p:sld>
</file>

<file path=ppt/slides/slide9.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848B51-7407-4A41-BA47-993439B7129B}"/>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아키텍처 3. 실행 환경</a:t>
            </a:r>
          </a:p>
        </p:txBody>
      </p:sp>
      <p:sp>
        <p:nvSpPr>
          <p:cNvPr id="2" name="">
            <a:extLst xmlns:a="http://schemas.openxmlformats.org/drawingml/2006/main">
              <a:ext uri="{FF2B5EF4-FFF2-40B4-BE49-F238E27FC236}">
                <a16:creationId xmlns:a16="http://schemas.microsoft.com/office/drawing/2014/main" id="{7EC0BE64-3254-423B-BCE5-A0ECAED28541}"/>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00:10–00:25     09</a:t>
            </a:r>
          </a:p>
        </p:txBody>
      </p:sp>
      <p:pic>
        <p:nvPicPr>
          <p:cNvPr id="3" name="">
            <a:extLst xmlns:a="http://schemas.openxmlformats.org/drawingml/2006/main">
              <a:ext uri="{FF2B5EF4-FFF2-40B4-BE49-F238E27FC236}">
                <a16:creationId xmlns:a16="http://schemas.microsoft.com/office/drawing/2014/main" id="{FC2DD130-4971-4D5B-B5A4-771594559EE9}"/>
              </a:ext>
            </a:extLst>
          </p:cNvPr>
          <p:cNvPicPr>
            <a:picLocks xmlns:a="http://schemas.openxmlformats.org/drawingml/2006/main" noChangeAspect="1"/>
          </p:cNvPicPr>
          <p:nvPr/>
        </p:nvPicPr>
        <p:blipFill>
          <a:blip xmlns:r="http://schemas.openxmlformats.org/officeDocument/2006/relationships" xmlns:a="http://schemas.openxmlformats.org/drawingml/2006/main" r:embed="R3ba8df07dfff4ed3"/>
          <a:stretch xmlns:a="http://schemas.openxmlformats.org/drawingml/2006/main"/>
        </p:blipFill>
        <p:spPr>
          <a:xfrm xmlns:a="http://schemas.openxmlformats.org/drawingml/2006/main">
            <a:off x="1233107" y="1428750"/>
            <a:ext cx="6506336" cy="48196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E6C646-0D1D-49A0-9DB6-1EE0AD5E18F1}"/>
              </a:ext>
            </a:extLst>
          </p:cNvPr>
          <p:cNvSpPr>
            <a:spLocks xmlns:a="http://schemas.openxmlformats.org/drawingml/2006/main" noGrp="1"/>
          </p:cNvSpPr>
          <p:nvPr/>
        </p:nvSpPr>
        <p:spPr>
          <a:xfrm xmlns:a="http://schemas.openxmlformats.org/drawingml/2006/main">
            <a:off x="8972550" y="1762125"/>
            <a:ext cx="257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087F8C"/>
                </a:solidFill>
                <a:latin typeface="Apple SD Gothic Neo"/>
                <a:ea typeface="Apple SD Gothic Neo"/>
                <a:cs typeface="Apple SD Gothic Neo"/>
              </a:defRPr>
            </a:defPPr>
          </a:lstStyle>
          <a:p xmlns:a="http://schemas.openxmlformats.org/drawingml/2006/main">
            <a:pPr>
              <a:defRPr sz="2025" b="1">
                <a:solidFill>
                  <a:srgbClr val="087F8C"/>
                </a:solidFill>
                <a:latin typeface="Apple SD Gothic Neo"/>
                <a:ea typeface="Apple SD Gothic Neo"/>
                <a:cs typeface="Apple SD Gothic Neo"/>
              </a:defRPr>
            </a:pPr>
            <a:r>
              <a:rPr sz="2025" b="1">
                <a:solidFill>
                  <a:srgbClr val="087F8C"/>
                </a:solidFill>
                <a:latin typeface="Apple SD Gothic Neo"/>
                <a:ea typeface="Apple SD Gothic Neo"/>
                <a:cs typeface="Apple SD Gothic Neo"/>
              </a:rPr>
              <a:t>강사 노트북에서</a:t>
            </a:r>
          </a:p>
          <a:p xmlns:a="http://schemas.openxmlformats.org/drawingml/2006/main">
            <a:pPr>
              <a:defRPr sz="2025" b="1">
                <a:solidFill>
                  <a:srgbClr val="087F8C"/>
                </a:solidFill>
                <a:latin typeface="Apple SD Gothic Neo"/>
                <a:ea typeface="Apple SD Gothic Neo"/>
                <a:cs typeface="Apple SD Gothic Neo"/>
              </a:defRPr>
            </a:pPr>
            <a:r>
              <a:rPr sz="2025" b="1">
                <a:solidFill>
                  <a:srgbClr val="087F8C"/>
                </a:solidFill>
                <a:latin typeface="Apple SD Gothic Neo"/>
                <a:ea typeface="Apple SD Gothic Neo"/>
                <a:cs typeface="Apple SD Gothic Neo"/>
              </a:rPr>
              <a:t>화면 공유</a:t>
            </a:r>
          </a:p>
        </p:txBody>
      </p:sp>
      <p:sp>
        <p:nvSpPr>
          <p:cNvPr id="5" name="">
            <a:extLst xmlns:a="http://schemas.openxmlformats.org/drawingml/2006/main">
              <a:ext uri="{FF2B5EF4-FFF2-40B4-BE49-F238E27FC236}">
                <a16:creationId xmlns:a16="http://schemas.microsoft.com/office/drawing/2014/main" id="{A7691157-B9C7-4B81-8998-3F3D92ADBF7B}"/>
              </a:ext>
            </a:extLst>
          </p:cNvPr>
          <p:cNvSpPr>
            <a:spLocks xmlns:a="http://schemas.openxmlformats.org/drawingml/2006/main" noGrp="1"/>
          </p:cNvSpPr>
          <p:nvPr/>
        </p:nvSpPr>
        <p:spPr>
          <a:xfrm xmlns:a="http://schemas.openxmlformats.org/drawingml/2006/main">
            <a:off x="8972550" y="3114675"/>
            <a:ext cx="257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42D43"/>
                </a:solidFill>
                <a:latin typeface="Apple SD Gothic Neo"/>
                <a:ea typeface="Apple SD Gothic Neo"/>
                <a:cs typeface="Apple SD Gothic Neo"/>
              </a:defRPr>
            </a:defPPr>
          </a:lstStyle>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맥미니의</a:t>
            </a:r>
          </a:p>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Lima·Docker 실행</a:t>
            </a:r>
          </a:p>
        </p:txBody>
      </p:sp>
      <p:sp>
        <p:nvSpPr>
          <p:cNvPr id="6" name="">
            <a:extLst xmlns:a="http://schemas.openxmlformats.org/drawingml/2006/main">
              <a:ext uri="{FF2B5EF4-FFF2-40B4-BE49-F238E27FC236}">
                <a16:creationId xmlns:a16="http://schemas.microsoft.com/office/drawing/2014/main" id="{C57A7960-2CC3-4446-BAB7-8D5481466B7C}"/>
              </a:ext>
            </a:extLst>
          </p:cNvPr>
          <p:cNvSpPr>
            <a:spLocks xmlns:a="http://schemas.openxmlformats.org/drawingml/2006/main" noGrp="1"/>
          </p:cNvSpPr>
          <p:nvPr/>
        </p:nvSpPr>
        <p:spPr>
          <a:xfrm xmlns:a="http://schemas.openxmlformats.org/drawingml/2006/main">
            <a:off x="8972550" y="4467225"/>
            <a:ext cx="2571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42D43"/>
                </a:solidFill>
                <a:latin typeface="Apple SD Gothic Neo"/>
                <a:ea typeface="Apple SD Gothic Neo"/>
                <a:cs typeface="Apple SD Gothic Neo"/>
              </a:defRPr>
            </a:defPPr>
          </a:lstStyle>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학생은 로컬에서</a:t>
            </a:r>
          </a:p>
          <a:p xmlns:a="http://schemas.openxmlformats.org/drawingml/2006/main">
            <a:pPr>
              <a:defRPr sz="2025" b="0">
                <a:solidFill>
                  <a:srgbClr val="142D43"/>
                </a:solidFill>
                <a:latin typeface="Apple SD Gothic Neo"/>
                <a:ea typeface="Apple SD Gothic Neo"/>
                <a:cs typeface="Apple SD Gothic Neo"/>
              </a:defRPr>
            </a:pPr>
            <a:r>
              <a:rPr sz="2025" b="0">
                <a:solidFill>
                  <a:srgbClr val="142D43"/>
                </a:solidFill>
                <a:latin typeface="Apple SD Gothic Neo"/>
                <a:ea typeface="Apple SD Gothic Neo"/>
                <a:cs typeface="Apple SD Gothic Neo"/>
              </a:rPr>
              <a:t>SQL·설계 작성</a:t>
            </a:r>
          </a:p>
        </p:txBody>
      </p:sp>
    </p:spTree>
    <p:extLst>
      <p:ext uri="{BB962C8B-B14F-4D97-AF65-F5344CB8AC3E}">
        <p14:creationId xmlns:p14="http://schemas.microsoft.com/office/powerpoint/2010/main" val="1521143409"/>
      </p:ext>
    </p:extLst>
  </p:cSld>
</p:sld>
</file>

<file path=ppt/slides/slide10.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C71BF8-DCBC-4948-9D9B-806E228A1CF7}"/>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수집 완료와 지표 갱신</a:t>
            </a:r>
          </a:p>
        </p:txBody>
      </p:sp>
      <p:sp>
        <p:nvSpPr>
          <p:cNvPr id="2" name="">
            <a:extLst xmlns:a="http://schemas.openxmlformats.org/drawingml/2006/main">
              <a:ext uri="{FF2B5EF4-FFF2-40B4-BE49-F238E27FC236}">
                <a16:creationId xmlns:a16="http://schemas.microsoft.com/office/drawing/2014/main" id="{E99890FD-FCC2-4D7F-A3EE-ECD71D042680}"/>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00:10–00:25     10</a:t>
            </a:r>
          </a:p>
        </p:txBody>
      </p:sp>
      <p:sp>
        <p:nvSpPr>
          <p:cNvPr id="3" name="">
            <a:extLst xmlns:a="http://schemas.openxmlformats.org/drawingml/2006/main">
              <a:ext uri="{FF2B5EF4-FFF2-40B4-BE49-F238E27FC236}">
                <a16:creationId xmlns:a16="http://schemas.microsoft.com/office/drawing/2014/main" id="{6CA50D1E-E6EC-491B-B5A8-76D311CE391F}"/>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Flink는 변경 이벤트를 Bronze에 계속 적재합니다</a:t>
            </a:r>
          </a:p>
        </p:txBody>
      </p:sp>
      <p:sp>
        <p:nvSpPr>
          <p:cNvPr id="4" name="">
            <a:extLst xmlns:a="http://schemas.openxmlformats.org/drawingml/2006/main">
              <a:ext uri="{FF2B5EF4-FFF2-40B4-BE49-F238E27FC236}">
                <a16:creationId xmlns:a16="http://schemas.microsoft.com/office/drawing/2014/main" id="{89BF92AC-D6D5-4BD6-8A5A-CF07A5291D9F}"/>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Silver·Gold는 오늘 수동으로 갱신합니다</a:t>
            </a:r>
          </a:p>
        </p:txBody>
      </p:sp>
      <p:sp>
        <p:nvSpPr>
          <p:cNvPr id="5" name="">
            <a:extLst xmlns:a="http://schemas.openxmlformats.org/drawingml/2006/main">
              <a:ext uri="{FF2B5EF4-FFF2-40B4-BE49-F238E27FC236}">
                <a16:creationId xmlns:a16="http://schemas.microsoft.com/office/drawing/2014/main" id="{19D4DDA8-616A-4C79-84BC-805B1F290ECA}"/>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각 계층의 실제 값으로 반영 여부를 확인합니다</a:t>
            </a:r>
          </a:p>
        </p:txBody>
      </p:sp>
    </p:spTree>
    <p:extLst>
      <p:ext uri="{BB962C8B-B14F-4D97-AF65-F5344CB8AC3E}">
        <p14:creationId xmlns:p14="http://schemas.microsoft.com/office/powerpoint/2010/main" val="357759450"/>
      </p:ext>
    </p:extLst>
  </p:cSld>
</p:sld>
</file>

<file path=ppt/slides/slide11.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45F423C-7858-4543-AB60-6AA172F08A0F}"/>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주문·결제·환불의 원천 모델</a:t>
            </a:r>
          </a:p>
        </p:txBody>
      </p:sp>
      <p:sp>
        <p:nvSpPr>
          <p:cNvPr id="2" name="">
            <a:extLst xmlns:a="http://schemas.openxmlformats.org/drawingml/2006/main">
              <a:ext uri="{FF2B5EF4-FFF2-40B4-BE49-F238E27FC236}">
                <a16:creationId xmlns:a16="http://schemas.microsoft.com/office/drawing/2014/main" id="{E5272BF3-B5C5-495D-BB6F-1A0DF2075698}"/>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00:25–00:30     11</a:t>
            </a:r>
          </a:p>
        </p:txBody>
      </p:sp>
      <p:graphicFrame>
        <p:nvGraphicFramePr>
          <p:cNvPr id="3" name="">
            <a:extLst xmlns:a="http://schemas.openxmlformats.org/drawingml/2006/main">
              <a:ext uri="{FF2B5EF4-FFF2-40B4-BE49-F238E27FC236}">
                <a16:creationId xmlns:a16="http://schemas.microsoft.com/office/drawing/2014/main" id="{D5C58179-6B92-44A2-8477-C87AD1270F3A}"/>
              </a:ext>
            </a:extLst>
          </p:cNvPr>
          <p:cNvGraphicFramePr/>
          <p:nvPr/>
        </p:nvGraphicFramePr>
        <p:xfrm>
          <a:off xmlns:a="http://schemas.openxmlformats.org/drawingml/2006/main" x="609600" y="1657350"/>
          <a:ext xmlns:a="http://schemas.openxmlformats.org/drawingml/2006/main" cx="10972800" cy="2743200"/>
        </p:xfrm>
        <a:graphic xmlns:a="http://schemas.openxmlformats.org/drawingml/2006/main">
          <a:graphicData uri="http://schemas.openxmlformats.org/drawingml/2006/table">
            <a:tbl>
              <a:tblPr/>
              <a:tblGrid>
                <a:gridCol w="2286000"/>
                <a:gridCol w="3333750"/>
                <a:gridCol w="5353050"/>
              </a:tblGrid>
              <a:tr h="685800">
                <a:tc>
                  <a:txBody>
                    <a:bodyPr/>
                    <a:lstStyle/>
                    <a:p>
                      <a:r>
                        <a:rPr sz="1950" b="1">
                          <a:solidFill>
                            <a:srgbClr val="FFFFFF"/>
                          </a:solidFill>
                          <a:latin typeface="Apple SD Gothic Neo"/>
                          <a:ea typeface="Apple SD Gothic Neo"/>
                          <a:cs typeface="Apple SD Gothic Neo"/>
                        </a:rPr>
                        <a:t>테이블</a:t>
                      </a:r>
                    </a:p>
                  </a:txBody>
                  <a:tcPr marL="152400" marR="114300" marT="114300" marB="95250">
                    <a:lnL w="9525">
                      <a:solidFill>
                        <a:srgbClr val="D8E2E9"/>
                      </a:solidFill>
                    </a:lnL>
                    <a:lnR w="9525">
                      <a:solidFill>
                        <a:srgbClr val="D8E2E9"/>
                      </a:solidFill>
                    </a:lnR>
                    <a:lnT w="9525">
                      <a:solidFill>
                        <a:srgbClr val="D8E2E9"/>
                      </a:solidFill>
                    </a:lnT>
                    <a:lnB w="9525">
                      <a:solidFill>
                        <a:srgbClr val="D8E2E9"/>
                      </a:solidFill>
                    </a:lnB>
                    <a:solidFill>
                      <a:srgbClr val="142D43"/>
                    </a:solidFill>
                  </a:tcPr>
                </a:tc>
                <a:tc>
                  <a:txBody>
                    <a:bodyPr/>
                    <a:lstStyle/>
                    <a:p>
                      <a:r>
                        <a:rPr sz="1950" b="1">
                          <a:solidFill>
                            <a:srgbClr val="FFFFFF"/>
                          </a:solidFill>
                          <a:latin typeface="Apple SD Gothic Neo"/>
                          <a:ea typeface="Apple SD Gothic Neo"/>
                          <a:cs typeface="Apple SD Gothic Neo"/>
                        </a:rPr>
                        <a:t>한 행의 의미</a:t>
                      </a:r>
                    </a:p>
                  </a:txBody>
                  <a:tcPr marL="152400" marR="114300" marT="114300" marB="95250">
                    <a:lnR w="9525">
                      <a:solidFill>
                        <a:srgbClr val="D8E2E9"/>
                      </a:solidFill>
                    </a:lnR>
                    <a:lnT w="9525">
                      <a:solidFill>
                        <a:srgbClr val="D8E2E9"/>
                      </a:solidFill>
                    </a:lnT>
                    <a:lnB w="9525">
                      <a:solidFill>
                        <a:srgbClr val="D8E2E9"/>
                      </a:solidFill>
                    </a:lnB>
                    <a:solidFill>
                      <a:srgbClr val="142D43"/>
                    </a:solidFill>
                  </a:tcPr>
                </a:tc>
                <a:tc>
                  <a:txBody>
                    <a:bodyPr/>
                    <a:lstStyle/>
                    <a:p>
                      <a:r>
                        <a:rPr sz="1950" b="1">
                          <a:solidFill>
                            <a:srgbClr val="FFFFFF"/>
                          </a:solidFill>
                          <a:latin typeface="Apple SD Gothic Neo"/>
                          <a:ea typeface="Apple SD Gothic Neo"/>
                          <a:cs typeface="Apple SD Gothic Neo"/>
                        </a:rPr>
                        <a:t>키와 관계</a:t>
                      </a:r>
                    </a:p>
                  </a:txBody>
                  <a:tcPr marL="152400" marR="114300" marT="114300" marB="95250">
                    <a:lnR w="9525">
                      <a:solidFill>
                        <a:srgbClr val="D8E2E9"/>
                      </a:solidFill>
                    </a:lnR>
                    <a:lnT w="9525">
                      <a:solidFill>
                        <a:srgbClr val="D8E2E9"/>
                      </a:solidFill>
                    </a:lnT>
                    <a:lnB w="9525">
                      <a:solidFill>
                        <a:srgbClr val="D8E2E9"/>
                      </a:solidFill>
                    </a:lnB>
                    <a:solidFill>
                      <a:srgbClr val="142D43"/>
                    </a:solidFill>
                  </a:tcPr>
                </a:tc>
              </a:tr>
              <a:tr h="685800">
                <a:tc>
                  <a:txBody>
                    <a:bodyPr/>
                    <a:lstStyle/>
                    <a:p>
                      <a:r>
                        <a:rPr sz="2025">
                          <a:solidFill>
                            <a:srgbClr val="142D43"/>
                          </a:solidFill>
                          <a:latin typeface="Apple SD Gothic Neo"/>
                          <a:ea typeface="Apple SD Gothic Neo"/>
                          <a:cs typeface="Apple SD Gothic Neo"/>
                        </a:rPr>
                        <a:t>orders</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주문 한 건</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PK order_id</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payments</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결제 한 건</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PK payment_id / FK order_id</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refunds</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환불 한 건</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PK refund_id / FK payment_id</a:t>
                      </a:r>
                    </a:p>
                  </a:txBody>
                  <a:tcPr marL="152400" marR="114300" marT="114300" marB="95250">
                    <a:lnR w="9525">
                      <a:solidFill>
                        <a:srgbClr val="D8E2E9"/>
                      </a:solidFill>
                    </a:lnR>
                    <a:lnB w="9525">
                      <a:solidFill>
                        <a:srgbClr val="D8E2E9"/>
                      </a:solidFill>
                    </a:lnB>
                  </a:tcPr>
                </a:tc>
              </a:tr>
            </a:tbl>
          </a:graphicData>
        </a:graphic>
      </p:graphicFrame>
    </p:spTree>
    <p:extLst>
      <p:ext uri="{BB962C8B-B14F-4D97-AF65-F5344CB8AC3E}">
        <p14:creationId xmlns:p14="http://schemas.microsoft.com/office/powerpoint/2010/main" val="1253842953"/>
      </p:ext>
    </p:extLst>
  </p:cSld>
</p:sld>
</file>

<file path=ppt/slides/slide12.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7029DD-1CBA-4418-93AD-215C9D512832}"/>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이번 예제의 지표 정의</a:t>
            </a:r>
          </a:p>
        </p:txBody>
      </p:sp>
      <p:sp>
        <p:nvSpPr>
          <p:cNvPr id="2" name="">
            <a:extLst xmlns:a="http://schemas.openxmlformats.org/drawingml/2006/main">
              <a:ext uri="{FF2B5EF4-FFF2-40B4-BE49-F238E27FC236}">
                <a16:creationId xmlns:a16="http://schemas.microsoft.com/office/drawing/2014/main" id="{5D75286D-62E3-43E6-9E07-459A04F9DC08}"/>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00:30–00:35     12</a:t>
            </a:r>
          </a:p>
        </p:txBody>
      </p:sp>
      <p:sp>
        <p:nvSpPr>
          <p:cNvPr id="3" name="">
            <a:extLst xmlns:a="http://schemas.openxmlformats.org/drawingml/2006/main">
              <a:ext uri="{FF2B5EF4-FFF2-40B4-BE49-F238E27FC236}">
                <a16:creationId xmlns:a16="http://schemas.microsoft.com/office/drawing/2014/main" id="{422C9396-5829-4C35-BF00-26F6A2276E88}"/>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주문일 기준 순결제액 = 성공 결제액 − 성공 환불액</a:t>
            </a:r>
          </a:p>
        </p:txBody>
      </p:sp>
      <p:sp>
        <p:nvSpPr>
          <p:cNvPr id="4" name="">
            <a:extLst xmlns:a="http://schemas.openxmlformats.org/drawingml/2006/main">
              <a:ext uri="{FF2B5EF4-FFF2-40B4-BE49-F238E27FC236}">
                <a16:creationId xmlns:a16="http://schemas.microsoft.com/office/drawing/2014/main" id="{25DC64CB-EB4F-4DAE-A949-DCD8114786F9}"/>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주문일을 Asia/Seoul 날짜로 묶습니다</a:t>
            </a:r>
          </a:p>
        </p:txBody>
      </p:sp>
      <p:sp>
        <p:nvSpPr>
          <p:cNvPr id="5" name="">
            <a:extLst xmlns:a="http://schemas.openxmlformats.org/drawingml/2006/main">
              <a:ext uri="{FF2B5EF4-FFF2-40B4-BE49-F238E27FC236}">
                <a16:creationId xmlns:a16="http://schemas.microsoft.com/office/drawing/2014/main" id="{17E99B71-D470-435B-A94E-4F15C9CE1BA4}"/>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환불 정정은 해당 주문일의 과거 지표를 바꿉니다</a:t>
            </a:r>
          </a:p>
        </p:txBody>
      </p:sp>
    </p:spTree>
    <p:extLst>
      <p:ext uri="{BB962C8B-B14F-4D97-AF65-F5344CB8AC3E}">
        <p14:creationId xmlns:p14="http://schemas.microsoft.com/office/powerpoint/2010/main" val="1855572066"/>
      </p:ext>
    </p:extLst>
  </p:cSld>
</p:sld>
</file>

<file path=ppt/slides/slide13.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B9492C-E66E-4A2F-B4BA-F3EC163B4A7D}"/>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학생 실습 파일</a:t>
            </a:r>
          </a:p>
        </p:txBody>
      </p:sp>
      <p:sp>
        <p:nvSpPr>
          <p:cNvPr id="2" name="">
            <a:extLst xmlns:a="http://schemas.openxmlformats.org/drawingml/2006/main">
              <a:ext uri="{FF2B5EF4-FFF2-40B4-BE49-F238E27FC236}">
                <a16:creationId xmlns:a16="http://schemas.microsoft.com/office/drawing/2014/main" id="{4D53DA24-732D-4417-B93D-2EA388F19C40}"/>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00:35–00:38     13</a:t>
            </a:r>
          </a:p>
        </p:txBody>
      </p:sp>
      <p:sp>
        <p:nvSpPr>
          <p:cNvPr id="3" name="">
            <a:extLst xmlns:a="http://schemas.openxmlformats.org/drawingml/2006/main">
              <a:ext uri="{FF2B5EF4-FFF2-40B4-BE49-F238E27FC236}">
                <a16:creationId xmlns:a16="http://schemas.microsoft.com/office/drawing/2014/main" id="{9710D5B0-5DA9-4C3E-B564-3FB3C248F094}"/>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student-worksheet.sql   SQL과 예상값 작성</a:t>
            </a:r>
          </a:p>
        </p:txBody>
      </p:sp>
      <p:sp>
        <p:nvSpPr>
          <p:cNvPr id="4" name="">
            <a:extLst xmlns:a="http://schemas.openxmlformats.org/drawingml/2006/main">
              <a:ext uri="{FF2B5EF4-FFF2-40B4-BE49-F238E27FC236}">
                <a16:creationId xmlns:a16="http://schemas.microsoft.com/office/drawing/2014/main" id="{5EE547CE-37A5-49A5-B166-0F9F7106B39D}"/>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submission-template.md   관찰표와 개인 설계 작성</a:t>
            </a:r>
          </a:p>
        </p:txBody>
      </p:sp>
      <p:sp>
        <p:nvSpPr>
          <p:cNvPr id="5" name="">
            <a:extLst xmlns:a="http://schemas.openxmlformats.org/drawingml/2006/main">
              <a:ext uri="{FF2B5EF4-FFF2-40B4-BE49-F238E27FC236}">
                <a16:creationId xmlns:a16="http://schemas.microsoft.com/office/drawing/2014/main" id="{745C6CD7-6D23-477E-8F3E-B63A5E7A920F}"/>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수업 중 작성한 SQL은 강사 화면에서 함께 검토합니다</a:t>
            </a:r>
          </a:p>
        </p:txBody>
      </p:sp>
    </p:spTree>
    <p:extLst>
      <p:ext uri="{BB962C8B-B14F-4D97-AF65-F5344CB8AC3E}">
        <p14:creationId xmlns:p14="http://schemas.microsoft.com/office/powerpoint/2010/main" val="856847662"/>
      </p:ext>
    </p:extLst>
  </p:cSld>
</p:sld>
</file>

<file path=ppt/slides/slide14.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1ADA711-A95A-4B29-A138-73291CAADC3A}"/>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실습 A. 주문과 결제 입력</a:t>
            </a:r>
          </a:p>
        </p:txBody>
      </p:sp>
      <p:sp>
        <p:nvSpPr>
          <p:cNvPr id="2" name="">
            <a:extLst xmlns:a="http://schemas.openxmlformats.org/drawingml/2006/main">
              <a:ext uri="{FF2B5EF4-FFF2-40B4-BE49-F238E27FC236}">
                <a16:creationId xmlns:a16="http://schemas.microsoft.com/office/drawing/2014/main" id="{0A0915ED-2DE3-4C5C-8930-CDB48902B60D}"/>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00:38–00:42     14</a:t>
            </a:r>
          </a:p>
        </p:txBody>
      </p:sp>
      <p:sp>
        <p:nvSpPr>
          <p:cNvPr id="3" name="">
            <a:extLst xmlns:a="http://schemas.openxmlformats.org/drawingml/2006/main">
              <a:ext uri="{FF2B5EF4-FFF2-40B4-BE49-F238E27FC236}">
                <a16:creationId xmlns:a16="http://schemas.microsoft.com/office/drawing/2014/main" id="{4B19389B-6362-49B7-B9A3-3A5592146B29}"/>
              </a:ext>
            </a:extLst>
          </p:cNvPr>
          <p:cNvSpPr>
            <a:spLocks xmlns:a="http://schemas.openxmlformats.org/drawingml/2006/main" noGrp="1"/>
          </p:cNvSpPr>
          <p:nvPr/>
        </p:nvSpPr>
        <p:spPr>
          <a:xfrm xmlns:a="http://schemas.openxmlformats.org/drawingml/2006/main">
            <a:off x="685800" y="1657350"/>
            <a:ext cx="10820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D43"/>
                </a:solidFill>
                <a:latin typeface="D2Coding"/>
                <a:ea typeface="D2Coding"/>
                <a:cs typeface="D2Coding"/>
              </a:defRPr>
            </a:defPPr>
          </a:lstStyle>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BEGIN;</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INSERT INTO orders (order_id, ordered_at, status)</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VALUES ('my-o1', '2026-10-19T10:00:00+09:00', 'confirmed');</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INSERT INTO payments (payment_id, order_id, amount, status)</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VALUES ('my-p1', 'my-o1', 100000, 'success');</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COMMIT;</a:t>
            </a:r>
          </a:p>
        </p:txBody>
      </p:sp>
      <p:sp>
        <p:nvSpPr>
          <p:cNvPr id="4" name="">
            <a:extLst xmlns:a="http://schemas.openxmlformats.org/drawingml/2006/main">
              <a:ext uri="{FF2B5EF4-FFF2-40B4-BE49-F238E27FC236}">
                <a16:creationId xmlns:a16="http://schemas.microsoft.com/office/drawing/2014/main" id="{07A45B57-96A7-4D27-AEE2-5AAEFB3A33E8}"/>
              </a:ext>
            </a:extLst>
          </p:cNvPr>
          <p:cNvSpPr>
            <a:spLocks xmlns:a="http://schemas.openxmlformats.org/drawingml/2006/main" noGrp="1"/>
          </p:cNvSpPr>
          <p:nvPr/>
        </p:nvSpPr>
        <p:spPr>
          <a:xfrm xmlns:a="http://schemas.openxmlformats.org/drawingml/2006/main">
            <a:off x="685800" y="571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87F8C"/>
                </a:solidFill>
                <a:latin typeface="Apple SD Gothic Neo"/>
                <a:ea typeface="Apple SD Gothic Neo"/>
                <a:cs typeface="Apple SD Gothic Neo"/>
              </a:defRPr>
            </a:defPPr>
          </a:lstStyle>
          <a:p xmlns:a="http://schemas.openxmlformats.org/drawingml/2006/main">
            <a:pPr>
              <a:defRPr sz="1875" b="0">
                <a:solidFill>
                  <a:srgbClr val="087F8C"/>
                </a:solidFill>
                <a:latin typeface="Apple SD Gothic Neo"/>
                <a:ea typeface="Apple SD Gothic Neo"/>
                <a:cs typeface="Apple SD Gothic Neo"/>
              </a:defRPr>
            </a:pPr>
            <a:r>
              <a:rPr sz="1875" b="0">
                <a:solidFill>
                  <a:srgbClr val="087F8C"/>
                </a:solidFill>
                <a:latin typeface="Apple SD Gothic Neo"/>
                <a:ea typeface="Apple SD Gothic Neo"/>
                <a:cs typeface="Apple SD Gothic Neo"/>
              </a:rPr>
              <a:t>학생 작업: 자기 키와 금액으로 바꾸고 결제 직후 예상값 기록</a:t>
            </a:r>
          </a:p>
        </p:txBody>
      </p:sp>
    </p:spTree>
    <p:extLst>
      <p:ext uri="{BB962C8B-B14F-4D97-AF65-F5344CB8AC3E}">
        <p14:creationId xmlns:p14="http://schemas.microsoft.com/office/powerpoint/2010/main" val="1881214298"/>
      </p:ext>
    </p:extLst>
  </p:cSld>
</p:sld>
</file>

<file path=ppt/slides/slide15.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5A2314-7B5F-4319-BC55-C320BE71D5AB}"/>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실습 A. 환불 입력과 정정</a:t>
            </a:r>
          </a:p>
        </p:txBody>
      </p:sp>
      <p:sp>
        <p:nvSpPr>
          <p:cNvPr id="2" name="">
            <a:extLst xmlns:a="http://schemas.openxmlformats.org/drawingml/2006/main">
              <a:ext uri="{FF2B5EF4-FFF2-40B4-BE49-F238E27FC236}">
                <a16:creationId xmlns:a16="http://schemas.microsoft.com/office/drawing/2014/main" id="{342B6449-3FA3-4F1A-8758-0FE7E9063845}"/>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00:42–00:45     15</a:t>
            </a:r>
          </a:p>
        </p:txBody>
      </p:sp>
      <p:sp>
        <p:nvSpPr>
          <p:cNvPr id="3" name="">
            <a:extLst xmlns:a="http://schemas.openxmlformats.org/drawingml/2006/main">
              <a:ext uri="{FF2B5EF4-FFF2-40B4-BE49-F238E27FC236}">
                <a16:creationId xmlns:a16="http://schemas.microsoft.com/office/drawing/2014/main" id="{50FC8536-5882-4B0A-8C2A-C84CECA88A86}"/>
              </a:ext>
            </a:extLst>
          </p:cNvPr>
          <p:cNvSpPr>
            <a:spLocks xmlns:a="http://schemas.openxmlformats.org/drawingml/2006/main" noGrp="1"/>
          </p:cNvSpPr>
          <p:nvPr/>
        </p:nvSpPr>
        <p:spPr>
          <a:xfrm xmlns:a="http://schemas.openxmlformats.org/drawingml/2006/main">
            <a:off x="685800" y="1657350"/>
            <a:ext cx="10820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42D43"/>
                </a:solidFill>
                <a:latin typeface="D2Coding"/>
                <a:ea typeface="D2Coding"/>
                <a:cs typeface="D2Coding"/>
              </a:defRPr>
            </a:defPPr>
          </a:lstStyle>
          <a:p xmlns:a="http://schemas.openxmlformats.org/drawingml/2006/main">
            <a:pPr>
              <a:defRPr sz="2025" b="0">
                <a:solidFill>
                  <a:srgbClr val="142D43"/>
                </a:solidFill>
                <a:latin typeface="D2Coding"/>
                <a:ea typeface="D2Coding"/>
                <a:cs typeface="D2Coding"/>
              </a:defRPr>
            </a:pPr>
            <a:r>
              <a:rPr sz="2025" b="0">
                <a:solidFill>
                  <a:srgbClr val="142D43"/>
                </a:solidFill>
                <a:latin typeface="D2Coding"/>
                <a:ea typeface="D2Coding"/>
                <a:cs typeface="D2Coding"/>
              </a:rPr>
              <a:t>INSERT INTO refunds (refund_id, payment_id, amount, status)</a:t>
            </a:r>
          </a:p>
          <a:p xmlns:a="http://schemas.openxmlformats.org/drawingml/2006/main">
            <a:pPr>
              <a:defRPr sz="2025" b="0">
                <a:solidFill>
                  <a:srgbClr val="142D43"/>
                </a:solidFill>
                <a:latin typeface="D2Coding"/>
                <a:ea typeface="D2Coding"/>
                <a:cs typeface="D2Coding"/>
              </a:defRPr>
            </a:pPr>
            <a:r>
              <a:rPr sz="2025" b="0">
                <a:solidFill>
                  <a:srgbClr val="142D43"/>
                </a:solidFill>
                <a:latin typeface="D2Coding"/>
                <a:ea typeface="D2Coding"/>
                <a:cs typeface="D2Coding"/>
              </a:rPr>
              <a:t>VALUES ('my-r1', 'my-p1', 20000, 'success');</a:t>
            </a:r>
          </a:p>
          <a:p xmlns:a="http://schemas.openxmlformats.org/drawingml/2006/main">
            <a:r>
              <a:t/>
            </a:r>
          </a:p>
          <a:p xmlns:a="http://schemas.openxmlformats.org/drawingml/2006/main">
            <a:pPr>
              <a:defRPr sz="2025" b="0">
                <a:solidFill>
                  <a:srgbClr val="142D43"/>
                </a:solidFill>
                <a:latin typeface="D2Coding"/>
                <a:ea typeface="D2Coding"/>
                <a:cs typeface="D2Coding"/>
              </a:defRPr>
            </a:pPr>
            <a:r>
              <a:rPr sz="2025" b="0">
                <a:solidFill>
                  <a:srgbClr val="142D43"/>
                </a:solidFill>
                <a:latin typeface="D2Coding"/>
                <a:ea typeface="D2Coding"/>
                <a:cs typeface="D2Coding"/>
              </a:rPr>
              <a:t>UPDATE refunds</a:t>
            </a:r>
          </a:p>
          <a:p xmlns:a="http://schemas.openxmlformats.org/drawingml/2006/main">
            <a:pPr>
              <a:defRPr sz="2025" b="0">
                <a:solidFill>
                  <a:srgbClr val="142D43"/>
                </a:solidFill>
                <a:latin typeface="D2Coding"/>
                <a:ea typeface="D2Coding"/>
                <a:cs typeface="D2Coding"/>
              </a:defRPr>
            </a:pPr>
            <a:r>
              <a:rPr sz="2025" b="0">
                <a:solidFill>
                  <a:srgbClr val="142D43"/>
                </a:solidFill>
                <a:latin typeface="D2Coding"/>
                <a:ea typeface="D2Coding"/>
                <a:cs typeface="D2Coding"/>
              </a:rPr>
              <a:t>SET amount = 30000</a:t>
            </a:r>
          </a:p>
          <a:p xmlns:a="http://schemas.openxmlformats.org/drawingml/2006/main">
            <a:pPr>
              <a:defRPr sz="2025" b="0">
                <a:solidFill>
                  <a:srgbClr val="142D43"/>
                </a:solidFill>
                <a:latin typeface="D2Coding"/>
                <a:ea typeface="D2Coding"/>
                <a:cs typeface="D2Coding"/>
              </a:defRPr>
            </a:pPr>
            <a:r>
              <a:rPr sz="2025" b="0">
                <a:solidFill>
                  <a:srgbClr val="142D43"/>
                </a:solidFill>
                <a:latin typeface="D2Coding"/>
                <a:ea typeface="D2Coding"/>
                <a:cs typeface="D2Coding"/>
              </a:rPr>
              <a:t>WHERE refund_id = 'my-r1';</a:t>
            </a:r>
          </a:p>
        </p:txBody>
      </p:sp>
      <p:sp>
        <p:nvSpPr>
          <p:cNvPr id="4" name="">
            <a:extLst xmlns:a="http://schemas.openxmlformats.org/drawingml/2006/main">
              <a:ext uri="{FF2B5EF4-FFF2-40B4-BE49-F238E27FC236}">
                <a16:creationId xmlns:a16="http://schemas.microsoft.com/office/drawing/2014/main" id="{B2AD8E5C-5CEC-4857-AB9A-6EC3859CE5CC}"/>
              </a:ext>
            </a:extLst>
          </p:cNvPr>
          <p:cNvSpPr>
            <a:spLocks xmlns:a="http://schemas.openxmlformats.org/drawingml/2006/main" noGrp="1"/>
          </p:cNvSpPr>
          <p:nvPr/>
        </p:nvSpPr>
        <p:spPr>
          <a:xfrm xmlns:a="http://schemas.openxmlformats.org/drawingml/2006/main">
            <a:off x="685800" y="571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87F8C"/>
                </a:solidFill>
                <a:latin typeface="Apple SD Gothic Neo"/>
                <a:ea typeface="Apple SD Gothic Neo"/>
                <a:cs typeface="Apple SD Gothic Neo"/>
              </a:defRPr>
            </a:defPPr>
          </a:lstStyle>
          <a:p xmlns:a="http://schemas.openxmlformats.org/drawingml/2006/main">
            <a:pPr>
              <a:defRPr sz="1875" b="0">
                <a:solidFill>
                  <a:srgbClr val="087F8C"/>
                </a:solidFill>
                <a:latin typeface="Apple SD Gothic Neo"/>
                <a:ea typeface="Apple SD Gothic Neo"/>
                <a:cs typeface="Apple SD Gothic Neo"/>
              </a:defRPr>
            </a:pPr>
            <a:r>
              <a:rPr sz="1875" b="0">
                <a:solidFill>
                  <a:srgbClr val="087F8C"/>
                </a:solidFill>
                <a:latin typeface="Apple SD Gothic Neo"/>
                <a:ea typeface="Apple SD Gothic Neo"/>
                <a:cs typeface="Apple SD Gothic Neo"/>
              </a:rPr>
              <a:t>학생 작업: 두 단계의 예상값과 UPDATE 대상 행 설명</a:t>
            </a:r>
          </a:p>
        </p:txBody>
      </p:sp>
    </p:spTree>
    <p:extLst>
      <p:ext uri="{BB962C8B-B14F-4D97-AF65-F5344CB8AC3E}">
        <p14:creationId xmlns:p14="http://schemas.microsoft.com/office/powerpoint/2010/main" val="903869933"/>
      </p:ext>
    </p:extLst>
  </p:cSld>
</p:sld>
</file>

<file path=ppt/slides/slide16.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088CF7-B814-45A4-869E-FC9165309FF2}"/>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실습 B. 원천 순결제액 계산</a:t>
            </a:r>
          </a:p>
        </p:txBody>
      </p:sp>
      <p:sp>
        <p:nvSpPr>
          <p:cNvPr id="2" name="">
            <a:extLst xmlns:a="http://schemas.openxmlformats.org/drawingml/2006/main">
              <a:ext uri="{FF2B5EF4-FFF2-40B4-BE49-F238E27FC236}">
                <a16:creationId xmlns:a16="http://schemas.microsoft.com/office/drawing/2014/main" id="{6AE8B673-EF93-49C3-8DA9-6ACADE0F3421}"/>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00:45–00:50     16</a:t>
            </a:r>
          </a:p>
        </p:txBody>
      </p:sp>
      <p:sp>
        <p:nvSpPr>
          <p:cNvPr id="3" name="">
            <a:extLst xmlns:a="http://schemas.openxmlformats.org/drawingml/2006/main">
              <a:ext uri="{FF2B5EF4-FFF2-40B4-BE49-F238E27FC236}">
                <a16:creationId xmlns:a16="http://schemas.microsoft.com/office/drawing/2014/main" id="{2BB6D5D1-C95E-4D94-80F1-6AC766F5F869}"/>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결제와 환불의 성공 금액을 각각 집계합니다</a:t>
            </a:r>
          </a:p>
        </p:txBody>
      </p:sp>
      <p:sp>
        <p:nvSpPr>
          <p:cNvPr id="4" name="">
            <a:extLst xmlns:a="http://schemas.openxmlformats.org/drawingml/2006/main">
              <a:ext uri="{FF2B5EF4-FFF2-40B4-BE49-F238E27FC236}">
                <a16:creationId xmlns:a16="http://schemas.microsoft.com/office/drawing/2014/main" id="{C04249B4-40CF-4A1F-99F5-1B0FB6CC5CAD}"/>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주문 키로 두 집계를 연결합니다</a:t>
            </a:r>
          </a:p>
        </p:txBody>
      </p:sp>
      <p:sp>
        <p:nvSpPr>
          <p:cNvPr id="5" name="">
            <a:extLst xmlns:a="http://schemas.openxmlformats.org/drawingml/2006/main">
              <a:ext uri="{FF2B5EF4-FFF2-40B4-BE49-F238E27FC236}">
                <a16:creationId xmlns:a16="http://schemas.microsoft.com/office/drawing/2014/main" id="{5F853B2B-C96E-4B66-A570-8CD42F63E191}"/>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환불이 없으면 0으로 처리합니다</a:t>
            </a:r>
          </a:p>
        </p:txBody>
      </p:sp>
    </p:spTree>
    <p:extLst>
      <p:ext uri="{BB962C8B-B14F-4D97-AF65-F5344CB8AC3E}">
        <p14:creationId xmlns:p14="http://schemas.microsoft.com/office/powerpoint/2010/main" val="828604065"/>
      </p:ext>
    </p:extLst>
  </p:cSld>
</p:sld>
</file>

<file path=ppt/slides/slide17.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6E25BC-4B35-4EFA-BA2B-0950836F4A5C}"/>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강사 시연 1. 결제 입력</a:t>
            </a:r>
          </a:p>
        </p:txBody>
      </p:sp>
      <p:sp>
        <p:nvSpPr>
          <p:cNvPr id="2" name="">
            <a:extLst xmlns:a="http://schemas.openxmlformats.org/drawingml/2006/main">
              <a:ext uri="{FF2B5EF4-FFF2-40B4-BE49-F238E27FC236}">
                <a16:creationId xmlns:a16="http://schemas.microsoft.com/office/drawing/2014/main" id="{5F412569-929A-400A-83D3-54ED8F20FF84}"/>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00:50–00:54     17</a:t>
            </a:r>
          </a:p>
        </p:txBody>
      </p:sp>
      <p:sp>
        <p:nvSpPr>
          <p:cNvPr id="3" name="">
            <a:extLst xmlns:a="http://schemas.openxmlformats.org/drawingml/2006/main">
              <a:ext uri="{FF2B5EF4-FFF2-40B4-BE49-F238E27FC236}">
                <a16:creationId xmlns:a16="http://schemas.microsoft.com/office/drawing/2014/main" id="{7B30A5C2-4676-4D94-9F15-76407AFA2780}"/>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결제 SQL 실행 후 Bronze 이벤트 대기</a:t>
            </a:r>
          </a:p>
        </p:txBody>
      </p:sp>
      <p:sp>
        <p:nvSpPr>
          <p:cNvPr id="4" name="">
            <a:extLst xmlns:a="http://schemas.openxmlformats.org/drawingml/2006/main">
              <a:ext uri="{FF2B5EF4-FFF2-40B4-BE49-F238E27FC236}">
                <a16:creationId xmlns:a16="http://schemas.microsoft.com/office/drawing/2014/main" id="{5AAF552B-E798-4E8B-91AD-F2F1A38DC672}"/>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Bronze에서 결제 이벤트와 수집 위치 확인</a:t>
            </a:r>
          </a:p>
        </p:txBody>
      </p:sp>
      <p:sp>
        <p:nvSpPr>
          <p:cNvPr id="5" name="">
            <a:extLst xmlns:a="http://schemas.openxmlformats.org/drawingml/2006/main">
              <a:ext uri="{FF2B5EF4-FFF2-40B4-BE49-F238E27FC236}">
                <a16:creationId xmlns:a16="http://schemas.microsoft.com/office/drawing/2014/main" id="{56CA9A40-7969-4047-8E9D-59332223D0C1}"/>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Silver·Gold 갱신 후 100,000원 확인</a:t>
            </a:r>
          </a:p>
        </p:txBody>
      </p:sp>
    </p:spTree>
    <p:extLst>
      <p:ext uri="{BB962C8B-B14F-4D97-AF65-F5344CB8AC3E}">
        <p14:creationId xmlns:p14="http://schemas.microsoft.com/office/powerpoint/2010/main" val="1103895905"/>
      </p:ext>
    </p:extLst>
  </p:cSld>
</p:sld>
</file>

<file path=ppt/slides/slide18.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66A4D0-C5FA-4545-B7F7-DDBB61641423}"/>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Bronze에서 읽을 항목</a:t>
            </a:r>
          </a:p>
        </p:txBody>
      </p:sp>
      <p:sp>
        <p:nvSpPr>
          <p:cNvPr id="2" name="">
            <a:extLst xmlns:a="http://schemas.openxmlformats.org/drawingml/2006/main">
              <a:ext uri="{FF2B5EF4-FFF2-40B4-BE49-F238E27FC236}">
                <a16:creationId xmlns:a16="http://schemas.microsoft.com/office/drawing/2014/main" id="{AAD90F48-A5A5-4694-8FCD-CCAAA21139CC}"/>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00:54–00:56     18</a:t>
            </a:r>
          </a:p>
        </p:txBody>
      </p:sp>
      <p:sp>
        <p:nvSpPr>
          <p:cNvPr id="3" name="">
            <a:extLst xmlns:a="http://schemas.openxmlformats.org/drawingml/2006/main">
              <a:ext uri="{FF2B5EF4-FFF2-40B4-BE49-F238E27FC236}">
                <a16:creationId xmlns:a16="http://schemas.microsoft.com/office/drawing/2014/main" id="{FAB60076-F857-4F61-884F-1ABD4732FF28}"/>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op = c 또는 u   입력과 수정 구분</a:t>
            </a:r>
          </a:p>
        </p:txBody>
      </p:sp>
      <p:sp>
        <p:nvSpPr>
          <p:cNvPr id="4" name="">
            <a:extLst xmlns:a="http://schemas.openxmlformats.org/drawingml/2006/main">
              <a:ext uri="{FF2B5EF4-FFF2-40B4-BE49-F238E27FC236}">
                <a16:creationId xmlns:a16="http://schemas.microsoft.com/office/drawing/2014/main" id="{C48668F6-5A57-4C8C-A184-2F57B0C0C9B2}"/>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before / after   수정 전후 값</a:t>
            </a:r>
          </a:p>
        </p:txBody>
      </p:sp>
      <p:sp>
        <p:nvSpPr>
          <p:cNvPr id="5" name="">
            <a:extLst xmlns:a="http://schemas.openxmlformats.org/drawingml/2006/main">
              <a:ext uri="{FF2B5EF4-FFF2-40B4-BE49-F238E27FC236}">
                <a16:creationId xmlns:a16="http://schemas.microsoft.com/office/drawing/2014/main" id="{FEE61BE8-4E67-42D8-80AA-DC0BA63FC149}"/>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topic · partition · offset   수집 위치</a:t>
            </a:r>
          </a:p>
        </p:txBody>
      </p:sp>
    </p:spTree>
    <p:extLst>
      <p:ext uri="{BB962C8B-B14F-4D97-AF65-F5344CB8AC3E}">
        <p14:creationId xmlns:p14="http://schemas.microsoft.com/office/powerpoint/2010/main" val="1005895574"/>
      </p:ext>
    </p:extLst>
  </p:cSld>
</p:sld>
</file>

<file path=ppt/slides/slide19.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B3D4C5-02BE-40DB-B979-85C93435B7D9}"/>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강사 시연 2. 환불 입력</a:t>
            </a:r>
          </a:p>
        </p:txBody>
      </p:sp>
      <p:sp>
        <p:nvSpPr>
          <p:cNvPr id="2" name="">
            <a:extLst xmlns:a="http://schemas.openxmlformats.org/drawingml/2006/main">
              <a:ext uri="{FF2B5EF4-FFF2-40B4-BE49-F238E27FC236}">
                <a16:creationId xmlns:a16="http://schemas.microsoft.com/office/drawing/2014/main" id="{AFDCFF87-066C-4331-BB0D-12308E689F7F}"/>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00:56–00:59     19</a:t>
            </a:r>
          </a:p>
        </p:txBody>
      </p:sp>
      <p:sp>
        <p:nvSpPr>
          <p:cNvPr id="3" name="">
            <a:extLst xmlns:a="http://schemas.openxmlformats.org/drawingml/2006/main">
              <a:ext uri="{FF2B5EF4-FFF2-40B4-BE49-F238E27FC236}">
                <a16:creationId xmlns:a16="http://schemas.microsoft.com/office/drawing/2014/main" id="{F20820A8-E59C-40B1-9A15-32DFAABC2436}"/>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환불 20,000원을 입력합니다</a:t>
            </a:r>
          </a:p>
        </p:txBody>
      </p:sp>
      <p:sp>
        <p:nvSpPr>
          <p:cNvPr id="4" name="">
            <a:extLst xmlns:a="http://schemas.openxmlformats.org/drawingml/2006/main">
              <a:ext uri="{FF2B5EF4-FFF2-40B4-BE49-F238E27FC236}">
                <a16:creationId xmlns:a16="http://schemas.microsoft.com/office/drawing/2014/main" id="{B5BACF5F-9199-48E9-AAD3-4936CDD7567A}"/>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Bronze에서 환불 이벤트를 확인합니다</a:t>
            </a:r>
          </a:p>
        </p:txBody>
      </p:sp>
      <p:sp>
        <p:nvSpPr>
          <p:cNvPr id="5" name="">
            <a:extLst xmlns:a="http://schemas.openxmlformats.org/drawingml/2006/main">
              <a:ext uri="{FF2B5EF4-FFF2-40B4-BE49-F238E27FC236}">
                <a16:creationId xmlns:a16="http://schemas.microsoft.com/office/drawing/2014/main" id="{2280A182-18B5-4967-8314-C863585A29F6}"/>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갱신 전에 source와 Gold를 비교합니다</a:t>
            </a:r>
          </a:p>
        </p:txBody>
      </p:sp>
    </p:spTree>
    <p:extLst>
      <p:ext uri="{BB962C8B-B14F-4D97-AF65-F5344CB8AC3E}">
        <p14:creationId xmlns:p14="http://schemas.microsoft.com/office/powerpoint/2010/main" val="1778726175"/>
      </p:ext>
    </p:extLst>
  </p:cSld>
</p:sld>
</file>

<file path=ppt/slides/slide20.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01A3601-510C-49F4-832D-18F8CC2F2A37}"/>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갱신 전후의 차이</a:t>
            </a:r>
          </a:p>
        </p:txBody>
      </p:sp>
      <p:sp>
        <p:nvSpPr>
          <p:cNvPr id="2" name="">
            <a:extLst xmlns:a="http://schemas.openxmlformats.org/drawingml/2006/main">
              <a:ext uri="{FF2B5EF4-FFF2-40B4-BE49-F238E27FC236}">
                <a16:creationId xmlns:a16="http://schemas.microsoft.com/office/drawing/2014/main" id="{14B06193-B8B1-4E97-8447-5F913E673F89}"/>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00:59–01:02     20</a:t>
            </a:r>
          </a:p>
        </p:txBody>
      </p:sp>
      <p:graphicFrame>
        <p:nvGraphicFramePr>
          <p:cNvPr id="3" name="">
            <a:extLst xmlns:a="http://schemas.openxmlformats.org/drawingml/2006/main">
              <a:ext uri="{FF2B5EF4-FFF2-40B4-BE49-F238E27FC236}">
                <a16:creationId xmlns:a16="http://schemas.microsoft.com/office/drawing/2014/main" id="{7609C63B-62D6-4A82-AA70-5E98524AC764}"/>
              </a:ext>
            </a:extLst>
          </p:cNvPr>
          <p:cNvGraphicFramePr/>
          <p:nvPr/>
        </p:nvGraphicFramePr>
        <p:xfrm>
          <a:off xmlns:a="http://schemas.openxmlformats.org/drawingml/2006/main" x="609600" y="1657350"/>
          <a:ext xmlns:a="http://schemas.openxmlformats.org/drawingml/2006/main" cx="10972800" cy="2743200"/>
        </p:xfrm>
        <a:graphic xmlns:a="http://schemas.openxmlformats.org/drawingml/2006/main">
          <a:graphicData uri="http://schemas.openxmlformats.org/drawingml/2006/table">
            <a:tbl>
              <a:tblPr/>
              <a:tblGrid>
                <a:gridCol w="4572000"/>
                <a:gridCol w="3200400"/>
                <a:gridCol w="3200400"/>
              </a:tblGrid>
              <a:tr h="685800">
                <a:tc>
                  <a:txBody>
                    <a:bodyPr/>
                    <a:lstStyle/>
                    <a:p>
                      <a:r>
                        <a:rPr sz="1950" b="1">
                          <a:solidFill>
                            <a:srgbClr val="FFFFFF"/>
                          </a:solidFill>
                          <a:latin typeface="Apple SD Gothic Neo"/>
                          <a:ea typeface="Apple SD Gothic Neo"/>
                          <a:cs typeface="Apple SD Gothic Neo"/>
                        </a:rPr>
                        <a:t>조회 시점</a:t>
                      </a:r>
                    </a:p>
                  </a:txBody>
                  <a:tcPr marL="152400" marR="114300" marT="114300" marB="95250">
                    <a:lnL w="9525">
                      <a:solidFill>
                        <a:srgbClr val="D8E2E9"/>
                      </a:solidFill>
                    </a:lnL>
                    <a:lnR w="9525">
                      <a:solidFill>
                        <a:srgbClr val="D8E2E9"/>
                      </a:solidFill>
                    </a:lnR>
                    <a:lnT w="9525">
                      <a:solidFill>
                        <a:srgbClr val="D8E2E9"/>
                      </a:solidFill>
                    </a:lnT>
                    <a:lnB w="9525">
                      <a:solidFill>
                        <a:srgbClr val="D8E2E9"/>
                      </a:solidFill>
                    </a:lnB>
                    <a:solidFill>
                      <a:srgbClr val="142D43"/>
                    </a:solidFill>
                  </a:tcPr>
                </a:tc>
                <a:tc>
                  <a:txBody>
                    <a:bodyPr/>
                    <a:lstStyle/>
                    <a:p>
                      <a:r>
                        <a:rPr sz="1950" b="1">
                          <a:solidFill>
                            <a:srgbClr val="FFFFFF"/>
                          </a:solidFill>
                          <a:latin typeface="Apple SD Gothic Neo"/>
                          <a:ea typeface="Apple SD Gothic Neo"/>
                          <a:cs typeface="Apple SD Gothic Neo"/>
                        </a:rPr>
                        <a:t>원천 순결제액</a:t>
                      </a:r>
                    </a:p>
                  </a:txBody>
                  <a:tcPr marL="152400" marR="114300" marT="114300" marB="95250">
                    <a:lnR w="9525">
                      <a:solidFill>
                        <a:srgbClr val="D8E2E9"/>
                      </a:solidFill>
                    </a:lnR>
                    <a:lnT w="9525">
                      <a:solidFill>
                        <a:srgbClr val="D8E2E9"/>
                      </a:solidFill>
                    </a:lnT>
                    <a:lnB w="9525">
                      <a:solidFill>
                        <a:srgbClr val="D8E2E9"/>
                      </a:solidFill>
                    </a:lnB>
                    <a:solidFill>
                      <a:srgbClr val="142D43"/>
                    </a:solidFill>
                  </a:tcPr>
                </a:tc>
                <a:tc>
                  <a:txBody>
                    <a:bodyPr/>
                    <a:lstStyle/>
                    <a:p>
                      <a:r>
                        <a:rPr sz="1950" b="1">
                          <a:solidFill>
                            <a:srgbClr val="FFFFFF"/>
                          </a:solidFill>
                          <a:latin typeface="Apple SD Gothic Neo"/>
                          <a:ea typeface="Apple SD Gothic Neo"/>
                          <a:cs typeface="Apple SD Gothic Neo"/>
                        </a:rPr>
                        <a:t>Gold 순결제액</a:t>
                      </a:r>
                    </a:p>
                  </a:txBody>
                  <a:tcPr marL="152400" marR="114300" marT="114300" marB="95250">
                    <a:lnR w="9525">
                      <a:solidFill>
                        <a:srgbClr val="D8E2E9"/>
                      </a:solidFill>
                    </a:lnR>
                    <a:lnT w="9525">
                      <a:solidFill>
                        <a:srgbClr val="D8E2E9"/>
                      </a:solidFill>
                    </a:lnT>
                    <a:lnB w="9525">
                      <a:solidFill>
                        <a:srgbClr val="D8E2E9"/>
                      </a:solidFill>
                    </a:lnB>
                    <a:solidFill>
                      <a:srgbClr val="142D43"/>
                    </a:solidFill>
                  </a:tcPr>
                </a:tc>
              </a:tr>
              <a:tr h="685800">
                <a:tc>
                  <a:txBody>
                    <a:bodyPr/>
                    <a:lstStyle/>
                    <a:p>
                      <a:r>
                        <a:rPr sz="2025">
                          <a:solidFill>
                            <a:srgbClr val="142D43"/>
                          </a:solidFill>
                          <a:latin typeface="Apple SD Gothic Neo"/>
                          <a:ea typeface="Apple SD Gothic Neo"/>
                          <a:cs typeface="Apple SD Gothic Neo"/>
                        </a:rPr>
                        <a:t>결제 후 갱신</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100,000원</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100,000원</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환불 후 갱신 전</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80,000원</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100,000원</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환불 후 갱신 완료</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80,000원</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80,000원</a:t>
                      </a:r>
                    </a:p>
                  </a:txBody>
                  <a:tcPr marL="152400" marR="114300" marT="114300" marB="95250">
                    <a:lnR w="9525">
                      <a:solidFill>
                        <a:srgbClr val="D8E2E9"/>
                      </a:solidFill>
                    </a:lnR>
                    <a:lnB w="9525">
                      <a:solidFill>
                        <a:srgbClr val="D8E2E9"/>
                      </a:solidFill>
                    </a:lnB>
                  </a:tcPr>
                </a:tc>
              </a:tr>
            </a:tbl>
          </a:graphicData>
        </a:graphic>
      </p:graphicFrame>
    </p:spTree>
    <p:extLst>
      <p:ext uri="{BB962C8B-B14F-4D97-AF65-F5344CB8AC3E}">
        <p14:creationId xmlns:p14="http://schemas.microsoft.com/office/powerpoint/2010/main" val="1350262530"/>
      </p:ext>
    </p:extLst>
  </p:cSld>
</p:sld>
</file>

<file path=ppt/slides/slide21.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F5CC6A-9FDF-4384-93BF-C72A7AEFD337}"/>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실습 기록. 반영 시점 비교</a:t>
            </a:r>
          </a:p>
        </p:txBody>
      </p:sp>
      <p:sp>
        <p:nvSpPr>
          <p:cNvPr id="2" name="">
            <a:extLst xmlns:a="http://schemas.openxmlformats.org/drawingml/2006/main">
              <a:ext uri="{FF2B5EF4-FFF2-40B4-BE49-F238E27FC236}">
                <a16:creationId xmlns:a16="http://schemas.microsoft.com/office/drawing/2014/main" id="{979071CA-305E-4456-B144-F841A50DF223}"/>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01:02–01:05     21</a:t>
            </a:r>
          </a:p>
        </p:txBody>
      </p:sp>
      <p:sp>
        <p:nvSpPr>
          <p:cNvPr id="3" name="">
            <a:extLst xmlns:a="http://schemas.openxmlformats.org/drawingml/2006/main">
              <a:ext uri="{FF2B5EF4-FFF2-40B4-BE49-F238E27FC236}">
                <a16:creationId xmlns:a16="http://schemas.microsoft.com/office/drawing/2014/main" id="{D4932363-5C7E-48EC-A904-3122861FA446}"/>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입력 시각 / Bronze 확인 시각 / Gold 확인 시각 기록</a:t>
            </a:r>
          </a:p>
        </p:txBody>
      </p:sp>
      <p:sp>
        <p:nvSpPr>
          <p:cNvPr id="4" name="">
            <a:extLst xmlns:a="http://schemas.openxmlformats.org/drawingml/2006/main">
              <a:ext uri="{FF2B5EF4-FFF2-40B4-BE49-F238E27FC236}">
                <a16:creationId xmlns:a16="http://schemas.microsoft.com/office/drawing/2014/main" id="{10EAB9FB-EAB4-4417-B17F-49F16132A8F5}"/>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예상값과 실제 조회값을 구분합니다</a:t>
            </a:r>
          </a:p>
        </p:txBody>
      </p:sp>
      <p:sp>
        <p:nvSpPr>
          <p:cNvPr id="5" name="">
            <a:extLst xmlns:a="http://schemas.openxmlformats.org/drawingml/2006/main">
              <a:ext uri="{FF2B5EF4-FFF2-40B4-BE49-F238E27FC236}">
                <a16:creationId xmlns:a16="http://schemas.microsoft.com/office/drawing/2014/main" id="{9135A311-8276-4585-9C64-69B4B75003B1}"/>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수집이 정상인데 Gold가 과거 값인 이유를 적습니다</a:t>
            </a:r>
          </a:p>
        </p:txBody>
      </p:sp>
    </p:spTree>
    <p:extLst>
      <p:ext uri="{BB962C8B-B14F-4D97-AF65-F5344CB8AC3E}">
        <p14:creationId xmlns:p14="http://schemas.microsoft.com/office/powerpoint/2010/main" val="235891048"/>
      </p:ext>
    </p:extLst>
  </p:cSld>
</p:sld>
</file>

<file path=ppt/slides/slide22.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4DC95E4-7E85-4710-87E9-7086E5300D97}"/>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5분 휴식</a:t>
            </a:r>
          </a:p>
        </p:txBody>
      </p:sp>
      <p:sp>
        <p:nvSpPr>
          <p:cNvPr id="2" name="">
            <a:extLst xmlns:a="http://schemas.openxmlformats.org/drawingml/2006/main">
              <a:ext uri="{FF2B5EF4-FFF2-40B4-BE49-F238E27FC236}">
                <a16:creationId xmlns:a16="http://schemas.microsoft.com/office/drawing/2014/main" id="{1903959F-93AC-4CE6-9B26-A9D6027E8998}"/>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01:05–01:10     22</a:t>
            </a:r>
          </a:p>
        </p:txBody>
      </p:sp>
      <p:sp>
        <p:nvSpPr>
          <p:cNvPr id="3" name="">
            <a:extLst xmlns:a="http://schemas.openxmlformats.org/drawingml/2006/main">
              <a:ext uri="{FF2B5EF4-FFF2-40B4-BE49-F238E27FC236}">
                <a16:creationId xmlns:a16="http://schemas.microsoft.com/office/drawing/2014/main" id="{5DC5A415-376D-4085-A7D4-B33AFFE49839}"/>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01:10에 환불 금액 정정을 시작합니다</a:t>
            </a:r>
          </a:p>
        </p:txBody>
      </p:sp>
      <p:sp>
        <p:nvSpPr>
          <p:cNvPr id="4" name="">
            <a:extLst xmlns:a="http://schemas.openxmlformats.org/drawingml/2006/main">
              <a:ext uri="{FF2B5EF4-FFF2-40B4-BE49-F238E27FC236}">
                <a16:creationId xmlns:a16="http://schemas.microsoft.com/office/drawing/2014/main" id="{C6A6FF1A-9AF7-43C0-A73E-20FD6B89D924}"/>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다음 예상값: 같은 환불을 30,000원으로 수정</a:t>
            </a:r>
          </a:p>
        </p:txBody>
      </p:sp>
    </p:spTree>
    <p:extLst>
      <p:ext uri="{BB962C8B-B14F-4D97-AF65-F5344CB8AC3E}">
        <p14:creationId xmlns:p14="http://schemas.microsoft.com/office/powerpoint/2010/main" val="893428693"/>
      </p:ext>
    </p:extLst>
  </p:cSld>
</p:sld>
</file>

<file path=ppt/slides/slide23.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BB1FA00-5227-42E2-8B4A-D609602E58CD}"/>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강사 시연 3. 같은 환불 정정</a:t>
            </a:r>
          </a:p>
        </p:txBody>
      </p:sp>
      <p:sp>
        <p:nvSpPr>
          <p:cNvPr id="2" name="">
            <a:extLst xmlns:a="http://schemas.openxmlformats.org/drawingml/2006/main">
              <a:ext uri="{FF2B5EF4-FFF2-40B4-BE49-F238E27FC236}">
                <a16:creationId xmlns:a16="http://schemas.microsoft.com/office/drawing/2014/main" id="{32330395-8202-4E68-BBC6-77392DF3126E}"/>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01:10–01:14     23</a:t>
            </a:r>
          </a:p>
        </p:txBody>
      </p:sp>
      <p:sp>
        <p:nvSpPr>
          <p:cNvPr id="3" name="">
            <a:extLst xmlns:a="http://schemas.openxmlformats.org/drawingml/2006/main">
              <a:ext uri="{FF2B5EF4-FFF2-40B4-BE49-F238E27FC236}">
                <a16:creationId xmlns:a16="http://schemas.microsoft.com/office/drawing/2014/main" id="{9AD98BBD-A5B7-4386-8BAD-9361C3753879}"/>
              </a:ext>
            </a:extLst>
          </p:cNvPr>
          <p:cNvSpPr>
            <a:spLocks xmlns:a="http://schemas.openxmlformats.org/drawingml/2006/main" noGrp="1"/>
          </p:cNvSpPr>
          <p:nvPr/>
        </p:nvSpPr>
        <p:spPr>
          <a:xfrm xmlns:a="http://schemas.openxmlformats.org/drawingml/2006/main">
            <a:off x="685800" y="1657350"/>
            <a:ext cx="10820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0">
                <a:solidFill>
                  <a:srgbClr val="142D43"/>
                </a:solidFill>
                <a:latin typeface="D2Coding"/>
                <a:ea typeface="D2Coding"/>
                <a:cs typeface="D2Coding"/>
              </a:defRPr>
            </a:defPPr>
          </a:lstStyle>
          <a:p xmlns:a="http://schemas.openxmlformats.org/drawingml/2006/main">
            <a:pPr>
              <a:defRPr sz="2550" b="0">
                <a:solidFill>
                  <a:srgbClr val="142D43"/>
                </a:solidFill>
                <a:latin typeface="D2Coding"/>
                <a:ea typeface="D2Coding"/>
                <a:cs typeface="D2Coding"/>
              </a:defRPr>
            </a:pPr>
            <a:r>
              <a:rPr sz="2550" b="0">
                <a:solidFill>
                  <a:srgbClr val="142D43"/>
                </a:solidFill>
                <a:latin typeface="D2Coding"/>
                <a:ea typeface="D2Coding"/>
                <a:cs typeface="D2Coding"/>
              </a:rPr>
              <a:t>UPDATE refunds</a:t>
            </a:r>
          </a:p>
          <a:p xmlns:a="http://schemas.openxmlformats.org/drawingml/2006/main">
            <a:pPr>
              <a:defRPr sz="2550" b="0">
                <a:solidFill>
                  <a:srgbClr val="142D43"/>
                </a:solidFill>
                <a:latin typeface="D2Coding"/>
                <a:ea typeface="D2Coding"/>
                <a:cs typeface="D2Coding"/>
              </a:defRPr>
            </a:pPr>
            <a:r>
              <a:rPr sz="2550" b="0">
                <a:solidFill>
                  <a:srgbClr val="142D43"/>
                </a:solidFill>
                <a:latin typeface="D2Coding"/>
                <a:ea typeface="D2Coding"/>
                <a:cs typeface="D2Coding"/>
              </a:rPr>
              <a:t>SET amount = 30000</a:t>
            </a:r>
          </a:p>
          <a:p xmlns:a="http://schemas.openxmlformats.org/drawingml/2006/main">
            <a:pPr>
              <a:defRPr sz="2550" b="0">
                <a:solidFill>
                  <a:srgbClr val="142D43"/>
                </a:solidFill>
                <a:latin typeface="D2Coding"/>
                <a:ea typeface="D2Coding"/>
                <a:cs typeface="D2Coding"/>
              </a:defRPr>
            </a:pPr>
            <a:r>
              <a:rPr sz="2550" b="0">
                <a:solidFill>
                  <a:srgbClr val="142D43"/>
                </a:solidFill>
                <a:latin typeface="D2Coding"/>
                <a:ea typeface="D2Coding"/>
                <a:cs typeface="D2Coding"/>
              </a:rPr>
              <a:t>WHERE refund_id = 'my-r1';</a:t>
            </a:r>
          </a:p>
        </p:txBody>
      </p:sp>
      <p:sp>
        <p:nvSpPr>
          <p:cNvPr id="4" name="">
            <a:extLst xmlns:a="http://schemas.openxmlformats.org/drawingml/2006/main">
              <a:ext uri="{FF2B5EF4-FFF2-40B4-BE49-F238E27FC236}">
                <a16:creationId xmlns:a16="http://schemas.microsoft.com/office/drawing/2014/main" id="{375C4F75-DDAA-45A0-86E5-59043DFDAB83}"/>
              </a:ext>
            </a:extLst>
          </p:cNvPr>
          <p:cNvSpPr>
            <a:spLocks xmlns:a="http://schemas.openxmlformats.org/drawingml/2006/main" noGrp="1"/>
          </p:cNvSpPr>
          <p:nvPr/>
        </p:nvSpPr>
        <p:spPr>
          <a:xfrm xmlns:a="http://schemas.openxmlformats.org/drawingml/2006/main">
            <a:off x="685800" y="571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87F8C"/>
                </a:solidFill>
                <a:latin typeface="Apple SD Gothic Neo"/>
                <a:ea typeface="Apple SD Gothic Neo"/>
                <a:cs typeface="Apple SD Gothic Neo"/>
              </a:defRPr>
            </a:defPPr>
          </a:lstStyle>
          <a:p xmlns:a="http://schemas.openxmlformats.org/drawingml/2006/main">
            <a:pPr>
              <a:defRPr sz="1875" b="0">
                <a:solidFill>
                  <a:srgbClr val="087F8C"/>
                </a:solidFill>
                <a:latin typeface="Apple SD Gothic Neo"/>
                <a:ea typeface="Apple SD Gothic Neo"/>
                <a:cs typeface="Apple SD Gothic Neo"/>
              </a:defRPr>
            </a:pPr>
            <a:r>
              <a:rPr sz="1875" b="0">
                <a:solidFill>
                  <a:srgbClr val="087F8C"/>
                </a:solidFill>
                <a:latin typeface="Apple SD Gothic Neo"/>
                <a:ea typeface="Apple SD Gothic Neo"/>
                <a:cs typeface="Apple SD Gothic Neo"/>
              </a:rPr>
              <a:t>정정 후 순결제액은 50,000원일까요, 70,000원일까요?</a:t>
            </a:r>
          </a:p>
        </p:txBody>
      </p:sp>
    </p:spTree>
    <p:extLst>
      <p:ext uri="{BB962C8B-B14F-4D97-AF65-F5344CB8AC3E}">
        <p14:creationId xmlns:p14="http://schemas.microsoft.com/office/powerpoint/2010/main" val="2020622981"/>
      </p:ext>
    </p:extLst>
  </p:cSld>
</p:sld>
</file>

<file path=ppt/slides/slide24.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E336493-DCB8-4C35-88A2-4F2D9C331DC6}"/>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정정이 각 계층에 남는 방식</a:t>
            </a:r>
          </a:p>
        </p:txBody>
      </p:sp>
      <p:sp>
        <p:nvSpPr>
          <p:cNvPr id="2" name="">
            <a:extLst xmlns:a="http://schemas.openxmlformats.org/drawingml/2006/main">
              <a:ext uri="{FF2B5EF4-FFF2-40B4-BE49-F238E27FC236}">
                <a16:creationId xmlns:a16="http://schemas.microsoft.com/office/drawing/2014/main" id="{5CDE8A11-252B-49F9-9E25-6D3CED476024}"/>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01:14–01:18     24</a:t>
            </a:r>
          </a:p>
        </p:txBody>
      </p:sp>
      <p:graphicFrame>
        <p:nvGraphicFramePr>
          <p:cNvPr id="3" name="">
            <a:extLst xmlns:a="http://schemas.openxmlformats.org/drawingml/2006/main">
              <a:ext uri="{FF2B5EF4-FFF2-40B4-BE49-F238E27FC236}">
                <a16:creationId xmlns:a16="http://schemas.microsoft.com/office/drawing/2014/main" id="{101F7C0C-67A5-4F45-9976-5CBC2292A8F1}"/>
              </a:ext>
            </a:extLst>
          </p:cNvPr>
          <p:cNvGraphicFramePr/>
          <p:nvPr/>
        </p:nvGraphicFramePr>
        <p:xfrm>
          <a:off xmlns:a="http://schemas.openxmlformats.org/drawingml/2006/main" x="609600" y="1657350"/>
          <a:ext xmlns:a="http://schemas.openxmlformats.org/drawingml/2006/main" cx="10972800" cy="2743200"/>
        </p:xfrm>
        <a:graphic xmlns:a="http://schemas.openxmlformats.org/drawingml/2006/main">
          <a:graphicData uri="http://schemas.openxmlformats.org/drawingml/2006/table">
            <a:tbl>
              <a:tblPr/>
              <a:tblGrid>
                <a:gridCol w="2190750"/>
                <a:gridCol w="8782050"/>
              </a:tblGrid>
              <a:tr h="685800">
                <a:tc>
                  <a:txBody>
                    <a:bodyPr/>
                    <a:lstStyle/>
                    <a:p>
                      <a:r>
                        <a:rPr sz="1950" b="1">
                          <a:solidFill>
                            <a:srgbClr val="FFFFFF"/>
                          </a:solidFill>
                          <a:latin typeface="Apple SD Gothic Neo"/>
                          <a:ea typeface="Apple SD Gothic Neo"/>
                          <a:cs typeface="Apple SD Gothic Neo"/>
                        </a:rPr>
                        <a:t>계층</a:t>
                      </a:r>
                    </a:p>
                  </a:txBody>
                  <a:tcPr marL="152400" marR="114300" marT="114300" marB="95250">
                    <a:lnL w="9525">
                      <a:solidFill>
                        <a:srgbClr val="D8E2E9"/>
                      </a:solidFill>
                    </a:lnL>
                    <a:lnR w="9525">
                      <a:solidFill>
                        <a:srgbClr val="D8E2E9"/>
                      </a:solidFill>
                    </a:lnR>
                    <a:lnT w="9525">
                      <a:solidFill>
                        <a:srgbClr val="D8E2E9"/>
                      </a:solidFill>
                    </a:lnT>
                    <a:lnB w="9525">
                      <a:solidFill>
                        <a:srgbClr val="D8E2E9"/>
                      </a:solidFill>
                    </a:lnB>
                    <a:solidFill>
                      <a:srgbClr val="142D43"/>
                    </a:solidFill>
                  </a:tcPr>
                </a:tc>
                <a:tc>
                  <a:txBody>
                    <a:bodyPr/>
                    <a:lstStyle/>
                    <a:p>
                      <a:r>
                        <a:rPr sz="1950" b="1">
                          <a:solidFill>
                            <a:srgbClr val="FFFFFF"/>
                          </a:solidFill>
                          <a:latin typeface="Apple SD Gothic Neo"/>
                          <a:ea typeface="Apple SD Gothic Neo"/>
                          <a:cs typeface="Apple SD Gothic Neo"/>
                        </a:rPr>
                        <a:t>정정 후 확인</a:t>
                      </a:r>
                    </a:p>
                  </a:txBody>
                  <a:tcPr marL="152400" marR="114300" marT="114300" marB="95250">
                    <a:lnR w="9525">
                      <a:solidFill>
                        <a:srgbClr val="D8E2E9"/>
                      </a:solidFill>
                    </a:lnR>
                    <a:lnT w="9525">
                      <a:solidFill>
                        <a:srgbClr val="D8E2E9"/>
                      </a:solidFill>
                    </a:lnT>
                    <a:lnB w="9525">
                      <a:solidFill>
                        <a:srgbClr val="D8E2E9"/>
                      </a:solidFill>
                    </a:lnB>
                    <a:solidFill>
                      <a:srgbClr val="142D43"/>
                    </a:solidFill>
                  </a:tcPr>
                </a:tc>
              </a:tr>
              <a:tr h="685800">
                <a:tc>
                  <a:txBody>
                    <a:bodyPr/>
                    <a:lstStyle/>
                    <a:p>
                      <a:r>
                        <a:rPr sz="2025">
                          <a:solidFill>
                            <a:srgbClr val="142D43"/>
                          </a:solidFill>
                          <a:latin typeface="Apple SD Gothic Neo"/>
                          <a:ea typeface="Apple SD Gothic Neo"/>
                          <a:cs typeface="Apple SD Gothic Neo"/>
                        </a:rPr>
                        <a:t>Bronze</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입력 c: 20,000원 / 수정 u: before 20,000, after 30,000</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Silver</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refund_id 한 행 / amount 30,000 / is_deleted false</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Gold</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갱신 후 순결제액 70,000원</a:t>
                      </a:r>
                    </a:p>
                  </a:txBody>
                  <a:tcPr marL="152400" marR="114300" marT="114300" marB="95250">
                    <a:lnR w="9525">
                      <a:solidFill>
                        <a:srgbClr val="D8E2E9"/>
                      </a:solidFill>
                    </a:lnR>
                    <a:lnB w="9525">
                      <a:solidFill>
                        <a:srgbClr val="D8E2E9"/>
                      </a:solidFill>
                    </a:lnB>
                  </a:tcPr>
                </a:tc>
              </a:tr>
            </a:tbl>
          </a:graphicData>
        </a:graphic>
      </p:graphicFrame>
    </p:spTree>
    <p:extLst>
      <p:ext uri="{BB962C8B-B14F-4D97-AF65-F5344CB8AC3E}">
        <p14:creationId xmlns:p14="http://schemas.microsoft.com/office/powerpoint/2010/main" val="1215845642"/>
      </p:ext>
    </p:extLst>
  </p:cSld>
</p:sld>
</file>

<file path=ppt/slides/slide25.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7E5F8B-D080-44C3-815C-A04AAC6F9FA9}"/>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INSERT와 UPDATE의 차이</a:t>
            </a:r>
          </a:p>
        </p:txBody>
      </p:sp>
      <p:sp>
        <p:nvSpPr>
          <p:cNvPr id="2" name="">
            <a:extLst xmlns:a="http://schemas.openxmlformats.org/drawingml/2006/main">
              <a:ext uri="{FF2B5EF4-FFF2-40B4-BE49-F238E27FC236}">
                <a16:creationId xmlns:a16="http://schemas.microsoft.com/office/drawing/2014/main" id="{E8275AEC-9918-4D48-AE03-3F6E7FF2CE9B}"/>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01:18–01:21     25</a:t>
            </a:r>
          </a:p>
        </p:txBody>
      </p:sp>
      <p:sp>
        <p:nvSpPr>
          <p:cNvPr id="3" name="">
            <a:extLst xmlns:a="http://schemas.openxmlformats.org/drawingml/2006/main">
              <a:ext uri="{FF2B5EF4-FFF2-40B4-BE49-F238E27FC236}">
                <a16:creationId xmlns:a16="http://schemas.microsoft.com/office/drawing/2014/main" id="{8BC87DCC-03E2-406A-B1A5-E6472FCD5777}"/>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새 refund_id를 입력하면 별도 환불이 늘어납니다</a:t>
            </a:r>
          </a:p>
        </p:txBody>
      </p:sp>
      <p:sp>
        <p:nvSpPr>
          <p:cNvPr id="4" name="">
            <a:extLst xmlns:a="http://schemas.openxmlformats.org/drawingml/2006/main">
              <a:ext uri="{FF2B5EF4-FFF2-40B4-BE49-F238E27FC236}">
                <a16:creationId xmlns:a16="http://schemas.microsoft.com/office/drawing/2014/main" id="{EED3F805-ED93-4D32-AB83-364DE1927AA6}"/>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같은 refund_id를 수정하면 기존 환불 금액이 바뀝니다</a:t>
            </a:r>
          </a:p>
        </p:txBody>
      </p:sp>
      <p:sp>
        <p:nvSpPr>
          <p:cNvPr id="5" name="">
            <a:extLst xmlns:a="http://schemas.openxmlformats.org/drawingml/2006/main">
              <a:ext uri="{FF2B5EF4-FFF2-40B4-BE49-F238E27FC236}">
                <a16:creationId xmlns:a16="http://schemas.microsoft.com/office/drawing/2014/main" id="{702BC210-3139-4735-85AD-47604C4D362E}"/>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분석 지표는 현재 유효한 상태를 기준으로 계산합니다</a:t>
            </a:r>
          </a:p>
        </p:txBody>
      </p:sp>
    </p:spTree>
    <p:extLst>
      <p:ext uri="{BB962C8B-B14F-4D97-AF65-F5344CB8AC3E}">
        <p14:creationId xmlns:p14="http://schemas.microsoft.com/office/powerpoint/2010/main" val="1417381064"/>
      </p:ext>
    </p:extLst>
  </p:cSld>
</p:sld>
</file>

<file path=ppt/slides/slide26.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9D75F6-E86D-4F97-980A-5AC3C8E0CC92}"/>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세 계층 설명하기</a:t>
            </a:r>
          </a:p>
        </p:txBody>
      </p:sp>
      <p:sp>
        <p:nvSpPr>
          <p:cNvPr id="2" name="">
            <a:extLst xmlns:a="http://schemas.openxmlformats.org/drawingml/2006/main">
              <a:ext uri="{FF2B5EF4-FFF2-40B4-BE49-F238E27FC236}">
                <a16:creationId xmlns:a16="http://schemas.microsoft.com/office/drawing/2014/main" id="{6009BED9-049C-4DF9-ADB1-9C9F3D13A2C9}"/>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01:21–01:25     26</a:t>
            </a:r>
          </a:p>
        </p:txBody>
      </p:sp>
      <p:sp>
        <p:nvSpPr>
          <p:cNvPr id="3" name="">
            <a:extLst xmlns:a="http://schemas.openxmlformats.org/drawingml/2006/main">
              <a:ext uri="{FF2B5EF4-FFF2-40B4-BE49-F238E27FC236}">
                <a16:creationId xmlns:a16="http://schemas.microsoft.com/office/drawing/2014/main" id="{FAB69E27-A5BF-4B6E-84DA-D5D81BB3DA60}"/>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이전 금액 20,000원은 어디에 남나요?</a:t>
            </a:r>
          </a:p>
        </p:txBody>
      </p:sp>
      <p:sp>
        <p:nvSpPr>
          <p:cNvPr id="4" name="">
            <a:extLst xmlns:a="http://schemas.openxmlformats.org/drawingml/2006/main">
              <a:ext uri="{FF2B5EF4-FFF2-40B4-BE49-F238E27FC236}">
                <a16:creationId xmlns:a16="http://schemas.microsoft.com/office/drawing/2014/main" id="{F9524951-1BD7-484B-9364-7237C130848D}"/>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최신 환불 금액 30,000원은 어디서 읽나요?</a:t>
            </a:r>
          </a:p>
        </p:txBody>
      </p:sp>
      <p:sp>
        <p:nvSpPr>
          <p:cNvPr id="5" name="">
            <a:extLst xmlns:a="http://schemas.openxmlformats.org/drawingml/2006/main">
              <a:ext uri="{FF2B5EF4-FFF2-40B4-BE49-F238E27FC236}">
                <a16:creationId xmlns:a16="http://schemas.microsoft.com/office/drawing/2014/main" id="{DA00A51C-3E77-4C0A-A93D-2A620389C71E}"/>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Gold가 갱신됐다는 근거는 무엇인가요?</a:t>
            </a:r>
          </a:p>
        </p:txBody>
      </p:sp>
    </p:spTree>
    <p:extLst>
      <p:ext uri="{BB962C8B-B14F-4D97-AF65-F5344CB8AC3E}">
        <p14:creationId xmlns:p14="http://schemas.microsoft.com/office/powerpoint/2010/main" val="744301408"/>
      </p:ext>
    </p:extLst>
  </p:cSld>
</p:sld>
</file>

<file path=ppt/slides/slide27.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285D4EF-CD0E-4473-9830-2065F2E499C3}"/>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개인 프로젝트 설계 25분</a:t>
            </a:r>
          </a:p>
        </p:txBody>
      </p:sp>
      <p:sp>
        <p:nvSpPr>
          <p:cNvPr id="2" name="">
            <a:extLst xmlns:a="http://schemas.openxmlformats.org/drawingml/2006/main">
              <a:ext uri="{FF2B5EF4-FFF2-40B4-BE49-F238E27FC236}">
                <a16:creationId xmlns:a16="http://schemas.microsoft.com/office/drawing/2014/main" id="{071419F8-6203-4EDE-B8B2-9FCA3CB63858}"/>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01:25–01:28     27</a:t>
            </a:r>
          </a:p>
        </p:txBody>
      </p:sp>
      <p:sp>
        <p:nvSpPr>
          <p:cNvPr id="3" name="">
            <a:extLst xmlns:a="http://schemas.openxmlformats.org/drawingml/2006/main">
              <a:ext uri="{FF2B5EF4-FFF2-40B4-BE49-F238E27FC236}">
                <a16:creationId xmlns:a16="http://schemas.microsoft.com/office/drawing/2014/main" id="{E08AE85B-823D-4A05-84A4-9FF659C67920}"/>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사용자와 지표 정의 5분</a:t>
            </a:r>
          </a:p>
        </p:txBody>
      </p:sp>
      <p:sp>
        <p:nvSpPr>
          <p:cNvPr id="4" name="">
            <a:extLst xmlns:a="http://schemas.openxmlformats.org/drawingml/2006/main">
              <a:ext uri="{FF2B5EF4-FFF2-40B4-BE49-F238E27FC236}">
                <a16:creationId xmlns:a16="http://schemas.microsoft.com/office/drawing/2014/main" id="{0A5D7A87-EFB6-4542-B830-453BA0438C61}"/>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테이블 2–3개와 관계 설계 8분</a:t>
            </a:r>
          </a:p>
        </p:txBody>
      </p:sp>
      <p:sp>
        <p:nvSpPr>
          <p:cNvPr id="5" name="">
            <a:extLst xmlns:a="http://schemas.openxmlformats.org/drawingml/2006/main">
              <a:ext uri="{FF2B5EF4-FFF2-40B4-BE49-F238E27FC236}">
                <a16:creationId xmlns:a16="http://schemas.microsoft.com/office/drawing/2014/main" id="{96F159D7-0B99-4AE5-BF10-EC712D894A50}"/>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DDL 하나와 변경 시나리오 작성 9분</a:t>
            </a:r>
          </a:p>
        </p:txBody>
      </p:sp>
    </p:spTree>
    <p:extLst>
      <p:ext uri="{BB962C8B-B14F-4D97-AF65-F5344CB8AC3E}">
        <p14:creationId xmlns:p14="http://schemas.microsoft.com/office/powerpoint/2010/main" val="1681359927"/>
      </p:ext>
    </p:extLst>
  </p:cSld>
</p:sld>
</file>

<file path=ppt/slides/slide28.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8C81733-EA41-44E9-B9D4-5F690481BE26}"/>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도메인과 지표 예시</a:t>
            </a:r>
          </a:p>
        </p:txBody>
      </p:sp>
      <p:sp>
        <p:nvSpPr>
          <p:cNvPr id="2" name="">
            <a:extLst xmlns:a="http://schemas.openxmlformats.org/drawingml/2006/main">
              <a:ext uri="{FF2B5EF4-FFF2-40B4-BE49-F238E27FC236}">
                <a16:creationId xmlns:a16="http://schemas.microsoft.com/office/drawing/2014/main" id="{4C713B04-207C-4061-9F7F-B41A61EEA959}"/>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01:28–01:33     28</a:t>
            </a:r>
          </a:p>
        </p:txBody>
      </p:sp>
      <p:graphicFrame>
        <p:nvGraphicFramePr>
          <p:cNvPr id="3" name="">
            <a:extLst xmlns:a="http://schemas.openxmlformats.org/drawingml/2006/main">
              <a:ext uri="{FF2B5EF4-FFF2-40B4-BE49-F238E27FC236}">
                <a16:creationId xmlns:a16="http://schemas.microsoft.com/office/drawing/2014/main" id="{8805073B-BD4C-46E2-92C5-29854E67FA74}"/>
              </a:ext>
            </a:extLst>
          </p:cNvPr>
          <p:cNvGraphicFramePr/>
          <p:nvPr/>
        </p:nvGraphicFramePr>
        <p:xfrm>
          <a:off xmlns:a="http://schemas.openxmlformats.org/drawingml/2006/main" x="609600" y="1657350"/>
          <a:ext xmlns:a="http://schemas.openxmlformats.org/drawingml/2006/main" cx="10972800" cy="3429000"/>
        </p:xfrm>
        <a:graphic xmlns:a="http://schemas.openxmlformats.org/drawingml/2006/main">
          <a:graphicData uri="http://schemas.openxmlformats.org/drawingml/2006/table">
            <a:tbl>
              <a:tblPr/>
              <a:tblGrid>
                <a:gridCol w="1905000"/>
                <a:gridCol w="4095750"/>
                <a:gridCol w="4972050"/>
              </a:tblGrid>
              <a:tr h="685800">
                <a:tc>
                  <a:txBody>
                    <a:bodyPr/>
                    <a:lstStyle/>
                    <a:p>
                      <a:r>
                        <a:rPr sz="1950" b="1">
                          <a:solidFill>
                            <a:srgbClr val="FFFFFF"/>
                          </a:solidFill>
                          <a:latin typeface="Apple SD Gothic Neo"/>
                          <a:ea typeface="Apple SD Gothic Neo"/>
                          <a:cs typeface="Apple SD Gothic Neo"/>
                        </a:rPr>
                        <a:t>도메인</a:t>
                      </a:r>
                    </a:p>
                  </a:txBody>
                  <a:tcPr marL="152400" marR="114300" marT="114300" marB="95250">
                    <a:lnL w="9525">
                      <a:solidFill>
                        <a:srgbClr val="D8E2E9"/>
                      </a:solidFill>
                    </a:lnL>
                    <a:lnR w="9525">
                      <a:solidFill>
                        <a:srgbClr val="D8E2E9"/>
                      </a:solidFill>
                    </a:lnR>
                    <a:lnT w="9525">
                      <a:solidFill>
                        <a:srgbClr val="D8E2E9"/>
                      </a:solidFill>
                    </a:lnT>
                    <a:lnB w="9525">
                      <a:solidFill>
                        <a:srgbClr val="D8E2E9"/>
                      </a:solidFill>
                    </a:lnB>
                    <a:solidFill>
                      <a:srgbClr val="142D43"/>
                    </a:solidFill>
                  </a:tcPr>
                </a:tc>
                <a:tc>
                  <a:txBody>
                    <a:bodyPr/>
                    <a:lstStyle/>
                    <a:p>
                      <a:r>
                        <a:rPr sz="1950" b="1">
                          <a:solidFill>
                            <a:srgbClr val="FFFFFF"/>
                          </a:solidFill>
                          <a:latin typeface="Apple SD Gothic Neo"/>
                          <a:ea typeface="Apple SD Gothic Neo"/>
                          <a:cs typeface="Apple SD Gothic Neo"/>
                        </a:rPr>
                        <a:t>지표 하나</a:t>
                      </a:r>
                    </a:p>
                  </a:txBody>
                  <a:tcPr marL="152400" marR="114300" marT="114300" marB="95250">
                    <a:lnR w="9525">
                      <a:solidFill>
                        <a:srgbClr val="D8E2E9"/>
                      </a:solidFill>
                    </a:lnR>
                    <a:lnT w="9525">
                      <a:solidFill>
                        <a:srgbClr val="D8E2E9"/>
                      </a:solidFill>
                    </a:lnT>
                    <a:lnB w="9525">
                      <a:solidFill>
                        <a:srgbClr val="D8E2E9"/>
                      </a:solidFill>
                    </a:lnB>
                    <a:solidFill>
                      <a:srgbClr val="142D43"/>
                    </a:solidFill>
                  </a:tcPr>
                </a:tc>
                <a:tc>
                  <a:txBody>
                    <a:bodyPr/>
                    <a:lstStyle/>
                    <a:p>
                      <a:r>
                        <a:rPr sz="1950" b="1">
                          <a:solidFill>
                            <a:srgbClr val="FFFFFF"/>
                          </a:solidFill>
                          <a:latin typeface="Apple SD Gothic Neo"/>
                          <a:ea typeface="Apple SD Gothic Neo"/>
                          <a:cs typeface="Apple SD Gothic Neo"/>
                        </a:rPr>
                        <a:t>지표를 바꾸는 변경</a:t>
                      </a:r>
                    </a:p>
                  </a:txBody>
                  <a:tcPr marL="152400" marR="114300" marT="114300" marB="95250">
                    <a:lnR w="9525">
                      <a:solidFill>
                        <a:srgbClr val="D8E2E9"/>
                      </a:solidFill>
                    </a:lnR>
                    <a:lnT w="9525">
                      <a:solidFill>
                        <a:srgbClr val="D8E2E9"/>
                      </a:solidFill>
                    </a:lnT>
                    <a:lnB w="9525">
                      <a:solidFill>
                        <a:srgbClr val="D8E2E9"/>
                      </a:solidFill>
                    </a:lnB>
                    <a:solidFill>
                      <a:srgbClr val="142D43"/>
                    </a:solidFill>
                  </a:tcPr>
                </a:tc>
              </a:tr>
              <a:tr h="685800">
                <a:tc>
                  <a:txBody>
                    <a:bodyPr/>
                    <a:lstStyle/>
                    <a:p>
                      <a:r>
                        <a:rPr sz="2025">
                          <a:solidFill>
                            <a:srgbClr val="142D43"/>
                          </a:solidFill>
                          <a:latin typeface="Apple SD Gothic Neo"/>
                          <a:ea typeface="Apple SD Gothic Neo"/>
                          <a:cs typeface="Apple SD Gothic Neo"/>
                        </a:rPr>
                        <a:t>예약</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오늘 확정 예약 수</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예약 취소</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물류</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출고 대기 건수</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출고 완료 상태 변경</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구독</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현재 활성 구독 수</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해지·만료 처리</a:t>
                      </a:r>
                    </a:p>
                  </a:txBody>
                  <a:tcPr marL="152400" marR="114300" marT="114300" marB="95250">
                    <a:lnR w="9525">
                      <a:solidFill>
                        <a:srgbClr val="D8E2E9"/>
                      </a:solidFill>
                    </a:lnR>
                    <a:lnB w="9525">
                      <a:solidFill>
                        <a:srgbClr val="D8E2E9"/>
                      </a:solidFill>
                    </a:lnB>
                  </a:tcPr>
                </a:tc>
              </a:tr>
              <a:tr h="685800">
                <a:tc>
                  <a:txBody>
                    <a:bodyPr/>
                    <a:lstStyle/>
                    <a:p>
                      <a:r>
                        <a:rPr sz="2025">
                          <a:solidFill>
                            <a:srgbClr val="142D43"/>
                          </a:solidFill>
                          <a:latin typeface="Apple SD Gothic Neo"/>
                          <a:ea typeface="Apple SD Gothic Neo"/>
                          <a:cs typeface="Apple SD Gothic Neo"/>
                        </a:rPr>
                        <a:t>결제</a:t>
                      </a:r>
                    </a:p>
                  </a:txBody>
                  <a:tcPr marL="152400" marR="114300" marT="114300" marB="95250">
                    <a:lnL w="9525">
                      <a:solidFill>
                        <a:srgbClr val="D8E2E9"/>
                      </a:solidFill>
                    </a:lnL>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주문일 기준 순결제액</a:t>
                      </a:r>
                    </a:p>
                  </a:txBody>
                  <a:tcPr marL="152400" marR="114300" marT="114300" marB="95250">
                    <a:lnR w="9525">
                      <a:solidFill>
                        <a:srgbClr val="D8E2E9"/>
                      </a:solidFill>
                    </a:lnR>
                    <a:lnB w="9525">
                      <a:solidFill>
                        <a:srgbClr val="D8E2E9"/>
                      </a:solidFill>
                    </a:lnB>
                  </a:tcPr>
                </a:tc>
                <a:tc>
                  <a:txBody>
                    <a:bodyPr/>
                    <a:lstStyle/>
                    <a:p>
                      <a:r>
                        <a:rPr sz="2025">
                          <a:solidFill>
                            <a:srgbClr val="142D43"/>
                          </a:solidFill>
                          <a:latin typeface="Apple SD Gothic Neo"/>
                          <a:ea typeface="Apple SD Gothic Neo"/>
                          <a:cs typeface="Apple SD Gothic Neo"/>
                        </a:rPr>
                        <a:t>환불 금액 정정</a:t>
                      </a:r>
                    </a:p>
                  </a:txBody>
                  <a:tcPr marL="152400" marR="114300" marT="114300" marB="95250">
                    <a:lnR w="9525">
                      <a:solidFill>
                        <a:srgbClr val="D8E2E9"/>
                      </a:solidFill>
                    </a:lnR>
                    <a:lnB w="9525">
                      <a:solidFill>
                        <a:srgbClr val="D8E2E9"/>
                      </a:solidFill>
                    </a:lnB>
                  </a:tcPr>
                </a:tc>
              </a:tr>
            </a:tbl>
          </a:graphicData>
        </a:graphic>
      </p:graphicFrame>
    </p:spTree>
    <p:extLst>
      <p:ext uri="{BB962C8B-B14F-4D97-AF65-F5344CB8AC3E}">
        <p14:creationId xmlns:p14="http://schemas.microsoft.com/office/powerpoint/2010/main" val="889097720"/>
      </p:ext>
    </p:extLst>
  </p:cSld>
</p:sld>
</file>

<file path=ppt/slides/slide29.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92071A-1B1C-4D52-A384-5DA25339B8C1}"/>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설계서의 지표 정의</a:t>
            </a:r>
          </a:p>
        </p:txBody>
      </p:sp>
      <p:sp>
        <p:nvSpPr>
          <p:cNvPr id="2" name="">
            <a:extLst xmlns:a="http://schemas.openxmlformats.org/drawingml/2006/main">
              <a:ext uri="{FF2B5EF4-FFF2-40B4-BE49-F238E27FC236}">
                <a16:creationId xmlns:a16="http://schemas.microsoft.com/office/drawing/2014/main" id="{7C067DE1-D00A-4E11-A5B6-BF1264EFC1C8}"/>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01:28–01:33     29</a:t>
            </a:r>
          </a:p>
        </p:txBody>
      </p:sp>
      <p:sp>
        <p:nvSpPr>
          <p:cNvPr id="3" name="">
            <a:extLst xmlns:a="http://schemas.openxmlformats.org/drawingml/2006/main">
              <a:ext uri="{FF2B5EF4-FFF2-40B4-BE49-F238E27FC236}">
                <a16:creationId xmlns:a16="http://schemas.microsoft.com/office/drawing/2014/main" id="{F8F81B61-A0F1-4063-B161-6F94ACCE764B}"/>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사용자: 누가 어떤 판단을 하나요?</a:t>
            </a:r>
          </a:p>
        </p:txBody>
      </p:sp>
      <p:sp>
        <p:nvSpPr>
          <p:cNvPr id="4" name="">
            <a:extLst xmlns:a="http://schemas.openxmlformats.org/drawingml/2006/main">
              <a:ext uri="{FF2B5EF4-FFF2-40B4-BE49-F238E27FC236}">
                <a16:creationId xmlns:a16="http://schemas.microsoft.com/office/drawing/2014/main" id="{83E27A61-2CFE-4F2E-8120-CC6759CF4329}"/>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계산 기준: 집계 단위, 기준 시각, 포함 상태는?</a:t>
            </a:r>
          </a:p>
        </p:txBody>
      </p:sp>
      <p:sp>
        <p:nvSpPr>
          <p:cNvPr id="5" name="">
            <a:extLst xmlns:a="http://schemas.openxmlformats.org/drawingml/2006/main">
              <a:ext uri="{FF2B5EF4-FFF2-40B4-BE49-F238E27FC236}">
                <a16:creationId xmlns:a16="http://schemas.microsoft.com/office/drawing/2014/main" id="{15FEAE98-A3C0-4F63-94CC-DF6915F731C8}"/>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허용 지연: 몇 분 안에 반영해야 하며 이유는?</a:t>
            </a:r>
          </a:p>
        </p:txBody>
      </p:sp>
    </p:spTree>
    <p:extLst>
      <p:ext uri="{BB962C8B-B14F-4D97-AF65-F5344CB8AC3E}">
        <p14:creationId xmlns:p14="http://schemas.microsoft.com/office/powerpoint/2010/main" val="1297042234"/>
      </p:ext>
    </p:extLst>
  </p:cSld>
</p:sld>
</file>

<file path=ppt/slides/slide30.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55C3D6-C4CB-48EC-987F-F919F31371FB}"/>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테이블 관계와 수정 대상</a:t>
            </a:r>
          </a:p>
        </p:txBody>
      </p:sp>
      <p:sp>
        <p:nvSpPr>
          <p:cNvPr id="2" name="">
            <a:extLst xmlns:a="http://schemas.openxmlformats.org/drawingml/2006/main">
              <a:ext uri="{FF2B5EF4-FFF2-40B4-BE49-F238E27FC236}">
                <a16:creationId xmlns:a16="http://schemas.microsoft.com/office/drawing/2014/main" id="{CB576C0E-69F3-4D5F-A2F8-3641D6753FAA}"/>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01:33–01:41     30</a:t>
            </a:r>
          </a:p>
        </p:txBody>
      </p:sp>
      <p:sp>
        <p:nvSpPr>
          <p:cNvPr id="3" name="">
            <a:extLst xmlns:a="http://schemas.openxmlformats.org/drawingml/2006/main">
              <a:ext uri="{FF2B5EF4-FFF2-40B4-BE49-F238E27FC236}">
                <a16:creationId xmlns:a16="http://schemas.microsoft.com/office/drawing/2014/main" id="{F82D39F9-9608-4DE2-B28E-599A3F0280D4}"/>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테이블은 우선 2–3개로 제한합니다</a:t>
            </a:r>
          </a:p>
        </p:txBody>
      </p:sp>
      <p:sp>
        <p:nvSpPr>
          <p:cNvPr id="4" name="">
            <a:extLst xmlns:a="http://schemas.openxmlformats.org/drawingml/2006/main">
              <a:ext uri="{FF2B5EF4-FFF2-40B4-BE49-F238E27FC236}">
                <a16:creationId xmlns:a16="http://schemas.microsoft.com/office/drawing/2014/main" id="{4F20E768-59C1-4ADC-BAFC-7790B7EA8C8B}"/>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각 테이블의 한 행과 PK를 적습니다</a:t>
            </a:r>
          </a:p>
        </p:txBody>
      </p:sp>
      <p:sp>
        <p:nvSpPr>
          <p:cNvPr id="5" name="">
            <a:extLst xmlns:a="http://schemas.openxmlformats.org/drawingml/2006/main">
              <a:ext uri="{FF2B5EF4-FFF2-40B4-BE49-F238E27FC236}">
                <a16:creationId xmlns:a16="http://schemas.microsoft.com/office/drawing/2014/main" id="{5A9F97FB-F26C-4C0A-BC63-F7570FD03919}"/>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FK 관계와 수정 가능한 컬럼을 표시합니다</a:t>
            </a:r>
          </a:p>
        </p:txBody>
      </p:sp>
    </p:spTree>
    <p:extLst>
      <p:ext uri="{BB962C8B-B14F-4D97-AF65-F5344CB8AC3E}">
        <p14:creationId xmlns:p14="http://schemas.microsoft.com/office/powerpoint/2010/main" val="1890514193"/>
      </p:ext>
    </p:extLst>
  </p:cSld>
</p:sld>
</file>

<file path=ppt/slides/slide31.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3D85AB-8E08-40A5-8ED1-89DE19A22A6F}"/>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DDL 예시. 예약 테이블</a:t>
            </a:r>
          </a:p>
        </p:txBody>
      </p:sp>
      <p:sp>
        <p:nvSpPr>
          <p:cNvPr id="2" name="">
            <a:extLst xmlns:a="http://schemas.openxmlformats.org/drawingml/2006/main">
              <a:ext uri="{FF2B5EF4-FFF2-40B4-BE49-F238E27FC236}">
                <a16:creationId xmlns:a16="http://schemas.microsoft.com/office/drawing/2014/main" id="{E36E503F-FE71-4496-97D5-503A8B84CCAB}"/>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01:41–01:45     31</a:t>
            </a:r>
          </a:p>
        </p:txBody>
      </p:sp>
      <p:sp>
        <p:nvSpPr>
          <p:cNvPr id="3" name="">
            <a:extLst xmlns:a="http://schemas.openxmlformats.org/drawingml/2006/main">
              <a:ext uri="{FF2B5EF4-FFF2-40B4-BE49-F238E27FC236}">
                <a16:creationId xmlns:a16="http://schemas.microsoft.com/office/drawing/2014/main" id="{33AF16C1-6401-4124-9E16-C9BED6525A66}"/>
              </a:ext>
            </a:extLst>
          </p:cNvPr>
          <p:cNvSpPr>
            <a:spLocks xmlns:a="http://schemas.openxmlformats.org/drawingml/2006/main" noGrp="1"/>
          </p:cNvSpPr>
          <p:nvPr/>
        </p:nvSpPr>
        <p:spPr>
          <a:xfrm xmlns:a="http://schemas.openxmlformats.org/drawingml/2006/main">
            <a:off x="685800" y="1657350"/>
            <a:ext cx="10820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0">
                <a:solidFill>
                  <a:srgbClr val="142D43"/>
                </a:solidFill>
                <a:latin typeface="D2Coding"/>
                <a:ea typeface="D2Coding"/>
                <a:cs typeface="D2Coding"/>
              </a:defRPr>
            </a:defPPr>
          </a:lstStyle>
          <a:p xmlns:a="http://schemas.openxmlformats.org/drawingml/2006/main">
            <a:pPr>
              <a:defRPr sz="2250" b="0">
                <a:solidFill>
                  <a:srgbClr val="142D43"/>
                </a:solidFill>
                <a:latin typeface="D2Coding"/>
                <a:ea typeface="D2Coding"/>
                <a:cs typeface="D2Coding"/>
              </a:defRPr>
            </a:pPr>
            <a:r>
              <a:rPr sz="2250" b="0">
                <a:solidFill>
                  <a:srgbClr val="142D43"/>
                </a:solidFill>
                <a:latin typeface="D2Coding"/>
                <a:ea typeface="D2Coding"/>
                <a:cs typeface="D2Coding"/>
              </a:rPr>
              <a:t>CREATE TABLE reservations (</a:t>
            </a:r>
          </a:p>
          <a:p xmlns:a="http://schemas.openxmlformats.org/drawingml/2006/main">
            <a:pPr>
              <a:defRPr sz="2250" b="0">
                <a:solidFill>
                  <a:srgbClr val="142D43"/>
                </a:solidFill>
                <a:latin typeface="D2Coding"/>
                <a:ea typeface="D2Coding"/>
                <a:cs typeface="D2Coding"/>
              </a:defRPr>
            </a:pPr>
            <a:r>
              <a:rPr sz="2250" b="0">
                <a:solidFill>
                  <a:srgbClr val="142D43"/>
                </a:solidFill>
                <a:latin typeface="D2Coding"/>
                <a:ea typeface="D2Coding"/>
                <a:cs typeface="D2Coding"/>
              </a:rPr>
              <a:t>  reservation_id text PRIMARY KEY,</a:t>
            </a:r>
          </a:p>
          <a:p xmlns:a="http://schemas.openxmlformats.org/drawingml/2006/main">
            <a:pPr>
              <a:defRPr sz="2250" b="0">
                <a:solidFill>
                  <a:srgbClr val="142D43"/>
                </a:solidFill>
                <a:latin typeface="D2Coding"/>
                <a:ea typeface="D2Coding"/>
                <a:cs typeface="D2Coding"/>
              </a:defRPr>
            </a:pPr>
            <a:r>
              <a:rPr sz="2250" b="0">
                <a:solidFill>
                  <a:srgbClr val="142D43"/>
                </a:solidFill>
                <a:latin typeface="D2Coding"/>
                <a:ea typeface="D2Coding"/>
                <a:cs typeface="D2Coding"/>
              </a:rPr>
              <a:t>  customer_id text NOT NULL,</a:t>
            </a:r>
          </a:p>
          <a:p xmlns:a="http://schemas.openxmlformats.org/drawingml/2006/main">
            <a:pPr>
              <a:defRPr sz="2250" b="0">
                <a:solidFill>
                  <a:srgbClr val="142D43"/>
                </a:solidFill>
                <a:latin typeface="D2Coding"/>
                <a:ea typeface="D2Coding"/>
                <a:cs typeface="D2Coding"/>
              </a:defRPr>
            </a:pPr>
            <a:r>
              <a:rPr sz="2250" b="0">
                <a:solidFill>
                  <a:srgbClr val="142D43"/>
                </a:solidFill>
                <a:latin typeface="D2Coding"/>
                <a:ea typeface="D2Coding"/>
                <a:cs typeface="D2Coding"/>
              </a:rPr>
              <a:t>  service_at timestamptz NOT NULL,</a:t>
            </a:r>
          </a:p>
          <a:p xmlns:a="http://schemas.openxmlformats.org/drawingml/2006/main">
            <a:pPr>
              <a:defRPr sz="2250" b="0">
                <a:solidFill>
                  <a:srgbClr val="142D43"/>
                </a:solidFill>
                <a:latin typeface="D2Coding"/>
                <a:ea typeface="D2Coding"/>
                <a:cs typeface="D2Coding"/>
              </a:defRPr>
            </a:pPr>
            <a:r>
              <a:rPr sz="2250" b="0">
                <a:solidFill>
                  <a:srgbClr val="142D43"/>
                </a:solidFill>
                <a:latin typeface="D2Coding"/>
                <a:ea typeface="D2Coding"/>
                <a:cs typeface="D2Coding"/>
              </a:rPr>
              <a:t>  status text NOT NULL</a:t>
            </a:r>
          </a:p>
          <a:p xmlns:a="http://schemas.openxmlformats.org/drawingml/2006/main">
            <a:pPr>
              <a:defRPr sz="2250" b="0">
                <a:solidFill>
                  <a:srgbClr val="142D43"/>
                </a:solidFill>
                <a:latin typeface="D2Coding"/>
                <a:ea typeface="D2Coding"/>
                <a:cs typeface="D2Coding"/>
              </a:defRPr>
            </a:pPr>
            <a:r>
              <a:rPr sz="2250" b="0">
                <a:solidFill>
                  <a:srgbClr val="142D43"/>
                </a:solidFill>
                <a:latin typeface="D2Coding"/>
                <a:ea typeface="D2Coding"/>
                <a:cs typeface="D2Coding"/>
              </a:rPr>
              <a:t>    CHECK (status IN ('confirmed', 'cancelled'))</a:t>
            </a:r>
          </a:p>
          <a:p xmlns:a="http://schemas.openxmlformats.org/drawingml/2006/main">
            <a:pPr>
              <a:defRPr sz="2250" b="0">
                <a:solidFill>
                  <a:srgbClr val="142D43"/>
                </a:solidFill>
                <a:latin typeface="D2Coding"/>
                <a:ea typeface="D2Coding"/>
                <a:cs typeface="D2Coding"/>
              </a:defRPr>
            </a:pPr>
            <a:r>
              <a:rPr sz="2250" b="0">
                <a:solidFill>
                  <a:srgbClr val="142D43"/>
                </a:solidFill>
                <a:latin typeface="D2Coding"/>
                <a:ea typeface="D2Coding"/>
                <a:cs typeface="D2Coding"/>
              </a:rPr>
              <a:t>);</a:t>
            </a:r>
          </a:p>
        </p:txBody>
      </p:sp>
      <p:sp>
        <p:nvSpPr>
          <p:cNvPr id="4" name="">
            <a:extLst xmlns:a="http://schemas.openxmlformats.org/drawingml/2006/main">
              <a:ext uri="{FF2B5EF4-FFF2-40B4-BE49-F238E27FC236}">
                <a16:creationId xmlns:a16="http://schemas.microsoft.com/office/drawing/2014/main" id="{980818BE-2AA9-4B83-8BA1-467B13813980}"/>
              </a:ext>
            </a:extLst>
          </p:cNvPr>
          <p:cNvSpPr>
            <a:spLocks xmlns:a="http://schemas.openxmlformats.org/drawingml/2006/main" noGrp="1"/>
          </p:cNvSpPr>
          <p:nvPr/>
        </p:nvSpPr>
        <p:spPr>
          <a:xfrm xmlns:a="http://schemas.openxmlformats.org/drawingml/2006/main">
            <a:off x="685800" y="571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87F8C"/>
                </a:solidFill>
                <a:latin typeface="Apple SD Gothic Neo"/>
                <a:ea typeface="Apple SD Gothic Neo"/>
                <a:cs typeface="Apple SD Gothic Neo"/>
              </a:defRPr>
            </a:defPPr>
          </a:lstStyle>
          <a:p xmlns:a="http://schemas.openxmlformats.org/drawingml/2006/main">
            <a:pPr>
              <a:defRPr sz="1875" b="0">
                <a:solidFill>
                  <a:srgbClr val="087F8C"/>
                </a:solidFill>
                <a:latin typeface="Apple SD Gothic Neo"/>
                <a:ea typeface="Apple SD Gothic Neo"/>
                <a:cs typeface="Apple SD Gothic Neo"/>
              </a:defRPr>
            </a:pPr>
            <a:r>
              <a:rPr sz="1875" b="0">
                <a:solidFill>
                  <a:srgbClr val="087F8C"/>
                </a:solidFill>
                <a:latin typeface="Apple SD Gothic Neo"/>
                <a:ea typeface="Apple SD Gothic Neo"/>
                <a:cs typeface="Apple SD Gothic Neo"/>
              </a:rPr>
              <a:t>학생 작업: 자기 프로젝트의 수정 가능한 테이블 하나 작성</a:t>
            </a:r>
          </a:p>
        </p:txBody>
      </p:sp>
    </p:spTree>
    <p:extLst>
      <p:ext uri="{BB962C8B-B14F-4D97-AF65-F5344CB8AC3E}">
        <p14:creationId xmlns:p14="http://schemas.microsoft.com/office/powerpoint/2010/main" val="1930070684"/>
      </p:ext>
    </p:extLst>
  </p:cSld>
</p:sld>
</file>

<file path=ppt/slides/slide32.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9C2672-322E-4DCD-8E8F-11204A5E3C0C}"/>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변경 시나리오와 기대값</a:t>
            </a:r>
          </a:p>
        </p:txBody>
      </p:sp>
      <p:sp>
        <p:nvSpPr>
          <p:cNvPr id="2" name="">
            <a:extLst xmlns:a="http://schemas.openxmlformats.org/drawingml/2006/main">
              <a:ext uri="{FF2B5EF4-FFF2-40B4-BE49-F238E27FC236}">
                <a16:creationId xmlns:a16="http://schemas.microsoft.com/office/drawing/2014/main" id="{297B5F26-CD3D-4F82-B744-AE8DEAA1CEEA}"/>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01:45–01:50     32</a:t>
            </a:r>
          </a:p>
        </p:txBody>
      </p:sp>
      <p:sp>
        <p:nvSpPr>
          <p:cNvPr id="3" name="">
            <a:extLst xmlns:a="http://schemas.openxmlformats.org/drawingml/2006/main">
              <a:ext uri="{FF2B5EF4-FFF2-40B4-BE49-F238E27FC236}">
                <a16:creationId xmlns:a16="http://schemas.microsoft.com/office/drawing/2014/main" id="{18004B20-8F04-4B91-A3BA-849295C1F541}"/>
              </a:ext>
            </a:extLst>
          </p:cNvPr>
          <p:cNvSpPr>
            <a:spLocks xmlns:a="http://schemas.openxmlformats.org/drawingml/2006/main" noGrp="1"/>
          </p:cNvSpPr>
          <p:nvPr/>
        </p:nvSpPr>
        <p:spPr>
          <a:xfrm xmlns:a="http://schemas.openxmlformats.org/drawingml/2006/main">
            <a:off x="685800" y="1657350"/>
            <a:ext cx="10820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142D43"/>
                </a:solidFill>
                <a:latin typeface="D2Coding"/>
                <a:ea typeface="D2Coding"/>
                <a:cs typeface="D2Coding"/>
              </a:defRPr>
            </a:defPPr>
          </a:lstStyle>
          <a:p xmlns:a="http://schemas.openxmlformats.org/drawingml/2006/main">
            <a:pPr>
              <a:defRPr sz="2025" b="0">
                <a:solidFill>
                  <a:srgbClr val="142D43"/>
                </a:solidFill>
                <a:latin typeface="D2Coding"/>
                <a:ea typeface="D2Coding"/>
                <a:cs typeface="D2Coding"/>
              </a:defRPr>
            </a:pPr>
            <a:r>
              <a:rPr sz="2025" b="0">
                <a:solidFill>
                  <a:srgbClr val="142D43"/>
                </a:solidFill>
                <a:latin typeface="D2Coding"/>
                <a:ea typeface="D2Coding"/>
                <a:cs typeface="D2Coding"/>
              </a:rPr>
              <a:t>UPDATE reservations</a:t>
            </a:r>
          </a:p>
          <a:p xmlns:a="http://schemas.openxmlformats.org/drawingml/2006/main">
            <a:pPr>
              <a:defRPr sz="2025" b="0">
                <a:solidFill>
                  <a:srgbClr val="142D43"/>
                </a:solidFill>
                <a:latin typeface="D2Coding"/>
                <a:ea typeface="D2Coding"/>
                <a:cs typeface="D2Coding"/>
              </a:defRPr>
            </a:pPr>
            <a:r>
              <a:rPr sz="2025" b="0">
                <a:solidFill>
                  <a:srgbClr val="142D43"/>
                </a:solidFill>
                <a:latin typeface="D2Coding"/>
                <a:ea typeface="D2Coding"/>
                <a:cs typeface="D2Coding"/>
              </a:rPr>
              <a:t>SET status = 'cancelled'</a:t>
            </a:r>
          </a:p>
          <a:p xmlns:a="http://schemas.openxmlformats.org/drawingml/2006/main">
            <a:pPr>
              <a:defRPr sz="2025" b="0">
                <a:solidFill>
                  <a:srgbClr val="142D43"/>
                </a:solidFill>
                <a:latin typeface="D2Coding"/>
                <a:ea typeface="D2Coding"/>
                <a:cs typeface="D2Coding"/>
              </a:defRPr>
            </a:pPr>
            <a:r>
              <a:rPr sz="2025" b="0">
                <a:solidFill>
                  <a:srgbClr val="142D43"/>
                </a:solidFill>
                <a:latin typeface="D2Coding"/>
                <a:ea typeface="D2Coding"/>
                <a:cs typeface="D2Coding"/>
              </a:rPr>
              <a:t>WHERE reservation_id = 'r-001';</a:t>
            </a:r>
          </a:p>
        </p:txBody>
      </p:sp>
      <p:sp>
        <p:nvSpPr>
          <p:cNvPr id="4" name="">
            <a:extLst xmlns:a="http://schemas.openxmlformats.org/drawingml/2006/main">
              <a:ext uri="{FF2B5EF4-FFF2-40B4-BE49-F238E27FC236}">
                <a16:creationId xmlns:a16="http://schemas.microsoft.com/office/drawing/2014/main" id="{9C2C1063-02A8-47EF-8E39-C88F7173425C}"/>
              </a:ext>
            </a:extLst>
          </p:cNvPr>
          <p:cNvSpPr>
            <a:spLocks xmlns:a="http://schemas.openxmlformats.org/drawingml/2006/main" noGrp="1"/>
          </p:cNvSpPr>
          <p:nvPr/>
        </p:nvSpPr>
        <p:spPr>
          <a:xfrm xmlns:a="http://schemas.openxmlformats.org/drawingml/2006/main">
            <a:off x="685800" y="571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87F8C"/>
                </a:solidFill>
                <a:latin typeface="Apple SD Gothic Neo"/>
                <a:ea typeface="Apple SD Gothic Neo"/>
                <a:cs typeface="Apple SD Gothic Neo"/>
              </a:defRPr>
            </a:defPPr>
          </a:lstStyle>
          <a:p xmlns:a="http://schemas.openxmlformats.org/drawingml/2006/main">
            <a:pPr>
              <a:defRPr sz="1875" b="0">
                <a:solidFill>
                  <a:srgbClr val="087F8C"/>
                </a:solidFill>
                <a:latin typeface="Apple SD Gothic Neo"/>
                <a:ea typeface="Apple SD Gothic Neo"/>
                <a:cs typeface="Apple SD Gothic Neo"/>
              </a:defRPr>
            </a:pPr>
            <a:r>
              <a:rPr sz="1875" b="0">
                <a:solidFill>
                  <a:srgbClr val="087F8C"/>
                </a:solidFill>
                <a:latin typeface="Apple SD Gothic Neo"/>
                <a:ea typeface="Apple SD Gothic Neo"/>
                <a:cs typeface="Apple SD Gothic Neo"/>
              </a:rPr>
              <a:t>오늘 확정 예약 수: 수정 전 1건 / 수정 후 0건</a:t>
            </a:r>
          </a:p>
        </p:txBody>
      </p:sp>
    </p:spTree>
    <p:extLst>
      <p:ext uri="{BB962C8B-B14F-4D97-AF65-F5344CB8AC3E}">
        <p14:creationId xmlns:p14="http://schemas.microsoft.com/office/powerpoint/2010/main" val="161438228"/>
      </p:ext>
    </p:extLst>
  </p:cSld>
</p:sld>
</file>

<file path=ppt/slides/slide33.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F1F526-6869-4F5D-849C-D65A3ED7EE47}"/>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설계 초안 점검</a:t>
            </a:r>
          </a:p>
        </p:txBody>
      </p:sp>
      <p:sp>
        <p:nvSpPr>
          <p:cNvPr id="2" name="">
            <a:extLst xmlns:a="http://schemas.openxmlformats.org/drawingml/2006/main">
              <a:ext uri="{FF2B5EF4-FFF2-40B4-BE49-F238E27FC236}">
                <a16:creationId xmlns:a16="http://schemas.microsoft.com/office/drawing/2014/main" id="{9B2B023D-B4CB-48C4-B998-1E3531706141}"/>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01:50–01:54     33</a:t>
            </a:r>
          </a:p>
        </p:txBody>
      </p:sp>
      <p:sp>
        <p:nvSpPr>
          <p:cNvPr id="3" name="">
            <a:extLst xmlns:a="http://schemas.openxmlformats.org/drawingml/2006/main">
              <a:ext uri="{FF2B5EF4-FFF2-40B4-BE49-F238E27FC236}">
                <a16:creationId xmlns:a16="http://schemas.microsoft.com/office/drawing/2014/main" id="{78F0CE81-4036-4DBD-86CF-1438EBCEC98A}"/>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지표 사용 목적과 허용 지연이 연결되나요?</a:t>
            </a:r>
          </a:p>
        </p:txBody>
      </p:sp>
      <p:sp>
        <p:nvSpPr>
          <p:cNvPr id="4" name="">
            <a:extLst xmlns:a="http://schemas.openxmlformats.org/drawingml/2006/main">
              <a:ext uri="{FF2B5EF4-FFF2-40B4-BE49-F238E27FC236}">
                <a16:creationId xmlns:a16="http://schemas.microsoft.com/office/drawing/2014/main" id="{D108A3DB-1D22-4C6F-B3D3-CBBF5932B929}"/>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동일 대상을 다시 수정할 수 있는 PK가 있나요?</a:t>
            </a:r>
          </a:p>
        </p:txBody>
      </p:sp>
      <p:sp>
        <p:nvSpPr>
          <p:cNvPr id="5" name="">
            <a:extLst xmlns:a="http://schemas.openxmlformats.org/drawingml/2006/main">
              <a:ext uri="{FF2B5EF4-FFF2-40B4-BE49-F238E27FC236}">
                <a16:creationId xmlns:a16="http://schemas.microsoft.com/office/drawing/2014/main" id="{818D74D2-9A99-48D2-8E8F-D49E102DFA50}"/>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변경 전후의 지표를 숫자로 설명할 수 있나요?</a:t>
            </a:r>
          </a:p>
        </p:txBody>
      </p:sp>
    </p:spTree>
    <p:extLst>
      <p:ext uri="{BB962C8B-B14F-4D97-AF65-F5344CB8AC3E}">
        <p14:creationId xmlns:p14="http://schemas.microsoft.com/office/powerpoint/2010/main" val="466696386"/>
      </p:ext>
    </p:extLst>
  </p:cSld>
</p:sld>
</file>

<file path=ppt/slides/slide34.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82550C-5134-4B65-83ED-C48C1E62364F}"/>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종료 질문</a:t>
            </a:r>
          </a:p>
        </p:txBody>
      </p:sp>
      <p:sp>
        <p:nvSpPr>
          <p:cNvPr id="2" name="">
            <a:extLst xmlns:a="http://schemas.openxmlformats.org/drawingml/2006/main">
              <a:ext uri="{FF2B5EF4-FFF2-40B4-BE49-F238E27FC236}">
                <a16:creationId xmlns:a16="http://schemas.microsoft.com/office/drawing/2014/main" id="{68C347FD-F5B7-45FF-B6DA-95F7658FFC31}"/>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01:54–01:57     34</a:t>
            </a:r>
          </a:p>
        </p:txBody>
      </p:sp>
      <p:sp>
        <p:nvSpPr>
          <p:cNvPr id="3" name="">
            <a:extLst xmlns:a="http://schemas.openxmlformats.org/drawingml/2006/main">
              <a:ext uri="{FF2B5EF4-FFF2-40B4-BE49-F238E27FC236}">
                <a16:creationId xmlns:a16="http://schemas.microsoft.com/office/drawing/2014/main" id="{A91AA6FC-C7B2-4466-B7A4-1C634F163FD6}"/>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Bronze에는 ___, Silver에는 ___가 남습니다</a:t>
            </a:r>
          </a:p>
        </p:txBody>
      </p:sp>
      <p:sp>
        <p:nvSpPr>
          <p:cNvPr id="4" name="">
            <a:extLst xmlns:a="http://schemas.openxmlformats.org/drawingml/2006/main">
              <a:ext uri="{FF2B5EF4-FFF2-40B4-BE49-F238E27FC236}">
                <a16:creationId xmlns:a16="http://schemas.microsoft.com/office/drawing/2014/main" id="{930023B2-A74C-4999-B7DD-487DBA4F863E}"/>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원천이 바뀌고 Gold가 그대로면 ___를 확인합니다</a:t>
            </a:r>
          </a:p>
        </p:txBody>
      </p:sp>
      <p:sp>
        <p:nvSpPr>
          <p:cNvPr id="5" name="">
            <a:extLst xmlns:a="http://schemas.openxmlformats.org/drawingml/2006/main">
              <a:ext uri="{FF2B5EF4-FFF2-40B4-BE49-F238E27FC236}">
                <a16:creationId xmlns:a16="http://schemas.microsoft.com/office/drawing/2014/main" id="{97F2DA24-69F3-434B-866E-61BD93DC70BF}"/>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내 프로젝트에서 ___가 바뀌면 ___ 지표가 바뀝니다</a:t>
            </a:r>
          </a:p>
        </p:txBody>
      </p:sp>
    </p:spTree>
    <p:extLst>
      <p:ext uri="{BB962C8B-B14F-4D97-AF65-F5344CB8AC3E}">
        <p14:creationId xmlns:p14="http://schemas.microsoft.com/office/powerpoint/2010/main" val="694067317"/>
      </p:ext>
    </p:extLst>
  </p:cSld>
</p:sld>
</file>

<file path=ppt/slides/slide35.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74CDB7-B202-4F62-85D0-E06DB90DE79D}"/>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제출과 다음 회차 준비</a:t>
            </a:r>
          </a:p>
        </p:txBody>
      </p:sp>
      <p:sp>
        <p:nvSpPr>
          <p:cNvPr id="2" name="">
            <a:extLst xmlns:a="http://schemas.openxmlformats.org/drawingml/2006/main">
              <a:ext uri="{FF2B5EF4-FFF2-40B4-BE49-F238E27FC236}">
                <a16:creationId xmlns:a16="http://schemas.microsoft.com/office/drawing/2014/main" id="{D6834AAC-712A-4316-9DC7-BD61562C003B}"/>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01:57–02:00     35</a:t>
            </a:r>
          </a:p>
        </p:txBody>
      </p:sp>
      <p:sp>
        <p:nvSpPr>
          <p:cNvPr id="3" name="">
            <a:extLst xmlns:a="http://schemas.openxmlformats.org/drawingml/2006/main">
              <a:ext uri="{FF2B5EF4-FFF2-40B4-BE49-F238E27FC236}">
                <a16:creationId xmlns:a16="http://schemas.microsoft.com/office/drawing/2014/main" id="{5F9A28F4-4445-41BE-BBD7-19D0219A64DA}"/>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오늘: SQL 초안, 관찰표, 지표 정의와 DDL 하나</a:t>
            </a:r>
          </a:p>
        </p:txBody>
      </p:sp>
      <p:sp>
        <p:nvSpPr>
          <p:cNvPr id="4" name="">
            <a:extLst xmlns:a="http://schemas.openxmlformats.org/drawingml/2006/main">
              <a:ext uri="{FF2B5EF4-FFF2-40B4-BE49-F238E27FC236}">
                <a16:creationId xmlns:a16="http://schemas.microsoft.com/office/drawing/2014/main" id="{6350D89A-0D4F-4B92-A703-6B39D42ECE45}"/>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다음 회차 전: 나머지 DDL과 입력·수정·삭제 DML</a:t>
            </a:r>
          </a:p>
        </p:txBody>
      </p:sp>
      <p:sp>
        <p:nvSpPr>
          <p:cNvPr id="5" name="">
            <a:extLst xmlns:a="http://schemas.openxmlformats.org/drawingml/2006/main">
              <a:ext uri="{FF2B5EF4-FFF2-40B4-BE49-F238E27FC236}">
                <a16:creationId xmlns:a16="http://schemas.microsoft.com/office/drawing/2014/main" id="{3C25DE16-B082-4A95-9DD5-629B80CBA7B9}"/>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각 변경의 기대값을 설계서에 추가합니다</a:t>
            </a:r>
          </a:p>
        </p:txBody>
      </p:sp>
    </p:spTree>
    <p:extLst>
      <p:ext uri="{BB962C8B-B14F-4D97-AF65-F5344CB8AC3E}">
        <p14:creationId xmlns:p14="http://schemas.microsoft.com/office/powerpoint/2010/main" val="801944890"/>
      </p:ext>
    </p:extLst>
  </p:cSld>
</p:sld>
</file>

<file path=ppt/slides/slide36.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AB8C64-66CF-467C-AB1D-457641585959}"/>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부록. 강사 사전 준비</a:t>
            </a:r>
          </a:p>
        </p:txBody>
      </p:sp>
      <p:sp>
        <p:nvSpPr>
          <p:cNvPr id="2" name="">
            <a:extLst xmlns:a="http://schemas.openxmlformats.org/drawingml/2006/main">
              <a:ext uri="{FF2B5EF4-FFF2-40B4-BE49-F238E27FC236}">
                <a16:creationId xmlns:a16="http://schemas.microsoft.com/office/drawing/2014/main" id="{10555A29-D3A1-4E7A-A768-9B06AF6C630A}"/>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수업 전     36</a:t>
            </a:r>
          </a:p>
        </p:txBody>
      </p:sp>
      <p:sp>
        <p:nvSpPr>
          <p:cNvPr id="3" name="">
            <a:extLst xmlns:a="http://schemas.openxmlformats.org/drawingml/2006/main">
              <a:ext uri="{FF2B5EF4-FFF2-40B4-BE49-F238E27FC236}">
                <a16:creationId xmlns:a16="http://schemas.microsoft.com/office/drawing/2014/main" id="{FDAABE57-D05B-4CCB-9C11-F39A130F0F34}"/>
              </a:ext>
            </a:extLst>
          </p:cNvPr>
          <p:cNvSpPr>
            <a:spLocks xmlns:a="http://schemas.openxmlformats.org/drawingml/2006/main" noGrp="1"/>
          </p:cNvSpPr>
          <p:nvPr/>
        </p:nvSpPr>
        <p:spPr>
          <a:xfrm xmlns:a="http://schemas.openxmlformats.org/drawingml/2006/main">
            <a:off x="685800" y="17907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1">
                <a:solidFill>
                  <a:srgbClr val="142D43"/>
                </a:solidFill>
                <a:latin typeface="Apple SD Gothic Neo"/>
                <a:ea typeface="Apple SD Gothic Neo"/>
                <a:cs typeface="Apple SD Gothic Neo"/>
              </a:defRPr>
            </a:defPPr>
          </a:lstStyle>
          <a:p xmlns:a="http://schemas.openxmlformats.org/drawingml/2006/main">
            <a:pPr>
              <a:defRPr sz="2325" b="1">
                <a:solidFill>
                  <a:srgbClr val="142D43"/>
                </a:solidFill>
                <a:latin typeface="Apple SD Gothic Neo"/>
                <a:ea typeface="Apple SD Gothic Neo"/>
                <a:cs typeface="Apple SD Gothic Neo"/>
              </a:defRPr>
            </a:pPr>
            <a:r>
              <a:rPr sz="2325" b="1">
                <a:solidFill>
                  <a:srgbClr val="142D43"/>
                </a:solidFill>
                <a:latin typeface="Apple SD Gothic Neo"/>
                <a:ea typeface="Apple SD Gothic Neo"/>
                <a:cs typeface="Apple SD Gothic Neo"/>
              </a:rPr>
              <a:t>자료와 학생 템플릿 배포, 저장소 접근 확인</a:t>
            </a:r>
          </a:p>
        </p:txBody>
      </p:sp>
      <p:sp>
        <p:nvSpPr>
          <p:cNvPr id="4" name="">
            <a:extLst xmlns:a="http://schemas.openxmlformats.org/drawingml/2006/main">
              <a:ext uri="{FF2B5EF4-FFF2-40B4-BE49-F238E27FC236}">
                <a16:creationId xmlns:a16="http://schemas.microsoft.com/office/drawing/2014/main" id="{A8E53D92-A1B6-4362-A3AC-C6EE60D37BE4}"/>
              </a:ext>
            </a:extLst>
          </p:cNvPr>
          <p:cNvSpPr>
            <a:spLocks xmlns:a="http://schemas.openxmlformats.org/drawingml/2006/main" noGrp="1"/>
          </p:cNvSpPr>
          <p:nvPr/>
        </p:nvSpPr>
        <p:spPr>
          <a:xfrm xmlns:a="http://schemas.openxmlformats.org/drawingml/2006/main">
            <a:off x="685800" y="28194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맥미니 기동·preflight ready 확인, Airflow 중지</a:t>
            </a:r>
          </a:p>
        </p:txBody>
      </p:sp>
      <p:sp>
        <p:nvSpPr>
          <p:cNvPr id="5" name="">
            <a:extLst xmlns:a="http://schemas.openxmlformats.org/drawingml/2006/main">
              <a:ext uri="{FF2B5EF4-FFF2-40B4-BE49-F238E27FC236}">
                <a16:creationId xmlns:a16="http://schemas.microsoft.com/office/drawing/2014/main" id="{DB54E9D5-0876-47C3-BEFF-FDFB005BA658}"/>
              </a:ext>
            </a:extLst>
          </p:cNvPr>
          <p:cNvSpPr>
            <a:spLocks xmlns:a="http://schemas.openxmlformats.org/drawingml/2006/main" noGrp="1"/>
          </p:cNvSpPr>
          <p:nvPr/>
        </p:nvSpPr>
        <p:spPr>
          <a:xfrm xmlns:a="http://schemas.openxmlformats.org/drawingml/2006/main">
            <a:off x="685800" y="38481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325" b="0">
                <a:solidFill>
                  <a:srgbClr val="496174"/>
                </a:solidFill>
                <a:latin typeface="Apple SD Gothic Neo"/>
                <a:ea typeface="Apple SD Gothic Neo"/>
                <a:cs typeface="Apple SD Gothic Neo"/>
              </a:defRPr>
            </a:defPPr>
          </a:lstStyle>
          <a:p xmlns:a="http://schemas.openxmlformats.org/drawingml/2006/main">
            <a:pPr>
              <a:defRPr sz="2325" b="0">
                <a:solidFill>
                  <a:srgbClr val="496174"/>
                </a:solidFill>
                <a:latin typeface="Apple SD Gothic Neo"/>
                <a:ea typeface="Apple SD Gothic Neo"/>
                <a:cs typeface="Apple SD Gothic Neo"/>
              </a:defRPr>
            </a:pPr>
            <a:r>
              <a:rPr sz="2325" b="0">
                <a:solidFill>
                  <a:srgbClr val="496174"/>
                </a:solidFill>
                <a:latin typeface="Apple SD Gothic Neo"/>
                <a:ea typeface="Apple SD Gothic Neo"/>
                <a:cs typeface="Apple SD Gothic Neo"/>
              </a:rPr>
              <a:t>새 CASE_ID 준비 후 핵심 시나리오 리허설</a:t>
            </a:r>
          </a:p>
        </p:txBody>
      </p:sp>
    </p:spTree>
    <p:extLst>
      <p:ext uri="{BB962C8B-B14F-4D97-AF65-F5344CB8AC3E}">
        <p14:creationId xmlns:p14="http://schemas.microsoft.com/office/powerpoint/2010/main" val="951876731"/>
      </p:ext>
    </p:extLst>
  </p:cSld>
</p:sld>
</file>

<file path=ppt/slides/slide37.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A2F6AC-282A-41F1-BC32-6920325F81EF}"/>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부록. 결제·환불 시연 명령</a:t>
            </a:r>
          </a:p>
        </p:txBody>
      </p:sp>
      <p:sp>
        <p:nvSpPr>
          <p:cNvPr id="2" name="">
            <a:extLst xmlns:a="http://schemas.openxmlformats.org/drawingml/2006/main">
              <a:ext uri="{FF2B5EF4-FFF2-40B4-BE49-F238E27FC236}">
                <a16:creationId xmlns:a16="http://schemas.microsoft.com/office/drawing/2014/main" id="{CFCFB7B9-5691-4DD1-8FBF-EAF78AD602DD}"/>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강사 참고     37</a:t>
            </a:r>
          </a:p>
        </p:txBody>
      </p:sp>
      <p:sp>
        <p:nvSpPr>
          <p:cNvPr id="3" name="">
            <a:extLst xmlns:a="http://schemas.openxmlformats.org/drawingml/2006/main">
              <a:ext uri="{FF2B5EF4-FFF2-40B4-BE49-F238E27FC236}">
                <a16:creationId xmlns:a16="http://schemas.microsoft.com/office/drawing/2014/main" id="{472B2BB0-8E6F-49B9-B2FD-A2FB979CC7FF}"/>
              </a:ext>
            </a:extLst>
          </p:cNvPr>
          <p:cNvSpPr>
            <a:spLocks xmlns:a="http://schemas.openxmlformats.org/drawingml/2006/main" noGrp="1"/>
          </p:cNvSpPr>
          <p:nvPr/>
        </p:nvSpPr>
        <p:spPr>
          <a:xfrm xmlns:a="http://schemas.openxmlformats.org/drawingml/2006/main">
            <a:off x="685800" y="1657350"/>
            <a:ext cx="10820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142D43"/>
                </a:solidFill>
                <a:latin typeface="D2Coding"/>
                <a:ea typeface="D2Coding"/>
                <a:cs typeface="D2Coding"/>
              </a:defRPr>
            </a:defPPr>
          </a:lstStyle>
          <a:p xmlns:a="http://schemas.openxmlformats.org/drawingml/2006/main">
            <a:pPr>
              <a:defRPr sz="1800" b="0">
                <a:solidFill>
                  <a:srgbClr val="142D43"/>
                </a:solidFill>
                <a:latin typeface="D2Coding"/>
                <a:ea typeface="D2Coding"/>
                <a:cs typeface="D2Coding"/>
              </a:defRPr>
            </a:pPr>
            <a:r>
              <a:rPr sz="1800" b="0">
                <a:solidFill>
                  <a:srgbClr val="142D43"/>
                </a:solidFill>
                <a:latin typeface="D2Coding"/>
                <a:ea typeface="D2Coding"/>
                <a:cs typeface="D2Coding"/>
              </a:rPr>
              <a:t>CASE_ID=s01-instructor-unique</a:t>
            </a:r>
          </a:p>
          <a:p xmlns:a="http://schemas.openxmlformats.org/drawingml/2006/main">
            <a:pPr>
              <a:defRPr sz="1800" b="0">
                <a:solidFill>
                  <a:srgbClr val="142D43"/>
                </a:solidFill>
                <a:latin typeface="D2Coding"/>
                <a:ea typeface="D2Coding"/>
                <a:cs typeface="D2Coding"/>
              </a:defRPr>
            </a:pPr>
            <a:r>
              <a:rPr sz="1800" b="0">
                <a:solidFill>
                  <a:srgbClr val="142D43"/>
                </a:solidFill>
                <a:latin typeface="D2Coding"/>
                <a:ea typeface="D2Coding"/>
                <a:cs typeface="D2Coding"/>
              </a:rPr>
              <a:t>./labs/session01/lab.sh "$CASE_ID" payment</a:t>
            </a:r>
          </a:p>
          <a:p xmlns:a="http://schemas.openxmlformats.org/drawingml/2006/main">
            <a:pPr>
              <a:defRPr sz="1800" b="0">
                <a:solidFill>
                  <a:srgbClr val="142D43"/>
                </a:solidFill>
                <a:latin typeface="D2Coding"/>
                <a:ea typeface="D2Coding"/>
                <a:cs typeface="D2Coding"/>
              </a:defRPr>
            </a:pPr>
            <a:r>
              <a:rPr sz="1800" b="0">
                <a:solidFill>
                  <a:srgbClr val="142D43"/>
                </a:solidFill>
                <a:latin typeface="D2Coding"/>
                <a:ea typeface="D2Coding"/>
                <a:cs typeface="D2Coding"/>
              </a:rPr>
              <a:t>./labs/session01/lab.sh "$CASE_ID" wait --event payment</a:t>
            </a:r>
          </a:p>
          <a:p xmlns:a="http://schemas.openxmlformats.org/drawingml/2006/main">
            <a:pPr>
              <a:defRPr sz="1800" b="0">
                <a:solidFill>
                  <a:srgbClr val="142D43"/>
                </a:solidFill>
                <a:latin typeface="D2Coding"/>
                <a:ea typeface="D2Coding"/>
                <a:cs typeface="D2Coding"/>
              </a:defRPr>
            </a:pPr>
            <a:r>
              <a:rPr sz="1800" b="0">
                <a:solidFill>
                  <a:srgbClr val="142D43"/>
                </a:solidFill>
                <a:latin typeface="D2Coding"/>
                <a:ea typeface="D2Coding"/>
                <a:cs typeface="D2Coding"/>
              </a:rPr>
              <a:t>./labs/session01/lab.sh "$CASE_ID" bronze</a:t>
            </a:r>
          </a:p>
          <a:p xmlns:a="http://schemas.openxmlformats.org/drawingml/2006/main">
            <a:pPr>
              <a:defRPr sz="1800" b="0">
                <a:solidFill>
                  <a:srgbClr val="142D43"/>
                </a:solidFill>
                <a:latin typeface="D2Coding"/>
                <a:ea typeface="D2Coding"/>
                <a:cs typeface="D2Coding"/>
              </a:defRPr>
            </a:pPr>
            <a:r>
              <a:rPr sz="1800" b="0">
                <a:solidFill>
                  <a:srgbClr val="142D43"/>
                </a:solidFill>
                <a:latin typeface="D2Coding"/>
                <a:ea typeface="D2Coding"/>
                <a:cs typeface="D2Coding"/>
              </a:rPr>
              <a:t>./labs/session01/lab.sh "$CASE_ID" refresh</a:t>
            </a:r>
          </a:p>
          <a:p xmlns:a="http://schemas.openxmlformats.org/drawingml/2006/main">
            <a:pPr>
              <a:defRPr sz="1800" b="0">
                <a:solidFill>
                  <a:srgbClr val="142D43"/>
                </a:solidFill>
                <a:latin typeface="D2Coding"/>
                <a:ea typeface="D2Coding"/>
                <a:cs typeface="D2Coding"/>
              </a:defRPr>
            </a:pPr>
            <a:r>
              <a:rPr sz="1800" b="0">
                <a:solidFill>
                  <a:srgbClr val="142D43"/>
                </a:solidFill>
                <a:latin typeface="D2Coding"/>
                <a:ea typeface="D2Coding"/>
                <a:cs typeface="D2Coding"/>
              </a:rPr>
              <a:t>./labs/session01/lab.sh "$CASE_ID" check --expected 100000</a:t>
            </a:r>
          </a:p>
          <a:p xmlns:a="http://schemas.openxmlformats.org/drawingml/2006/main">
            <a:r>
              <a:t/>
            </a:r>
          </a:p>
          <a:p xmlns:a="http://schemas.openxmlformats.org/drawingml/2006/main">
            <a:pPr>
              <a:defRPr sz="1800" b="0">
                <a:solidFill>
                  <a:srgbClr val="142D43"/>
                </a:solidFill>
                <a:latin typeface="D2Coding"/>
                <a:ea typeface="D2Coding"/>
                <a:cs typeface="D2Coding"/>
              </a:defRPr>
            </a:pPr>
            <a:r>
              <a:rPr sz="1800" b="0">
                <a:solidFill>
                  <a:srgbClr val="142D43"/>
                </a:solidFill>
                <a:latin typeface="D2Coding"/>
                <a:ea typeface="D2Coding"/>
                <a:cs typeface="D2Coding"/>
              </a:rPr>
              <a:t>./labs/session01/lab.sh "$CASE_ID" refund</a:t>
            </a:r>
          </a:p>
          <a:p xmlns:a="http://schemas.openxmlformats.org/drawingml/2006/main">
            <a:pPr>
              <a:defRPr sz="1800" b="0">
                <a:solidFill>
                  <a:srgbClr val="142D43"/>
                </a:solidFill>
                <a:latin typeface="D2Coding"/>
                <a:ea typeface="D2Coding"/>
                <a:cs typeface="D2Coding"/>
              </a:defRPr>
            </a:pPr>
            <a:r>
              <a:rPr sz="1800" b="0">
                <a:solidFill>
                  <a:srgbClr val="142D43"/>
                </a:solidFill>
                <a:latin typeface="D2Coding"/>
                <a:ea typeface="D2Coding"/>
                <a:cs typeface="D2Coding"/>
              </a:rPr>
              <a:t>./labs/session01/lab.sh "$CASE_ID" wait --event refund</a:t>
            </a:r>
          </a:p>
          <a:p xmlns:a="http://schemas.openxmlformats.org/drawingml/2006/main">
            <a:pPr>
              <a:defRPr sz="1800" b="0">
                <a:solidFill>
                  <a:srgbClr val="142D43"/>
                </a:solidFill>
                <a:latin typeface="D2Coding"/>
                <a:ea typeface="D2Coding"/>
                <a:cs typeface="D2Coding"/>
              </a:defRPr>
            </a:pPr>
            <a:r>
              <a:rPr sz="1800" b="0">
                <a:solidFill>
                  <a:srgbClr val="142D43"/>
                </a:solidFill>
                <a:latin typeface="D2Coding"/>
                <a:ea typeface="D2Coding"/>
                <a:cs typeface="D2Coding"/>
              </a:rPr>
              <a:t>./labs/session01/lab.sh "$CASE_ID" layers</a:t>
            </a:r>
          </a:p>
        </p:txBody>
      </p:sp>
      <p:sp>
        <p:nvSpPr>
          <p:cNvPr id="4" name="">
            <a:extLst xmlns:a="http://schemas.openxmlformats.org/drawingml/2006/main">
              <a:ext uri="{FF2B5EF4-FFF2-40B4-BE49-F238E27FC236}">
                <a16:creationId xmlns:a16="http://schemas.microsoft.com/office/drawing/2014/main" id="{BD7B7622-53BF-4E97-B11A-5070F9CD80FB}"/>
              </a:ext>
            </a:extLst>
          </p:cNvPr>
          <p:cNvSpPr>
            <a:spLocks xmlns:a="http://schemas.openxmlformats.org/drawingml/2006/main" noGrp="1"/>
          </p:cNvSpPr>
          <p:nvPr/>
        </p:nvSpPr>
        <p:spPr>
          <a:xfrm xmlns:a="http://schemas.openxmlformats.org/drawingml/2006/main">
            <a:off x="685800" y="571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87F8C"/>
                </a:solidFill>
                <a:latin typeface="Apple SD Gothic Neo"/>
                <a:ea typeface="Apple SD Gothic Neo"/>
                <a:cs typeface="Apple SD Gothic Neo"/>
              </a:defRPr>
            </a:defPPr>
          </a:lstStyle>
          <a:p xmlns:a="http://schemas.openxmlformats.org/drawingml/2006/main">
            <a:pPr>
              <a:defRPr sz="1875" b="0">
                <a:solidFill>
                  <a:srgbClr val="087F8C"/>
                </a:solidFill>
                <a:latin typeface="Apple SD Gothic Neo"/>
                <a:ea typeface="Apple SD Gothic Neo"/>
                <a:cs typeface="Apple SD Gothic Neo"/>
              </a:defRPr>
            </a:pPr>
            <a:r>
              <a:rPr sz="1875" b="0">
                <a:solidFill>
                  <a:srgbClr val="087F8C"/>
                </a:solidFill>
                <a:latin typeface="Apple SD Gothic Neo"/>
                <a:ea typeface="Apple SD Gothic Neo"/>
                <a:cs typeface="Apple SD Gothic Neo"/>
              </a:rPr>
              <a:t>환불 뒤 layers로 차이를 보여준 후 refresh와 check 80000</a:t>
            </a:r>
          </a:p>
        </p:txBody>
      </p:sp>
    </p:spTree>
    <p:extLst>
      <p:ext uri="{BB962C8B-B14F-4D97-AF65-F5344CB8AC3E}">
        <p14:creationId xmlns:p14="http://schemas.microsoft.com/office/powerpoint/2010/main" val="1656303594"/>
      </p:ext>
    </p:extLst>
  </p:cSld>
</p:sld>
</file>

<file path=ppt/slides/slide38.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033CB82-855F-4F4B-BE32-8744DD8A1F01}"/>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부록. 정정과 결과 확인</a:t>
            </a:r>
          </a:p>
        </p:txBody>
      </p:sp>
      <p:sp>
        <p:nvSpPr>
          <p:cNvPr id="2" name="">
            <a:extLst xmlns:a="http://schemas.openxmlformats.org/drawingml/2006/main">
              <a:ext uri="{FF2B5EF4-FFF2-40B4-BE49-F238E27FC236}">
                <a16:creationId xmlns:a16="http://schemas.microsoft.com/office/drawing/2014/main" id="{E7340ABE-E12E-4CA8-A25A-1F08800F657E}"/>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강사 참고     38</a:t>
            </a:r>
          </a:p>
        </p:txBody>
      </p:sp>
      <p:sp>
        <p:nvSpPr>
          <p:cNvPr id="3" name="">
            <a:extLst xmlns:a="http://schemas.openxmlformats.org/drawingml/2006/main">
              <a:ext uri="{FF2B5EF4-FFF2-40B4-BE49-F238E27FC236}">
                <a16:creationId xmlns:a16="http://schemas.microsoft.com/office/drawing/2014/main" id="{D1A5FF2C-E0B7-4B9E-A385-EA3C8F65ADCF}"/>
              </a:ext>
            </a:extLst>
          </p:cNvPr>
          <p:cNvSpPr>
            <a:spLocks xmlns:a="http://schemas.openxmlformats.org/drawingml/2006/main" noGrp="1"/>
          </p:cNvSpPr>
          <p:nvPr/>
        </p:nvSpPr>
        <p:spPr>
          <a:xfrm xmlns:a="http://schemas.openxmlformats.org/drawingml/2006/main">
            <a:off x="685800" y="1657350"/>
            <a:ext cx="10820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42D43"/>
                </a:solidFill>
                <a:latin typeface="D2Coding"/>
                <a:ea typeface="D2Coding"/>
                <a:cs typeface="D2Coding"/>
              </a:defRPr>
            </a:defPPr>
          </a:lstStyle>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./labs/session01/lab.sh "$CASE_ID" correction</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./labs/session01/lab.sh "$CASE_ID" wait --event correction</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./labs/session01/lab.sh "$CASE_ID" bronze</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./labs/session01/lab.sh "$CASE_ID" refresh</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./labs/session01/lab.sh "$CASE_ID" check --expected 70000 --evidence</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./labs/session01/lab.sh "$CASE_ID" source-answer</a:t>
            </a:r>
          </a:p>
        </p:txBody>
      </p:sp>
      <p:sp>
        <p:nvSpPr>
          <p:cNvPr id="4" name="">
            <a:extLst xmlns:a="http://schemas.openxmlformats.org/drawingml/2006/main">
              <a:ext uri="{FF2B5EF4-FFF2-40B4-BE49-F238E27FC236}">
                <a16:creationId xmlns:a16="http://schemas.microsoft.com/office/drawing/2014/main" id="{25D123FF-2706-425D-902C-044A1149D7BA}"/>
              </a:ext>
            </a:extLst>
          </p:cNvPr>
          <p:cNvSpPr>
            <a:spLocks xmlns:a="http://schemas.openxmlformats.org/drawingml/2006/main" noGrp="1"/>
          </p:cNvSpPr>
          <p:nvPr/>
        </p:nvSpPr>
        <p:spPr>
          <a:xfrm xmlns:a="http://schemas.openxmlformats.org/drawingml/2006/main">
            <a:off x="685800" y="571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87F8C"/>
                </a:solidFill>
                <a:latin typeface="Apple SD Gothic Neo"/>
                <a:ea typeface="Apple SD Gothic Neo"/>
                <a:cs typeface="Apple SD Gothic Neo"/>
              </a:defRPr>
            </a:defPPr>
          </a:lstStyle>
          <a:p xmlns:a="http://schemas.openxmlformats.org/drawingml/2006/main">
            <a:pPr>
              <a:defRPr sz="1875" b="0">
                <a:solidFill>
                  <a:srgbClr val="087F8C"/>
                </a:solidFill>
                <a:latin typeface="Apple SD Gothic Neo"/>
                <a:ea typeface="Apple SD Gothic Neo"/>
                <a:cs typeface="Apple SD Gothic Neo"/>
              </a:defRPr>
            </a:pPr>
            <a:r>
              <a:rPr sz="1875" b="0">
                <a:solidFill>
                  <a:srgbClr val="087F8C"/>
                </a:solidFill>
                <a:latin typeface="Apple SD Gothic Neo"/>
                <a:ea typeface="Apple SD Gothic Neo"/>
                <a:cs typeface="Apple SD Gothic Neo"/>
              </a:rPr>
              <a:t>같은 환불 행의 before 20000 / after 30000, Silver 한 행 확인</a:t>
            </a:r>
          </a:p>
        </p:txBody>
      </p:sp>
    </p:spTree>
    <p:extLst>
      <p:ext uri="{BB962C8B-B14F-4D97-AF65-F5344CB8AC3E}">
        <p14:creationId xmlns:p14="http://schemas.microsoft.com/office/powerpoint/2010/main" val="1829846893"/>
      </p:ext>
    </p:extLst>
  </p:cSld>
</p:sld>
</file>

<file path=ppt/slides/slide39.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24F2CE-5F0E-4031-852E-E745B92F7E72}"/>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부록. 원천 SQL 집계의 핵심</a:t>
            </a:r>
          </a:p>
        </p:txBody>
      </p:sp>
      <p:sp>
        <p:nvSpPr>
          <p:cNvPr id="2" name="">
            <a:extLst xmlns:a="http://schemas.openxmlformats.org/drawingml/2006/main">
              <a:ext uri="{FF2B5EF4-FFF2-40B4-BE49-F238E27FC236}">
                <a16:creationId xmlns:a16="http://schemas.microsoft.com/office/drawing/2014/main" id="{5C130A0A-6019-4BEB-8D58-C499A0AF2991}"/>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학생 답안 참고     39</a:t>
            </a:r>
          </a:p>
        </p:txBody>
      </p:sp>
      <p:sp>
        <p:nvSpPr>
          <p:cNvPr id="3" name="">
            <a:extLst xmlns:a="http://schemas.openxmlformats.org/drawingml/2006/main">
              <a:ext uri="{FF2B5EF4-FFF2-40B4-BE49-F238E27FC236}">
                <a16:creationId xmlns:a16="http://schemas.microsoft.com/office/drawing/2014/main" id="{1566D0BB-8458-4036-A91F-605B9E89801B}"/>
              </a:ext>
            </a:extLst>
          </p:cNvPr>
          <p:cNvSpPr>
            <a:spLocks xmlns:a="http://schemas.openxmlformats.org/drawingml/2006/main" noGrp="1"/>
          </p:cNvSpPr>
          <p:nvPr/>
        </p:nvSpPr>
        <p:spPr>
          <a:xfrm xmlns:a="http://schemas.openxmlformats.org/drawingml/2006/main">
            <a:off x="685800" y="1657350"/>
            <a:ext cx="10820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42D43"/>
                </a:solidFill>
                <a:latin typeface="D2Coding"/>
                <a:ea typeface="D2Coding"/>
                <a:cs typeface="D2Coding"/>
              </a:defRPr>
            </a:defPPr>
          </a:lstStyle>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WITH paid AS (</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  SELECT order_id, sum(amount) AS amount FROM payments</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  WHERE status = 'success' GROUP BY order_id</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 refunded AS (</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  SELECT p.order_id, sum(r.amount) AS amount</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  FROM refunds r JOIN payments p ON r.payment_id = p.payment_id</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  WHERE r.status = 'success' AND p.status = 'success'</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  GROUP BY p.order_id</a:t>
            </a:r>
          </a:p>
          <a:p xmlns:a="http://schemas.openxmlformats.org/drawingml/2006/main">
            <a:pPr>
              <a:defRPr sz="1875" b="0">
                <a:solidFill>
                  <a:srgbClr val="142D43"/>
                </a:solidFill>
                <a:latin typeface="D2Coding"/>
                <a:ea typeface="D2Coding"/>
                <a:cs typeface="D2Coding"/>
              </a:defRPr>
            </a:pPr>
            <a:r>
              <a:rPr sz="1875" b="0">
                <a:solidFill>
                  <a:srgbClr val="142D43"/>
                </a:solidFill>
                <a:latin typeface="D2Coding"/>
                <a:ea typeface="D2Coding"/>
                <a:cs typeface="D2Coding"/>
              </a:rPr>
              <a:t>)</a:t>
            </a:r>
          </a:p>
        </p:txBody>
      </p:sp>
      <p:sp>
        <p:nvSpPr>
          <p:cNvPr id="4" name="">
            <a:extLst xmlns:a="http://schemas.openxmlformats.org/drawingml/2006/main">
              <a:ext uri="{FF2B5EF4-FFF2-40B4-BE49-F238E27FC236}">
                <a16:creationId xmlns:a16="http://schemas.microsoft.com/office/drawing/2014/main" id="{F4BFF82A-1D7A-459A-BF0D-1888B2503750}"/>
              </a:ext>
            </a:extLst>
          </p:cNvPr>
          <p:cNvSpPr>
            <a:spLocks xmlns:a="http://schemas.openxmlformats.org/drawingml/2006/main" noGrp="1"/>
          </p:cNvSpPr>
          <p:nvPr/>
        </p:nvSpPr>
        <p:spPr>
          <a:xfrm xmlns:a="http://schemas.openxmlformats.org/drawingml/2006/main">
            <a:off x="685800" y="571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87F8C"/>
                </a:solidFill>
                <a:latin typeface="Apple SD Gothic Neo"/>
                <a:ea typeface="Apple SD Gothic Neo"/>
                <a:cs typeface="Apple SD Gothic Neo"/>
              </a:defRPr>
            </a:defPPr>
          </a:lstStyle>
          <a:p xmlns:a="http://schemas.openxmlformats.org/drawingml/2006/main">
            <a:pPr>
              <a:defRPr sz="1875" b="0">
                <a:solidFill>
                  <a:srgbClr val="087F8C"/>
                </a:solidFill>
                <a:latin typeface="Apple SD Gothic Neo"/>
                <a:ea typeface="Apple SD Gothic Neo"/>
                <a:cs typeface="Apple SD Gothic Neo"/>
              </a:defRPr>
            </a:pPr>
            <a:r>
              <a:rPr sz="1875" b="0">
                <a:solidFill>
                  <a:srgbClr val="087F8C"/>
                </a:solidFill>
                <a:latin typeface="Apple SD Gothic Neo"/>
                <a:ea typeface="Apple SD Gothic Neo"/>
                <a:cs typeface="Apple SD Gothic Neo"/>
              </a:rPr>
              <a:t>결제와 환불을 따로 집계해 JOIN 시 결제액이 늘어나는 문제 방지</a:t>
            </a:r>
          </a:p>
        </p:txBody>
      </p:sp>
    </p:spTree>
    <p:extLst>
      <p:ext uri="{BB962C8B-B14F-4D97-AF65-F5344CB8AC3E}">
        <p14:creationId xmlns:p14="http://schemas.microsoft.com/office/powerpoint/2010/main" val="2128506593"/>
      </p:ext>
    </p:extLst>
  </p:cSld>
</p:sld>
</file>

<file path=ppt/slides/slide40.xml><?xml version="1.0" encoding="utf-8"?>
<p:sld xmlns:p="http://schemas.openxmlformats.org/presentationml/2006/main">
  <p:cSld>
    <p:bg>
      <p:bgPr>
        <a:solidFill xmlns:a="http://schemas.openxmlformats.org/drawingml/2006/main">
          <a:srgbClr val="FCFD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1F41C7-B137-4CD3-9ADF-6389C437657E}"/>
              </a:ext>
            </a:extLst>
          </p:cNvPr>
          <p:cNvSpPr>
            <a:spLocks xmlns:a="http://schemas.openxmlformats.org/drawingml/2006/main" noGrp="1"/>
          </p:cNvSpPr>
          <p:nvPr/>
        </p:nvSpPr>
        <p:spPr>
          <a:xfrm xmlns:a="http://schemas.openxmlformats.org/drawingml/2006/main">
            <a:off x="609600" y="533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150" b="1">
                <a:solidFill>
                  <a:srgbClr val="142D43"/>
                </a:solidFill>
                <a:latin typeface="Apple SD Gothic Neo"/>
                <a:ea typeface="Apple SD Gothic Neo"/>
                <a:cs typeface="Apple SD Gothic Neo"/>
              </a:defRPr>
            </a:defPPr>
          </a:lstStyle>
          <a:p xmlns:a="http://schemas.openxmlformats.org/drawingml/2006/main">
            <a:pPr>
              <a:defRPr sz="3150" b="1">
                <a:solidFill>
                  <a:srgbClr val="142D43"/>
                </a:solidFill>
                <a:latin typeface="Apple SD Gothic Neo"/>
                <a:ea typeface="Apple SD Gothic Neo"/>
                <a:cs typeface="Apple SD Gothic Neo"/>
              </a:defRPr>
            </a:pPr>
            <a:r>
              <a:rPr sz="3150" b="1">
                <a:solidFill>
                  <a:srgbClr val="142D43"/>
                </a:solidFill>
                <a:latin typeface="Apple SD Gothic Neo"/>
                <a:ea typeface="Apple SD Gothic Neo"/>
                <a:cs typeface="Apple SD Gothic Neo"/>
              </a:rPr>
              <a:t>부록. 주문별 순결제액 조회</a:t>
            </a:r>
          </a:p>
        </p:txBody>
      </p:sp>
      <p:sp>
        <p:nvSpPr>
          <p:cNvPr id="2" name="">
            <a:extLst xmlns:a="http://schemas.openxmlformats.org/drawingml/2006/main">
              <a:ext uri="{FF2B5EF4-FFF2-40B4-BE49-F238E27FC236}">
                <a16:creationId xmlns:a16="http://schemas.microsoft.com/office/drawing/2014/main" id="{89771D67-C130-4C57-8766-38E79A93BD4A}"/>
              </a:ext>
            </a:extLst>
          </p:cNvPr>
          <p:cNvSpPr>
            <a:spLocks xmlns:a="http://schemas.openxmlformats.org/drawingml/2006/main" noGrp="1"/>
          </p:cNvSpPr>
          <p:nvPr/>
        </p:nvSpPr>
        <p:spPr>
          <a:xfrm xmlns:a="http://schemas.openxmlformats.org/drawingml/2006/main">
            <a:off x="609600" y="64198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425" b="0">
                <a:solidFill>
                  <a:srgbClr val="496174"/>
                </a:solidFill>
                <a:latin typeface="Apple SD Gothic Neo"/>
                <a:ea typeface="Apple SD Gothic Neo"/>
                <a:cs typeface="Apple SD Gothic Neo"/>
              </a:defRPr>
            </a:defPPr>
          </a:lstStyle>
          <a:p xmlns:a="http://schemas.openxmlformats.org/drawingml/2006/main">
            <a:pPr>
              <a:defRPr sz="1425" b="0">
                <a:solidFill>
                  <a:srgbClr val="496174"/>
                </a:solidFill>
                <a:latin typeface="Apple SD Gothic Neo"/>
                <a:ea typeface="Apple SD Gothic Neo"/>
                <a:cs typeface="Apple SD Gothic Neo"/>
              </a:defRPr>
            </a:pPr>
            <a:r>
              <a:rPr sz="1425" b="0">
                <a:solidFill>
                  <a:srgbClr val="496174"/>
                </a:solidFill>
                <a:latin typeface="Apple SD Gothic Neo"/>
                <a:ea typeface="Apple SD Gothic Neo"/>
                <a:cs typeface="Apple SD Gothic Neo"/>
              </a:rPr>
              <a:t>학생 답안 참고     40</a:t>
            </a:r>
          </a:p>
        </p:txBody>
      </p:sp>
      <p:sp>
        <p:nvSpPr>
          <p:cNvPr id="3" name="">
            <a:extLst xmlns:a="http://schemas.openxmlformats.org/drawingml/2006/main">
              <a:ext uri="{FF2B5EF4-FFF2-40B4-BE49-F238E27FC236}">
                <a16:creationId xmlns:a16="http://schemas.microsoft.com/office/drawing/2014/main" id="{9ED5D698-2B11-476C-ACFA-0EB5F2385989}"/>
              </a:ext>
            </a:extLst>
          </p:cNvPr>
          <p:cNvSpPr>
            <a:spLocks xmlns:a="http://schemas.openxmlformats.org/drawingml/2006/main" noGrp="1"/>
          </p:cNvSpPr>
          <p:nvPr/>
        </p:nvSpPr>
        <p:spPr>
          <a:xfrm xmlns:a="http://schemas.openxmlformats.org/drawingml/2006/main">
            <a:off x="685800" y="1657350"/>
            <a:ext cx="108204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142D43"/>
                </a:solidFill>
                <a:latin typeface="D2Coding"/>
                <a:ea typeface="D2Coding"/>
                <a:cs typeface="D2Coding"/>
              </a:defRPr>
            </a:defPPr>
          </a:lstStyle>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SELECT o.order_id,</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       coalesce(p.amount, 0) AS paid,</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       coalesce(r.amount, 0) AS refunded,</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       coalesce(p.amount, 0) - coalesce(r.amount, 0) AS net_paid</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FROM orders o</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LEFT JOIN paid p ON o.order_id = p.order_id</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LEFT JOIN refunded r ON o.order_id = r.order_id</a:t>
            </a:r>
          </a:p>
          <a:p xmlns:a="http://schemas.openxmlformats.org/drawingml/2006/main">
            <a:pPr>
              <a:defRPr sz="1950" b="0">
                <a:solidFill>
                  <a:srgbClr val="142D43"/>
                </a:solidFill>
                <a:latin typeface="D2Coding"/>
                <a:ea typeface="D2Coding"/>
                <a:cs typeface="D2Coding"/>
              </a:defRPr>
            </a:pPr>
            <a:r>
              <a:rPr sz="1950" b="0">
                <a:solidFill>
                  <a:srgbClr val="142D43"/>
                </a:solidFill>
                <a:latin typeface="D2Coding"/>
                <a:ea typeface="D2Coding"/>
                <a:cs typeface="D2Coding"/>
              </a:rPr>
              <a:t>WHERE o.order_id = 'my-o1';</a:t>
            </a:r>
          </a:p>
        </p:txBody>
      </p:sp>
      <p:sp>
        <p:nvSpPr>
          <p:cNvPr id="4" name="">
            <a:extLst xmlns:a="http://schemas.openxmlformats.org/drawingml/2006/main">
              <a:ext uri="{FF2B5EF4-FFF2-40B4-BE49-F238E27FC236}">
                <a16:creationId xmlns:a16="http://schemas.microsoft.com/office/drawing/2014/main" id="{AEEC0357-5F5D-4DAF-8BA2-93477AFE270E}"/>
              </a:ext>
            </a:extLst>
          </p:cNvPr>
          <p:cNvSpPr>
            <a:spLocks xmlns:a="http://schemas.openxmlformats.org/drawingml/2006/main" noGrp="1"/>
          </p:cNvSpPr>
          <p:nvPr/>
        </p:nvSpPr>
        <p:spPr>
          <a:xfrm xmlns:a="http://schemas.openxmlformats.org/drawingml/2006/main">
            <a:off x="685800" y="57150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087F8C"/>
                </a:solidFill>
                <a:latin typeface="Apple SD Gothic Neo"/>
                <a:ea typeface="Apple SD Gothic Neo"/>
                <a:cs typeface="Apple SD Gothic Neo"/>
              </a:defRPr>
            </a:defPPr>
          </a:lstStyle>
          <a:p xmlns:a="http://schemas.openxmlformats.org/drawingml/2006/main">
            <a:pPr>
              <a:defRPr sz="1875" b="0">
                <a:solidFill>
                  <a:srgbClr val="087F8C"/>
                </a:solidFill>
                <a:latin typeface="Apple SD Gothic Neo"/>
                <a:ea typeface="Apple SD Gothic Neo"/>
                <a:cs typeface="Apple SD Gothic Neo"/>
              </a:defRPr>
            </a:pPr>
            <a:r>
              <a:rPr sz="1875" b="0">
                <a:solidFill>
                  <a:srgbClr val="087F8C"/>
                </a:solidFill>
                <a:latin typeface="Apple SD Gothic Neo"/>
                <a:ea typeface="Apple SD Gothic Neo"/>
                <a:cs typeface="Apple SD Gothic Neo"/>
              </a:rPr>
              <a:t>앞 슬라이드의 WITH 절 뒤에 이어서 실행합니다</a:t>
            </a:r>
          </a:p>
        </p:txBody>
      </p:sp>
    </p:spTree>
    <p:extLst>
      <p:ext uri="{BB962C8B-B14F-4D97-AF65-F5344CB8AC3E}">
        <p14:creationId xmlns:p14="http://schemas.microsoft.com/office/powerpoint/2010/main" val="20386408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2026-10-14T13:34:18.0380000Z</dcterms:created>
  <dcterms:modified xsi:type="dcterms:W3CDTF">2026-10-14T13:34:18.0390000Z</dcterms:modified>
</coreProperties>
</file>