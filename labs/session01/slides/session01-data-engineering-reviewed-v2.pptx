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3277499ef7485d" /><Relationship Type="http://schemas.openxmlformats.org/officeDocument/2006/relationships/extended-properties" Target="/docProps/app.xml" Id="Rb842131f87224425" /><Relationship Type="http://schemas.openxmlformats.org/officeDocument/2006/relationships/officeDocument" Target="/ppt/presentation.xml" Id="Ra428a06e8570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2817133ef4b88"/>
  </p:sldMasterIdLst>
  <p:notesMasterIdLst>
    <p:notesMasterId xmlns:r="http://schemas.openxmlformats.org/officeDocument/2006/relationships" r:id="R1845adbb63c2435f"/>
  </p:notesMasterIdLst>
  <p:sldIdLst>
    <p:sldId xmlns:r="http://schemas.openxmlformats.org/officeDocument/2006/relationships" id="256" r:id="Rfbcfc932536c410a"/>
    <p:sldId xmlns:r="http://schemas.openxmlformats.org/officeDocument/2006/relationships" id="257" r:id="R6122881c7d2a4586"/>
    <p:sldId xmlns:r="http://schemas.openxmlformats.org/officeDocument/2006/relationships" id="258" r:id="R44298e4e897043c8"/>
    <p:sldId xmlns:r="http://schemas.openxmlformats.org/officeDocument/2006/relationships" id="259" r:id="R22e45e39135d454d"/>
    <p:sldId xmlns:r="http://schemas.openxmlformats.org/officeDocument/2006/relationships" id="260" r:id="R42d91272232e436b"/>
    <p:sldId xmlns:r="http://schemas.openxmlformats.org/officeDocument/2006/relationships" id="261" r:id="Rf829f5ca36324602"/>
    <p:sldId xmlns:r="http://schemas.openxmlformats.org/officeDocument/2006/relationships" id="262" r:id="R895530c23949493f"/>
    <p:sldId xmlns:r="http://schemas.openxmlformats.org/officeDocument/2006/relationships" id="263" r:id="R9b72fcd89b6f46ad"/>
    <p:sldId xmlns:r="http://schemas.openxmlformats.org/officeDocument/2006/relationships" id="264" r:id="Rc3e5005c9167428e"/>
    <p:sldId xmlns:r="http://schemas.openxmlformats.org/officeDocument/2006/relationships" id="265" r:id="R6a558268ba7a4b5e"/>
    <p:sldId xmlns:r="http://schemas.openxmlformats.org/officeDocument/2006/relationships" id="266" r:id="Raabac61064a54dd7"/>
    <p:sldId xmlns:r="http://schemas.openxmlformats.org/officeDocument/2006/relationships" id="267" r:id="Rf0f2bb9d854048fd"/>
    <p:sldId xmlns:r="http://schemas.openxmlformats.org/officeDocument/2006/relationships" id="268" r:id="R3d0f0486609f42ca"/>
    <p:sldId xmlns:r="http://schemas.openxmlformats.org/officeDocument/2006/relationships" id="269" r:id="R16dfb4234c8142a8"/>
    <p:sldId xmlns:r="http://schemas.openxmlformats.org/officeDocument/2006/relationships" id="270" r:id="Raa7c7536ad4e43d7"/>
    <p:sldId xmlns:r="http://schemas.openxmlformats.org/officeDocument/2006/relationships" id="271" r:id="R6fa3673c17a14547"/>
    <p:sldId xmlns:r="http://schemas.openxmlformats.org/officeDocument/2006/relationships" id="272" r:id="R2d1c932b38b548aa"/>
    <p:sldId xmlns:r="http://schemas.openxmlformats.org/officeDocument/2006/relationships" id="273" r:id="R8b2c58b1798e4f9d"/>
    <p:sldId xmlns:r="http://schemas.openxmlformats.org/officeDocument/2006/relationships" id="274" r:id="R43027d1d27e841fe"/>
    <p:sldId xmlns:r="http://schemas.openxmlformats.org/officeDocument/2006/relationships" id="275" r:id="R73d0a66f211c4573"/>
    <p:sldId xmlns:r="http://schemas.openxmlformats.org/officeDocument/2006/relationships" id="276" r:id="R5922be81e17643a3"/>
    <p:sldId xmlns:r="http://schemas.openxmlformats.org/officeDocument/2006/relationships" id="277" r:id="R51e559eee68d4157"/>
    <p:sldId xmlns:r="http://schemas.openxmlformats.org/officeDocument/2006/relationships" id="278" r:id="Rc3d92bedfbc84fb0"/>
    <p:sldId xmlns:r="http://schemas.openxmlformats.org/officeDocument/2006/relationships" id="279" r:id="Rf854ba4e0459404f"/>
    <p:sldId xmlns:r="http://schemas.openxmlformats.org/officeDocument/2006/relationships" id="280" r:id="R64e4302e1c824ea4"/>
    <p:sldId xmlns:r="http://schemas.openxmlformats.org/officeDocument/2006/relationships" id="281" r:id="R34341353f3c143ee"/>
    <p:sldId xmlns:r="http://schemas.openxmlformats.org/officeDocument/2006/relationships" id="282" r:id="Raed3c151170b4160"/>
    <p:sldId xmlns:r="http://schemas.openxmlformats.org/officeDocument/2006/relationships" id="283" r:id="R2a60f2fd82924be9"/>
    <p:sldId xmlns:r="http://schemas.openxmlformats.org/officeDocument/2006/relationships" id="284" r:id="Rfd56b714f59a4c87"/>
    <p:sldId xmlns:r="http://schemas.openxmlformats.org/officeDocument/2006/relationships" id="285" r:id="R44dee0f49f294537"/>
    <p:sldId xmlns:r="http://schemas.openxmlformats.org/officeDocument/2006/relationships" id="286" r:id="R66c14bcc937f4a00"/>
    <p:sldId xmlns:r="http://schemas.openxmlformats.org/officeDocument/2006/relationships" id="287" r:id="Ra18c220dedfd4304"/>
    <p:sldId xmlns:r="http://schemas.openxmlformats.org/officeDocument/2006/relationships" id="288" r:id="R0e9bd6b997d7447b"/>
    <p:sldId xmlns:r="http://schemas.openxmlformats.org/officeDocument/2006/relationships" id="289" r:id="R63b606cb17ef449f"/>
    <p:sldId xmlns:r="http://schemas.openxmlformats.org/officeDocument/2006/relationships" id="290" r:id="Rba26e7852dd74596"/>
    <p:sldId xmlns:r="http://schemas.openxmlformats.org/officeDocument/2006/relationships" id="291" r:id="Re4137038e832472b"/>
    <p:sldId xmlns:r="http://schemas.openxmlformats.org/officeDocument/2006/relationships" id="292" r:id="Rb4faeb77434f41f9"/>
    <p:sldId xmlns:r="http://schemas.openxmlformats.org/officeDocument/2006/relationships" id="293" r:id="R5add84da5cee49b5"/>
    <p:sldId xmlns:r="http://schemas.openxmlformats.org/officeDocument/2006/relationships" id="294" r:id="Rf29f41ab3e0f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ca6ca7a2a416c" /><Relationship Type="http://schemas.openxmlformats.org/officeDocument/2006/relationships/slideMaster" Target="/ppt/slideMasters/slideMaster1.xml" Id="R34c2817133ef4b88" /><Relationship Type="http://schemas.openxmlformats.org/officeDocument/2006/relationships/notesMaster" Target="/ppt/notesMasters/notesMaster1.xml" Id="R1845adbb63c2435f" /><Relationship Type="http://schemas.openxmlformats.org/officeDocument/2006/relationships/presProps" Target="/ppt/presProps.xml" Id="R9e2d4290e7f94f53" /><Relationship Type="http://schemas.openxmlformats.org/officeDocument/2006/relationships/tableStyles" Target="/ppt/tableStyles.xml" Id="R215b12c3a6b34bfa" /><Relationship Type="http://schemas.openxmlformats.org/officeDocument/2006/relationships/slide" Target="/ppt/slides/slide1.xml" Id="Rfbcfc932536c410a" /><Relationship Type="http://schemas.openxmlformats.org/officeDocument/2006/relationships/slide" Target="/ppt/slides/slide2.xml" Id="R6122881c7d2a4586" /><Relationship Type="http://schemas.openxmlformats.org/officeDocument/2006/relationships/slide" Target="/ppt/slides/slide3.xml" Id="R44298e4e897043c8" /><Relationship Type="http://schemas.openxmlformats.org/officeDocument/2006/relationships/slide" Target="/ppt/slides/slide4.xml" Id="R22e45e39135d454d" /><Relationship Type="http://schemas.openxmlformats.org/officeDocument/2006/relationships/slide" Target="/ppt/slides/slide5.xml" Id="R42d91272232e436b" /><Relationship Type="http://schemas.openxmlformats.org/officeDocument/2006/relationships/slide" Target="/ppt/slides/slide6.xml" Id="Rf829f5ca36324602" /><Relationship Type="http://schemas.openxmlformats.org/officeDocument/2006/relationships/slide" Target="/ppt/slides/slide7.xml" Id="R895530c23949493f" /><Relationship Type="http://schemas.openxmlformats.org/officeDocument/2006/relationships/slide" Target="/ppt/slides/slide8.xml" Id="R9b72fcd89b6f46ad" /><Relationship Type="http://schemas.openxmlformats.org/officeDocument/2006/relationships/slide" Target="/ppt/slides/slide9.xml" Id="Rc3e5005c9167428e" /><Relationship Type="http://schemas.openxmlformats.org/officeDocument/2006/relationships/slide" Target="/ppt/slides/slide10.xml" Id="R6a558268ba7a4b5e" /><Relationship Type="http://schemas.openxmlformats.org/officeDocument/2006/relationships/slide" Target="/ppt/slides/slide11.xml" Id="Raabac61064a54dd7" /><Relationship Type="http://schemas.openxmlformats.org/officeDocument/2006/relationships/slide" Target="/ppt/slides/slide12.xml" Id="Rf0f2bb9d854048fd" /><Relationship Type="http://schemas.openxmlformats.org/officeDocument/2006/relationships/slide" Target="/ppt/slides/slide13.xml" Id="R3d0f0486609f42ca" /><Relationship Type="http://schemas.openxmlformats.org/officeDocument/2006/relationships/slide" Target="/ppt/slides/slide14.xml" Id="R16dfb4234c8142a8" /><Relationship Type="http://schemas.openxmlformats.org/officeDocument/2006/relationships/slide" Target="/ppt/slides/slide15.xml" Id="Raa7c7536ad4e43d7" /><Relationship Type="http://schemas.openxmlformats.org/officeDocument/2006/relationships/slide" Target="/ppt/slides/slide16.xml" Id="R6fa3673c17a14547" /><Relationship Type="http://schemas.openxmlformats.org/officeDocument/2006/relationships/slide" Target="/ppt/slides/slide17.xml" Id="R2d1c932b38b548aa" /><Relationship Type="http://schemas.openxmlformats.org/officeDocument/2006/relationships/slide" Target="/ppt/slides/slide18.xml" Id="R8b2c58b1798e4f9d" /><Relationship Type="http://schemas.openxmlformats.org/officeDocument/2006/relationships/slide" Target="/ppt/slides/slide19.xml" Id="R43027d1d27e841fe" /><Relationship Type="http://schemas.openxmlformats.org/officeDocument/2006/relationships/slide" Target="/ppt/slides/slide20.xml" Id="R73d0a66f211c4573" /><Relationship Type="http://schemas.openxmlformats.org/officeDocument/2006/relationships/slide" Target="/ppt/slides/slide21.xml" Id="R5922be81e17643a3" /><Relationship Type="http://schemas.openxmlformats.org/officeDocument/2006/relationships/slide" Target="/ppt/slides/slide22.xml" Id="R51e559eee68d4157" /><Relationship Type="http://schemas.openxmlformats.org/officeDocument/2006/relationships/slide" Target="/ppt/slides/slide23.xml" Id="Rc3d92bedfbc84fb0" /><Relationship Type="http://schemas.openxmlformats.org/officeDocument/2006/relationships/slide" Target="/ppt/slides/slide24.xml" Id="Rf854ba4e0459404f" /><Relationship Type="http://schemas.openxmlformats.org/officeDocument/2006/relationships/slide" Target="/ppt/slides/slide25.xml" Id="R64e4302e1c824ea4" /><Relationship Type="http://schemas.openxmlformats.org/officeDocument/2006/relationships/slide" Target="/ppt/slides/slide26.xml" Id="R34341353f3c143ee" /><Relationship Type="http://schemas.openxmlformats.org/officeDocument/2006/relationships/slide" Target="/ppt/slides/slide27.xml" Id="Raed3c151170b4160" /><Relationship Type="http://schemas.openxmlformats.org/officeDocument/2006/relationships/slide" Target="/ppt/slides/slide28.xml" Id="R2a60f2fd82924be9" /><Relationship Type="http://schemas.openxmlformats.org/officeDocument/2006/relationships/slide" Target="/ppt/slides/slide29.xml" Id="Rfd56b714f59a4c87" /><Relationship Type="http://schemas.openxmlformats.org/officeDocument/2006/relationships/slide" Target="/ppt/slides/slide30.xml" Id="R44dee0f49f294537" /><Relationship Type="http://schemas.openxmlformats.org/officeDocument/2006/relationships/slide" Target="/ppt/slides/slide31.xml" Id="R66c14bcc937f4a00" /><Relationship Type="http://schemas.openxmlformats.org/officeDocument/2006/relationships/slide" Target="/ppt/slides/slide32.xml" Id="Ra18c220dedfd4304" /><Relationship Type="http://schemas.openxmlformats.org/officeDocument/2006/relationships/slide" Target="/ppt/slides/slide33.xml" Id="R0e9bd6b997d7447b" /><Relationship Type="http://schemas.openxmlformats.org/officeDocument/2006/relationships/slide" Target="/ppt/slides/slide34.xml" Id="R63b606cb17ef449f" /><Relationship Type="http://schemas.openxmlformats.org/officeDocument/2006/relationships/slide" Target="/ppt/slides/slide35.xml" Id="Rba26e7852dd74596" /><Relationship Type="http://schemas.openxmlformats.org/officeDocument/2006/relationships/slide" Target="/ppt/slides/slide36.xml" Id="Re4137038e832472b" /><Relationship Type="http://schemas.openxmlformats.org/officeDocument/2006/relationships/slide" Target="/ppt/slides/slide37.xml" Id="Rb4faeb77434f41f9" /><Relationship Type="http://schemas.openxmlformats.org/officeDocument/2006/relationships/slide" Target="/ppt/slides/slide38.xml" Id="R5add84da5cee49b5" /><Relationship Type="http://schemas.openxmlformats.org/officeDocument/2006/relationships/slide" Target="/ppt/slides/slide39.xml" Id="Rf29f41ab3e0f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637175ecc6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7dc6a7eea438a" /><Relationship Type="http://schemas.openxmlformats.org/officeDocument/2006/relationships/notesMaster" Target="/ppt/notesMasters/notesMaster1.xml" Id="R382c75c5fa70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33eb1a38348e4" /><Relationship Type="http://schemas.openxmlformats.org/officeDocument/2006/relationships/notesMaster" Target="/ppt/notesMasters/notesMaster1.xml" Id="R9ed538259093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b55ea160424f0c" /><Relationship Type="http://schemas.openxmlformats.org/officeDocument/2006/relationships/notesMaster" Target="/ppt/notesMasters/notesMaster1.xml" Id="R29e2fcea92da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f59867caeb4f4b" /><Relationship Type="http://schemas.openxmlformats.org/officeDocument/2006/relationships/notesMaster" Target="/ppt/notesMasters/notesMaster1.xml" Id="Rfeb94ff1394843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722a479074f76" /><Relationship Type="http://schemas.openxmlformats.org/officeDocument/2006/relationships/notesMaster" Target="/ppt/notesMasters/notesMaster1.xml" Id="R953bcafa19b446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4ff72ff864cfa" /><Relationship Type="http://schemas.openxmlformats.org/officeDocument/2006/relationships/notesMaster" Target="/ppt/notesMasters/notesMaster1.xml" Id="R204de0c073aa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a1f1d16874ba0" /><Relationship Type="http://schemas.openxmlformats.org/officeDocument/2006/relationships/notesMaster" Target="/ppt/notesMasters/notesMaster1.xml" Id="R40103b732f50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56bcf1adbd4119" /><Relationship Type="http://schemas.openxmlformats.org/officeDocument/2006/relationships/notesMaster" Target="/ppt/notesMasters/notesMaster1.xml" Id="Ra548cd566e39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aecbb77034417" /><Relationship Type="http://schemas.openxmlformats.org/officeDocument/2006/relationships/notesMaster" Target="/ppt/notesMasters/notesMaster1.xml" Id="R4bf47222fe8e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9a4abd3a1f4f0d" /><Relationship Type="http://schemas.openxmlformats.org/officeDocument/2006/relationships/notesMaster" Target="/ppt/notesMasters/notesMaster1.xml" Id="R48e6cd7fb35644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74bdad6fad40b6" /><Relationship Type="http://schemas.openxmlformats.org/officeDocument/2006/relationships/notesMaster" Target="/ppt/notesMasters/notesMaster1.xml" Id="Ra9175e7651bd48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a39f284e354edb" /><Relationship Type="http://schemas.openxmlformats.org/officeDocument/2006/relationships/notesMaster" Target="/ppt/notesMasters/notesMaster1.xml" Id="R2f260e0838674a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88f1bad365428b" /><Relationship Type="http://schemas.openxmlformats.org/officeDocument/2006/relationships/notesMaster" Target="/ppt/notesMasters/notesMaster1.xml" Id="R51f66e513ced40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36b3b3faf14a63" /><Relationship Type="http://schemas.openxmlformats.org/officeDocument/2006/relationships/notesMaster" Target="/ppt/notesMasters/notesMaster1.xml" Id="R83e4ef2ff4984c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9b6149851d4360" /><Relationship Type="http://schemas.openxmlformats.org/officeDocument/2006/relationships/notesMaster" Target="/ppt/notesMasters/notesMaster1.xml" Id="R8c8469e1fb7c4c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5406cf444c4cb8" /><Relationship Type="http://schemas.openxmlformats.org/officeDocument/2006/relationships/notesMaster" Target="/ppt/notesMasters/notesMaster1.xml" Id="R556e0d5db43b42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07c445fd494d95" /><Relationship Type="http://schemas.openxmlformats.org/officeDocument/2006/relationships/notesMaster" Target="/ppt/notesMasters/notesMaster1.xml" Id="R9f4bbbf43ade42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e24075cae041e4" /><Relationship Type="http://schemas.openxmlformats.org/officeDocument/2006/relationships/notesMaster" Target="/ppt/notesMasters/notesMaster1.xml" Id="Rc9033ed02ed142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af57a3dd5b4af4" /><Relationship Type="http://schemas.openxmlformats.org/officeDocument/2006/relationships/notesMaster" Target="/ppt/notesMasters/notesMaster1.xml" Id="R08e6fddb38634a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3b135f6991448c" /><Relationship Type="http://schemas.openxmlformats.org/officeDocument/2006/relationships/notesMaster" Target="/ppt/notesMasters/notesMaster1.xml" Id="Rad53c83964aa47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7266bcbf4d4aad" /><Relationship Type="http://schemas.openxmlformats.org/officeDocument/2006/relationships/notesMaster" Target="/ppt/notesMasters/notesMaster1.xml" Id="R7d0ac04de97f41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34ba4daf9b4dd1" /><Relationship Type="http://schemas.openxmlformats.org/officeDocument/2006/relationships/notesMaster" Target="/ppt/notesMasters/notesMaster1.xml" Id="R740f26fb055e48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0a85577ef0467f" /><Relationship Type="http://schemas.openxmlformats.org/officeDocument/2006/relationships/notesMaster" Target="/ppt/notesMasters/notesMaster1.xml" Id="R0032e746432141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e738b546794aea" /><Relationship Type="http://schemas.openxmlformats.org/officeDocument/2006/relationships/notesMaster" Target="/ppt/notesMasters/notesMaster1.xml" Id="Re67684abdc6043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cf1c70f67f480b" /><Relationship Type="http://schemas.openxmlformats.org/officeDocument/2006/relationships/notesMaster" Target="/ppt/notesMasters/notesMaster1.xml" Id="Rf66d50ed7b79485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f439c7946942b0" /><Relationship Type="http://schemas.openxmlformats.org/officeDocument/2006/relationships/notesMaster" Target="/ppt/notesMasters/notesMaster1.xml" Id="R424917af7601407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fa4c1571bc480e" /><Relationship Type="http://schemas.openxmlformats.org/officeDocument/2006/relationships/notesMaster" Target="/ppt/notesMasters/notesMaster1.xml" Id="Rdf9821a490e044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9f871c24cf4ff2" /><Relationship Type="http://schemas.openxmlformats.org/officeDocument/2006/relationships/notesMaster" Target="/ppt/notesMasters/notesMaster1.xml" Id="Rf323381fb3cc43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9357e28fdf94f2f" /><Relationship Type="http://schemas.openxmlformats.org/officeDocument/2006/relationships/notesMaster" Target="/ppt/notesMasters/notesMaster1.xml" Id="R857981c1fb9a4a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11ceb75f72490d" /><Relationship Type="http://schemas.openxmlformats.org/officeDocument/2006/relationships/notesMaster" Target="/ppt/notesMasters/notesMaster1.xml" Id="R2304f8b3f8364d6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e09b5df10384e39" /><Relationship Type="http://schemas.openxmlformats.org/officeDocument/2006/relationships/notesMaster" Target="/ppt/notesMasters/notesMaster1.xml" Id="R7de648bd843e4d2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afa1d33cc74cb7" /><Relationship Type="http://schemas.openxmlformats.org/officeDocument/2006/relationships/notesMaster" Target="/ppt/notesMasters/notesMaster1.xml" Id="R7701dc7c068c486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99956c20ea4faf" /><Relationship Type="http://schemas.openxmlformats.org/officeDocument/2006/relationships/notesMaster" Target="/ppt/notesMasters/notesMaster1.xml" Id="Rb82f05ccf9754a2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78365f52134a53" /><Relationship Type="http://schemas.openxmlformats.org/officeDocument/2006/relationships/notesMaster" Target="/ppt/notesMasters/notesMaster1.xml" Id="R50e0a30c149c4e2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9b9a873b2d479a" /><Relationship Type="http://schemas.openxmlformats.org/officeDocument/2006/relationships/notesMaster" Target="/ppt/notesMasters/notesMaster1.xml" Id="R212e093f502149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5aaa9be805e4e3d" /><Relationship Type="http://schemas.openxmlformats.org/officeDocument/2006/relationships/notesMaster" Target="/ppt/notesMasters/notesMaster1.xml" Id="R6b2a02c6272b47d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4cc51d3787461b" /><Relationship Type="http://schemas.openxmlformats.org/officeDocument/2006/relationships/notesMaster" Target="/ppt/notesMasters/notesMaster1.xml" Id="Rbfa422f7585e4d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fbd0832ae54fbd" /><Relationship Type="http://schemas.openxmlformats.org/officeDocument/2006/relationships/notesMaster" Target="/ppt/notesMasters/notesMaster1.xml" Id="Rd6daca038704419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330678a760b4697" /><Relationship Type="http://schemas.openxmlformats.org/officeDocument/2006/relationships/notesMaster" Target="/ppt/notesMasters/notesMaster1.xml" Id="Rc422fb0d129e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00:00–00:01</a:t>
            </a:r>
          </a:p>
          <a:p xmlns:a="http://schemas.openxmlformats.org/drawingml/2006/main">
            <a:r>
              <a:t>이미 배운 Kafka·Spark를 원천 변경 수집과 이력·현재 상태 구성으로 연결한다. 오늘은 필요성과 구현·검증 범위를 함께 다룬다.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00:01–00:02</a:t>
            </a:r>
          </a:p>
          <a:p xmlns:a="http://schemas.openxmlformats.org/drawingml/2006/main">
            <a:r>
              <a:t>student-worksheet.sql,submission.md. 필요성 설명이 먼저다. 회사별 지원전략이 아니라 수집 업무의 문제와 기술 선택 이유를 설명한다.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00:02–00:03</a:t>
            </a:r>
          </a:p>
          <a:p xmlns:a="http://schemas.openxmlformats.org/drawingml/2006/main">
            <a:r>
              <a:t>전체120분. 도입18분,아키텍처15분,원천12분. 학생작성부담을줄이고개인설계20분통작성확보. 개인설계25분과변경시연25분유지.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00:03–00:05</a:t>
            </a:r>
          </a:p>
          <a:p xmlns:a="http://schemas.openxmlformats.org/drawingml/2006/main">
            <a:r>
              <a:t>예약취소·상품삭제는강의용가정사례. 상태가한번입력된뒤고정되지않음을설명. 신선도요구가왜생기는지학생답을받는다.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00:05–00:08</a:t>
            </a:r>
          </a:p>
          <a:p xmlns:a="http://schemas.openxmlformats.org/drawingml/2006/main">
            <a:r>
              <a:t>전체복사나배치가나쁜기술이아님. 조회사이중간변경과물리삭제는추가설계필요. CDC는설정된대상·보존된로그기준. 출처 https://debezium.io/documentation/reference/stable/features.html.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00:08–00:09</a:t>
            </a:r>
          </a:p>
          <a:p xmlns:a="http://schemas.openxmlformats.org/drawingml/2006/main">
            <a:r>
              <a:t>DB로그기반Debezium특성. 초기snapshot은기존데이터읽기. DB부하0·즉시반영·무누락자동보장이라고말하지않음. 공식출처 https://debezium.io/documentation/reference/stable/features.html.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00:09–00:11</a:t>
            </a:r>
          </a:p>
          <a:p xmlns:a="http://schemas.openxmlformats.org/drawingml/2006/main">
            <a:r>
              <a:t>긴갱신간격이면배치로충분할수있음. 로그보존·권한·민감컬럼범위확인. CDC만으로클릭행동이나업무의도복원안됨. 수집지연과Gold갱신지연구분. 출처 Debezium features 및 현재구현.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00:11–00:14</a:t>
            </a:r>
          </a:p>
          <a:p xmlns:a="http://schemas.openxmlformats.org/drawingml/2006/main">
            <a:r>
              <a:t>공고에서관찰한업무를바탕으로한해석. 시장전체증가율·모든신입필수단정금지. 토스뱅크는CDC/KafkaConnect/Flink구축경험명시, CJ대한통운은수집설계운영·성능진단업무,신한2026마감공고는CDC/Iceberg지식자격명시. 모두경력사례이며학생은개인규모로경험. 확인2026-10-15. 출처 https://toss.im/career/job-detail?job_id=6603749003 ; https://recruit.cj.net/recruit/ko/recruit/recruit/bestDetail.fo?direct=N&amp;zz_jo_num=J20260629039137 ; https://recruit.shinhaninvest.com/recruit/view.do?annoId=4050724.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00:14–00:16</a:t>
            </a:r>
          </a:p>
          <a:p xmlns:a="http://schemas.openxmlformats.org/drawingml/2006/main">
            <a:r>
              <a:t>기술이름추가자체가목적이아님. Flink는계속오는원문적재,Iceberg는테이블저장. 오늘MinIO실습이며AWS S3직접적재아님. 이후회차Spark/dbt구현.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00:16–00:17</a:t>
            </a:r>
          </a:p>
          <a:p xmlns:a="http://schemas.openxmlformats.org/drawingml/2006/main">
            <a:r>
              <a:t>강의용프로젝트제안. 실제회사아키텍처사례아님. 테이블2–3개로시작. 원천합성데이터만들수있고ML없음. why-cdc-and-projects.md의다섯주제. 자세한범위는개인설계시간선택.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00:17–00:18</a:t>
            </a:r>
          </a:p>
          <a:p xmlns:a="http://schemas.openxmlformats.org/drawingml/2006/main">
            <a:r>
              <a:t>1분 질문과 오늘의결과를연결. 설계이유와증거를남긴다. 8회스터디이며8주로부르지않는다.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00:18–00:23</a:t>
            </a:r>
          </a:p>
          <a:p xmlns:a="http://schemas.openxmlformats.org/drawingml/2006/main">
            <a:r>
              <a:t>5분. 전체 경로를 설명하되 오늘 범위는 PostgreSQL부터 Bronze까지. Flink는 append 이력, Spark는 Silver현재상태, dbt는 Spark실행용모델·테스트. 그림에서1회차cud관찰과후속분석단계를구분했다.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00:18–00:23</a:t>
            </a:r>
          </a:p>
          <a:p xmlns:a="http://schemas.openxmlformats.org/drawingml/2006/main">
            <a:r>
              <a:t>아키텍처1의 같은5분안에사용. 학생에게Flink의입력과출력을말하게한다. Kafka key는Bronze별도컬럼에없음. PK는payloadbefore/after에서찾음. 초기snapshot은r,오늘새키는cud.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00:23–00:28</a:t>
            </a:r>
          </a:p>
          <a:p xmlns:a="http://schemas.openxmlformats.org/drawingml/2006/main">
            <a:r>
              <a:t>5분. MinIO 실제파일, JDBC Catalog 현재metadata파일위치, Flink상태영속볼륨구분. 실습은S3호환MinIO이며AWS S3클라우드에적재한다고설명하지않는다.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00:28–00:31</a:t>
            </a:r>
          </a:p>
          <a:p xmlns:a="http://schemas.openxmlformats.org/drawingml/2006/main">
            <a:r>
              <a:t>3분. 맥미니macOS와LimaLinuxVM은같은장비. Docker실행서비스와영속볼륨. 학생SSH불필요. Airflow중지, SilverGold후속단계.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00:31–00:33</a:t>
            </a:r>
          </a:p>
          <a:p xmlns:a="http://schemas.openxmlformats.org/drawingml/2006/main">
            <a:r>
              <a:t>2분질문. Bronze3행이중복이라고바로판정하지않는다. Silver현재상태구현은후속회차.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00:33–00:36</a:t>
            </a:r>
          </a:p>
          <a:p xmlns:a="http://schemas.openxmlformats.org/drawingml/2006/main">
            <a:r>
              <a:t>3분. orders와payments준비, refunds같은키핵심. FK연결확인. PK변경시복잡한이벤트는후속회차이고오늘은키유지.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00:36–00:39</a:t>
            </a:r>
          </a:p>
          <a:p xmlns:a="http://schemas.openxmlformats.org/drawingml/2006/main">
            <a:r>
              <a:t>학생은준비주문·결제INSERT를worksheet에서확인한뒤FK를맞춤. 학생파일은로컬예측용. my-r1을그대로써도됨. 학생별파일실행없고강사는공통CASE_ID. 기대값을먼저기록.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00:39–00:42</a:t>
            </a:r>
          </a:p>
          <a:p xmlns:a="http://schemas.openxmlformats.org/drawingml/2006/main">
            <a:r>
              <a:t>3분작성. UPDATE한행30000,DELETE0행. WHERE없는전체수정방지. 물리삭제와status변경논리삭제구분.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00:42–00:45</a:t>
            </a:r>
          </a:p>
          <a:p xmlns:a="http://schemas.openxmlformats.org/drawingml/2006/main">
            <a:r>
              <a:t>3분답안확인. 예제REPLICA IDENTITY FULL로이전amount제공. 다른설정에서before필드달라질수있음. 참고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00:45–00:48</a:t>
            </a:r>
          </a:p>
          <a:p xmlns:a="http://schemas.openxmlformats.org/drawingml/2006/main">
            <a:r>
              <a:t>3분. payment,waitpayment. 기존namespace재사용시PK충돌이므로새값. 사전서버시작·preflight는이미완료.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7분. refund → source-rows → kafka → wait --event refund --evidence → collect-check --stage insert --summary --evidence. 요약화면최소60초고정. 학생관찰표첫행. Kafka가아직없으면짧게재조회. refresh하지않는다.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같은INSERT7분구간안에사용. 예시는완전한Debeziumpayload나실제LSN타입이아니며설명용발췌. source.lsn실제형식숫자,단독고유이벤트ID가정금지. 전체이벤트엔payment_id,status,metadata등포함.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00:55–01:02</a:t>
            </a:r>
          </a:p>
          <a:p xmlns:a="http://schemas.openxmlformats.org/drawingml/2006/main">
            <a:r>
              <a:t>7분. correction → source-rows → kafka → waitcorrection --evidence → collect-check --stage update --summary --evidence. 요약60초고정. 새환불추가아닌같은행수정.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8분. delete → source-rows → kafka → waitdelete --evidence → collect-check --stage delete --summary --evidence. 요약60초고정. 학생관찰표마지막행. 원천0행이어도Bronze3이벤트. nulltombstone과op=d구분.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DELETE같은8분에사용. Kafka전체메시지와Bronze행수같다고검사금지. FlinkpayloadISNOTNULL. source공식Debezium문서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01:10–01:15</a:t>
            </a:r>
          </a:p>
          <a:p xmlns:a="http://schemas.openxmlformats.org/drawingml/2006/main">
            <a:r>
              <a:t>휴식포함총120분. 다음핵심은누락중복판정.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01:15–01:20</a:t>
            </a:r>
          </a:p>
          <a:p xmlns:a="http://schemas.openxmlformats.org/drawingml/2006/main">
            <a:r>
              <a:t>5분. source.lsn단독eventid아님. collect-checkchecks에서각cudidentity와bronze_copies확인. 오늘한키만검증했다는한계.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01:20–01:23</a:t>
            </a:r>
          </a:p>
          <a:p xmlns:a="http://schemas.openxmlformats.org/drawingml/2006/main">
            <a:r>
              <a:t>3분판단질문. 강제재전송과복구실험은후속회차. 반복내용만보고버리지않고원천키버전위치기록.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01:23–01:25</a:t>
            </a:r>
          </a:p>
          <a:p xmlns:a="http://schemas.openxmlformats.org/drawingml/2006/main">
            <a:r>
              <a:t>2분조사순서. Catalog·MinIO접근도sink단계에포함. 수집기무조건재시작않음.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01:25–01:30</a:t>
            </a:r>
          </a:p>
          <a:p xmlns:a="http://schemas.openxmlformats.org/drawingml/2006/main">
            <a:r>
              <a:t>5분기록. kafka_ts Kafka recordtimestamp, ingested_atFlink처리. 차이만으로sourcecommit부터sinkcommit전체지연주장금지. 폴링과조회간격한계. 정확commit시각모르면빈칸.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01:30–01:35</a:t>
            </a:r>
          </a:p>
          <a:p xmlns:a="http://schemas.openxmlformats.org/drawingml/2006/main">
            <a:r>
              <a:t>이표3분과작성법2분안내. 01:35부터다음체크리스트를20분고정한다. 처음엔핵심테이블하나명세·DDL·기대이벤트필수. 나머지테이블이름만후보. 전체DML은과제.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01:35–01:55</a:t>
            </a:r>
          </a:p>
          <a:p xmlns:a="http://schemas.openxmlformats.org/drawingml/2006/main">
            <a:r>
              <a:t>20분화면고정. 강사는개별Q&amp;A만. 5분주제/이유와한행명세,8분DDL,7분기대이벤트·경로. 개인DML/SELECT전체,상세토픽·권한·보존계획과나머지1–2테이블은다음회차과제. DDL예시는부록과worksheet. 제출분량을이세줄로제한한다.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01:55–02:00</a:t>
            </a:r>
          </a:p>
          <a:p xmlns:a="http://schemas.openxmlformats.org/drawingml/2006/main">
            <a:r>
              <a:t>제출student-worksheet.sql과submission.md. 수업중필수초안을제출하고나머지테이블·개인DML/SELECT는과제로완성. 프로젝트발표는8회스터디후별도일정.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확인2026-10-15. 모두경력채용예시,신입공통필수아님. 조사범위에서역량수요를설명하며전체시장필수비율·증가추세수치추정하지않음. 상세읽을거리 labs/session01/why-cdc-and-projects.md. 출처 https://toss.im/career/job-detail?job_id=6603749003 ; https://recruit.cj.net/recruit/ko/recruit/recruit/bestDetail.fo?direct=N&amp;zz_jo_num=J20260629039137 ; https://recruit.shinhaninvest.com/recruit/view.do?annoId=4050724.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수업 전</a:t>
            </a:r>
          </a:p>
          <a:p xmlns:a="http://schemas.openxmlformats.org/drawingml/2006/main">
            <a:r>
              <a:t>sshmini,cd프로젝트. bootstrap준비pipeline실행있음. 핵심시연수집엔refresh안씀. VM최소2GiB권장5GiB. 정상종료scripts/stop.sh savepoint보존. 장애5분이상기록으로전환하고기록임명시.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사전CASE_ID새값,payment,waitpayment. 위refund동작·waitevent·stage를각단계에맞게대체. 상세runbook.md. Kafka읽기전용groupNone자동commit비활성,기존Flinkoffset변경없음.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작성 참고</a:t>
            </a:r>
          </a:p>
          <a:p xmlns:a="http://schemas.openxmlformats.org/drawingml/2006/main">
            <a:r>
              <a:t>모든운영테이블에무조건FULL권장아님. WAL양과운영비용선택. 고객관계는설계서에표시. 이DDL만으로수집대상설정완료아님.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실습helpersbronze조회실제. SELECT는읽기조회이며SparkSilver변환과다름. DELETE는beforePK를써야조회에서누락안됨. 마트집계SQL과분리.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15063d78a4c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fcae4f8b24f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425b9740949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67a60685542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9b5081ee947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ecbc7e719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AEE75-77AB-4086-AF47-EF401BCBF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9DF394-2348-4DCA-B9F7-B9BCA0928D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DABE49-B280-40A8-BB70-AE2AC9CFF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74975A-BE6A-4303-AA38-5B54761BD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D12623-A29B-48A9-A790-B81A6402A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B272D-8FAB-418B-AB1A-61A2E820E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A10DE2-47E5-4531-9E88-DEF9FEC6C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BA7E89-B67B-43D5-80C4-225C87349A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52FBC4-E555-4475-B97B-567BC1339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97D390-0A45-40FB-9CAF-C1E567816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e2cd5e55444f6" /><Relationship Type="http://schemas.openxmlformats.org/officeDocument/2006/relationships/slideLayout" Target="/ppt/slideLayouts/slideLayout1.xml" Id="R70bd7b8d2e2740e7" /><Relationship Type="http://schemas.openxmlformats.org/officeDocument/2006/relationships/slideLayout" Target="/ppt/slideLayouts/slideLayout2.xml" Id="Rcea5413777d54ea8" /><Relationship Type="http://schemas.openxmlformats.org/officeDocument/2006/relationships/slideLayout" Target="/ppt/slideLayouts/slideLayout3.xml" Id="Rafdf939e5eea481a" /><Relationship Type="http://schemas.openxmlformats.org/officeDocument/2006/relationships/slideLayout" Target="/ppt/slideLayouts/slideLayout4.xml" Id="R93a654f4b86c4574" /><Relationship Type="http://schemas.openxmlformats.org/officeDocument/2006/relationships/slideLayout" Target="/ppt/slideLayouts/slideLayout5.xml" Id="Rbdbb0608ecd54598" /><Relationship Type="http://schemas.openxmlformats.org/officeDocument/2006/relationships/slideLayout" Target="/ppt/slideLayouts/slideLayout6.xml" Id="Rc8525db2efee43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d7b8d2e2740e7"/>
    <p:sldLayoutId xmlns:r="http://schemas.openxmlformats.org/officeDocument/2006/relationships" id="2147483650" r:id="Rcea5413777d54ea8"/>
    <p:sldLayoutId xmlns:r="http://schemas.openxmlformats.org/officeDocument/2006/relationships" id="2147483651" r:id="Rafdf939e5eea481a"/>
    <p:sldLayoutId xmlns:r="http://schemas.openxmlformats.org/officeDocument/2006/relationships" id="2147483652" r:id="R93a654f4b86c4574"/>
    <p:sldLayoutId xmlns:r="http://schemas.openxmlformats.org/officeDocument/2006/relationships" id="2147483653" r:id="Rbdbb0608ecd54598"/>
    <p:sldLayoutId xmlns:r="http://schemas.openxmlformats.org/officeDocument/2006/relationships" id="2147483654" r:id="Rc8525db2efee43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cd45062484f66" /><Relationship Type="http://schemas.openxmlformats.org/officeDocument/2006/relationships/notesSlide" Target="/ppt/notesSlides/notesSlide1.xml" Id="R1ed63f0b314d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dbeb0eee447f0" /><Relationship Type="http://schemas.openxmlformats.org/officeDocument/2006/relationships/notesSlide" Target="/ppt/notesSlides/notesSlide2.xml" Id="R2ad29d03c4c6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a977e34054946" /><Relationship Type="http://schemas.openxmlformats.org/officeDocument/2006/relationships/notesSlide" Target="/ppt/notesSlides/notesSlide3.xml" Id="Rbe30d5ec4b2c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03c2a336549d8" /><Relationship Type="http://schemas.openxmlformats.org/officeDocument/2006/relationships/notesSlide" Target="/ppt/notesSlides/notesSlide4.xml" Id="R7a7bdcaff99f4b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ee923521e4b7d" /><Relationship Type="http://schemas.openxmlformats.org/officeDocument/2006/relationships/notesSlide" Target="/ppt/notesSlides/notesSlide5.xml" Id="R7831154189ee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1a6e54d134698" /><Relationship Type="http://schemas.openxmlformats.org/officeDocument/2006/relationships/notesSlide" Target="/ppt/notesSlides/notesSlide6.xml" Id="R6e124b8c66d346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0dc867abb4313" /><Relationship Type="http://schemas.openxmlformats.org/officeDocument/2006/relationships/notesSlide" Target="/ppt/notesSlides/notesSlide7.xml" Id="R6c4b582410cd42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98cc802e54b74" /><Relationship Type="http://schemas.openxmlformats.org/officeDocument/2006/relationships/notesSlide" Target="/ppt/notesSlides/notesSlide8.xml" Id="Rd47ac308ba8d49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41a68a8cc4dac" /><Relationship Type="http://schemas.openxmlformats.org/officeDocument/2006/relationships/notesSlide" Target="/ppt/notesSlides/notesSlide9.xml" Id="Ra311af18fed74f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0143ed943491d" /><Relationship Type="http://schemas.openxmlformats.org/officeDocument/2006/relationships/notesSlide" Target="/ppt/notesSlides/notesSlide10.xml" Id="R6bfa2891224641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594ffd6cc4b6b" /><Relationship Type="http://schemas.openxmlformats.org/officeDocument/2006/relationships/notesSlide" Target="/ppt/notesSlides/notesSlide11.xml" Id="R7931b6736c7149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2895ab5da4ad1" /><Relationship Type="http://schemas.openxmlformats.org/officeDocument/2006/relationships/image" Target="/ppt/media/image.png" Id="R836a886949b84ed2" /><Relationship Type="http://schemas.openxmlformats.org/officeDocument/2006/relationships/notesSlide" Target="/ppt/notesSlides/notesSlide12.xml" Id="Rbc159985441f4b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218751eb640a4" /><Relationship Type="http://schemas.openxmlformats.org/officeDocument/2006/relationships/notesSlide" Target="/ppt/notesSlides/notesSlide13.xml" Id="Rcb32b4708c1c43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63fff8be24f67" /><Relationship Type="http://schemas.openxmlformats.org/officeDocument/2006/relationships/image" Target="/ppt/media/image2.png" Id="R6fee01db6bfe41e3" /><Relationship Type="http://schemas.openxmlformats.org/officeDocument/2006/relationships/notesSlide" Target="/ppt/notesSlides/notesSlide14.xml" Id="Re28330a932c74f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bf793f7dd4e34" /><Relationship Type="http://schemas.openxmlformats.org/officeDocument/2006/relationships/image" Target="/ppt/media/image3.png" Id="R7843ccf73f0f4c1e" /><Relationship Type="http://schemas.openxmlformats.org/officeDocument/2006/relationships/notesSlide" Target="/ppt/notesSlides/notesSlide15.xml" Id="R7c6d1e9f7d8c41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e06a685ab406f" /><Relationship Type="http://schemas.openxmlformats.org/officeDocument/2006/relationships/notesSlide" Target="/ppt/notesSlides/notesSlide16.xml" Id="Rcfa58ed8f1f941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b948475594d18" /><Relationship Type="http://schemas.openxmlformats.org/officeDocument/2006/relationships/notesSlide" Target="/ppt/notesSlides/notesSlide17.xml" Id="R1d240b129e3448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a7faeb9304ddf" /><Relationship Type="http://schemas.openxmlformats.org/officeDocument/2006/relationships/notesSlide" Target="/ppt/notesSlides/notesSlide18.xml" Id="Rdff52da7068c44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72a2aefcc428b" /><Relationship Type="http://schemas.openxmlformats.org/officeDocument/2006/relationships/notesSlide" Target="/ppt/notesSlides/notesSlide19.xml" Id="R517fcbf3f82045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1cb10e17c44c2" /><Relationship Type="http://schemas.openxmlformats.org/officeDocument/2006/relationships/notesSlide" Target="/ppt/notesSlides/notesSlide20.xml" Id="R74a39880f8f441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116ff5fad4440" /><Relationship Type="http://schemas.openxmlformats.org/officeDocument/2006/relationships/notesSlide" Target="/ppt/notesSlides/notesSlide21.xml" Id="Re4423a91d4984f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4b9fdb70f4a79" /><Relationship Type="http://schemas.openxmlformats.org/officeDocument/2006/relationships/notesSlide" Target="/ppt/notesSlides/notesSlide22.xml" Id="R227ccb3b7b444e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bd592ff33490c" /><Relationship Type="http://schemas.openxmlformats.org/officeDocument/2006/relationships/notesSlide" Target="/ppt/notesSlides/notesSlide23.xml" Id="Rf0385d10bb744f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9f88810d84449" /><Relationship Type="http://schemas.openxmlformats.org/officeDocument/2006/relationships/notesSlide" Target="/ppt/notesSlides/notesSlide24.xml" Id="R3f0db02acaf34b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84f1e88dd4441" /><Relationship Type="http://schemas.openxmlformats.org/officeDocument/2006/relationships/notesSlide" Target="/ppt/notesSlides/notesSlide25.xml" Id="R947d7ab73a9a45a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b2bbb2ff84279" /><Relationship Type="http://schemas.openxmlformats.org/officeDocument/2006/relationships/notesSlide" Target="/ppt/notesSlides/notesSlide26.xml" Id="R205f13de794d4e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d203f898d49c7" /><Relationship Type="http://schemas.openxmlformats.org/officeDocument/2006/relationships/notesSlide" Target="/ppt/notesSlides/notesSlide27.xml" Id="Rfc4069b2b89842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b0119a727450c" /><Relationship Type="http://schemas.openxmlformats.org/officeDocument/2006/relationships/notesSlide" Target="/ppt/notesSlides/notesSlide28.xml" Id="R4179ea203a304e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9d318d8a146c7" /><Relationship Type="http://schemas.openxmlformats.org/officeDocument/2006/relationships/notesSlide" Target="/ppt/notesSlides/notesSlide29.xml" Id="R612cc16800b44e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16e9680c94168" /><Relationship Type="http://schemas.openxmlformats.org/officeDocument/2006/relationships/notesSlide" Target="/ppt/notesSlides/notesSlide30.xml" Id="R45f4fcef4c614a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e6d9a4ecd4b5c" /><Relationship Type="http://schemas.openxmlformats.org/officeDocument/2006/relationships/notesSlide" Target="/ppt/notesSlides/notesSlide31.xml" Id="Rd892e5b0eef647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0ccf51a0a4f56" /><Relationship Type="http://schemas.openxmlformats.org/officeDocument/2006/relationships/notesSlide" Target="/ppt/notesSlides/notesSlide32.xml" Id="Rb61936608db34b6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c12ee2a9e4f19" /><Relationship Type="http://schemas.openxmlformats.org/officeDocument/2006/relationships/notesSlide" Target="/ppt/notesSlides/notesSlide33.xml" Id="Rdb47641e79ef4fc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ec3ab8dec4f25" /><Relationship Type="http://schemas.openxmlformats.org/officeDocument/2006/relationships/notesSlide" Target="/ppt/notesSlides/notesSlide34.xml" Id="Rfbf85f5e4d054f9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fa29374c24bb9" /><Relationship Type="http://schemas.openxmlformats.org/officeDocument/2006/relationships/notesSlide" Target="/ppt/notesSlides/notesSlide35.xml" Id="R23f64c6fd64f45c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c5ae3c5704423" /><Relationship Type="http://schemas.openxmlformats.org/officeDocument/2006/relationships/notesSlide" Target="/ppt/notesSlides/notesSlide36.xml" Id="Raac3bd9c6f0e483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21375f10a4953" /><Relationship Type="http://schemas.openxmlformats.org/officeDocument/2006/relationships/notesSlide" Target="/ppt/notesSlides/notesSlide37.xml" Id="R6c97415c440c48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d6844ec264d77" /><Relationship Type="http://schemas.openxmlformats.org/officeDocument/2006/relationships/notesSlide" Target="/ppt/notesSlides/notesSlide38.xml" Id="Rbe002ccaeb58465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0aa98b34246a6" /><Relationship Type="http://schemas.openxmlformats.org/officeDocument/2006/relationships/notesSlide" Target="/ppt/notesSlides/notesSlide39.xml" Id="Rbd8cbaf99923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C43EA-4BBF-476F-AB7E-F8A2970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데이터 수집과 파이프라인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03BA9-3EA1-4C9E-886B-F00D377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00:00–00:01  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5D38-C9BE-422B-9CCF-58B1A3F8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1회차 실무 프로젝트 스터디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25265-B0A9-45B5-B7EF-05539EF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왜 CDC를 쓰고, 무엇을 만들 수 있을까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061DE-EDC3-4B07-B6A6-84CDAA5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맥미니 시연 / 학생 SQL·설계서 작성</a:t>
            </a:r>
          </a:p>
        </p:txBody>
      </p:sp>
    </p:spTree>
    <p:extLst>
      <p:ext uri="{BB962C8B-B14F-4D97-AF65-F5344CB8AC3E}">
        <p14:creationId xmlns:p14="http://schemas.microsoft.com/office/powerpoint/2010/main" val="2121435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35458-B432-4DDE-8F4C-1CFBB88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오늘의 결과물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A77D3-7792-4A82-9A2C-BC1C225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00:01–00:02 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A85EF-91A8-4F92-B56B-B44F90C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CDC를 선택하는 이유와 적용할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D1716-C50F-4C1E-8DD3-7B8228F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원천·Kafka·Bronze의 변경 이벤트 대조표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91111-DCE4-4094-9F44-408C887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개인 원천 명세와 파이프라인 설계 초안</a:t>
            </a:r>
          </a:p>
        </p:txBody>
      </p:sp>
    </p:spTree>
    <p:extLst>
      <p:ext uri="{BB962C8B-B14F-4D97-AF65-F5344CB8AC3E}">
        <p14:creationId xmlns:p14="http://schemas.microsoft.com/office/powerpoint/2010/main" val="61497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5488C-3B43-48BF-95D1-EC8BCACE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120분 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53D34-96C7-44AC-8575-17BDD04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00:02–00:03     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C3101-2A8D-4080-8E27-13E668270DBB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81550"/>
              </a:tblGrid>
              <a:tr h="46566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내용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활동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00:00–00:18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CDC의 필요성·직무 역량·프로젝트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관심 도메인 후보 메모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00:18–00:33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아키텍처 세 장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 표 3줄 작성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00:33–00:45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모델·DML·사전 예측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SELECT·기대 이벤트 작성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00:45–01:10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입력·수정·삭제 시연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원천/Kafka/Bronze 대조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01:10–01:15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01:15–01:30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검증과 지연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누락·중복·조사 구간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01:30–01:55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파이프라인 설계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명세·경로·DDL·검증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01:55–02:00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점검과 제출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종료 질문·과제 확인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116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231B1-3B0A-42AE-87C2-79C84B8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계속 바뀌는 서비스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48061-B32E-416A-B4B3-41C08BAF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00:03–00:05  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763C3-4408-4C09-88DB-1A3DADB7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예약은 확정된 뒤에도 취소됩니다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53644-E7EB-4AA7-B396-19F2DC4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배송 상태와 상품 정보도 계속 수정됩니다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2041F-02AC-4BAA-A378-2CB0DBE3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원천의 변경을 필요한 곳에 언제, 어떻게 전달할까요?</a:t>
            </a:r>
          </a:p>
        </p:txBody>
      </p:sp>
    </p:spTree>
    <p:extLst>
      <p:ext uri="{BB962C8B-B14F-4D97-AF65-F5344CB8AC3E}">
        <p14:creationId xmlns:p14="http://schemas.microsoft.com/office/powerpoint/2010/main" val="1291723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70F78-5279-485F-9079-B4013A3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전체 복사·증분 조회·로그 기반 CDC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C322F-D2EC-45E1-8BCD-E5C80A3A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00:05–00:08     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1A88F-C30B-4763-BC14-0E369C2CECEE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619500"/>
                <a:gridCol w="4591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가져오는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설계할 부분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주기적 전체 복사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 시점의 전체 상태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읽기·전송과 갱신 간격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updated_at 증분 조회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조건에 맞는 현재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 경계·물리 삭제 추적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 기반 CDC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로그에 기록된 행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스냅샷·로그 보존·전달·복구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492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9F9A4-18B4-4298-AB5B-EAF9798F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이 프로젝트에서 CDC를 쓰는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FB52A-33FA-4EDE-BA29-6EB7E67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00:08–00:09 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52038-B21A-4087-9250-01F43F4A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원천의 INSERT·UPDATE·DELETE를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AC34F-36C3-465F-9350-035ABD9E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변경 이력과 현재 상태를 함께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9BCF4-053F-41EC-BAB8-57A6DEF6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매번 전체를 다시 읽는 수집을 줄이는 구조</a:t>
            </a:r>
          </a:p>
        </p:txBody>
      </p:sp>
    </p:spTree>
    <p:extLst>
      <p:ext uri="{BB962C8B-B14F-4D97-AF65-F5344CB8AC3E}">
        <p14:creationId xmlns:p14="http://schemas.microsoft.com/office/powerpoint/2010/main" val="2103999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FDA5-0301-4CEE-A18D-0142416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CDC를 선택할 때 확인할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C9DCD-8D1D-499D-B261-D71F1F3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00:09–00:11 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53DD-19AC-4759-94BE-C18A08E9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필요한 지연과 원천 DB의 로그 수집 가능 여부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EC9E5-06AD-4636-A143-BE75D6C8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초기 스냅샷 부하와 WAL·이벤트 보존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1A519-D2B1-4E5C-A343-E6F67D8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수집 중단 시 복구 위치와 downstream 반영 방식</a:t>
            </a:r>
          </a:p>
        </p:txBody>
      </p:sp>
    </p:spTree>
    <p:extLst>
      <p:ext uri="{BB962C8B-B14F-4D97-AF65-F5344CB8AC3E}">
        <p14:creationId xmlns:p14="http://schemas.microsoft.com/office/powerpoint/2010/main" val="1885980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28745-CB98-43EB-B6DE-E466BFDC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채용공고에서 CDC 경험을 묻는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B2173-8693-415A-A028-9A9B012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00:11–00:14 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EB5A5-0C17-4C8E-9FD2-E4F3A8E1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원천부터 목적지까지 수집 경로를 설계하는 업무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5C673-610B-42C9-8EA0-17D40C3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지연·누락·중복과 장애를 조사하는 운영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2787C-2A4E-4AF8-A8B3-A22C86D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기술 선택 이유와 실제 검증 결과를 설명하는 경험</a:t>
            </a:r>
          </a:p>
        </p:txBody>
      </p:sp>
    </p:spTree>
    <p:extLst>
      <p:ext uri="{BB962C8B-B14F-4D97-AF65-F5344CB8AC3E}">
        <p14:creationId xmlns:p14="http://schemas.microsoft.com/office/powerpoint/2010/main" val="1507942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05722-F82B-4802-8EC3-50CA04F7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기존 기술이 프로젝트로 이어지는 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12264-717F-4262-B656-59005A2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00:14–00:16  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D1D6-B033-45F2-AC36-9233014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Kafka에 보낼 데이터가 실제 DB 변경에서 생깁니다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4F55-8700-4FE2-962F-408C6BE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Spark로 변경 이력을 현재 상태 테이블로 만듭니다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67DA9-1CAA-4F0E-B24E-C594D21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저장·반복 실행·검증에 S3·Airflow·GitHub 경험을 씁니다</a:t>
            </a:r>
          </a:p>
        </p:txBody>
      </p:sp>
    </p:spTree>
    <p:extLst>
      <p:ext uri="{BB962C8B-B14F-4D97-AF65-F5344CB8AC3E}">
        <p14:creationId xmlns:p14="http://schemas.microsoft.com/office/powerpoint/2010/main" val="69820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C41ED-43FB-4263-87BA-0D6385F7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직접 만들 수 있는 데이터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4489D-52C9-4D26-B7E2-8E934B15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00:16–00:17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1522D-B30B-46A4-991B-0A982274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예약 취소와 일정 정정의 이력·현재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62A58-77C3-48DD-8A50-7CCD0742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배송 상태와 상품 정보의 변경 동기화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C8CA-AFB0-4DAC-B863-3D38422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이벤트 재처리 후에도 맞는 목적지 데이터</a:t>
            </a:r>
          </a:p>
        </p:txBody>
      </p:sp>
    </p:spTree>
    <p:extLst>
      <p:ext uri="{BB962C8B-B14F-4D97-AF65-F5344CB8AC3E}">
        <p14:creationId xmlns:p14="http://schemas.microsoft.com/office/powerpoint/2010/main" val="36089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99F89-AD51-4E07-A6EF-5DC6760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성공을 설명할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DD257-838F-440D-A3D7-2675E43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00:17–00:18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57E37-57B0-44ED-B3F9-3C7C861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DB UPDATE 성공과 Flink RUNNING만으로 충분할까요?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20EB-46DD-4602-97DB-CB27778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행과 Kafka의 key·op·before/after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5979-6FC8-409E-AF33-A8D9FCC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동일 수집 위치의 Bronze 기록을 조회해 대조</a:t>
            </a:r>
          </a:p>
        </p:txBody>
      </p:sp>
    </p:spTree>
    <p:extLst>
      <p:ext uri="{BB962C8B-B14F-4D97-AF65-F5344CB8AC3E}">
        <p14:creationId xmlns:p14="http://schemas.microsoft.com/office/powerpoint/2010/main" val="1382821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38B42-1CD0-4CCE-A62E-EEECE00F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00:18–00:23     12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010BE-69D4-4EE6-91F0-6725103A3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a886949b84ed2"/>
          <a:stretch xmlns:a="http://schemas.openxmlformats.org/drawingml/2006/main"/>
        </p:blipFill>
        <p:spPr>
          <a:xfrm xmlns:a="http://schemas.openxmlformats.org/drawingml/2006/main">
            <a:off x="1420148" y="76200"/>
            <a:ext cx="9351705" cy="6210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65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0B250-EFCC-4C7F-B673-5F402A2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구성 요소별 입력과 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5186F-0043-424E-B03B-D3F152E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00:18–00:23     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18673-F4B7-443B-85A6-EB98334C1159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57650"/>
                <a:gridCol w="40576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 요소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남기는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Debezium/Connect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초기 스냅샷·WAL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테이블별 CDC 이벤트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이벤트 key와 value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토픽·파티션·오프셋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value 원문과 위치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payload + 수집 위치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Bronze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append CDC 이력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조회·재처리할 원문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B38E3-8B70-4DEC-B745-C25464A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스냅샷 r / 새 변경 c·u·d. Bronze의 PK는 payload에서 추출</a:t>
            </a:r>
          </a:p>
        </p:txBody>
      </p:sp>
    </p:spTree>
    <p:extLst>
      <p:ext uri="{BB962C8B-B14F-4D97-AF65-F5344CB8AC3E}">
        <p14:creationId xmlns:p14="http://schemas.microsoft.com/office/powerpoint/2010/main" val="1626347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66B14-7C46-43AA-95E8-83F11AA5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00:23–00:28     14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CD139-593B-4355-BAEF-2603C0209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e01db6bfe41e3"/>
          <a:stretch xmlns:a="http://schemas.openxmlformats.org/drawingml/2006/main"/>
        </p:blipFill>
        <p:spPr>
          <a:xfrm xmlns:a="http://schemas.openxmlformats.org/drawingml/2006/main">
            <a:off x="1619690" y="76200"/>
            <a:ext cx="8952620" cy="6210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694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40BAE-4856-4029-9814-2056A5F7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00:28–00:31     15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E714E-A9D0-4A78-BFBA-CA10247B1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3ccf73f0f4c1e"/>
          <a:stretch xmlns:a="http://schemas.openxmlformats.org/drawingml/2006/main"/>
        </p:blipFill>
        <p:spPr>
          <a:xfrm xmlns:a="http://schemas.openxmlformats.org/drawingml/2006/main">
            <a:off x="1904171" y="76200"/>
            <a:ext cx="8383658" cy="6210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009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2CB03-4970-48DD-9429-B6E450E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Bronze 이력과 원천 현재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0963-7C1F-410C-B826-F00AE664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00:31–00:33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13D40-4564-4A84-8832-0319D2B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원천에는 같은 PK의 현재 행을 조회합니다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D73E2-5975-4723-977F-ABCED8B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Bronze에는 입력·수정·삭제 기록이 쌓입니다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AF6D6-94A4-40A4-AA15-B50E89AA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DELETE 뒤에도 변경 이력은 남습니다</a:t>
            </a:r>
          </a:p>
        </p:txBody>
      </p:sp>
    </p:spTree>
    <p:extLst>
      <p:ext uri="{BB962C8B-B14F-4D97-AF65-F5344CB8AC3E}">
        <p14:creationId xmlns:p14="http://schemas.microsoft.com/office/powerpoint/2010/main" val="8815014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826C-852C-4373-9D31-552DAD85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테이블의 키와 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CEB67-F28B-4426-A763-2B2322E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00:33–00:36     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AF2B-768C-465F-9B02-437D60B8D2F1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353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키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orders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payments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payment_id / FK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refunds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환불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refund_id / FK payment_id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184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6D17-CC35-450B-90BB-9078891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입력과 원천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D8C6F-F0CB-467B-8DF4-67F6D57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00:36–00:39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49E64-1B8B-4CD3-B945-8403A6F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INSERT INTO refunds (refund_id, payment_id, amount, status)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VALUES ('my-r1', 'my-p1', 20000, 'success');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refund_id, payment_id, amount, status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refunds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EB214-74D9-4CAF-A885-77F4B38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기대 결과: 같은 refund_id 한 행, amount = 20000</a:t>
            </a:r>
          </a:p>
        </p:txBody>
      </p:sp>
    </p:spTree>
    <p:extLst>
      <p:ext uri="{BB962C8B-B14F-4D97-AF65-F5344CB8AC3E}">
        <p14:creationId xmlns:p14="http://schemas.microsoft.com/office/powerpoint/2010/main" val="7648511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C0F91-C6D0-482E-A9A8-919A2BA9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수정과 삭제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128F8-C4B3-4336-BBD7-B243D08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00:39–00:42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0ECB9-5349-4475-9121-85E61C4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UPDATE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SET amount = 30000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DELETE FROM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CC7F6-CC75-41E5-8B0D-480B9D84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로컬 예측용: SELECT 작성 후 관찰표의 기대값을 미리 채웁니다</a:t>
            </a:r>
          </a:p>
        </p:txBody>
      </p:sp>
    </p:spTree>
    <p:extLst>
      <p:ext uri="{BB962C8B-B14F-4D97-AF65-F5344CB8AC3E}">
        <p14:creationId xmlns:p14="http://schemas.microsoft.com/office/powerpoint/2010/main" val="6065565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BCB1E-626B-4645-AFEC-1A2C003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변경별 기대 이벤트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14870-D017-4A4F-B6EA-0ED989C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00:42–00:45     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FC358-7B90-4154-8B1E-91CEE1454218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381250"/>
                <a:gridCol w="952500"/>
                <a:gridCol w="5734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 / after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INSERT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null / amount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20000 / amount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DELETE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30000 / null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B2F96-7492-481B-9CCE-C6EBE37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이전 amount 관찰의 전제: REPLICA IDENTITY FULL</a:t>
            </a:r>
          </a:p>
        </p:txBody>
      </p:sp>
    </p:spTree>
    <p:extLst>
      <p:ext uri="{BB962C8B-B14F-4D97-AF65-F5344CB8AC3E}">
        <p14:creationId xmlns:p14="http://schemas.microsoft.com/office/powerpoint/2010/main" val="20747737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61B49-0312-4577-8633-360EC597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강사 시연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83CFF-6BB6-453A-B51E-CB3D3565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00:45–00:48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73653-E9FA-43E0-8910-97E6B0F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새 CASE_ID로 주문·결제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48563-9CB2-4A4B-B41A-981C738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refund_id를 세 단계에서 계속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5CD22-1C95-4128-85FE-6D946DE3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변경 뒤 원천 SELECT부터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8446655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49B3C-2C16-4556-8273-75539A1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1. INSERT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EA357-C6F4-4CEE-B011-3209BB6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30637-49C2-44CA-A738-B0D53FB5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refund_id 한 행, amount 20000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9C644-0EDE-483E-9477-2ADDB83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같은 key, op=c, after.amount 20000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1CFFE-644E-4CEF-8B9D-E370C4F7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같은 위치와 내용의 기록</a:t>
            </a:r>
          </a:p>
        </p:txBody>
      </p:sp>
    </p:spTree>
    <p:extLst>
      <p:ext uri="{BB962C8B-B14F-4D97-AF65-F5344CB8AC3E}">
        <p14:creationId xmlns:p14="http://schemas.microsoft.com/office/powerpoint/2010/main" val="20694109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5393F-9F95-4B88-96DA-82A8A6E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 이벤트에서 읽을 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CE6FC-8112-416E-8954-048A576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91194-EF62-4AD8-B664-E73E4645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key: {"refund_id": "s01-example-r1"}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value: {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"op": "c",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"before": null,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"after": {"refund_id": "s01-example-r1", "amount": 20000},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"source": {"lsn": "원천 변경 위치"}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895C-C08B-45AC-A863-3D0B9C31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설명용으로 필드를 줄인 예시. 실제 값은 강사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21311617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27FF-3819-4A57-94BD-E826B50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2. UPDATE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5189B-C5AA-4ABF-8ECB-7537CDE0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00:55–01:02    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E07C1-3A69-440C-859A-222B400E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같은 PK 한 행, amount 30000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FFC85-B43C-4321-9B0E-6688A199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op=u, before 20000 / after 30000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D25A4-C25F-4F78-AF30-A587D70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c와 u 이력이 서로 다른 위치에 남음</a:t>
            </a:r>
          </a:p>
        </p:txBody>
      </p:sp>
    </p:spTree>
    <p:extLst>
      <p:ext uri="{BB962C8B-B14F-4D97-AF65-F5344CB8AC3E}">
        <p14:creationId xmlns:p14="http://schemas.microsoft.com/office/powerpoint/2010/main" val="20234360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B3568-DB34-4C5C-9891-B3FF0CE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3. DELETE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C8146-1476-4F92-8603-1D730F62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F7A16-B985-4A8D-9B61-2D66231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해당 PK 조회 결과 0행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0088-1667-4974-9577-19BC9050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op=d, before 30000 / after null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39598-FE91-4E56-AD61-148B71D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기존 c/u와 새 d 이력 보관</a:t>
            </a:r>
          </a:p>
        </p:txBody>
      </p:sp>
    </p:spTree>
    <p:extLst>
      <p:ext uri="{BB962C8B-B14F-4D97-AF65-F5344CB8AC3E}">
        <p14:creationId xmlns:p14="http://schemas.microsoft.com/office/powerpoint/2010/main" val="6272822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A5459-7307-440A-8201-EF916B6D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삭제 이벤트와 tombstone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ADD6A-BFAB-4473-A62C-38CD4F5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3F847-5AE7-447A-83A9-1FE80C8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op=d에는 삭제한 행의 정보를 담습니다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D1663-88C2-4388-9FA0-FA03536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Kafka key에 value=null 메시지가 뒤따를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4779-40D0-4F86-8343-BA0A584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 실습은 op=d를 보관하고 null 메시지는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5634022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8FC7A-BB93-43F0-B7EB-A1EFAAC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5분 휴식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4DCE6-9DCB-4798-93D9-0D16591D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01:10–01:15    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78A0D-6D50-457D-BDEF-1551ABC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01:15에 수집 검증 기록을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CFB33-4F40-47DE-A8C7-913B7FC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강사는 DELETE 요약 화면을 그대로 유지합니다</a:t>
            </a:r>
          </a:p>
        </p:txBody>
      </p:sp>
    </p:spTree>
    <p:extLst>
      <p:ext uri="{BB962C8B-B14F-4D97-AF65-F5344CB8AC3E}">
        <p14:creationId xmlns:p14="http://schemas.microsoft.com/office/powerpoint/2010/main" val="9524442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519CC-BCA1-4068-A0D1-3B4D42B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Kafka와 Bronze를 잇는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0687D-DAF3-4880-B5E5-4425BB41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01:15–01:20    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0BA8E-34CE-49FA-8144-D3832A8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PK는 대상 행, Kafka 위치는 전달 기록을 식별합니다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7F712-E331-419B-8EAD-D3FED1AC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위치의 op·before/after·source.lsn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0FA5-84FD-4EF0-8166-F5C4456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LSN은 단독 고유 ID가 아니며 offset은 파티션 안에서 비교</a:t>
            </a:r>
          </a:p>
        </p:txBody>
      </p:sp>
    </p:spTree>
    <p:extLst>
      <p:ext uri="{BB962C8B-B14F-4D97-AF65-F5344CB8AC3E}">
        <p14:creationId xmlns:p14="http://schemas.microsoft.com/office/powerpoint/2010/main" val="2695306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E7236-AA13-4F25-8C40-DF60CD07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이력과 중복의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62949-DC57-4460-8C50-86FF785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01:20–01:23     29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83254-929F-4751-B7BC-394D1C430315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판단과 확인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PK의 c/u/d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변경 이력일 수 있음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Kafka 위치의 Bronze 여러 행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수집 위치가 반복 저장됐는지 조사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내용이 다른 offset에 존재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재전달·재발행인지 원천 버전과 내용 대조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737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24A2A-F05B-41B3-BE8E-64B224E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누락을 조사할 구간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16CD-2678-4E3A-8E16-BB38640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01:23–01:25     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337D5-4570-4950-BBB6-51091A3E9D83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 상태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확인할 곳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변경 / Kafka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commit, 수집 대상, connector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있음 / Bronze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 패턴, Flink 처리, checkpoint·sink commit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Bronze 있음 / Silver·Gold 과거 값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후속 변환·갱신 여부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733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DFE30-BBB9-4E8C-9CBF-4CB49A80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지연의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7D723-09A0-4ADF-8FBD-6EEC98F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01:25–01:30     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D4A94-625A-4DBC-ADDD-3A19945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DELETE 요약의 kafka_ts·ingested_at 한 세트만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8D0BF-7CEF-4D81-8745-2C62EF9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wait_observed_seconds는 대기 시작 후 첫 관찰까지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41E40-81C7-482D-884D-DC821E41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처리 시각과 sink commit·조회 가능 시각은 다릅니다</a:t>
            </a:r>
          </a:p>
        </p:txBody>
      </p:sp>
    </p:spTree>
    <p:extLst>
      <p:ext uri="{BB962C8B-B14F-4D97-AF65-F5344CB8AC3E}">
        <p14:creationId xmlns:p14="http://schemas.microsoft.com/office/powerpoint/2010/main" val="1427735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54151-A025-474F-91B0-6FC63A46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프로젝트 선택 · 5분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DD556-CC6E-4B69-945D-F1B1FC8D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01:30–01:35     32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ED61A-E751-491C-AEBD-CA7436F825A3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333750"/>
                <a:gridCol w="47815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주제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테이블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처음 검증할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예약 변경 이력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reservations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일정 정정·취소·DELETE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물류 상태 동기화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shipments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배송 상태·예정일 정정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상품·가격 레이크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products 또는 prices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가격 정정·판매 중지·삭제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구독 상태 관리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subscriptions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 정정·해지 UPDATE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결제·환불 정정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refunds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환불 입력·금액 정정·삭제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7184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D2E78-023E-4C20-B06C-87A50A78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설계 · 20분 작성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9126-D4CB-4B02-9D2B-62518646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01:35–01:55     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03D93-A264-44AF-B4B1-3FFDF78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주제와 CDC 이유 한 줄, 핵심 테이블 하나의 PK·수정·삭제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5C9A2-4674-403D-B0FC-9B4AC48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DDL 초안과 REPLICA IDENTITY FULL 설정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B56F-DA22-4D35-8282-F3A67F9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PK의 c/u/d 기대 이벤트와 수집 경로 한 줄</a:t>
            </a:r>
          </a:p>
        </p:txBody>
      </p:sp>
    </p:spTree>
    <p:extLst>
      <p:ext uri="{BB962C8B-B14F-4D97-AF65-F5344CB8AC3E}">
        <p14:creationId xmlns:p14="http://schemas.microsoft.com/office/powerpoint/2010/main" val="19402138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EA358-1AA3-4B64-A729-BC4E0E6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종료 질문과 제출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CC770-39DC-4E4F-9D25-15435FA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01:55–02:00     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E899E-7DED-4328-9F9B-3264B062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수집됐다는 근거를 실제 기록으로 설명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29C9D-B01D-4A16-A143-A19EA82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삭제 뒤 Bronze 이력이 남는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B2C2-1627-4F6A-9586-C3EC39B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내 원천 명세·SQL·파이프라인 초안 제출</a:t>
            </a:r>
          </a:p>
        </p:txBody>
      </p:sp>
    </p:spTree>
    <p:extLst>
      <p:ext uri="{BB962C8B-B14F-4D97-AF65-F5344CB8AC3E}">
        <p14:creationId xmlns:p14="http://schemas.microsoft.com/office/powerpoint/2010/main" val="11022804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3A284-F464-465B-8A82-D7B4AB2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채용 요구의 확인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50A2F-2D33-4A92-90F0-7E07EFD1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E5639-02A3-4A8F-9B4E-B49DAA2F1498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공고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내용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토스뱅크 Streaming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CDC·Kafka Connect·Flink 구축 경험 요구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CJ대한통운 TES 데이터 엔지니어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설계·운영과 성능 진단 업무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신한투자증권 데이터 엔지니어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Iceberg·CDC 지식 자격요건 / 2026-02 마감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2626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E4837-CE63-45D8-A5E4-7466A50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강사 사전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A0AC8-789D-41D2-A351-8E133DD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수업 전     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28134-EA1E-4913-BDD6-145DBA1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저장소 접근과 학생 파일 배포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6C716-4137-4C9F-9F44-C642FB7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맥미니 기동·preflight, Airflow 중지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54C3B-AF67-4F58-B103-9CF51E1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새 CASE_ID로 전체 c/u/d 대조 리허설</a:t>
            </a:r>
          </a:p>
        </p:txBody>
      </p:sp>
    </p:spTree>
    <p:extLst>
      <p:ext uri="{BB962C8B-B14F-4D97-AF65-F5344CB8AC3E}">
        <p14:creationId xmlns:p14="http://schemas.microsoft.com/office/powerpoint/2010/main" val="4354884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FEF7-C27C-4CAD-803F-3883B88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단계별 시연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0F316-EE24-4518-BA10-B081F88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29B93-C45B-4C8A-8CF0-259A1DBB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refund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source-rows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kafka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wait --event refund --evidence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collect-check \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--stage insert --summary --evidence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F2DC5-D145-4BFA-BDE3-8C9C508C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UPDATE: correction / correction / update    DELETE: delete / delete / delete</a:t>
            </a:r>
          </a:p>
        </p:txBody>
      </p:sp>
    </p:spTree>
    <p:extLst>
      <p:ext uri="{BB962C8B-B14F-4D97-AF65-F5344CB8AC3E}">
        <p14:creationId xmlns:p14="http://schemas.microsoft.com/office/powerpoint/2010/main" val="3815191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E6812-FAF0-4EF1-9786-15969BA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개인 DDL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A40A-69F5-46B2-842F-3DF97FE2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작성 참고     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28921-B20B-4BBE-821C-EEE1B745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CREATE TABLE reservations (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reservation_id text PRIMARY KEY,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customer_id text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service_at timestamptz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status text NOT NULL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);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ALTER TABLE reservations REPLICA IDENTITY FULL;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EE48E-FEFC-4B04-938E-F34BAC1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FULL은 이번 실습에서 UPDATE·DELETE 이전 값을 관찰하기 위한 설정</a:t>
            </a:r>
          </a:p>
        </p:txBody>
      </p:sp>
    </p:spTree>
    <p:extLst>
      <p:ext uri="{BB962C8B-B14F-4D97-AF65-F5344CB8AC3E}">
        <p14:creationId xmlns:p14="http://schemas.microsoft.com/office/powerpoint/2010/main" val="15281215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6E2A6-EF95-4AA0-B223-FAD4EE0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Bronze 원문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F6792-7206-40FB-97DA-7133926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52234-56E3-4049-A16F-79AD195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topic, partition_id, kafka_offset,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'$.op') AS op,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'$.before.amount') AS before_amount,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'$.after.amount') AS after_amount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lake.bronze.cdc_events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topic = 'cdc.public.refunds'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AND (get_json_object(payload, '$.after.refund_id') = 'my-r1'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OR get_json_object(payload, '$.before.refund_id') = 'my-r1')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ORDER BY partition_id, kafka_offset;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8E896-5286-4BC7-B956-C33E0EB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Spark SQL 예시. 강사 화면에서는 이번 CASE_ID의 refund_id로 필터</a:t>
            </a:r>
          </a:p>
        </p:txBody>
      </p:sp>
    </p:spTree>
    <p:extLst>
      <p:ext uri="{BB962C8B-B14F-4D97-AF65-F5344CB8AC3E}">
        <p14:creationId xmlns:p14="http://schemas.microsoft.com/office/powerpoint/2010/main" val="652413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2026-10-16T15:36:28.3440000Z</dcterms:created>
  <dcterms:modified xsi:type="dcterms:W3CDTF">2026-10-16T15:36:28.3440000Z</dcterms:modified>
</coreProperties>
</file>