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7cd31030c4adf" /><Relationship Type="http://schemas.openxmlformats.org/officeDocument/2006/relationships/extended-properties" Target="/docProps/app.xml" Id="R45855993d3f94bec" /><Relationship Type="http://schemas.openxmlformats.org/officeDocument/2006/relationships/officeDocument" Target="/ppt/presentation.xml" Id="R387d5f94664f4f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d7d1640dab418a"/>
  </p:sldMasterIdLst>
  <p:notesMasterIdLst>
    <p:notesMasterId xmlns:r="http://schemas.openxmlformats.org/officeDocument/2006/relationships" r:id="R0c5bb04d3eec46e7"/>
  </p:notesMasterIdLst>
  <p:sldIdLst>
    <p:sldId xmlns:r="http://schemas.openxmlformats.org/officeDocument/2006/relationships" id="256" r:id="Rc9ace8ce04eb42c7"/>
    <p:sldId xmlns:r="http://schemas.openxmlformats.org/officeDocument/2006/relationships" id="257" r:id="Ra51736723cd64e6b"/>
    <p:sldId xmlns:r="http://schemas.openxmlformats.org/officeDocument/2006/relationships" id="258" r:id="R56673661e2ce4dee"/>
    <p:sldId xmlns:r="http://schemas.openxmlformats.org/officeDocument/2006/relationships" id="259" r:id="Rff51b83455384c9b"/>
    <p:sldId xmlns:r="http://schemas.openxmlformats.org/officeDocument/2006/relationships" id="260" r:id="R06a9008ea1c64c85"/>
    <p:sldId xmlns:r="http://schemas.openxmlformats.org/officeDocument/2006/relationships" id="261" r:id="Rdce40d22bc7a4774"/>
    <p:sldId xmlns:r="http://schemas.openxmlformats.org/officeDocument/2006/relationships" id="262" r:id="R101df5760b804d99"/>
    <p:sldId xmlns:r="http://schemas.openxmlformats.org/officeDocument/2006/relationships" id="263" r:id="Rde399bcc4f534273"/>
    <p:sldId xmlns:r="http://schemas.openxmlformats.org/officeDocument/2006/relationships" id="264" r:id="Red53f43c647a4a2e"/>
    <p:sldId xmlns:r="http://schemas.openxmlformats.org/officeDocument/2006/relationships" id="265" r:id="Rcde594a4372449e6"/>
    <p:sldId xmlns:r="http://schemas.openxmlformats.org/officeDocument/2006/relationships" id="266" r:id="R4f3d96151cd149ce"/>
    <p:sldId xmlns:r="http://schemas.openxmlformats.org/officeDocument/2006/relationships" id="267" r:id="Rf0afbd787fa24261"/>
    <p:sldId xmlns:r="http://schemas.openxmlformats.org/officeDocument/2006/relationships" id="268" r:id="R01249e06e3644087"/>
    <p:sldId xmlns:r="http://schemas.openxmlformats.org/officeDocument/2006/relationships" id="269" r:id="Rebe9ae9f12694a6f"/>
    <p:sldId xmlns:r="http://schemas.openxmlformats.org/officeDocument/2006/relationships" id="270" r:id="Ra67d73a1898c4a9b"/>
    <p:sldId xmlns:r="http://schemas.openxmlformats.org/officeDocument/2006/relationships" id="271" r:id="Rb2587c69e2fe47db"/>
    <p:sldId xmlns:r="http://schemas.openxmlformats.org/officeDocument/2006/relationships" id="272" r:id="Ra8ec9fa506154abc"/>
    <p:sldId xmlns:r="http://schemas.openxmlformats.org/officeDocument/2006/relationships" id="273" r:id="Rc893c91e479d42c8"/>
    <p:sldId xmlns:r="http://schemas.openxmlformats.org/officeDocument/2006/relationships" id="274" r:id="Rdbdfa489b09e450f"/>
    <p:sldId xmlns:r="http://schemas.openxmlformats.org/officeDocument/2006/relationships" id="275" r:id="R561678df73f444a6"/>
    <p:sldId xmlns:r="http://schemas.openxmlformats.org/officeDocument/2006/relationships" id="276" r:id="Rcc0204127ec448a5"/>
    <p:sldId xmlns:r="http://schemas.openxmlformats.org/officeDocument/2006/relationships" id="277" r:id="R19eec032986d40df"/>
    <p:sldId xmlns:r="http://schemas.openxmlformats.org/officeDocument/2006/relationships" id="278" r:id="Rb5e188337a6944a7"/>
    <p:sldId xmlns:r="http://schemas.openxmlformats.org/officeDocument/2006/relationships" id="279" r:id="R883cff80100c426a"/>
    <p:sldId xmlns:r="http://schemas.openxmlformats.org/officeDocument/2006/relationships" id="280" r:id="R1e9a3928155f432b"/>
    <p:sldId xmlns:r="http://schemas.openxmlformats.org/officeDocument/2006/relationships" id="281" r:id="R6254d8b845a5483a"/>
    <p:sldId xmlns:r="http://schemas.openxmlformats.org/officeDocument/2006/relationships" id="282" r:id="R498c35b999884840"/>
    <p:sldId xmlns:r="http://schemas.openxmlformats.org/officeDocument/2006/relationships" id="283" r:id="Rb7ebc3f746da4021"/>
    <p:sldId xmlns:r="http://schemas.openxmlformats.org/officeDocument/2006/relationships" id="284" r:id="R0a4dffbe0d764565"/>
    <p:sldId xmlns:r="http://schemas.openxmlformats.org/officeDocument/2006/relationships" id="285" r:id="R464f6f1c8cfa4eab"/>
    <p:sldId xmlns:r="http://schemas.openxmlformats.org/officeDocument/2006/relationships" id="286" r:id="Raeb3dcd82ef643a4"/>
    <p:sldId xmlns:r="http://schemas.openxmlformats.org/officeDocument/2006/relationships" id="287" r:id="R31679c4a58dc4494"/>
    <p:sldId xmlns:r="http://schemas.openxmlformats.org/officeDocument/2006/relationships" id="288" r:id="R5962691b15f34b30"/>
    <p:sldId xmlns:r="http://schemas.openxmlformats.org/officeDocument/2006/relationships" id="289" r:id="Rcd1143c0a22f465b"/>
    <p:sldId xmlns:r="http://schemas.openxmlformats.org/officeDocument/2006/relationships" id="290" r:id="Rc846daa4e4d04bca"/>
    <p:sldId xmlns:r="http://schemas.openxmlformats.org/officeDocument/2006/relationships" id="291" r:id="R431767e42caf4c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1e130d59b47e8" /><Relationship Type="http://schemas.openxmlformats.org/officeDocument/2006/relationships/slideMaster" Target="/ppt/slideMasters/slideMaster1.xml" Id="Rd2d7d1640dab418a" /><Relationship Type="http://schemas.openxmlformats.org/officeDocument/2006/relationships/notesMaster" Target="/ppt/notesMasters/notesMaster1.xml" Id="R0c5bb04d3eec46e7" /><Relationship Type="http://schemas.openxmlformats.org/officeDocument/2006/relationships/presProps" Target="/ppt/presProps.xml" Id="R8f5003e2bed043f8" /><Relationship Type="http://schemas.openxmlformats.org/officeDocument/2006/relationships/tableStyles" Target="/ppt/tableStyles.xml" Id="Rcb8d063c7af54126" /><Relationship Type="http://schemas.openxmlformats.org/officeDocument/2006/relationships/slide" Target="/ppt/slides/slide1.xml" Id="Rc9ace8ce04eb42c7" /><Relationship Type="http://schemas.openxmlformats.org/officeDocument/2006/relationships/slide" Target="/ppt/slides/slide2.xml" Id="Ra51736723cd64e6b" /><Relationship Type="http://schemas.openxmlformats.org/officeDocument/2006/relationships/slide" Target="/ppt/slides/slide3.xml" Id="R56673661e2ce4dee" /><Relationship Type="http://schemas.openxmlformats.org/officeDocument/2006/relationships/slide" Target="/ppt/slides/slide4.xml" Id="Rff51b83455384c9b" /><Relationship Type="http://schemas.openxmlformats.org/officeDocument/2006/relationships/slide" Target="/ppt/slides/slide5.xml" Id="R06a9008ea1c64c85" /><Relationship Type="http://schemas.openxmlformats.org/officeDocument/2006/relationships/slide" Target="/ppt/slides/slide6.xml" Id="Rdce40d22bc7a4774" /><Relationship Type="http://schemas.openxmlformats.org/officeDocument/2006/relationships/slide" Target="/ppt/slides/slide7.xml" Id="R101df5760b804d99" /><Relationship Type="http://schemas.openxmlformats.org/officeDocument/2006/relationships/slide" Target="/ppt/slides/slide8.xml" Id="Rde399bcc4f534273" /><Relationship Type="http://schemas.openxmlformats.org/officeDocument/2006/relationships/slide" Target="/ppt/slides/slide9.xml" Id="Red53f43c647a4a2e" /><Relationship Type="http://schemas.openxmlformats.org/officeDocument/2006/relationships/slide" Target="/ppt/slides/slide10.xml" Id="Rcde594a4372449e6" /><Relationship Type="http://schemas.openxmlformats.org/officeDocument/2006/relationships/slide" Target="/ppt/slides/slide11.xml" Id="R4f3d96151cd149ce" /><Relationship Type="http://schemas.openxmlformats.org/officeDocument/2006/relationships/slide" Target="/ppt/slides/slide12.xml" Id="Rf0afbd787fa24261" /><Relationship Type="http://schemas.openxmlformats.org/officeDocument/2006/relationships/slide" Target="/ppt/slides/slide13.xml" Id="R01249e06e3644087" /><Relationship Type="http://schemas.openxmlformats.org/officeDocument/2006/relationships/slide" Target="/ppt/slides/slide14.xml" Id="Rebe9ae9f12694a6f" /><Relationship Type="http://schemas.openxmlformats.org/officeDocument/2006/relationships/slide" Target="/ppt/slides/slide15.xml" Id="Ra67d73a1898c4a9b" /><Relationship Type="http://schemas.openxmlformats.org/officeDocument/2006/relationships/slide" Target="/ppt/slides/slide16.xml" Id="Rb2587c69e2fe47db" /><Relationship Type="http://schemas.openxmlformats.org/officeDocument/2006/relationships/slide" Target="/ppt/slides/slide17.xml" Id="Ra8ec9fa506154abc" /><Relationship Type="http://schemas.openxmlformats.org/officeDocument/2006/relationships/slide" Target="/ppt/slides/slide18.xml" Id="Rc893c91e479d42c8" /><Relationship Type="http://schemas.openxmlformats.org/officeDocument/2006/relationships/slide" Target="/ppt/slides/slide19.xml" Id="Rdbdfa489b09e450f" /><Relationship Type="http://schemas.openxmlformats.org/officeDocument/2006/relationships/slide" Target="/ppt/slides/slide20.xml" Id="R561678df73f444a6" /><Relationship Type="http://schemas.openxmlformats.org/officeDocument/2006/relationships/slide" Target="/ppt/slides/slide21.xml" Id="Rcc0204127ec448a5" /><Relationship Type="http://schemas.openxmlformats.org/officeDocument/2006/relationships/slide" Target="/ppt/slides/slide22.xml" Id="R19eec032986d40df" /><Relationship Type="http://schemas.openxmlformats.org/officeDocument/2006/relationships/slide" Target="/ppt/slides/slide23.xml" Id="Rb5e188337a6944a7" /><Relationship Type="http://schemas.openxmlformats.org/officeDocument/2006/relationships/slide" Target="/ppt/slides/slide24.xml" Id="R883cff80100c426a" /><Relationship Type="http://schemas.openxmlformats.org/officeDocument/2006/relationships/slide" Target="/ppt/slides/slide25.xml" Id="R1e9a3928155f432b" /><Relationship Type="http://schemas.openxmlformats.org/officeDocument/2006/relationships/slide" Target="/ppt/slides/slide26.xml" Id="R6254d8b845a5483a" /><Relationship Type="http://schemas.openxmlformats.org/officeDocument/2006/relationships/slide" Target="/ppt/slides/slide27.xml" Id="R498c35b999884840" /><Relationship Type="http://schemas.openxmlformats.org/officeDocument/2006/relationships/slide" Target="/ppt/slides/slide28.xml" Id="Rb7ebc3f746da4021" /><Relationship Type="http://schemas.openxmlformats.org/officeDocument/2006/relationships/slide" Target="/ppt/slides/slide29.xml" Id="R0a4dffbe0d764565" /><Relationship Type="http://schemas.openxmlformats.org/officeDocument/2006/relationships/slide" Target="/ppt/slides/slide30.xml" Id="R464f6f1c8cfa4eab" /><Relationship Type="http://schemas.openxmlformats.org/officeDocument/2006/relationships/slide" Target="/ppt/slides/slide31.xml" Id="Raeb3dcd82ef643a4" /><Relationship Type="http://schemas.openxmlformats.org/officeDocument/2006/relationships/slide" Target="/ppt/slides/slide32.xml" Id="R31679c4a58dc4494" /><Relationship Type="http://schemas.openxmlformats.org/officeDocument/2006/relationships/slide" Target="/ppt/slides/slide33.xml" Id="R5962691b15f34b30" /><Relationship Type="http://schemas.openxmlformats.org/officeDocument/2006/relationships/slide" Target="/ppt/slides/slide34.xml" Id="Rcd1143c0a22f465b" /><Relationship Type="http://schemas.openxmlformats.org/officeDocument/2006/relationships/slide" Target="/ppt/slides/slide35.xml" Id="Rc846daa4e4d04bca" /><Relationship Type="http://schemas.openxmlformats.org/officeDocument/2006/relationships/slide" Target="/ppt/slides/slide36.xml" Id="R431767e42caf4c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925643964c4e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edf70baa4e4904" /><Relationship Type="http://schemas.openxmlformats.org/officeDocument/2006/relationships/notesMaster" Target="/ppt/notesMasters/notesMaster1.xml" Id="Rd559b3c168d640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a4bbeff70b481d" /><Relationship Type="http://schemas.openxmlformats.org/officeDocument/2006/relationships/notesMaster" Target="/ppt/notesMasters/notesMaster1.xml" Id="Rb083e66725dc47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cb31d0bd9f4662" /><Relationship Type="http://schemas.openxmlformats.org/officeDocument/2006/relationships/notesMaster" Target="/ppt/notesMasters/notesMaster1.xml" Id="R04191ebc4c8f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28735fcb8d45ee" /><Relationship Type="http://schemas.openxmlformats.org/officeDocument/2006/relationships/notesMaster" Target="/ppt/notesMasters/notesMaster1.xml" Id="Race7c555d40c40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25e4593523440c" /><Relationship Type="http://schemas.openxmlformats.org/officeDocument/2006/relationships/notesMaster" Target="/ppt/notesMasters/notesMaster1.xml" Id="Rfd9b225edf3347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5bdbdc992c4b8c" /><Relationship Type="http://schemas.openxmlformats.org/officeDocument/2006/relationships/notesMaster" Target="/ppt/notesMasters/notesMaster1.xml" Id="R3d5617d62e3a45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dec1587b1943c5" /><Relationship Type="http://schemas.openxmlformats.org/officeDocument/2006/relationships/notesMaster" Target="/ppt/notesMasters/notesMaster1.xml" Id="Rb1a86995d73040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afa4fd8d2a4466" /><Relationship Type="http://schemas.openxmlformats.org/officeDocument/2006/relationships/notesMaster" Target="/ppt/notesMasters/notesMaster1.xml" Id="Rcd3e82957b4a41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d279f8b99f46fc" /><Relationship Type="http://schemas.openxmlformats.org/officeDocument/2006/relationships/notesMaster" Target="/ppt/notesMasters/notesMaster1.xml" Id="R1f7ce31fb3d04f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308ecbbb1b4b34" /><Relationship Type="http://schemas.openxmlformats.org/officeDocument/2006/relationships/notesMaster" Target="/ppt/notesMasters/notesMaster1.xml" Id="R007f521a5e594d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143bf6aad04ee6" /><Relationship Type="http://schemas.openxmlformats.org/officeDocument/2006/relationships/notesMaster" Target="/ppt/notesMasters/notesMaster1.xml" Id="R9b1c271943524d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84b28d696f4723" /><Relationship Type="http://schemas.openxmlformats.org/officeDocument/2006/relationships/notesMaster" Target="/ppt/notesMasters/notesMaster1.xml" Id="R72979a8c45234d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7a030e35004d51" /><Relationship Type="http://schemas.openxmlformats.org/officeDocument/2006/relationships/notesMaster" Target="/ppt/notesMasters/notesMaster1.xml" Id="Rbab33c121e6944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5b0400bfb64501" /><Relationship Type="http://schemas.openxmlformats.org/officeDocument/2006/relationships/notesMaster" Target="/ppt/notesMasters/notesMaster1.xml" Id="R57f9ba13769946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4a25272579447e" /><Relationship Type="http://schemas.openxmlformats.org/officeDocument/2006/relationships/notesMaster" Target="/ppt/notesMasters/notesMaster1.xml" Id="R66f83cc44b7645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0ebfd26f21470a" /><Relationship Type="http://schemas.openxmlformats.org/officeDocument/2006/relationships/notesMaster" Target="/ppt/notesMasters/notesMaster1.xml" Id="R447889dc1b0540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751469bae1405c" /><Relationship Type="http://schemas.openxmlformats.org/officeDocument/2006/relationships/notesMaster" Target="/ppt/notesMasters/notesMaster1.xml" Id="R9b2a592eb27443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7f4280eb914263" /><Relationship Type="http://schemas.openxmlformats.org/officeDocument/2006/relationships/notesMaster" Target="/ppt/notesMasters/notesMaster1.xml" Id="R808f2b1eeae84d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1b95a1166a4b63" /><Relationship Type="http://schemas.openxmlformats.org/officeDocument/2006/relationships/notesMaster" Target="/ppt/notesMasters/notesMaster1.xml" Id="R058340df466245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f0dfe8822a4cbf" /><Relationship Type="http://schemas.openxmlformats.org/officeDocument/2006/relationships/notesMaster" Target="/ppt/notesMasters/notesMaster1.xml" Id="R10f80278530f4d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435a00d30574936" /><Relationship Type="http://schemas.openxmlformats.org/officeDocument/2006/relationships/notesMaster" Target="/ppt/notesMasters/notesMaster1.xml" Id="R006bf9787bcd45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eca5212676495e" /><Relationship Type="http://schemas.openxmlformats.org/officeDocument/2006/relationships/notesMaster" Target="/ppt/notesMasters/notesMaster1.xml" Id="Rbd0d23e6790e4c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a411e9c6364bfb" /><Relationship Type="http://schemas.openxmlformats.org/officeDocument/2006/relationships/notesMaster" Target="/ppt/notesMasters/notesMaster1.xml" Id="R75f4fa0f5f9b463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66dfe45e3e64a0b" /><Relationship Type="http://schemas.openxmlformats.org/officeDocument/2006/relationships/notesMaster" Target="/ppt/notesMasters/notesMaster1.xml" Id="R15a52879771f41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4c3a5b2ffa410c" /><Relationship Type="http://schemas.openxmlformats.org/officeDocument/2006/relationships/notesMaster" Target="/ppt/notesMasters/notesMaster1.xml" Id="R487ddaded13247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2881534d4e14ebf" /><Relationship Type="http://schemas.openxmlformats.org/officeDocument/2006/relationships/notesMaster" Target="/ppt/notesMasters/notesMaster1.xml" Id="R0b556444f72044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9dcf85d82040a5" /><Relationship Type="http://schemas.openxmlformats.org/officeDocument/2006/relationships/notesMaster" Target="/ppt/notesMasters/notesMaster1.xml" Id="R168e55aae50f48d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cc3d79b92564a75" /><Relationship Type="http://schemas.openxmlformats.org/officeDocument/2006/relationships/notesMaster" Target="/ppt/notesMasters/notesMaster1.xml" Id="Rc269ec26cbfc45c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be7c23715084cc8" /><Relationship Type="http://schemas.openxmlformats.org/officeDocument/2006/relationships/notesMaster" Target="/ppt/notesMasters/notesMaster1.xml" Id="Rfdce648d5caf491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4b622951f9b4f18" /><Relationship Type="http://schemas.openxmlformats.org/officeDocument/2006/relationships/notesMaster" Target="/ppt/notesMasters/notesMaster1.xml" Id="R46dd9dcf7615463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972586886004730" /><Relationship Type="http://schemas.openxmlformats.org/officeDocument/2006/relationships/notesMaster" Target="/ppt/notesMasters/notesMaster1.xml" Id="R50a92a0ba7e84f6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b6a6eda78c94763" /><Relationship Type="http://schemas.openxmlformats.org/officeDocument/2006/relationships/notesMaster" Target="/ppt/notesMasters/notesMaster1.xml" Id="Rd350bc63dc13483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f72cf969bcb4e6b" /><Relationship Type="http://schemas.openxmlformats.org/officeDocument/2006/relationships/notesMaster" Target="/ppt/notesMasters/notesMaster1.xml" Id="R9c7c7862e35f486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c32263433f44a71" /><Relationship Type="http://schemas.openxmlformats.org/officeDocument/2006/relationships/notesMaster" Target="/ppt/notesMasters/notesMaster1.xml" Id="Re3314cf9a8384cb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c6fd57e38d34c8d" /><Relationship Type="http://schemas.openxmlformats.org/officeDocument/2006/relationships/notesMaster" Target="/ppt/notesMasters/notesMaster1.xml" Id="Rffdaf375abca49f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7b35c023ead4411" /><Relationship Type="http://schemas.openxmlformats.org/officeDocument/2006/relationships/notesMaster" Target="/ppt/notesMasters/notesMaster1.xml" Id="R1c32a0ef8b284f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00:00–00:02</a:t>
            </a:r>
          </a:p>
          <a:p xmlns:a="http://schemas.openxmlformats.org/drawingml/2006/main">
            <a:r>
              <a:t>Kafka·Spark·Docker 등 정규 과정을 들은 학생 대상. 기존 기술을 실제 수집 경로에 연결하고 새 CDC·Flink·Iceberg의 역할을 이해한다.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00:02–00:04</a:t>
            </a:r>
          </a:p>
          <a:p xmlns:a="http://schemas.openxmlformats.org/drawingml/2006/main">
            <a:r>
              <a:t>제출물은 student-worksheet.sql과 submission.md. 데이터 활용 목적은 적되 지표 계산과 마트 모델링은 후속 회차로 넘긴다.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00:04–00:05</a:t>
            </a:r>
          </a:p>
          <a:p xmlns:a="http://schemas.openxmlformats.org/drawingml/2006/main">
            <a:r>
              <a:t>시간 합계120분. 준비는 수업 전별도. 개인 설계25분확보.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00:05–00:08</a:t>
            </a:r>
          </a:p>
          <a:p xmlns:a="http://schemas.openxmlformats.org/drawingml/2006/main">
            <a:r>
              <a:t>학생 답을 받는다. 필요한 증거는 실제 원천행과 Kafka메시지, Bronze동일이벤트다. 상태표시와 결과의차이를설명한다.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00:08–00:10</a:t>
            </a:r>
          </a:p>
          <a:p xmlns:a="http://schemas.openxmlformats.org/drawingml/2006/main">
            <a:r>
              <a:t>환불금액20000에서30000수정후삭제. 전체정합성,exactly-once,장애복구는이후회차실험. 오늘은한합성키의세변경을검증한다.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00:10–00:17</a:t>
            </a:r>
          </a:p>
          <a:p xmlns:a="http://schemas.openxmlformats.org/drawingml/2006/main">
            <a:r>
              <a:t>7분. 전체 경로를 설명하되 오늘 범위는 PostgreSQL부터 Bronze까지. Flink는 append 이력, Spark는 Silver현재상태, dbt는 Spark실행용모델·테스트. 그림의금액은후속마트예시.</a:t>
            </a:r>
          </a:p>
          <a:p xmlns:a="http://schemas.openxmlformats.org/drawingml/2006/main">
            <a:r>
              <a:t>원본 그림: docs/diagrams/01-data-flow.drawio. 그림은 전체 프로젝트이며 오늘은 Bronze 수집 검증이 중심이다.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00:10–00:17</a:t>
            </a:r>
          </a:p>
          <a:p xmlns:a="http://schemas.openxmlformats.org/drawingml/2006/main">
            <a:r>
              <a:t>아키텍처1의 같은7분안에사용. 학생에게Flink의입력과출력을말하게한다. Kafka메시지key는수집원본에서관찰하지만기존Bronze테이블은key컬럼대신payload의PK와수집위치를보관한다.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00:17–00:23</a:t>
            </a:r>
          </a:p>
          <a:p xmlns:a="http://schemas.openxmlformats.org/drawingml/2006/main">
            <a:r>
              <a:t>6분. MinIO 실제파일, JDBC Catalog 현재metadata파일위치, Flink상태영속볼륨구분. 실습은S3호환MinIO이며AWS S3클라우드에적재한다고설명하지않는다.</a:t>
            </a:r>
          </a:p>
          <a:p xmlns:a="http://schemas.openxmlformats.org/drawingml/2006/main">
            <a:r>
              <a:t>원본 그림: docs/diagrams/02-storage-metadata.drawio. 그림은 전체 프로젝트이며 오늘은 Bronze 수집 검증이 중심이다.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00:23–00:27</a:t>
            </a:r>
          </a:p>
          <a:p xmlns:a="http://schemas.openxmlformats.org/drawingml/2006/main">
            <a:r>
              <a:t>4분. 맥미니macOS와LimaLinuxVM은같은장비. Docker실행서비스와영속볼륨. 학생SSH불필요. Airflow중지, SilverGold후속단계.</a:t>
            </a:r>
          </a:p>
          <a:p xmlns:a="http://schemas.openxmlformats.org/drawingml/2006/main">
            <a:r>
              <a:t>원본 그림: docs/diagrams/03-runtime.drawio. 그림은 전체 프로젝트이며 오늘은 Bronze 수집 검증이 중심이다.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00:27–00:30</a:t>
            </a:r>
          </a:p>
          <a:p xmlns:a="http://schemas.openxmlformats.org/drawingml/2006/main">
            <a:r>
              <a:t>3분질문. Bronze3행이중복이라고바로판정하지않는다. Silver현재상태구현은후속회차.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00:30–00:35</a:t>
            </a:r>
          </a:p>
          <a:p xmlns:a="http://schemas.openxmlformats.org/drawingml/2006/main">
            <a:r>
              <a:t>5분. orders와payments준비, refunds같은키핵심. FK연결확인. PK변경시복잡한이벤트는후속회차이고오늘은키유지.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00:35–00:39</a:t>
            </a:r>
          </a:p>
          <a:p xmlns:a="http://schemas.openxmlformats.org/drawingml/2006/main">
            <a:r>
              <a:t>학생은준비주문·결제INSERT를worksheet에서확인한뒤FK를맞춤. 자기키로수정. 강사전용CASE_ID와학생파일ID구분.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00:39–00:42</a:t>
            </a:r>
          </a:p>
          <a:p xmlns:a="http://schemas.openxmlformats.org/drawingml/2006/main">
            <a:r>
              <a:t>3분작성. UPDATE한행30000,DELETE0행. WHERE없는전체수정방지. 물리삭제와status변경논리삭제구분.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00:42–00:45</a:t>
            </a:r>
          </a:p>
          <a:p xmlns:a="http://schemas.openxmlformats.org/drawingml/2006/main">
            <a:r>
              <a:t>3분답안확인. 예제REPLICA IDENTITY FULL로이전amount제공. 다른설정에서before필드달라질수있음. 참고 https://debezium.io/documentation/reference/stable/connectors/postgresql.html#postgresql-events.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00:45–00:48</a:t>
            </a:r>
          </a:p>
          <a:p xmlns:a="http://schemas.openxmlformats.org/drawingml/2006/main">
            <a:r>
              <a:t>3분. payment,waitpayment. 기존namespace재사용시PK충돌이므로새값. 사전서버시작·preflight는이미완료.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00:48–00:55</a:t>
            </a:r>
          </a:p>
          <a:p xmlns:a="http://schemas.openxmlformats.org/drawingml/2006/main">
            <a:r>
              <a:t>7분. refund → source-rows → kafka → wait --event refund → collect-check --stage insert --evidence. 학생관찰표첫행. Kafka가아직없으면짧게재조회. refresh하지않는다.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00:48–00:55</a:t>
            </a:r>
          </a:p>
          <a:p xmlns:a="http://schemas.openxmlformats.org/drawingml/2006/main">
            <a:r>
              <a:t>같은INSERT7분구간안에사용. 예시는완전한Debeziumpayload나실제LSN타입이아니며설명용발췌. source.lsn실제형식숫자,단독고유이벤트ID가정금지. 전체이벤트엔payment_id,status,metadata등포함.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00:55–01:02</a:t>
            </a:r>
          </a:p>
          <a:p xmlns:a="http://schemas.openxmlformats.org/drawingml/2006/main">
            <a:r>
              <a:t>7분. correction → source-rows → kafka → waitcorrection → collect-check --stage update --evidence. 새환불추가아닌같은행수정.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01:02–01:10</a:t>
            </a:r>
          </a:p>
          <a:p xmlns:a="http://schemas.openxmlformats.org/drawingml/2006/main">
            <a:r>
              <a:t>8분. delete → source-rows → kafka → waitdelete → collect-check --stage delete --evidence. 학생관찰표마지막행. 원천0행이어도Bronze3이벤트. nulltombstone과op=d구분.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01:02–01:10</a:t>
            </a:r>
          </a:p>
          <a:p xmlns:a="http://schemas.openxmlformats.org/drawingml/2006/main">
            <a:r>
              <a:t>DELETE같은8분에사용. Kafka전체메시지와Bronze행수같다고검사금지. FlinkpayloadISNOTNULL. source공식Debezium문서 https://debezium.io/documentation/reference/stable/connectors/postgresql.html#postgresql-events.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01:10–01:15</a:t>
            </a:r>
          </a:p>
          <a:p xmlns:a="http://schemas.openxmlformats.org/drawingml/2006/main">
            <a:r>
              <a:t>휴식포함총120분. 다음핵심은누락중복판정.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01:15–01:20</a:t>
            </a:r>
          </a:p>
          <a:p xmlns:a="http://schemas.openxmlformats.org/drawingml/2006/main">
            <a:r>
              <a:t>5분. source.lsn단독eventid아님. collect-checkchecks에서각cudidentity와bronze_copies확인. 오늘한키만검증했다는한계.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01:20–01:23</a:t>
            </a:r>
          </a:p>
          <a:p xmlns:a="http://schemas.openxmlformats.org/drawingml/2006/main">
            <a:r>
              <a:t>3분판단질문. 강제재전송과복구실험은후속회차. 반복내용만보고버리지않고원천키버전위치기록.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01:23–01:25</a:t>
            </a:r>
          </a:p>
          <a:p xmlns:a="http://schemas.openxmlformats.org/drawingml/2006/main">
            <a:r>
              <a:t>2분조사순서. Catalog·MinIO접근도sink단계에포함. 수집기무조건재시작않음.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01:25–01:30</a:t>
            </a:r>
          </a:p>
          <a:p xmlns:a="http://schemas.openxmlformats.org/drawingml/2006/main">
            <a:r>
              <a:t>5분기록. kafka_ts Kafka recordtimestamp, ingested_atFlink처리. 차이만으로sourcecommit부터sinkcommit전체지연주장금지. 폴링과조회간격한계. 정확commit시각모르면빈칸.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01:30–01:32</a:t>
            </a:r>
          </a:p>
          <a:p xmlns:a="http://schemas.openxmlformats.org/drawingml/2006/main">
            <a:r>
              <a:t>학생작성25분중첫5분범위정의안내에포함. 강사피드백동시. 8회후별도발표이지오늘발표아님.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01:32–01:35</a:t>
            </a:r>
          </a:p>
          <a:p xmlns:a="http://schemas.openxmlformats.org/drawingml/2006/main">
            <a:r>
              <a:t>개인범위정의5분중나머지3분. 개인정보범위는해당컬럼포함여부설계정도. 목표지연은요구사항미정값구분. 이력보존필요기간초안.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01:35–01:39</a:t>
            </a:r>
          </a:p>
          <a:p xmlns:a="http://schemas.openxmlformats.org/drawingml/2006/main">
            <a:r>
              <a:t>관계·경로8분의첫4분. reservations/shipments/subscriptions등자기주제.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01:39–01:43</a:t>
            </a:r>
          </a:p>
          <a:p xmlns:a="http://schemas.openxmlformats.org/drawingml/2006/main">
            <a:r>
              <a:t>8분의나머지4분. architecture.md템플릿사용. publication/include list/topicpattern맞춰야하며신규DDL자동수집아님. 미확정설정질문으로남김.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01:43–01:47</a:t>
            </a:r>
          </a:p>
          <a:p xmlns:a="http://schemas.openxmlformats.org/drawingml/2006/main">
            <a:r>
              <a:t>DDL·변경테스트7분중4분. status논리삭제는UPDATE,실제DELETE구분. 고객참조관계설계서기록. 이테이블DDL만으로connector연결되지않음.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01:47–01:50</a:t>
            </a:r>
          </a:p>
          <a:p xmlns:a="http://schemas.openxmlformats.org/drawingml/2006/main">
            <a:r>
              <a:t>7분중나머지3분. DML대상PK정확. 실제실행안한부분은기대값으로표시. 서버연결은후속회차.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01:50–01:55</a:t>
            </a:r>
          </a:p>
          <a:p xmlns:a="http://schemas.openxmlformats.org/drawingml/2006/main">
            <a:r>
              <a:t>마지막5분. 설계1–2개짧게피드백하며작성계속. 구현보장말고테스트할기준확정.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01:55–02:00</a:t>
            </a:r>
          </a:p>
          <a:p xmlns:a="http://schemas.openxmlformats.org/drawingml/2006/main">
            <a:r>
              <a:t>제출student-worksheet.sql과submission.md. 다음회차까지나머지DDL/DML과기대이벤트완성. 프로젝트발표는8회스터디후별도일정.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수업 전</a:t>
            </a:r>
          </a:p>
          <a:p xmlns:a="http://schemas.openxmlformats.org/drawingml/2006/main">
            <a:r>
              <a:t>sshmini,cd프로젝트. bootstrap준비pipeline실행있음. 핵심시연수집엔refresh안씀. VM최소2GiB권장5GiB. 정상종료scripts/stop.sh savepoint보존. 장애5분이상기록으로전환하고기록임명시.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강사 참고</a:t>
            </a:r>
          </a:p>
          <a:p xmlns:a="http://schemas.openxmlformats.org/drawingml/2006/main">
            <a:r>
              <a:t>사전CASE_ID새값,payment,waitpayment. 위refund동작·waitevent·stage를각단계에맞게대체. 상세runbook.md. Kafka읽기전용groupNone자동commit비활성,기존Flinkoffset변경없음.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시간: 강사 참고</a:t>
            </a:r>
          </a:p>
          <a:p xmlns:a="http://schemas.openxmlformats.org/drawingml/2006/main">
            <a:r>
              <a:t>실습helpersbronze조회실제. SELECT는읽기조회이며SparkSilver변환과다름. DELETE는beforePK를써야조회에서누락안됨. 마트집계SQL과분리.</a:t>
            </a:r>
          </a:p>
          <a:p xmlns:a="http://schemas.openxmlformats.org/drawingml/2006/main">
            <a:r>
              <a:t>자료: labs/session01/instructor-guide.md, student-guide.md, runbook.md. 화면의 시간은 수업 시작 후 경과 시간입니다.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7e0e316ed43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2676536144e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ade93dc8b4b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7597612784b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404ea9b894f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1511b044940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DAEE75-77AB-4086-AF47-EF401BCBF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9DF394-2348-4DCA-B9F7-B9BCA0928D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DABE49-B280-40A8-BB70-AE2AC9CFF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74975A-BE6A-4303-AA38-5B54761BD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D12623-A29B-48A9-A790-B81A6402A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7B272D-8FAB-418B-AB1A-61A2E820E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A10DE2-47E5-4531-9E88-DEF9FEC6C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BA7E89-B67B-43D5-80C4-225C87349A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52FBC4-E555-4475-B97B-567BC1339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97D390-0A45-40FB-9CAF-C1E567816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20565f8370430a" /><Relationship Type="http://schemas.openxmlformats.org/officeDocument/2006/relationships/slideLayout" Target="/ppt/slideLayouts/slideLayout1.xml" Id="R274f748583e340c6" /><Relationship Type="http://schemas.openxmlformats.org/officeDocument/2006/relationships/slideLayout" Target="/ppt/slideLayouts/slideLayout2.xml" Id="R47573dfe0eaf4026" /><Relationship Type="http://schemas.openxmlformats.org/officeDocument/2006/relationships/slideLayout" Target="/ppt/slideLayouts/slideLayout3.xml" Id="Rb56e0c4f56f045d1" /><Relationship Type="http://schemas.openxmlformats.org/officeDocument/2006/relationships/slideLayout" Target="/ppt/slideLayouts/slideLayout4.xml" Id="R2ab596ffd3344a07" /><Relationship Type="http://schemas.openxmlformats.org/officeDocument/2006/relationships/slideLayout" Target="/ppt/slideLayouts/slideLayout5.xml" Id="R529c02a21f2e414c" /><Relationship Type="http://schemas.openxmlformats.org/officeDocument/2006/relationships/slideLayout" Target="/ppt/slideLayouts/slideLayout6.xml" Id="R02e2c82394e945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4f748583e340c6"/>
    <p:sldLayoutId xmlns:r="http://schemas.openxmlformats.org/officeDocument/2006/relationships" id="2147483650" r:id="R47573dfe0eaf4026"/>
    <p:sldLayoutId xmlns:r="http://schemas.openxmlformats.org/officeDocument/2006/relationships" id="2147483651" r:id="Rb56e0c4f56f045d1"/>
    <p:sldLayoutId xmlns:r="http://schemas.openxmlformats.org/officeDocument/2006/relationships" id="2147483652" r:id="R2ab596ffd3344a07"/>
    <p:sldLayoutId xmlns:r="http://schemas.openxmlformats.org/officeDocument/2006/relationships" id="2147483653" r:id="R529c02a21f2e414c"/>
    <p:sldLayoutId xmlns:r="http://schemas.openxmlformats.org/officeDocument/2006/relationships" id="2147483654" r:id="R02e2c82394e945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b2fab9bae4307" /><Relationship Type="http://schemas.openxmlformats.org/officeDocument/2006/relationships/notesSlide" Target="/ppt/notesSlides/notesSlide1.xml" Id="R23039993f404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eb9a4bc954cff" /><Relationship Type="http://schemas.openxmlformats.org/officeDocument/2006/relationships/notesSlide" Target="/ppt/notesSlides/notesSlide2.xml" Id="R0e56cfc919d4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54d3b801041da" /><Relationship Type="http://schemas.openxmlformats.org/officeDocument/2006/relationships/notesSlide" Target="/ppt/notesSlides/notesSlide3.xml" Id="R036666a1aa37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42985ab814ebc" /><Relationship Type="http://schemas.openxmlformats.org/officeDocument/2006/relationships/notesSlide" Target="/ppt/notesSlides/notesSlide4.xml" Id="Re2352e42fcf34c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244aea65a44a1" /><Relationship Type="http://schemas.openxmlformats.org/officeDocument/2006/relationships/notesSlide" Target="/ppt/notesSlides/notesSlide5.xml" Id="R1a075533e76140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e1b6a909040f9" /><Relationship Type="http://schemas.openxmlformats.org/officeDocument/2006/relationships/image" Target="/ppt/media/image.png" Id="R93859501420347b3" /><Relationship Type="http://schemas.openxmlformats.org/officeDocument/2006/relationships/notesSlide" Target="/ppt/notesSlides/notesSlide6.xml" Id="R864958b52c084e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d3218937d4777" /><Relationship Type="http://schemas.openxmlformats.org/officeDocument/2006/relationships/notesSlide" Target="/ppt/notesSlides/notesSlide7.xml" Id="R1502e2abed564a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16764d9a046c0" /><Relationship Type="http://schemas.openxmlformats.org/officeDocument/2006/relationships/image" Target="/ppt/media/image2.png" Id="R0b34e03c05ef43ff" /><Relationship Type="http://schemas.openxmlformats.org/officeDocument/2006/relationships/notesSlide" Target="/ppt/notesSlides/notesSlide8.xml" Id="Re9908db526fe41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9741fd9eb4949" /><Relationship Type="http://schemas.openxmlformats.org/officeDocument/2006/relationships/image" Target="/ppt/media/image3.png" Id="R78ec4066e9134f55" /><Relationship Type="http://schemas.openxmlformats.org/officeDocument/2006/relationships/notesSlide" Target="/ppt/notesSlides/notesSlide9.xml" Id="Rf70cb588e58b45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de4076b784b86" /><Relationship Type="http://schemas.openxmlformats.org/officeDocument/2006/relationships/notesSlide" Target="/ppt/notesSlides/notesSlide10.xml" Id="Ra3265a2f51d542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f8dde97434bef" /><Relationship Type="http://schemas.openxmlformats.org/officeDocument/2006/relationships/notesSlide" Target="/ppt/notesSlides/notesSlide11.xml" Id="Rb5c2597c9f5145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5c0e6ee694ba6" /><Relationship Type="http://schemas.openxmlformats.org/officeDocument/2006/relationships/notesSlide" Target="/ppt/notesSlides/notesSlide12.xml" Id="R7d742e863e7248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ff214cb2f49b9" /><Relationship Type="http://schemas.openxmlformats.org/officeDocument/2006/relationships/notesSlide" Target="/ppt/notesSlides/notesSlide13.xml" Id="R6db526e1df4e41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823af08084df0" /><Relationship Type="http://schemas.openxmlformats.org/officeDocument/2006/relationships/notesSlide" Target="/ppt/notesSlides/notesSlide14.xml" Id="R038534c5fcc045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ad76eef934a6b" /><Relationship Type="http://schemas.openxmlformats.org/officeDocument/2006/relationships/notesSlide" Target="/ppt/notesSlides/notesSlide15.xml" Id="R444ddf15be864f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97e24924341b0" /><Relationship Type="http://schemas.openxmlformats.org/officeDocument/2006/relationships/notesSlide" Target="/ppt/notesSlides/notesSlide16.xml" Id="R7834f20fb25d4d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259724b294bb1" /><Relationship Type="http://schemas.openxmlformats.org/officeDocument/2006/relationships/notesSlide" Target="/ppt/notesSlides/notesSlide17.xml" Id="R947515505f424f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392783b9647c0" /><Relationship Type="http://schemas.openxmlformats.org/officeDocument/2006/relationships/notesSlide" Target="/ppt/notesSlides/notesSlide18.xml" Id="Ra2d78540bfa046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5eb7aa6c44115" /><Relationship Type="http://schemas.openxmlformats.org/officeDocument/2006/relationships/notesSlide" Target="/ppt/notesSlides/notesSlide19.xml" Id="R230417d6d5c148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27d5d10b8471b" /><Relationship Type="http://schemas.openxmlformats.org/officeDocument/2006/relationships/notesSlide" Target="/ppt/notesSlides/notesSlide20.xml" Id="Re662177545b646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0edbd6cea4293" /><Relationship Type="http://schemas.openxmlformats.org/officeDocument/2006/relationships/notesSlide" Target="/ppt/notesSlides/notesSlide21.xml" Id="R975fd6894b0d4b3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b08dfb5fa4a84" /><Relationship Type="http://schemas.openxmlformats.org/officeDocument/2006/relationships/notesSlide" Target="/ppt/notesSlides/notesSlide22.xml" Id="R29cabea13def4d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9ece8ca11547f0" /><Relationship Type="http://schemas.openxmlformats.org/officeDocument/2006/relationships/notesSlide" Target="/ppt/notesSlides/notesSlide23.xml" Id="R6bde68cc680f481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ade0c39694058" /><Relationship Type="http://schemas.openxmlformats.org/officeDocument/2006/relationships/notesSlide" Target="/ppt/notesSlides/notesSlide24.xml" Id="R8ee0fab0d6144d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09b03a05044cd" /><Relationship Type="http://schemas.openxmlformats.org/officeDocument/2006/relationships/notesSlide" Target="/ppt/notesSlides/notesSlide25.xml" Id="R824de403ec974de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0f436d45648a1" /><Relationship Type="http://schemas.openxmlformats.org/officeDocument/2006/relationships/notesSlide" Target="/ppt/notesSlides/notesSlide26.xml" Id="R80d7590e47144fc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a053a8b8f4f30" /><Relationship Type="http://schemas.openxmlformats.org/officeDocument/2006/relationships/notesSlide" Target="/ppt/notesSlides/notesSlide27.xml" Id="R7be34872634e411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22e8263a244e1" /><Relationship Type="http://schemas.openxmlformats.org/officeDocument/2006/relationships/notesSlide" Target="/ppt/notesSlides/notesSlide28.xml" Id="R8338c182b3f64d8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3efb1e1aa42e9" /><Relationship Type="http://schemas.openxmlformats.org/officeDocument/2006/relationships/notesSlide" Target="/ppt/notesSlides/notesSlide29.xml" Id="R6d6af4908ae64e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1098f82bf47b3" /><Relationship Type="http://schemas.openxmlformats.org/officeDocument/2006/relationships/notesSlide" Target="/ppt/notesSlides/notesSlide30.xml" Id="R222a3ed71b9c4df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607200464a1a" /><Relationship Type="http://schemas.openxmlformats.org/officeDocument/2006/relationships/notesSlide" Target="/ppt/notesSlides/notesSlide31.xml" Id="Redaa452c53154a4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c797952eb4e91" /><Relationship Type="http://schemas.openxmlformats.org/officeDocument/2006/relationships/notesSlide" Target="/ppt/notesSlides/notesSlide32.xml" Id="R405f803dee7046b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97ba7782c4ef7" /><Relationship Type="http://schemas.openxmlformats.org/officeDocument/2006/relationships/notesSlide" Target="/ppt/notesSlides/notesSlide33.xml" Id="Ra2c1ab4089c64a7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daa6925e74bf2" /><Relationship Type="http://schemas.openxmlformats.org/officeDocument/2006/relationships/notesSlide" Target="/ppt/notesSlides/notesSlide34.xml" Id="R34bd9f9d2670452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fa10911c74571" /><Relationship Type="http://schemas.openxmlformats.org/officeDocument/2006/relationships/notesSlide" Target="/ppt/notesSlides/notesSlide35.xml" Id="Rc42c3a3a17754bb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13a267c394b68" /><Relationship Type="http://schemas.openxmlformats.org/officeDocument/2006/relationships/notesSlide" Target="/ppt/notesSlides/notesSlide36.xml" Id="R54efce1f49bf47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387B1-F324-415E-A970-42D14885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변경 데이터 수집과 파이프라인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33029-5101-499E-85FA-00C27B69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00:00–00:02   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6E6A6-4F46-412A-8EA2-087A4ED2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1회차 실무 프로젝트 스터디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3F54E-CAAA-4958-9A2E-14434147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PostgreSQL의 변경을 Kafka와 Iceberg에서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6B839-1FD2-4D1A-9361-428E096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맥미니 시연 / 학생 SQL·설계서 작성</a:t>
            </a:r>
          </a:p>
        </p:txBody>
      </p:sp>
    </p:spTree>
    <p:extLst>
      <p:ext uri="{BB962C8B-B14F-4D97-AF65-F5344CB8AC3E}">
        <p14:creationId xmlns:p14="http://schemas.microsoft.com/office/powerpoint/2010/main" val="1517587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311BB-3D64-47CC-BD3F-8B91E8B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오늘의 결과물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A3B27-D631-4AC1-BAE2-96C9AE7C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00:02–00:04  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D8436-266B-4E2B-B253-10554D90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원천·Kafka·Bronze의 변경 이벤트 대조표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ED014-2E41-4D5B-8074-EDC5039C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내 프로젝트의 원천 명세와 파이프라인 초안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0F972-A8A6-4AF6-8BC3-87EB417F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DDL 하나와 입력·수정·삭제 검증 계획</a:t>
            </a:r>
          </a:p>
        </p:txBody>
      </p:sp>
    </p:spTree>
    <p:extLst>
      <p:ext uri="{BB962C8B-B14F-4D97-AF65-F5344CB8AC3E}">
        <p14:creationId xmlns:p14="http://schemas.microsoft.com/office/powerpoint/2010/main" val="907148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D3F5E-6AC0-4AED-9A6F-54E4C7F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120분 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C33C5-DD2E-49CA-AA7D-509B019C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00:04–00:05     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D4225-AA01-4187-B384-1DB09D101F7D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000500"/>
                <a:gridCol w="4781550"/>
              </a:tblGrid>
              <a:tr h="46566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내용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활동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00:00–00:10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목표와 요구사항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 근거 정리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00:10–00:30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아키텍처 세 장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책임과 경로 구분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00:30–00:45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모델과 변경 SQL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PK/FK·기대 이벤트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00:45–01:10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입력·수정·삭제 시연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원천/Kafka/Bronze 대조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01:10–01:15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휴식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01:15–01:30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검증과 지연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누락·중복·조사 구간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01:30–01:55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개인 파이프라인 설계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명세·경로·DDL·검증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01:55–02:00</a:t>
                      </a:r>
                    </a:p>
                  </a:txBody>
                  <a:tcPr marL="152400" marR="114300" marT="38100" marB="3810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점검과 제출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종료 질문·과제 확인</a:t>
                      </a:r>
                    </a:p>
                  </a:txBody>
                  <a:tcPr marL="152400" marR="114300" marT="38100" marB="3810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945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FCFF9-A28A-4A6B-BB92-C81AA31E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 성공의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D8693-55E5-46D7-8633-338EDBE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00:05–00:08   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5DF2C-98D7-4FC5-B7BA-1C0C36C2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PostgreSQL UPDATE는 성공했습니다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A63E7-A8AC-48B9-A587-08464604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Flink 작업도 RUNNING입니다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070B1-2847-4987-ACE4-35D3E36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이 변경이 Iceberg에 도착했는지 어떻게 확인할까요?</a:t>
            </a:r>
          </a:p>
        </p:txBody>
      </p:sp>
    </p:spTree>
    <p:extLst>
      <p:ext uri="{BB962C8B-B14F-4D97-AF65-F5344CB8AC3E}">
        <p14:creationId xmlns:p14="http://schemas.microsoft.com/office/powerpoint/2010/main" val="723017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21807-F66A-4025-8FDE-BF954B5B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이번 수업의 검증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D5D04-4980-45CD-8DEC-66B9F906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00:08–00:10   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24D42-5743-4F9B-BB40-E7290118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같은 refund_id에 INSERT·UPDATE·DELETE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8EE50-7911-4520-9DF3-3C2890B8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각 이벤트의 키와 변경 전후 값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00EAA-6965-4DB0-B37E-47020BF7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 위치와 Bronze 저장 기록 대조</a:t>
            </a:r>
          </a:p>
        </p:txBody>
      </p:sp>
    </p:spTree>
    <p:extLst>
      <p:ext uri="{BB962C8B-B14F-4D97-AF65-F5344CB8AC3E}">
        <p14:creationId xmlns:p14="http://schemas.microsoft.com/office/powerpoint/2010/main" val="206059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DF9BB-475F-4DC1-B087-DE98666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아키텍처 1. 데이터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F2101-800F-440C-B07D-0ADA817D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00:10–00:17     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0087C-84B3-479E-8A8A-A83643DC86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59501420347b3"/>
          <a:stretch xmlns:a="http://schemas.openxmlformats.org/drawingml/2006/main"/>
        </p:blipFill>
        <p:spPr>
          <a:xfrm xmlns:a="http://schemas.openxmlformats.org/drawingml/2006/main">
            <a:off x="857469" y="1428750"/>
            <a:ext cx="7257611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D94F4-5131-4FF1-994F-05B5627C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원천 변경을</a:t>
            </a:r>
          </a:p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Kafka로 전달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5C882-33E2-4FBB-AFB3-AE2BC26A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146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Flink가 Bronze에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원문·위치 적재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E46DA-324E-448E-90D0-F4695EF0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672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Spark·dbt는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후속 회차</a:t>
            </a:r>
          </a:p>
        </p:txBody>
      </p:sp>
    </p:spTree>
    <p:extLst>
      <p:ext uri="{BB962C8B-B14F-4D97-AF65-F5344CB8AC3E}">
        <p14:creationId xmlns:p14="http://schemas.microsoft.com/office/powerpoint/2010/main" val="87477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3B43B-C487-4325-B631-0A7B073F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구성 요소별 입력과 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02F0-0311-4CC9-981C-E7A1CDF4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00:10–00:17     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10BAC-A94B-41F9-B7C4-CE9FC3113860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57650"/>
                <a:gridCol w="40576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구성 요소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읽는 것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남기는 것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Debezium/Connect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초기 스냅샷·WAL 변경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테이블별 CDC 이벤트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이벤트 key와 원문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토픽·파티션·오프셋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Flink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 원문과 위치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Iceberg Bronze 기록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Iceberg Bronze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append CDC 이력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조회·재처리할 원문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5342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CFC29-5B7D-4F46-9E8A-68CE2A26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아키텍처 2. 저장소와 메타데이터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F3BF8-BA1A-48DD-B4D0-E2B178C8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00:17–00:23     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B2329-D0E6-4D2F-971B-43F408BF51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4e03c05ef43ff"/>
          <a:stretch xmlns:a="http://schemas.openxmlformats.org/drawingml/2006/main"/>
        </p:blipFill>
        <p:spPr>
          <a:xfrm xmlns:a="http://schemas.openxmlformats.org/drawingml/2006/main">
            <a:off x="1012329" y="1428750"/>
            <a:ext cx="6947892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0D595-E7C6-4A35-93CA-244F3B49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MinIO에 데이터와</a:t>
            </a:r>
          </a:p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metadata 파일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00306-1031-4E76-87BC-88CF9F57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146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Catalog에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테이블 위치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406FE-DEB6-446A-9B16-C1C9368D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672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checkpoint는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별도 복구 상태</a:t>
            </a:r>
          </a:p>
        </p:txBody>
      </p:sp>
    </p:spTree>
    <p:extLst>
      <p:ext uri="{BB962C8B-B14F-4D97-AF65-F5344CB8AC3E}">
        <p14:creationId xmlns:p14="http://schemas.microsoft.com/office/powerpoint/2010/main" val="5792022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48B51-7407-4A41-BA47-993439B7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아키텍처 3. 실행 환경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0BE64-3254-423B-BCE5-A0ECAED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00:23–00:27     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F70C8-B085-451E-A97A-0B681FE2BC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c4066e9134f55"/>
          <a:stretch xmlns:a="http://schemas.openxmlformats.org/drawingml/2006/main"/>
        </p:blipFill>
        <p:spPr>
          <a:xfrm xmlns:a="http://schemas.openxmlformats.org/drawingml/2006/main">
            <a:off x="1233107" y="1428750"/>
            <a:ext cx="6506336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6C646-0D1D-49A0-9DB6-1EE0AD5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강사 화면 공유와</a:t>
            </a:r>
          </a:p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맥미니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91157-B9C7-4B81-8998-3F3D92A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146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학생은 로컬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SQL·설계 작성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A7960-2CC3-4446-BAB7-8D548146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672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GitHub에</a:t>
            </a:r>
          </a:p>
          <a:p xmlns:a="http://schemas.openxmlformats.org/drawingml/2006/main">
            <a:pPr>
              <a:buNone/>
              <a:def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코드·가이드</a:t>
            </a:r>
          </a:p>
        </p:txBody>
      </p:sp>
    </p:spTree>
    <p:extLst>
      <p:ext uri="{BB962C8B-B14F-4D97-AF65-F5344CB8AC3E}">
        <p14:creationId xmlns:p14="http://schemas.microsoft.com/office/powerpoint/2010/main" val="1521143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F294F-8216-43BA-9B99-F753748A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Bronze 이력과 원천 현재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DF9E3-9CAB-4C2B-B524-6B0366EB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00:27–00:30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BF14B-F999-4DF7-BA27-E59246DF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원천에는 같은 PK의 현재 행을 조회합니다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7B1F9-6786-4223-89F3-16BF10D8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Bronze에는 입력·수정·삭제 기록이 쌓입니다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F109F-FB31-43DD-9F67-BB85E17C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 DELETE 뒤에도 변경 이력은 남습니다</a:t>
            </a:r>
          </a:p>
        </p:txBody>
      </p:sp>
    </p:spTree>
    <p:extLst>
      <p:ext uri="{BB962C8B-B14F-4D97-AF65-F5344CB8AC3E}">
        <p14:creationId xmlns:p14="http://schemas.microsoft.com/office/powerpoint/2010/main" val="1197272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45110-E74E-4363-ACDA-8DB05ED0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 테이블의 키와 관계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7FC6A-6CD7-45B8-AFFE-896015A6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00:30–00:35     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0E184-9550-438C-B10D-8F8132F12AC6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333750"/>
                <a:gridCol w="53530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키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orders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주문 한 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 order_id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payments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결제 한 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 payment_id / FK order_id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refunds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환불 한 건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 refund_id / FK payment_id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946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A8B4C-5B64-4F72-98D6-F1F0C9B8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학생 SQL. 입력과 원천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1BC2A-7C03-4B3D-8C13-6D68C97A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00:35–00:39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DE5DD-919F-40E1-8984-2BA68F44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INSERT INTO refunds (refund_id, payment_id, amount, status)</a:t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VALUES ('my-r1', 'my-p1', 20000, 'success');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SELECT refund_id, payment_id, amount, status</a:t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FROM refunds</a:t>
            </a:r>
          </a:p>
          <a:p xmlns:a="http://schemas.openxmlformats.org/drawingml/2006/main">
            <a:pPr>
              <a:defRPr sz="21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refund_id = 'my-r1';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0E330-059E-4BDA-AEA0-F820B299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기대 결과: 같은 refund_id 한 행, amount = 20000</a:t>
            </a:r>
          </a:p>
        </p:txBody>
      </p:sp>
    </p:spTree>
    <p:extLst>
      <p:ext uri="{BB962C8B-B14F-4D97-AF65-F5344CB8AC3E}">
        <p14:creationId xmlns:p14="http://schemas.microsoft.com/office/powerpoint/2010/main" val="11824948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B5493-0917-43BB-9E48-64A6512C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학생 SQL. 수정과 삭제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EBAF8-D9E2-474E-A58D-0ED6D55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00:39–00:42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296CA-640F-4550-AAA0-B8725BEC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UPDATE refunds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SET amount = 30000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refund_id = 'my-r1';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DELETE FROM refunds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refund_id = 'my-r1';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21093-5ABD-445B-B358-C09A43BE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학생 작업: 각 SQL 뒤에 같은 PK의 원천 SELECT 작성</a:t>
            </a:r>
          </a:p>
        </p:txBody>
      </p:sp>
    </p:spTree>
    <p:extLst>
      <p:ext uri="{BB962C8B-B14F-4D97-AF65-F5344CB8AC3E}">
        <p14:creationId xmlns:p14="http://schemas.microsoft.com/office/powerpoint/2010/main" val="5587764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98FC9-F128-4C53-8D5F-BA947BB5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변경별 기대 이벤트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A9314-42AB-476A-B96D-37716FC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00:42–00:45    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1775B-C987-46EA-908C-EC6F9994B924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381250"/>
                <a:gridCol w="952500"/>
                <a:gridCol w="573405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op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before / after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INSERT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행, 20000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null / amount 20000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UPDATE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행, 30000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amount 20000 / amount 30000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DELETE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0행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amount 30000 / null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9975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0440F-0202-4194-8239-4BA3251C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강사 시연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3750F-D8C1-410A-9326-194F462A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00:45–00:48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AE6C6-CC20-4E32-9C04-C5484DF7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새 CASE_ID로 주문·결제 준비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EDFDF-E53A-4650-8E0F-9E404317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refund_id를 세 단계에서 계속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4A47F-2976-426B-871A-4AE48F74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각 변경 뒤 원천 SELECT부터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17321115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03E88-E2D2-46CB-ADFA-73490207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시연 1. INSERT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D260A-11F2-41BF-88C1-AE7B949D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00:48–00:55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1094A-ED66-46A8-B014-4EB0B878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원천: refund_id 한 행, amount 20000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418BE-219B-44B6-8EB3-44742D01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Kafka: 같은 key, op=c, after.amount 20000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1A422-D92C-4DE4-9F8B-BD6E7CA0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Bronze: 같은 위치와 내용의 기록</a:t>
            </a:r>
          </a:p>
        </p:txBody>
      </p:sp>
    </p:spTree>
    <p:extLst>
      <p:ext uri="{BB962C8B-B14F-4D97-AF65-F5344CB8AC3E}">
        <p14:creationId xmlns:p14="http://schemas.microsoft.com/office/powerpoint/2010/main" val="18816817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91430-815E-4372-9ABA-6A278291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Kafka 이벤트에서 읽을 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52742-F35E-4ED1-8C69-28A0CD58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00:48–00:55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6F334-922D-4019-9C23-5CD21A7D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key: {"refund_id": "s01-example-r1"}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value: {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"op": "c",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"before": null,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"after": {"refund_id": "s01-example-r1", "amount": 20000},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"source": {"lsn": "원천 변경 위치"}</a:t>
            </a:r>
          </a:p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100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80397-E756-45A5-AC53-909EFF27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설명용으로 필드를 줄인 예시. 실제 값은 강사 화면에서 확인</a:t>
            </a:r>
          </a:p>
        </p:txBody>
      </p:sp>
    </p:spTree>
    <p:extLst>
      <p:ext uri="{BB962C8B-B14F-4D97-AF65-F5344CB8AC3E}">
        <p14:creationId xmlns:p14="http://schemas.microsoft.com/office/powerpoint/2010/main" val="2541025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D513D-E482-4334-8B06-5AFAAC58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시연 2. UPDATE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B514D-82A0-41CA-B52D-F66AC9F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00:55–01:02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8EBAE-F6DA-40BC-A016-809AD281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원천: 같은 PK 한 행, amount 30000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A7641-0879-4112-9910-7CC79E5B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Kafka: op=u, before 20000 / after 30000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B996C-0487-4D28-A6E3-DCD07BA4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Bronze: c와 u 이력이 서로 다른 위치에 남음</a:t>
            </a:r>
          </a:p>
        </p:txBody>
      </p:sp>
    </p:spTree>
    <p:extLst>
      <p:ext uri="{BB962C8B-B14F-4D97-AF65-F5344CB8AC3E}">
        <p14:creationId xmlns:p14="http://schemas.microsoft.com/office/powerpoint/2010/main" val="16739174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85597-35E7-440A-A0B1-87D2DD00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시연 3. DELETE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7A375-DA26-4D8B-BC9F-95FAE6C3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01:02–01:10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35975-C67D-4947-8B99-1FBF1908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원천: 해당 PK 조회 결과 0행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B2CF7-180F-4520-A05A-85049C91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Kafka: op=d, before 30000 / after null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227E0-839C-4554-8043-883FF941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Bronze: 기존 c/u와 새 d 이력 보관</a:t>
            </a:r>
          </a:p>
        </p:txBody>
      </p:sp>
    </p:spTree>
    <p:extLst>
      <p:ext uri="{BB962C8B-B14F-4D97-AF65-F5344CB8AC3E}">
        <p14:creationId xmlns:p14="http://schemas.microsoft.com/office/powerpoint/2010/main" val="17591815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BF366-27C9-4FF5-A7FE-F3586FEA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삭제 이벤트와 tombstone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62224-2043-4C9D-B5A5-B1A09171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01:02–01:10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E7EB6-EE83-4C2B-8F4C-E9B0C9C7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op=d에는 삭제한 행의 정보를 담습니다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3D23A-110B-47B8-880D-2388F045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Kafka key에 value=null 메시지가 뒤따를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416DE-8F76-47F8-BAE0-3AFA95BF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이 실습은 op=d를 보관하고 null 메시지는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2676913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8C910-4F5E-4B6A-AAED-6F9B9FC6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5분 휴식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96575-8990-4509-ACEB-0792C6F6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01:10–01:15    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9487A-BCB8-49B9-85E2-7E7F9495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01:15에 수집 검증 기록을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36449-3E6D-489B-8055-567F7D0B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작성한 관찰표의 빈칸을 표시해 둡니다</a:t>
            </a:r>
          </a:p>
        </p:txBody>
      </p:sp>
    </p:spTree>
    <p:extLst>
      <p:ext uri="{BB962C8B-B14F-4D97-AF65-F5344CB8AC3E}">
        <p14:creationId xmlns:p14="http://schemas.microsoft.com/office/powerpoint/2010/main" val="9752337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7347B-E680-42D7-BF7D-7A8350A4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Kafka와 Bronze를 잇는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BC206-DA68-4313-BC43-17FFEBDE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01:15–01:20    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877FB-C86B-47DA-8898-15019FA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topic + partition + offset을 함께 비교합니다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1B0B3-DDAE-4194-BB44-62606E01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같은 위치의 op·before/after·source.lsn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6E39C-0960-45C7-A9C2-302B2D13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offset은 해당 파티션 안의 순서를 뜻합니다</a:t>
            </a:r>
          </a:p>
        </p:txBody>
      </p:sp>
    </p:spTree>
    <p:extLst>
      <p:ext uri="{BB962C8B-B14F-4D97-AF65-F5344CB8AC3E}">
        <p14:creationId xmlns:p14="http://schemas.microsoft.com/office/powerpoint/2010/main" val="8230092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F4F8D-C325-4363-81B9-082E291C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변경 이력과 중복의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4299C-DBF0-4DDA-ACD0-8680C3AD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01:20–01:23     23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9D1F6-2D71-4809-9036-B23DBAFBB0F7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관찰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판단과 확인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PK의 c/u/d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변경 이력일 수 있음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 Kafka 위치의 Bronze 여러 행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수집 위치가 반복 저장됐는지 조사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 내용이 다른 offset에 존재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재전달·재발행인지 원천 버전과 내용 대조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1454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0438B-4CC3-4057-827B-DE1E3CDA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누락을 조사할 구간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05795-7B52-4E91-BF95-5A8818C7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01:23–01:25     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CF933-4628-4E2C-9E97-65DBCC2FF1C3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관찰 상태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확인할 곳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원천 변경 / Kafka 없음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commit, 수집 대상, connector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Kafka 있음 / Bronze 없음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토픽 패턴, Flink 처리, checkpoint·sink commit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Bronze 있음 / Silver·Gold 과거 값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후속 변환·갱신 여부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7931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76AD4-6AAF-4EDE-920A-282B8BAE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 지연의 관찰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B9E2F-193C-4F84-AD45-1E8939C1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01:25–01:30     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9EB75-9325-4A1A-9CC8-0BFD6CA4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 변경, Kafka 확인, Bronze 첫 조회 시각을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4D9F7-1632-436E-8D1D-1A095289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wait 출력은 대기 명령 시작 후의 관찰 시간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BF733-6B05-463A-A7E7-894B43C4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Flink 처리 시각과 Iceberg 조회 가능 시각은 다릅니다</a:t>
            </a:r>
          </a:p>
        </p:txBody>
      </p:sp>
    </p:spTree>
    <p:extLst>
      <p:ext uri="{BB962C8B-B14F-4D97-AF65-F5344CB8AC3E}">
        <p14:creationId xmlns:p14="http://schemas.microsoft.com/office/powerpoint/2010/main" val="8457571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3623E-E49F-4906-9AE0-83797ACA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개인 파이프라인 설계 25분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55F7C-EBBF-46A4-9DD5-F1DBDEA8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01:30–01:32    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72E49-770A-4ECE-A40B-4E20D988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 테이블 2–3개와 수집 목적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C4BB4-19B3-4441-A904-3E645B20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원천부터 Bronze까지 경로와 단계별 입력·출력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034E5-5A14-4013-A0A7-5DB98316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DDL 하나, 변경 테스트와 검증 기준</a:t>
            </a:r>
          </a:p>
        </p:txBody>
      </p:sp>
    </p:spTree>
    <p:extLst>
      <p:ext uri="{BB962C8B-B14F-4D97-AF65-F5344CB8AC3E}">
        <p14:creationId xmlns:p14="http://schemas.microsoft.com/office/powerpoint/2010/main" val="1003834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90F6F-1B34-49DE-8C0D-57A729B7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 범위와 목표 지연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D7DC9-ED75-4E83-8FF6-0586E09B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01:32–01:35     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FF72C-9E12-4FCA-88F6-482A941C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누가 어떤 용도로 데이터를 소비하나요?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87B34-3359-4108-BB4C-02F35171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어떤 테이블·컬럼·변경을 수집하나요?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52E56-9840-42D9-B229-7F65AF9D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Bronze에서 몇 분 안에 조회할 수 있어야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20345335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6864D-F9D2-40F6-B212-36AEB7E2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원천 명세 작성 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1F672-3E2E-483B-AB9B-877BAFDB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01:35–01:39     28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81288-94E3-4AFF-A72F-A803228A3DF4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학생이 적을 내용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T w="9525">
                      <a:solidFill>
                        <a:srgbClr val="D8E2E9"/>
                      </a:solidFill>
                    </a:lnT>
                    <a:lnB w="9525">
                      <a:solidFill>
                        <a:srgbClr val="D8E2E9"/>
                      </a:solidFill>
                    </a:lnB>
                    <a:solidFill>
                      <a:srgbClr val="142D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 행의 의미·키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PK와 FK, 동일 대상을 찾는 방법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 방식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수정 컬럼, 물리 삭제 또는 상태 변경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수집 범위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테이블·컬럼, 예상 토픽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목적지 기록</a:t>
                      </a:r>
                    </a:p>
                  </a:txBody>
                  <a:tcPr marL="152400" marR="114300" marT="114300" marB="95250">
                    <a:lnL w="9525">
                      <a:solidFill>
                        <a:srgbClr val="D8E2E9"/>
                      </a:solidFill>
                    </a:lnL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D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원문과 수집 위치, 원천 버전</a:t>
                      </a:r>
                    </a:p>
                  </a:txBody>
                  <a:tcPr marL="152400" marR="114300" marT="114300" marB="95250">
                    <a:lnR w="9525">
                      <a:solidFill>
                        <a:srgbClr val="D8E2E9"/>
                      </a:solidFill>
                    </a:lnR>
                    <a:lnB w="9525">
                      <a:solidFill>
                        <a:srgbClr val="D8E2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5464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37236-04C4-428B-BDBE-9BAE5230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개인 파이프라인 초안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129E5-6358-4CC0-A130-EBE63DA2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01:39–01:43     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74716-D7BD-432C-A820-EB4096CE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PostgreSQL 테이블과 Kafka 토픽의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411AE-BFC2-4216-8213-552BE7D6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Flink 입력과 Bronze에 저장할 기록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CAD7B-A5EB-42E4-94BE-D67C9D9B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저장 파일·Catalog·복구 상태 위치 구분</a:t>
            </a:r>
          </a:p>
        </p:txBody>
      </p:sp>
    </p:spTree>
    <p:extLst>
      <p:ext uri="{BB962C8B-B14F-4D97-AF65-F5344CB8AC3E}">
        <p14:creationId xmlns:p14="http://schemas.microsoft.com/office/powerpoint/2010/main" val="14110625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0D103-F08F-4C0A-A39C-881A812D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DDL 예시. 변경 가능한 예약 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9CEC1-3317-405C-AF8A-6804DC9E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01:43–01:47     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284ED-FCD3-4825-9428-0FC4343B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CREATE TABLE reservations (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reservation_id text PRIMARY KEY,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customer_id text NOT NULL,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service_at timestamptz NOT NULL,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status text NOT NULL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CA580-5838-4FFF-B399-1EA0706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학생 작업: 자기 원천 테이블 하나와 PK·관계 작성</a:t>
            </a:r>
          </a:p>
        </p:txBody>
      </p:sp>
    </p:spTree>
    <p:extLst>
      <p:ext uri="{BB962C8B-B14F-4D97-AF65-F5344CB8AC3E}">
        <p14:creationId xmlns:p14="http://schemas.microsoft.com/office/powerpoint/2010/main" val="2287546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B70FD-EA89-4672-87A1-098C8AF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개인 변경 테스트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6CE5A-E86E-44AD-AD6D-CFE6EFED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01:47–01:50     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26399-CE98-45C7-B275-89A7BD4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동일 PK의 INSERT·UPDATE·DELETE 작성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65534-A160-464B-B00D-82E8C744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각 단계의 원천 행과 key/op/before/after 예상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6B6D8-1D96-47CD-BD45-1CA9DEB4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Bronze에서 찾을 수집 위치와 내용 정의</a:t>
            </a:r>
          </a:p>
        </p:txBody>
      </p:sp>
    </p:spTree>
    <p:extLst>
      <p:ext uri="{BB962C8B-B14F-4D97-AF65-F5344CB8AC3E}">
        <p14:creationId xmlns:p14="http://schemas.microsoft.com/office/powerpoint/2010/main" val="9307732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26950-07F2-4061-9901-C51D5681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검증과 장애 조사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4539B-94F9-4EA1-9038-9D02BD52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01:50–01:55     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41BDB-F1DE-4FA9-97F1-A9BB31B3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어떤 기록으로 누락과 중복을 찾을까요?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82D8C-6B8E-494C-A987-A025A816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Kafka에 있고 Bronze에 없으면 어디를 확인할까요?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D77AE-CB67-49B4-BFFF-92C078A3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재처리에 필요한 키·버전·위치가 남나요?</a:t>
            </a:r>
          </a:p>
        </p:txBody>
      </p:sp>
    </p:spTree>
    <p:extLst>
      <p:ext uri="{BB962C8B-B14F-4D97-AF65-F5344CB8AC3E}">
        <p14:creationId xmlns:p14="http://schemas.microsoft.com/office/powerpoint/2010/main" val="7065610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75CCA-BAF5-4BFB-B7DB-5B99422D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종료 질문과 제출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B1902-CFAA-4ED2-B44D-BF944D44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01:55–02:00     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6E043-3C18-43FB-BDA8-81E16B2F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수집됐다는 근거를 실제 기록으로 설명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0549A-44AD-4676-828A-C1F562C3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원천 삭제 뒤 Bronze 이력이 남는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5D53C-0D57-474F-98AF-1DA1AA19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내 원천 명세·SQL·파이프라인 초안 제출</a:t>
            </a:r>
          </a:p>
        </p:txBody>
      </p:sp>
    </p:spTree>
    <p:extLst>
      <p:ext uri="{BB962C8B-B14F-4D97-AF65-F5344CB8AC3E}">
        <p14:creationId xmlns:p14="http://schemas.microsoft.com/office/powerpoint/2010/main" val="1059402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862AE-6CA3-4E19-9768-4C8AA904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강사 사전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3D4A8-256B-46AB-82E0-705B204D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수업 전     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34737-8D55-4339-8FEC-D8F7BDA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저장소 접근과 학생 파일 배포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54C77-2E41-4A66-97CD-8BCEDC61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맥미니 기동·preflight, Airflow 중지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FA6D9-EAE8-4353-9D57-C1F203D9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새 CASE_ID로 전체 c/u/d 대조 리허설</a:t>
            </a:r>
          </a:p>
        </p:txBody>
      </p:sp>
    </p:spTree>
    <p:extLst>
      <p:ext uri="{BB962C8B-B14F-4D97-AF65-F5344CB8AC3E}">
        <p14:creationId xmlns:p14="http://schemas.microsoft.com/office/powerpoint/2010/main" val="16382345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BF67E-82ED-4B03-BE17-D8B8FC3D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단계별 시연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6453B-389B-40EE-96E3-7AD0BA49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참고     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B525F-AEAF-41BB-A43E-0AB6C21E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refund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source-rows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kafka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wait --event refund</a:t>
            </a:r>
          </a:p>
          <a:p xmlns:a="http://schemas.openxmlformats.org/drawingml/2006/main">
            <a:pPr>
              <a:defRPr sz="202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202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./labs/session01/lab.sh "$CASE_ID" collect-check --stage insert --evidence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005D9-81C3-41D0-81E4-DB75855A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UPDATE: correction / correction / update    DELETE: delete / delete / delete</a:t>
            </a:r>
          </a:p>
        </p:txBody>
      </p:sp>
    </p:spTree>
    <p:extLst>
      <p:ext uri="{BB962C8B-B14F-4D97-AF65-F5344CB8AC3E}">
        <p14:creationId xmlns:p14="http://schemas.microsoft.com/office/powerpoint/2010/main" val="14062987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B71D5-A211-4CAF-B4FE-7EE14BDB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42D43"/>
                </a:solidFill>
                <a:latin typeface="Apple SD Gothic Neo"/>
                <a:ea typeface="Apple SD Gothic Neo"/>
                <a:cs typeface="Apple SD Gothic Neo"/>
              </a:rPr>
              <a:t>부록. Bronze 원문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50847-95A7-483A-80CC-95C6D64E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496174"/>
                </a:solidFill>
                <a:latin typeface="Apple SD Gothic Neo"/>
                <a:ea typeface="Apple SD Gothic Neo"/>
                <a:cs typeface="Apple SD Gothic Neo"/>
              </a:rPr>
              <a:t>강사 참고     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9F5F0-4133-4F2A-AB5D-8E1AEF23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SELECT topic, partition_id, kafka_offset,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   get_json_object(payload, '$.op') AS op,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   get_json_object(payload, '$.before.amount') AS before_amount,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   get_json_object(payload, '$.after.amount') AS after_amount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FROM lake.bronze.cdc_events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WHERE topic = 'cdc.public.refunds'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AND (get_json_object(payload, '$.after.refund_id') = 'my-r1'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    OR get_json_object(payload, '$.before.refund_id') = 'my-r1')</a:t>
            </a:r>
          </a:p>
          <a:p xmlns:a="http://schemas.openxmlformats.org/drawingml/2006/main">
            <a:pPr>
              <a:defRPr sz="1875" b="0">
                <a:solidFill>
                  <a:srgbClr val="142D43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142D43"/>
                </a:solidFill>
                <a:latin typeface="D2Coding"/>
                <a:ea typeface="D2Coding"/>
                <a:cs typeface="D2Coding"/>
              </a:rPr>
              <a:t>ORDER BY partition_id, kafka_offset;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6ADBC-1456-422E-AA88-DCB92E4C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Spark SQL 예시. 강사 화면에서는 이번 CASE_ID의 refund_id로 필터</a:t>
            </a:r>
          </a:p>
        </p:txBody>
      </p:sp>
    </p:spTree>
    <p:extLst>
      <p:ext uri="{BB962C8B-B14F-4D97-AF65-F5344CB8AC3E}">
        <p14:creationId xmlns:p14="http://schemas.microsoft.com/office/powerpoint/2010/main" val="560126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2026-10-14T17:08:38.3720000Z</dcterms:created>
  <dcterms:modified xsi:type="dcterms:W3CDTF">2026-10-14T17:08:38.3720000Z</dcterms:modified>
</coreProperties>
</file>