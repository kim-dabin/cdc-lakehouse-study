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7b1af444784620" /><Relationship Type="http://schemas.openxmlformats.org/officeDocument/2006/relationships/extended-properties" Target="/docProps/app.xml" Id="Ra03c7b4e08e948b2" /><Relationship Type="http://schemas.openxmlformats.org/officeDocument/2006/relationships/officeDocument" Target="/ppt/presentation.xml" Id="R49c9c9ebae3b406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9049e6b1a84a5e"/>
  </p:sldMasterIdLst>
  <p:notesMasterIdLst>
    <p:notesMasterId xmlns:r="http://schemas.openxmlformats.org/officeDocument/2006/relationships" r:id="Rfbb75c3bbfce4934"/>
  </p:notesMasterIdLst>
  <p:sldIdLst>
    <p:sldId xmlns:r="http://schemas.openxmlformats.org/officeDocument/2006/relationships" id="256" r:id="Re76636285b554e80"/>
    <p:sldId xmlns:r="http://schemas.openxmlformats.org/officeDocument/2006/relationships" id="257" r:id="Rcf0ddf659f584be0"/>
    <p:sldId xmlns:r="http://schemas.openxmlformats.org/officeDocument/2006/relationships" id="258" r:id="R5fac3f4101f84614"/>
    <p:sldId xmlns:r="http://schemas.openxmlformats.org/officeDocument/2006/relationships" id="259" r:id="Ra5bc81005e454316"/>
    <p:sldId xmlns:r="http://schemas.openxmlformats.org/officeDocument/2006/relationships" id="260" r:id="R9d6ada8f458d4fa2"/>
    <p:sldId xmlns:r="http://schemas.openxmlformats.org/officeDocument/2006/relationships" id="261" r:id="R4a7723d7a728454a"/>
    <p:sldId xmlns:r="http://schemas.openxmlformats.org/officeDocument/2006/relationships" id="262" r:id="Rfda8082034ba47cb"/>
    <p:sldId xmlns:r="http://schemas.openxmlformats.org/officeDocument/2006/relationships" id="263" r:id="Raf8fb00d85594608"/>
    <p:sldId xmlns:r="http://schemas.openxmlformats.org/officeDocument/2006/relationships" id="264" r:id="R05a208b008734523"/>
    <p:sldId xmlns:r="http://schemas.openxmlformats.org/officeDocument/2006/relationships" id="265" r:id="Rb1f0a89f7dca40fd"/>
    <p:sldId xmlns:r="http://schemas.openxmlformats.org/officeDocument/2006/relationships" id="266" r:id="Rd444cc187cd145bb"/>
    <p:sldId xmlns:r="http://schemas.openxmlformats.org/officeDocument/2006/relationships" id="267" r:id="R1d3b071079b74aab"/>
    <p:sldId xmlns:r="http://schemas.openxmlformats.org/officeDocument/2006/relationships" id="268" r:id="R17457d530f8849d2"/>
    <p:sldId xmlns:r="http://schemas.openxmlformats.org/officeDocument/2006/relationships" id="269" r:id="Rbd6db6900ddc45a3"/>
    <p:sldId xmlns:r="http://schemas.openxmlformats.org/officeDocument/2006/relationships" id="270" r:id="R091f9e3786c74415"/>
    <p:sldId xmlns:r="http://schemas.openxmlformats.org/officeDocument/2006/relationships" id="271" r:id="R1d15f8950d494a95"/>
    <p:sldId xmlns:r="http://schemas.openxmlformats.org/officeDocument/2006/relationships" id="272" r:id="R233996f0294e4a07"/>
    <p:sldId xmlns:r="http://schemas.openxmlformats.org/officeDocument/2006/relationships" id="273" r:id="Rb62d7188108d46f4"/>
    <p:sldId xmlns:r="http://schemas.openxmlformats.org/officeDocument/2006/relationships" id="274" r:id="Re982108c93f64148"/>
    <p:sldId xmlns:r="http://schemas.openxmlformats.org/officeDocument/2006/relationships" id="275" r:id="R0586f6aea87d4746"/>
    <p:sldId xmlns:r="http://schemas.openxmlformats.org/officeDocument/2006/relationships" id="276" r:id="R5e3121fafbf0432e"/>
    <p:sldId xmlns:r="http://schemas.openxmlformats.org/officeDocument/2006/relationships" id="277" r:id="R4ec873a43af14348"/>
    <p:sldId xmlns:r="http://schemas.openxmlformats.org/officeDocument/2006/relationships" id="278" r:id="R24ebc09e934041ea"/>
    <p:sldId xmlns:r="http://schemas.openxmlformats.org/officeDocument/2006/relationships" id="279" r:id="R03cba35f6e6a4535"/>
    <p:sldId xmlns:r="http://schemas.openxmlformats.org/officeDocument/2006/relationships" id="280" r:id="R102399dbf313431f"/>
    <p:sldId xmlns:r="http://schemas.openxmlformats.org/officeDocument/2006/relationships" id="281" r:id="R3badec40fdb14f2b"/>
    <p:sldId xmlns:r="http://schemas.openxmlformats.org/officeDocument/2006/relationships" id="282" r:id="R7903259fed054ee1"/>
    <p:sldId xmlns:r="http://schemas.openxmlformats.org/officeDocument/2006/relationships" id="283" r:id="R764cb25ea9a14bd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76d589419642c7" /><Relationship Type="http://schemas.openxmlformats.org/officeDocument/2006/relationships/slideMaster" Target="/ppt/slideMasters/slideMaster1.xml" Id="Rba9049e6b1a84a5e" /><Relationship Type="http://schemas.openxmlformats.org/officeDocument/2006/relationships/notesMaster" Target="/ppt/notesMasters/notesMaster1.xml" Id="Rfbb75c3bbfce4934" /><Relationship Type="http://schemas.openxmlformats.org/officeDocument/2006/relationships/presProps" Target="/ppt/presProps.xml" Id="R248e185bc00a4786" /><Relationship Type="http://schemas.openxmlformats.org/officeDocument/2006/relationships/tableStyles" Target="/ppt/tableStyles.xml" Id="Rda13d6fd4fc344ed" /><Relationship Type="http://schemas.openxmlformats.org/officeDocument/2006/relationships/slide" Target="/ppt/slides/slide1.xml" Id="Re76636285b554e80" /><Relationship Type="http://schemas.openxmlformats.org/officeDocument/2006/relationships/slide" Target="/ppt/slides/slide2.xml" Id="Rcf0ddf659f584be0" /><Relationship Type="http://schemas.openxmlformats.org/officeDocument/2006/relationships/slide" Target="/ppt/slides/slide3.xml" Id="R5fac3f4101f84614" /><Relationship Type="http://schemas.openxmlformats.org/officeDocument/2006/relationships/slide" Target="/ppt/slides/slide4.xml" Id="Ra5bc81005e454316" /><Relationship Type="http://schemas.openxmlformats.org/officeDocument/2006/relationships/slide" Target="/ppt/slides/slide5.xml" Id="R9d6ada8f458d4fa2" /><Relationship Type="http://schemas.openxmlformats.org/officeDocument/2006/relationships/slide" Target="/ppt/slides/slide6.xml" Id="R4a7723d7a728454a" /><Relationship Type="http://schemas.openxmlformats.org/officeDocument/2006/relationships/slide" Target="/ppt/slides/slide7.xml" Id="Rfda8082034ba47cb" /><Relationship Type="http://schemas.openxmlformats.org/officeDocument/2006/relationships/slide" Target="/ppt/slides/slide8.xml" Id="Raf8fb00d85594608" /><Relationship Type="http://schemas.openxmlformats.org/officeDocument/2006/relationships/slide" Target="/ppt/slides/slide9.xml" Id="R05a208b008734523" /><Relationship Type="http://schemas.openxmlformats.org/officeDocument/2006/relationships/slide" Target="/ppt/slides/slide10.xml" Id="Rb1f0a89f7dca40fd" /><Relationship Type="http://schemas.openxmlformats.org/officeDocument/2006/relationships/slide" Target="/ppt/slides/slide11.xml" Id="Rd444cc187cd145bb" /><Relationship Type="http://schemas.openxmlformats.org/officeDocument/2006/relationships/slide" Target="/ppt/slides/slide12.xml" Id="R1d3b071079b74aab" /><Relationship Type="http://schemas.openxmlformats.org/officeDocument/2006/relationships/slide" Target="/ppt/slides/slide13.xml" Id="R17457d530f8849d2" /><Relationship Type="http://schemas.openxmlformats.org/officeDocument/2006/relationships/slide" Target="/ppt/slides/slide14.xml" Id="Rbd6db6900ddc45a3" /><Relationship Type="http://schemas.openxmlformats.org/officeDocument/2006/relationships/slide" Target="/ppt/slides/slide15.xml" Id="R091f9e3786c74415" /><Relationship Type="http://schemas.openxmlformats.org/officeDocument/2006/relationships/slide" Target="/ppt/slides/slide16.xml" Id="R1d15f8950d494a95" /><Relationship Type="http://schemas.openxmlformats.org/officeDocument/2006/relationships/slide" Target="/ppt/slides/slide17.xml" Id="R233996f0294e4a07" /><Relationship Type="http://schemas.openxmlformats.org/officeDocument/2006/relationships/slide" Target="/ppt/slides/slide18.xml" Id="Rb62d7188108d46f4" /><Relationship Type="http://schemas.openxmlformats.org/officeDocument/2006/relationships/slide" Target="/ppt/slides/slide19.xml" Id="Re982108c93f64148" /><Relationship Type="http://schemas.openxmlformats.org/officeDocument/2006/relationships/slide" Target="/ppt/slides/slide20.xml" Id="R0586f6aea87d4746" /><Relationship Type="http://schemas.openxmlformats.org/officeDocument/2006/relationships/slide" Target="/ppt/slides/slide21.xml" Id="R5e3121fafbf0432e" /><Relationship Type="http://schemas.openxmlformats.org/officeDocument/2006/relationships/slide" Target="/ppt/slides/slide22.xml" Id="R4ec873a43af14348" /><Relationship Type="http://schemas.openxmlformats.org/officeDocument/2006/relationships/slide" Target="/ppt/slides/slide23.xml" Id="R24ebc09e934041ea" /><Relationship Type="http://schemas.openxmlformats.org/officeDocument/2006/relationships/slide" Target="/ppt/slides/slide24.xml" Id="R03cba35f6e6a4535" /><Relationship Type="http://schemas.openxmlformats.org/officeDocument/2006/relationships/slide" Target="/ppt/slides/slide25.xml" Id="R102399dbf313431f" /><Relationship Type="http://schemas.openxmlformats.org/officeDocument/2006/relationships/slide" Target="/ppt/slides/slide26.xml" Id="R3badec40fdb14f2b" /><Relationship Type="http://schemas.openxmlformats.org/officeDocument/2006/relationships/slide" Target="/ppt/slides/slide27.xml" Id="R7903259fed054ee1" /><Relationship Type="http://schemas.openxmlformats.org/officeDocument/2006/relationships/slide" Target="/ppt/slides/slide28.xml" Id="R764cb25ea9a14b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9142649cfb48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000b2e2e9f4100" /><Relationship Type="http://schemas.openxmlformats.org/officeDocument/2006/relationships/notesMaster" Target="/ppt/notesMasters/notesMaster1.xml" Id="Ra4d1be724d8e41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80ccd19f0844a3" /><Relationship Type="http://schemas.openxmlformats.org/officeDocument/2006/relationships/notesMaster" Target="/ppt/notesMasters/notesMaster1.xml" Id="R929cd5db0158482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c5e24372a64084" /><Relationship Type="http://schemas.openxmlformats.org/officeDocument/2006/relationships/notesMaster" Target="/ppt/notesMasters/notesMaster1.xml" Id="R5101c00ff1544b3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855b8b411df462a" /><Relationship Type="http://schemas.openxmlformats.org/officeDocument/2006/relationships/notesMaster" Target="/ppt/notesMasters/notesMaster1.xml" Id="R0311476bd2d043b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c71db61852c420c" /><Relationship Type="http://schemas.openxmlformats.org/officeDocument/2006/relationships/notesMaster" Target="/ppt/notesMasters/notesMaster1.xml" Id="R0cd768e8f07e4ee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ce0fa16437c4cb7" /><Relationship Type="http://schemas.openxmlformats.org/officeDocument/2006/relationships/notesMaster" Target="/ppt/notesMasters/notesMaster1.xml" Id="R300cb7ee1d104c8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46490fb0ddf4544" /><Relationship Type="http://schemas.openxmlformats.org/officeDocument/2006/relationships/notesMaster" Target="/ppt/notesMasters/notesMaster1.xml" Id="R8b9512d7352543b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d6867b1392b4edc" /><Relationship Type="http://schemas.openxmlformats.org/officeDocument/2006/relationships/notesMaster" Target="/ppt/notesMasters/notesMaster1.xml" Id="R50a951f2711344e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16061249abf49fd" /><Relationship Type="http://schemas.openxmlformats.org/officeDocument/2006/relationships/notesMaster" Target="/ppt/notesMasters/notesMaster1.xml" Id="Re83b737c8dcb4f2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c6cd736e3f742b9" /><Relationship Type="http://schemas.openxmlformats.org/officeDocument/2006/relationships/notesMaster" Target="/ppt/notesMasters/notesMaster1.xml" Id="Ra4f9a5f5dc724b4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abde234efed4f27" /><Relationship Type="http://schemas.openxmlformats.org/officeDocument/2006/relationships/notesMaster" Target="/ppt/notesMasters/notesMaster1.xml" Id="Rd05484ab85d3490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c45a68cd6774966" /><Relationship Type="http://schemas.openxmlformats.org/officeDocument/2006/relationships/notesMaster" Target="/ppt/notesMasters/notesMaster1.xml" Id="R3e00760cdfcd404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611f091ef3d4c6a" /><Relationship Type="http://schemas.openxmlformats.org/officeDocument/2006/relationships/notesMaster" Target="/ppt/notesMasters/notesMaster1.xml" Id="Rf455ba38b6a946e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aa3b37db68a4572" /><Relationship Type="http://schemas.openxmlformats.org/officeDocument/2006/relationships/notesMaster" Target="/ppt/notesMasters/notesMaster1.xml" Id="Rf0b09cdecaf24b1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3eac07fe9f548d9" /><Relationship Type="http://schemas.openxmlformats.org/officeDocument/2006/relationships/notesMaster" Target="/ppt/notesMasters/notesMaster1.xml" Id="Re3111c2653c049f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4baee00eac14862" /><Relationship Type="http://schemas.openxmlformats.org/officeDocument/2006/relationships/notesMaster" Target="/ppt/notesMasters/notesMaster1.xml" Id="Rb34b3048aa954bd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0b20ede2b73430c" /><Relationship Type="http://schemas.openxmlformats.org/officeDocument/2006/relationships/notesMaster" Target="/ppt/notesMasters/notesMaster1.xml" Id="Rd7648a2a39224cf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52fbb5ea4f849c7" /><Relationship Type="http://schemas.openxmlformats.org/officeDocument/2006/relationships/notesMaster" Target="/ppt/notesMasters/notesMaster1.xml" Id="R5b8bd0eb6321476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40722ffc5dc4e00" /><Relationship Type="http://schemas.openxmlformats.org/officeDocument/2006/relationships/notesMaster" Target="/ppt/notesMasters/notesMaster1.xml" Id="R16ef3bfc27ba475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d66ce54f493497f" /><Relationship Type="http://schemas.openxmlformats.org/officeDocument/2006/relationships/notesMaster" Target="/ppt/notesMasters/notesMaster1.xml" Id="Re2df54d1bc4e4f0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746f233dd434584" /><Relationship Type="http://schemas.openxmlformats.org/officeDocument/2006/relationships/notesMaster" Target="/ppt/notesMasters/notesMaster1.xml" Id="Rc13d21078eee4dc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9b01079610b4fee" /><Relationship Type="http://schemas.openxmlformats.org/officeDocument/2006/relationships/notesMaster" Target="/ppt/notesMasters/notesMaster1.xml" Id="Rf60029ad2ecb493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1f192d25cbd4073" /><Relationship Type="http://schemas.openxmlformats.org/officeDocument/2006/relationships/notesMaster" Target="/ppt/notesMasters/notesMaster1.xml" Id="R6a1228d22dca49b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24ca920d2334c88" /><Relationship Type="http://schemas.openxmlformats.org/officeDocument/2006/relationships/notesMaster" Target="/ppt/notesMasters/notesMaster1.xml" Id="R688713ea365245b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201494122d942ce" /><Relationship Type="http://schemas.openxmlformats.org/officeDocument/2006/relationships/notesMaster" Target="/ppt/notesMasters/notesMaster1.xml" Id="Rada9ed03e9914fb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fbe8acd4ab24c19" /><Relationship Type="http://schemas.openxmlformats.org/officeDocument/2006/relationships/notesMaster" Target="/ppt/notesMasters/notesMaster1.xml" Id="Reb8adecf8eb84b7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ae3364d8d3c45bb" /><Relationship Type="http://schemas.openxmlformats.org/officeDocument/2006/relationships/notesMaster" Target="/ppt/notesMasters/notesMaster1.xml" Id="R91c178e87a974a2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3c646cc186e46a7" /><Relationship Type="http://schemas.openxmlformats.org/officeDocument/2006/relationships/notesMaster" Target="/ppt/notesMasters/notesMaster1.xml" Id="R66f1c1f8f62a40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d0befad0a14d3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2aaa95c5c74dd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fb79394b634f6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00649cfe7d4f3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ba8675d5cc490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a96cb49a5345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D094685-1EB5-4CBD-AC9A-C42C04D4B8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8A878AE-B2C1-4D2F-8A33-6B951F3807F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998D0F7-4811-4D99-A7A6-31FBA3C755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A8CF480-7062-46AB-A61D-E404E16C71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33599D4-BD08-42E0-8C02-7FF9561D1B2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2965D1B-EABA-44A1-8B0E-8C3C708F19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7B952FA-5DA8-42A7-B253-30E7E1A589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C0EB4C4-18B4-4D3D-AD73-EE6C5433CE8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D789514-56B3-4A2F-9E70-B6F42C0DA0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C59AF48-E6F8-4073-BE7E-E1FE80E47BC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18d0dca76d48e2" /><Relationship Type="http://schemas.openxmlformats.org/officeDocument/2006/relationships/slideLayout" Target="/ppt/slideLayouts/slideLayout1.xml" Id="Rfd0f412d25e9410d" /><Relationship Type="http://schemas.openxmlformats.org/officeDocument/2006/relationships/slideLayout" Target="/ppt/slideLayouts/slideLayout2.xml" Id="Rd3518c1cb3824166" /><Relationship Type="http://schemas.openxmlformats.org/officeDocument/2006/relationships/slideLayout" Target="/ppt/slideLayouts/slideLayout3.xml" Id="R0aa6305f3dd54b08" /><Relationship Type="http://schemas.openxmlformats.org/officeDocument/2006/relationships/slideLayout" Target="/ppt/slideLayouts/slideLayout4.xml" Id="Rbaa61ee77b8b44b4" /><Relationship Type="http://schemas.openxmlformats.org/officeDocument/2006/relationships/slideLayout" Target="/ppt/slideLayouts/slideLayout5.xml" Id="R620785384ff04a59" /><Relationship Type="http://schemas.openxmlformats.org/officeDocument/2006/relationships/slideLayout" Target="/ppt/slideLayouts/slideLayout6.xml" Id="Rfdd5092a30604e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0f412d25e9410d"/>
    <p:sldLayoutId xmlns:r="http://schemas.openxmlformats.org/officeDocument/2006/relationships" id="2147483650" r:id="Rd3518c1cb3824166"/>
    <p:sldLayoutId xmlns:r="http://schemas.openxmlformats.org/officeDocument/2006/relationships" id="2147483651" r:id="R0aa6305f3dd54b08"/>
    <p:sldLayoutId xmlns:r="http://schemas.openxmlformats.org/officeDocument/2006/relationships" id="2147483652" r:id="Rbaa61ee77b8b44b4"/>
    <p:sldLayoutId xmlns:r="http://schemas.openxmlformats.org/officeDocument/2006/relationships" id="2147483653" r:id="R620785384ff04a59"/>
    <p:sldLayoutId xmlns:r="http://schemas.openxmlformats.org/officeDocument/2006/relationships" id="2147483654" r:id="Rfdd5092a30604e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c85f0d6348432d" /><Relationship Type="http://schemas.openxmlformats.org/officeDocument/2006/relationships/notesSlide" Target="/ppt/notesSlides/notesSlide1.xml" Id="Rc47c5484fe23481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dea3441cd043ef" /><Relationship Type="http://schemas.openxmlformats.org/officeDocument/2006/relationships/notesSlide" Target="/ppt/notesSlides/notesSlide2.xml" Id="Re957ae9aa69d4a4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4defc8fa6a4751" /><Relationship Type="http://schemas.openxmlformats.org/officeDocument/2006/relationships/notesSlide" Target="/ppt/notesSlides/notesSlide3.xml" Id="R086b091671194c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b8296ee66e4387" /><Relationship Type="http://schemas.openxmlformats.org/officeDocument/2006/relationships/notesSlide" Target="/ppt/notesSlides/notesSlide4.xml" Id="R7bf1ea35810f4bd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a34e70376b4303" /><Relationship Type="http://schemas.openxmlformats.org/officeDocument/2006/relationships/notesSlide" Target="/ppt/notesSlides/notesSlide5.xml" Id="R6c32994364d3497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2adfbe8ee64cd4" /><Relationship Type="http://schemas.openxmlformats.org/officeDocument/2006/relationships/notesSlide" Target="/ppt/notesSlides/notesSlide6.xml" Id="Rfe052592482c437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b7db227c8d485e" /><Relationship Type="http://schemas.openxmlformats.org/officeDocument/2006/relationships/notesSlide" Target="/ppt/notesSlides/notesSlide7.xml" Id="R27f511aef15c4c6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6680b5887b48be" /><Relationship Type="http://schemas.openxmlformats.org/officeDocument/2006/relationships/notesSlide" Target="/ppt/notesSlides/notesSlide8.xml" Id="Ree1629bbc8b94a2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a01f0a14a34d32" /><Relationship Type="http://schemas.openxmlformats.org/officeDocument/2006/relationships/notesSlide" Target="/ppt/notesSlides/notesSlide9.xml" Id="R7d90b3450e5f4c8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e7baa015f34b8e" /><Relationship Type="http://schemas.openxmlformats.org/officeDocument/2006/relationships/notesSlide" Target="/ppt/notesSlides/notesSlide10.xml" Id="R4e99fec88ce7478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0dd71b84b14c89" /><Relationship Type="http://schemas.openxmlformats.org/officeDocument/2006/relationships/notesSlide" Target="/ppt/notesSlides/notesSlide11.xml" Id="R136555260ced4ff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1e29b796cd4a6e" /><Relationship Type="http://schemas.openxmlformats.org/officeDocument/2006/relationships/notesSlide" Target="/ppt/notesSlides/notesSlide12.xml" Id="R4041be73724a435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ebd30560b8486e" /><Relationship Type="http://schemas.openxmlformats.org/officeDocument/2006/relationships/notesSlide" Target="/ppt/notesSlides/notesSlide13.xml" Id="R8496e40d8574455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9bb3ea81254773" /><Relationship Type="http://schemas.openxmlformats.org/officeDocument/2006/relationships/notesSlide" Target="/ppt/notesSlides/notesSlide14.xml" Id="R7765ae88dcde4b4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b5cb112f484ed0" /><Relationship Type="http://schemas.openxmlformats.org/officeDocument/2006/relationships/notesSlide" Target="/ppt/notesSlides/notesSlide15.xml" Id="R60bd7cc0fdec4a9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30159eed86452b" /><Relationship Type="http://schemas.openxmlformats.org/officeDocument/2006/relationships/notesSlide" Target="/ppt/notesSlides/notesSlide16.xml" Id="Rff469be52f0f4eb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467b0140c14a87" /><Relationship Type="http://schemas.openxmlformats.org/officeDocument/2006/relationships/notesSlide" Target="/ppt/notesSlides/notesSlide17.xml" Id="R4523e219c8274c1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0665f5003b46cc" /><Relationship Type="http://schemas.openxmlformats.org/officeDocument/2006/relationships/notesSlide" Target="/ppt/notesSlides/notesSlide18.xml" Id="R2a0f9a687a88445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5cf90cf0704fd8" /><Relationship Type="http://schemas.openxmlformats.org/officeDocument/2006/relationships/notesSlide" Target="/ppt/notesSlides/notesSlide19.xml" Id="Rdeee601cb1d34ea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a27b258d164f1c" /><Relationship Type="http://schemas.openxmlformats.org/officeDocument/2006/relationships/notesSlide" Target="/ppt/notesSlides/notesSlide20.xml" Id="R79c022cdf62848c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3b6895b1cb4376" /><Relationship Type="http://schemas.openxmlformats.org/officeDocument/2006/relationships/notesSlide" Target="/ppt/notesSlides/notesSlide21.xml" Id="Rd34111bb8b9e4cf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b8b37c5dba4286" /><Relationship Type="http://schemas.openxmlformats.org/officeDocument/2006/relationships/notesSlide" Target="/ppt/notesSlides/notesSlide22.xml" Id="Rdb9904cd727a40f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1314ba5a114b29" /><Relationship Type="http://schemas.openxmlformats.org/officeDocument/2006/relationships/notesSlide" Target="/ppt/notesSlides/notesSlide23.xml" Id="Re5c56d2acbc5479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a09f12ccc54288" /><Relationship Type="http://schemas.openxmlformats.org/officeDocument/2006/relationships/notesSlide" Target="/ppt/notesSlides/notesSlide24.xml" Id="R5b608ba054974ef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3e7068cb2548d5" /><Relationship Type="http://schemas.openxmlformats.org/officeDocument/2006/relationships/notesSlide" Target="/ppt/notesSlides/notesSlide25.xml" Id="R0ff03ec670ea4db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b5d6a9ea4b4800" /><Relationship Type="http://schemas.openxmlformats.org/officeDocument/2006/relationships/notesSlide" Target="/ppt/notesSlides/notesSlide26.xml" Id="R2ef45581d2f745c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ef8bec977246a6" /><Relationship Type="http://schemas.openxmlformats.org/officeDocument/2006/relationships/notesSlide" Target="/ppt/notesSlides/notesSlide27.xml" Id="R34672fe7938b4da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5ab2cf04504f5d" /><Relationship Type="http://schemas.openxmlformats.org/officeDocument/2006/relationships/notesSlide" Target="/ppt/notesSlides/notesSlide28.xml" Id="R22e3e9d980cf4d7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DE6B6716-0B0E-47BB-96F7-1297EBBC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CDC · Iceberg 프로젝트 스터디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6E7E411-999A-4CDA-8864-5F55F5C8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858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46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46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46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46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46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46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46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46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46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46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6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PostgreSQL CDC 수집과</a:t>
            </a:r>
          </a:p>
          <a:p xmlns:a="http://schemas.openxmlformats.org/drawingml/2006/main">
            <a:pPr algn="l">
              <a:buNone/>
              <a:defRPr sz="46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6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변경 이벤트 검증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6D2B3F-196B-4441-ACAE-1D00FF4B3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676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</a:ln>
        </p:spPr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544D45B2-6D0C-4A5E-8FCD-D8CBF8D26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3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3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3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3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3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3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3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3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3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3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2회차 · 120분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원천 설정부터 Kafka 메시지, Bronze 행, Parquet 파일까지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09413CA0-7499-4E3E-9D3E-2F9ADD43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4D399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875" b="0">
                <a:solidFill>
                  <a:srgbClr val="34D399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875" b="0">
                <a:solidFill>
                  <a:srgbClr val="34D399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875" b="0">
                <a:solidFill>
                  <a:srgbClr val="34D399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875" b="0">
                <a:solidFill>
                  <a:srgbClr val="34D399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875" b="0">
                <a:solidFill>
                  <a:srgbClr val="34D399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875" b="0">
                <a:solidFill>
                  <a:srgbClr val="34D399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875" b="0">
                <a:solidFill>
                  <a:srgbClr val="34D399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875" b="0">
                <a:solidFill>
                  <a:srgbClr val="34D399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875" b="0">
                <a:solidFill>
                  <a:srgbClr val="34D399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34D39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34D399"/>
                </a:solidFill>
                <a:latin typeface="Apple SD Gothic Neo"/>
                <a:ea typeface="Apple SD Gothic Neo"/>
                <a:cs typeface="Apple SD Gothic Neo"/>
              </a:rPr>
              <a:t>강사 맥미니 시연 · 학생 SQL·이벤트 예측 · 개인 환경 복습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CBE9BC-103F-4273-BC74-39A86266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7" name="text-4">
            <a:extLst xmlns:a="http://schemas.openxmlformats.org/drawingml/2006/main">
              <a:ext uri="{FF2B5EF4-FFF2-40B4-BE49-F238E27FC236}">
                <a16:creationId xmlns:a16="http://schemas.microsoft.com/office/drawing/2014/main" id="{3BB9D8AC-43EF-41E0-887C-CB7CB258F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CDC · Iceberg 스터디  |  2회차</a:t>
            </a:r>
          </a:p>
        </p:txBody>
      </p:sp>
      <p:sp>
        <p:nvSpPr>
          <p:cNvPr id="8" name="text-5">
            <a:extLst xmlns:a="http://schemas.openxmlformats.org/drawingml/2006/main">
              <a:ext uri="{FF2B5EF4-FFF2-40B4-BE49-F238E27FC236}">
                <a16:creationId xmlns:a16="http://schemas.microsoft.com/office/drawing/2014/main" id="{F2AF13BD-9796-4D64-874F-0DA80CD2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959603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0303D1E2-1AF0-4B46-A7C1-6D4067E2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2회차 · PostgreSQL CDC</a:t>
            </a:r>
          </a:p>
        </p:txBody>
      </p:sp>
      <p:sp>
        <p:nvSpPr>
          <p:cNvPr id="2" name="text-7">
            <a:extLst xmlns:a="http://schemas.openxmlformats.org/drawingml/2006/main">
              <a:ext uri="{FF2B5EF4-FFF2-40B4-BE49-F238E27FC236}">
                <a16:creationId xmlns:a16="http://schemas.microsoft.com/office/drawing/2014/main" id="{72310973-32F7-4712-B6A7-C2D3237AA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오늘의 120분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632DBD-61EA-43C7-B83B-5E15EFA094A0}"/>
              </a:ext>
            </a:extLst>
          </p:cNvPr>
          <p:cNvGraphicFramePr/>
          <p:nvPr/>
        </p:nvGraphicFramePr>
        <p:xfrm>
          <a:off xmlns:a="http://schemas.openxmlformats.org/drawingml/2006/main" x="609600" y="1685925"/>
          <a:ext xmlns:a="http://schemas.openxmlformats.org/drawingml/2006/main" cx="10972800" cy="4391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09800"/>
                <a:gridCol w="3667125"/>
                <a:gridCol w="5095875"/>
              </a:tblGrid>
              <a:tr h="487892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2D3EE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시간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334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2D3EE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진행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334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2D3EE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학생 활동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33444"/>
                    </a:solidFill>
                  </a:tcPr>
                </a:tc>
              </a:tr>
              <a:tr h="487892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00:00–00:10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복습 진행 공유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해본 것과 막힌 점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487892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00:10–00:30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지난 시간의 저장 결과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Bronze 3이력 → Parquet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487892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00:30–00:50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PostgreSQL·Debezium 설정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발행 범위 · 이전 값 · 소비 위치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487892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00:50–00:55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휴식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5분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487892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00:55–01:15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스냅샷과 이벤트 파서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r · c/u/d · tombstone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487892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01:15–01:35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새 환불 예측과 실행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Kafka → Bronze · 실제 파싱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487892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01:35–01:50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수집 구간 진단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어디까지 도착했는가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487892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01:50–02:00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정리와 복습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개인 실행 · 다음 회차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AA661B-6EE5-4E02-A3E3-B7C06A07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5" name="text-8">
            <a:extLst xmlns:a="http://schemas.openxmlformats.org/drawingml/2006/main">
              <a:ext uri="{FF2B5EF4-FFF2-40B4-BE49-F238E27FC236}">
                <a16:creationId xmlns:a16="http://schemas.microsoft.com/office/drawing/2014/main" id="{57626F3E-5D52-45AD-93C3-959C59F8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CDC · Iceberg 스터디  |  2회차</a:t>
            </a:r>
          </a:p>
        </p:txBody>
      </p:sp>
      <p:sp>
        <p:nvSpPr>
          <p:cNvPr id="6" name="text-9">
            <a:extLst xmlns:a="http://schemas.openxmlformats.org/drawingml/2006/main">
              <a:ext uri="{FF2B5EF4-FFF2-40B4-BE49-F238E27FC236}">
                <a16:creationId xmlns:a16="http://schemas.microsoft.com/office/drawing/2014/main" id="{412D6900-421C-43A0-8BDA-F5E72FEB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24853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10">
            <a:extLst xmlns:a="http://schemas.openxmlformats.org/drawingml/2006/main">
              <a:ext uri="{FF2B5EF4-FFF2-40B4-BE49-F238E27FC236}">
                <a16:creationId xmlns:a16="http://schemas.microsoft.com/office/drawing/2014/main" id="{B6B0015B-B8EA-4B4C-905F-B3F6BAFE8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2회차 · PostgreSQL CDC</a:t>
            </a:r>
          </a:p>
        </p:txBody>
      </p:sp>
      <p:sp>
        <p:nvSpPr>
          <p:cNvPr id="2" name="text-11">
            <a:extLst xmlns:a="http://schemas.openxmlformats.org/drawingml/2006/main">
              <a:ext uri="{FF2B5EF4-FFF2-40B4-BE49-F238E27FC236}">
                <a16:creationId xmlns:a16="http://schemas.microsoft.com/office/drawing/2014/main" id="{082AB1B7-5E48-4855-A593-12FC0DA4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복습하면서 어디까지 해보셨나요?</a:t>
            </a:r>
          </a:p>
        </p:txBody>
      </p:sp>
      <p:sp>
        <p:nvSpPr>
          <p:cNvPr id="3" name="panel-12">
            <a:extLst xmlns:a="http://schemas.openxmlformats.org/drawingml/2006/main">
              <a:ext uri="{FF2B5EF4-FFF2-40B4-BE49-F238E27FC236}">
                <a16:creationId xmlns:a16="http://schemas.microsoft.com/office/drawing/2014/main" id="{6F4B333A-B93C-4C43-9A52-EACF284A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517900" cy="3028950"/>
          </a:xfrm>
          <a:prstGeom xmlns:a="http://schemas.openxmlformats.org/drawingml/2006/main" prst="roundRect">
            <a:avLst>
              <a:gd name="adj" fmla="val 283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4" name="text-13">
            <a:extLst xmlns:a="http://schemas.openxmlformats.org/drawingml/2006/main">
              <a:ext uri="{FF2B5EF4-FFF2-40B4-BE49-F238E27FC236}">
                <a16:creationId xmlns:a16="http://schemas.microsoft.com/office/drawing/2014/main" id="{751251AA-5B97-46EB-A4DB-2C52C9A35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3060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rPr>
              <a:t>해본 것</a:t>
            </a:r>
          </a:p>
        </p:txBody>
      </p:sp>
      <p:sp>
        <p:nvSpPr>
          <p:cNvPr id="5" name="text-14">
            <a:extLst xmlns:a="http://schemas.openxmlformats.org/drawingml/2006/main">
              <a:ext uri="{FF2B5EF4-FFF2-40B4-BE49-F238E27FC236}">
                <a16:creationId xmlns:a16="http://schemas.microsoft.com/office/drawing/2014/main" id="{C09D8CB6-AB44-4F96-96B5-66D8C86E9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86100"/>
            <a:ext cx="30607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환경을 띄웠는지,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어떤 명령을 실행했는지</a:t>
            </a:r>
          </a:p>
        </p:txBody>
      </p:sp>
      <p:sp>
        <p:nvSpPr>
          <p:cNvPr id="6" name="panel-15">
            <a:extLst xmlns:a="http://schemas.openxmlformats.org/drawingml/2006/main">
              <a:ext uri="{FF2B5EF4-FFF2-40B4-BE49-F238E27FC236}">
                <a16:creationId xmlns:a16="http://schemas.microsoft.com/office/drawing/2014/main" id="{0B2D55D8-9C7F-4C87-8D32-2B2FFA58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050" y="1943100"/>
            <a:ext cx="3517900" cy="3028950"/>
          </a:xfrm>
          <a:prstGeom xmlns:a="http://schemas.openxmlformats.org/drawingml/2006/main" prst="roundRect">
            <a:avLst>
              <a:gd name="adj" fmla="val 283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7" name="text-16">
            <a:extLst xmlns:a="http://schemas.openxmlformats.org/drawingml/2006/main">
              <a:ext uri="{FF2B5EF4-FFF2-40B4-BE49-F238E27FC236}">
                <a16:creationId xmlns:a16="http://schemas.microsoft.com/office/drawing/2014/main" id="{77318CBF-B971-485F-8400-292420FF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2209800"/>
            <a:ext cx="3060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확인한 결과</a:t>
            </a:r>
          </a:p>
        </p:txBody>
      </p:sp>
      <p:sp>
        <p:nvSpPr>
          <p:cNvPr id="8" name="text-17">
            <a:extLst xmlns:a="http://schemas.openxmlformats.org/drawingml/2006/main">
              <a:ext uri="{FF2B5EF4-FFF2-40B4-BE49-F238E27FC236}">
                <a16:creationId xmlns:a16="http://schemas.microsoft.com/office/drawing/2014/main" id="{32686024-13AE-4BA2-B7DD-D0714602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3086100"/>
            <a:ext cx="30607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예상했던 값과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실제 결과가 같았는지</a:t>
            </a:r>
          </a:p>
        </p:txBody>
      </p:sp>
      <p:sp>
        <p:nvSpPr>
          <p:cNvPr id="9" name="panel-18">
            <a:extLst xmlns:a="http://schemas.openxmlformats.org/drawingml/2006/main">
              <a:ext uri="{FF2B5EF4-FFF2-40B4-BE49-F238E27FC236}">
                <a16:creationId xmlns:a16="http://schemas.microsoft.com/office/drawing/2014/main" id="{62735B1F-9078-4105-8F7B-2BA988BF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1943100"/>
            <a:ext cx="3517900" cy="3028950"/>
          </a:xfrm>
          <a:prstGeom xmlns:a="http://schemas.openxmlformats.org/drawingml/2006/main" prst="roundRect">
            <a:avLst>
              <a:gd name="adj" fmla="val 283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10" name="text-19">
            <a:extLst xmlns:a="http://schemas.openxmlformats.org/drawingml/2006/main">
              <a:ext uri="{FF2B5EF4-FFF2-40B4-BE49-F238E27FC236}">
                <a16:creationId xmlns:a16="http://schemas.microsoft.com/office/drawing/2014/main" id="{EB5CE859-BCEA-411F-9600-B98DD6A7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2209800"/>
            <a:ext cx="3060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막힌 부분</a:t>
            </a:r>
          </a:p>
        </p:txBody>
      </p:sp>
      <p:sp>
        <p:nvSpPr>
          <p:cNvPr id="11" name="text-20">
            <a:extLst xmlns:a="http://schemas.openxmlformats.org/drawingml/2006/main">
              <a:ext uri="{FF2B5EF4-FFF2-40B4-BE49-F238E27FC236}">
                <a16:creationId xmlns:a16="http://schemas.microsoft.com/office/drawing/2014/main" id="{BF639332-1D7C-4974-BD7D-BF933B53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3086100"/>
            <a:ext cx="30607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오류 메시지와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다음에 시도할 것</a:t>
            </a:r>
          </a:p>
        </p:txBody>
      </p:sp>
      <p:sp>
        <p:nvSpPr>
          <p:cNvPr id="12" name="panel-21">
            <a:extLst xmlns:a="http://schemas.openxmlformats.org/drawingml/2006/main">
              <a:ext uri="{FF2B5EF4-FFF2-40B4-BE49-F238E27FC236}">
                <a16:creationId xmlns:a16="http://schemas.microsoft.com/office/drawing/2014/main" id="{196FD7CB-9990-4410-ACF1-7568C88E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70485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22D3EE"/>
            </a:solidFill>
          </a:ln>
        </p:spPr>
      </p:sp>
      <p:sp>
        <p:nvSpPr>
          <p:cNvPr id="13" name="text-22">
            <a:extLst xmlns:a="http://schemas.openxmlformats.org/drawingml/2006/main">
              <a:ext uri="{FF2B5EF4-FFF2-40B4-BE49-F238E27FC236}">
                <a16:creationId xmlns:a16="http://schemas.microsoft.com/office/drawing/2014/main" id="{BFE407A2-C8C3-4B00-B5D5-7A4FCBAC7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10629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SQL이나 실행 화면을 보면서 편하게 나눕니다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A22405-4B2B-43CC-AB28-99A98CA4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15" name="text-23">
            <a:extLst xmlns:a="http://schemas.openxmlformats.org/drawingml/2006/main">
              <a:ext uri="{FF2B5EF4-FFF2-40B4-BE49-F238E27FC236}">
                <a16:creationId xmlns:a16="http://schemas.microsoft.com/office/drawing/2014/main" id="{A77E9DDC-7EBD-4AD6-B74C-63354259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CDC · Iceberg 스터디  |  2회차</a:t>
            </a:r>
          </a:p>
        </p:txBody>
      </p:sp>
      <p:sp>
        <p:nvSpPr>
          <p:cNvPr id="16" name="text-24">
            <a:extLst xmlns:a="http://schemas.openxmlformats.org/drawingml/2006/main">
              <a:ext uri="{FF2B5EF4-FFF2-40B4-BE49-F238E27FC236}">
                <a16:creationId xmlns:a16="http://schemas.microsoft.com/office/drawing/2014/main" id="{B46FCE60-13B5-482E-B7C5-B432A800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027250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-25">
            <a:extLst xmlns:a="http://schemas.openxmlformats.org/drawingml/2006/main">
              <a:ext uri="{FF2B5EF4-FFF2-40B4-BE49-F238E27FC236}">
                <a16:creationId xmlns:a16="http://schemas.microsoft.com/office/drawing/2014/main" id="{4C4384F4-6B95-42EE-8ED4-D4A7CAA74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2회차 · PostgreSQL CDC</a:t>
            </a:r>
          </a:p>
        </p:txBody>
      </p:sp>
      <p:sp>
        <p:nvSpPr>
          <p:cNvPr id="2" name="text-26">
            <a:extLst xmlns:a="http://schemas.openxmlformats.org/drawingml/2006/main">
              <a:ext uri="{FF2B5EF4-FFF2-40B4-BE49-F238E27FC236}">
                <a16:creationId xmlns:a16="http://schemas.microsoft.com/office/drawing/2014/main" id="{984A868A-A781-429C-9A1B-34E581ACB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오늘 확인할 수집 경로</a:t>
            </a:r>
          </a:p>
        </p:txBody>
      </p:sp>
      <p:sp>
        <p:nvSpPr>
          <p:cNvPr id="3" name="panel-27">
            <a:extLst xmlns:a="http://schemas.openxmlformats.org/drawingml/2006/main">
              <a:ext uri="{FF2B5EF4-FFF2-40B4-BE49-F238E27FC236}">
                <a16:creationId xmlns:a16="http://schemas.microsoft.com/office/drawing/2014/main" id="{3C1EB22D-F609-4850-BC81-B93E0673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973580" cy="17716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4" name="text-28">
            <a:extLst xmlns:a="http://schemas.openxmlformats.org/drawingml/2006/main">
              <a:ext uri="{FF2B5EF4-FFF2-40B4-BE49-F238E27FC236}">
                <a16:creationId xmlns:a16="http://schemas.microsoft.com/office/drawing/2014/main" id="{CB275194-9EA5-46AE-8A47-28183411F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638425"/>
            <a:ext cx="168783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buNone/>
              <a:defRPr sz="2025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buNone/>
              <a:defRPr sz="2025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buNone/>
              <a:defRPr sz="2025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buNone/>
              <a:defRPr sz="2025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buNone/>
              <a:defRPr sz="2025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buNone/>
              <a:defRPr sz="2025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buNone/>
              <a:defRPr sz="2025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buNone/>
              <a:defRPr sz="2025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buNone/>
              <a:defRPr sz="2025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PostgreSQL</a:t>
            </a:r>
          </a:p>
        </p:txBody>
      </p:sp>
      <p:sp>
        <p:nvSpPr>
          <p:cNvPr id="5" name="text-29">
            <a:extLst xmlns:a="http://schemas.openxmlformats.org/drawingml/2006/main">
              <a:ext uri="{FF2B5EF4-FFF2-40B4-BE49-F238E27FC236}">
                <a16:creationId xmlns:a16="http://schemas.microsoft.com/office/drawing/2014/main" id="{5B5E6F83-EAD2-4B82-89C7-EA99DCD8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57575"/>
            <a:ext cx="170688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현재 행 · WAL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7B4761-3DEA-4EB5-A622-A370BA82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1280" y="3124200"/>
            <a:ext cx="2000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</a:ln>
        </p:spPr>
      </p:sp>
      <p:sp>
        <p:nvSpPr>
          <p:cNvPr id="7" name="panel-30">
            <a:extLst xmlns:a="http://schemas.openxmlformats.org/drawingml/2006/main">
              <a:ext uri="{FF2B5EF4-FFF2-40B4-BE49-F238E27FC236}">
                <a16:creationId xmlns:a16="http://schemas.microsoft.com/office/drawing/2014/main" id="{CBECA698-CABB-4789-8934-C4EA35970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9405" y="2362200"/>
            <a:ext cx="1973580" cy="17716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8" name="text-31">
            <a:extLst xmlns:a="http://schemas.openxmlformats.org/drawingml/2006/main">
              <a:ext uri="{FF2B5EF4-FFF2-40B4-BE49-F238E27FC236}">
                <a16:creationId xmlns:a16="http://schemas.microsoft.com/office/drawing/2014/main" id="{00BDA40B-4606-4328-9C8F-A8A7BDB9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2280" y="2638425"/>
            <a:ext cx="168783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buNone/>
              <a:defRPr sz="2025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buNone/>
              <a:defRPr sz="2025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buNone/>
              <a:defRPr sz="2025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buNone/>
              <a:defRPr sz="2025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buNone/>
              <a:defRPr sz="2025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buNone/>
              <a:defRPr sz="2025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buNone/>
              <a:defRPr sz="2025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buNone/>
              <a:defRPr sz="2025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buNone/>
              <a:defRPr sz="2025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Debezium</a:t>
            </a:r>
          </a:p>
        </p:txBody>
      </p:sp>
      <p:sp>
        <p:nvSpPr>
          <p:cNvPr id="9" name="text-32">
            <a:extLst xmlns:a="http://schemas.openxmlformats.org/drawingml/2006/main">
              <a:ext uri="{FF2B5EF4-FFF2-40B4-BE49-F238E27FC236}">
                <a16:creationId xmlns:a16="http://schemas.microsoft.com/office/drawing/2014/main" id="{1C87C0DD-24E9-4603-956C-0AA66C87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2755" y="3457575"/>
            <a:ext cx="170688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변경 이벤트 생성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EF1FDE-9DE8-4B56-8420-801066789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1085" y="3124200"/>
            <a:ext cx="2000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</a:ln>
        </p:spPr>
      </p:sp>
      <p:sp>
        <p:nvSpPr>
          <p:cNvPr id="11" name="panel-33">
            <a:extLst xmlns:a="http://schemas.openxmlformats.org/drawingml/2006/main">
              <a:ext uri="{FF2B5EF4-FFF2-40B4-BE49-F238E27FC236}">
                <a16:creationId xmlns:a16="http://schemas.microsoft.com/office/drawing/2014/main" id="{1310F6CF-311F-40BD-BAEC-7FC8845D6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9210" y="2362200"/>
            <a:ext cx="1973580" cy="17716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12" name="text-34">
            <a:extLst xmlns:a="http://schemas.openxmlformats.org/drawingml/2006/main">
              <a:ext uri="{FF2B5EF4-FFF2-40B4-BE49-F238E27FC236}">
                <a16:creationId xmlns:a16="http://schemas.microsoft.com/office/drawing/2014/main" id="{BC9E7D7A-E52F-4015-BE45-420D5857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2085" y="2638425"/>
            <a:ext cx="168783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buNone/>
              <a:defRPr sz="2025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buNone/>
              <a:defRPr sz="2025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buNone/>
              <a:defRPr sz="2025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buNone/>
              <a:defRPr sz="2025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buNone/>
              <a:defRPr sz="2025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buNone/>
              <a:defRPr sz="2025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buNone/>
              <a:defRPr sz="2025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buNone/>
              <a:defRPr sz="2025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buNone/>
              <a:defRPr sz="2025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Kafka</a:t>
            </a:r>
          </a:p>
        </p:txBody>
      </p:sp>
      <p:sp>
        <p:nvSpPr>
          <p:cNvPr id="13" name="text-35">
            <a:extLst xmlns:a="http://schemas.openxmlformats.org/drawingml/2006/main">
              <a:ext uri="{FF2B5EF4-FFF2-40B4-BE49-F238E27FC236}">
                <a16:creationId xmlns:a16="http://schemas.microsoft.com/office/drawing/2014/main" id="{173C559A-01D3-4C1B-85B5-57510F2A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0" y="3457575"/>
            <a:ext cx="170688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key/value · 위치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CF4491-4C67-4532-91F3-99286C8FF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0890" y="3124200"/>
            <a:ext cx="2000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</a:ln>
        </p:spPr>
      </p:sp>
      <p:sp>
        <p:nvSpPr>
          <p:cNvPr id="15" name="panel-36">
            <a:extLst xmlns:a="http://schemas.openxmlformats.org/drawingml/2006/main">
              <a:ext uri="{FF2B5EF4-FFF2-40B4-BE49-F238E27FC236}">
                <a16:creationId xmlns:a16="http://schemas.microsoft.com/office/drawing/2014/main" id="{4C883AC8-E1CE-49D2-8A33-38C225BA7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9015" y="2362200"/>
            <a:ext cx="1973580" cy="17716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16" name="text-37">
            <a:extLst xmlns:a="http://schemas.openxmlformats.org/drawingml/2006/main">
              <a:ext uri="{FF2B5EF4-FFF2-40B4-BE49-F238E27FC236}">
                <a16:creationId xmlns:a16="http://schemas.microsoft.com/office/drawing/2014/main" id="{FEC6D937-AB5D-45A8-94C1-6AB775AC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1890" y="2638425"/>
            <a:ext cx="168783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buNone/>
              <a:defRPr sz="2025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buNone/>
              <a:defRPr sz="2025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buNone/>
              <a:defRPr sz="2025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buNone/>
              <a:defRPr sz="2025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buNone/>
              <a:defRPr sz="2025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buNone/>
              <a:defRPr sz="2025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buNone/>
              <a:defRPr sz="2025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buNone/>
              <a:defRPr sz="2025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buNone/>
              <a:defRPr sz="2025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Flink</a:t>
            </a:r>
          </a:p>
        </p:txBody>
      </p:sp>
      <p:sp>
        <p:nvSpPr>
          <p:cNvPr id="17" name="text-38">
            <a:extLst xmlns:a="http://schemas.openxmlformats.org/drawingml/2006/main">
              <a:ext uri="{FF2B5EF4-FFF2-40B4-BE49-F238E27FC236}">
                <a16:creationId xmlns:a16="http://schemas.microsoft.com/office/drawing/2014/main" id="{380D5638-DCA1-4A44-8C66-3EBAB0FB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2365" y="3457575"/>
            <a:ext cx="170688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원문 append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F57872-79F5-4D57-8558-40C827FB9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0695" y="3124200"/>
            <a:ext cx="2000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</a:ln>
        </p:spPr>
      </p:sp>
      <p:sp>
        <p:nvSpPr>
          <p:cNvPr id="19" name="panel-39">
            <a:extLst xmlns:a="http://schemas.openxmlformats.org/drawingml/2006/main">
              <a:ext uri="{FF2B5EF4-FFF2-40B4-BE49-F238E27FC236}">
                <a16:creationId xmlns:a16="http://schemas.microsoft.com/office/drawing/2014/main" id="{3874A641-05D0-4043-BA16-C42B7E065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8820" y="2362200"/>
            <a:ext cx="1973580" cy="17716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22D3EE"/>
            </a:solidFill>
          </a:ln>
        </p:spPr>
      </p:sp>
      <p:sp>
        <p:nvSpPr>
          <p:cNvPr id="20" name="text-40">
            <a:extLst xmlns:a="http://schemas.openxmlformats.org/drawingml/2006/main">
              <a:ext uri="{FF2B5EF4-FFF2-40B4-BE49-F238E27FC236}">
                <a16:creationId xmlns:a16="http://schemas.microsoft.com/office/drawing/2014/main" id="{5A566097-B347-49C8-800E-275CB1B0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1695" y="2638425"/>
            <a:ext cx="168783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buNone/>
              <a:defRPr sz="20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buNone/>
              <a:defRPr sz="20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buNone/>
              <a:defRPr sz="20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buNone/>
              <a:defRPr sz="20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buNone/>
              <a:defRPr sz="20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buNone/>
              <a:defRPr sz="20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buNone/>
              <a:defRPr sz="20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buNone/>
              <a:defRPr sz="20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buNone/>
              <a:defRPr sz="20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Iceberg Bronze</a:t>
            </a:r>
          </a:p>
        </p:txBody>
      </p:sp>
      <p:sp>
        <p:nvSpPr>
          <p:cNvPr id="21" name="text-41">
            <a:extLst xmlns:a="http://schemas.openxmlformats.org/drawingml/2006/main">
              <a:ext uri="{FF2B5EF4-FFF2-40B4-BE49-F238E27FC236}">
                <a16:creationId xmlns:a16="http://schemas.microsoft.com/office/drawing/2014/main" id="{BD1C58EB-26A7-484F-91F1-4ACAD268B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2170" y="3457575"/>
            <a:ext cx="170688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SQL · 저장 파일</a:t>
            </a:r>
          </a:p>
        </p:txBody>
      </p:sp>
      <p:sp>
        <p:nvSpPr>
          <p:cNvPr id="22" name="panel-42">
            <a:extLst xmlns:a="http://schemas.openxmlformats.org/drawingml/2006/main">
              <a:ext uri="{FF2B5EF4-FFF2-40B4-BE49-F238E27FC236}">
                <a16:creationId xmlns:a16="http://schemas.microsoft.com/office/drawing/2014/main" id="{7191F72D-0813-4221-BAB3-9A86F1F7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70485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22D3EE"/>
            </a:solidFill>
          </a:ln>
        </p:spPr>
      </p:sp>
      <p:sp>
        <p:nvSpPr>
          <p:cNvPr id="23" name="text-43">
            <a:extLst xmlns:a="http://schemas.openxmlformats.org/drawingml/2006/main">
              <a:ext uri="{FF2B5EF4-FFF2-40B4-BE49-F238E27FC236}">
                <a16:creationId xmlns:a16="http://schemas.microsoft.com/office/drawing/2014/main" id="{4449A489-FDDA-43F8-AEE5-86192624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10629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Spark SQL은 Bronze를 읽는 데 사용합니다</a:t>
            </a:r>
          </a:p>
          <a:p xmlns:a="http://schemas.openxmlformats.org/drawingml/2006/main">
            <a: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Silver·Gold 변환과 dbt 구현은 후속 회차입니다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ED7CCB-E841-497C-8472-573F2C07F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25" name="text-44">
            <a:extLst xmlns:a="http://schemas.openxmlformats.org/drawingml/2006/main">
              <a:ext uri="{FF2B5EF4-FFF2-40B4-BE49-F238E27FC236}">
                <a16:creationId xmlns:a16="http://schemas.microsoft.com/office/drawing/2014/main" id="{8DEFE5D0-EAF6-4A6B-A347-D11F1D5C6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CDC · Iceberg 스터디  |  2회차</a:t>
            </a:r>
          </a:p>
        </p:txBody>
      </p:sp>
      <p:sp>
        <p:nvSpPr>
          <p:cNvPr id="26" name="text-45">
            <a:extLst xmlns:a="http://schemas.openxmlformats.org/drawingml/2006/main">
              <a:ext uri="{FF2B5EF4-FFF2-40B4-BE49-F238E27FC236}">
                <a16:creationId xmlns:a16="http://schemas.microsoft.com/office/drawing/2014/main" id="{B637CA98-5CAB-44FF-8F91-553B13C8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793601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46">
            <a:extLst xmlns:a="http://schemas.openxmlformats.org/drawingml/2006/main">
              <a:ext uri="{FF2B5EF4-FFF2-40B4-BE49-F238E27FC236}">
                <a16:creationId xmlns:a16="http://schemas.microsoft.com/office/drawing/2014/main" id="{D3F65DCF-B16A-4121-9FC0-34B29F1A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2회차 · PostgreSQL CDC</a:t>
            </a:r>
          </a:p>
        </p:txBody>
      </p:sp>
      <p:sp>
        <p:nvSpPr>
          <p:cNvPr id="2" name="text-47">
            <a:extLst xmlns:a="http://schemas.openxmlformats.org/drawingml/2006/main">
              <a:ext uri="{FF2B5EF4-FFF2-40B4-BE49-F238E27FC236}">
                <a16:creationId xmlns:a16="http://schemas.microsoft.com/office/drawing/2014/main" id="{A4AF2A9B-4790-4685-AB60-7E92F760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삭제한 환불은 어디에 남을까요?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7E7053-52A6-47A6-BA9B-EF60C4DE5DAF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3476625"/>
                <a:gridCol w="5210175"/>
              </a:tblGrid>
              <a:tr h="8334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2D3EE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단계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334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2D3EE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원천 PostgreSQL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334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2D3EE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Kafka value / Bronze payload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33444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INSERT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1행 · 20,000원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c · after.amount = 20000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UPDATE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1행 · 30,000원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u · before 20000 → after 30000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DELETE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0행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 · before 30000 → after null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4" name="panel-48">
            <a:extLst xmlns:a="http://schemas.openxmlformats.org/drawingml/2006/main">
              <a:ext uri="{FF2B5EF4-FFF2-40B4-BE49-F238E27FC236}">
                <a16:creationId xmlns:a16="http://schemas.microsoft.com/office/drawing/2014/main" id="{F0B58CE5-53B8-46C8-9108-0164FE77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70485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22D3EE"/>
            </a:solidFill>
          </a:ln>
        </p:spPr>
      </p:sp>
      <p:sp>
        <p:nvSpPr>
          <p:cNvPr id="5" name="text-49">
            <a:extLst xmlns:a="http://schemas.openxmlformats.org/drawingml/2006/main">
              <a:ext uri="{FF2B5EF4-FFF2-40B4-BE49-F238E27FC236}">
                <a16:creationId xmlns:a16="http://schemas.microsoft.com/office/drawing/2014/main" id="{5F1272AE-B9EF-43DF-A938-C18105BFA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10629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같은 PK의 c/u/d는 서로 다른 변경 이력입니다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C62537-090E-4F5A-BEB0-31A70ACC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7" name="text-50">
            <a:extLst xmlns:a="http://schemas.openxmlformats.org/drawingml/2006/main">
              <a:ext uri="{FF2B5EF4-FFF2-40B4-BE49-F238E27FC236}">
                <a16:creationId xmlns:a16="http://schemas.microsoft.com/office/drawing/2014/main" id="{00D05031-C79D-4FF1-8B64-E29E0D6C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CDC · Iceberg 스터디  |  2회차</a:t>
            </a:r>
          </a:p>
        </p:txBody>
      </p:sp>
      <p:sp>
        <p:nvSpPr>
          <p:cNvPr id="8" name="text-51">
            <a:extLst xmlns:a="http://schemas.openxmlformats.org/drawingml/2006/main">
              <a:ext uri="{FF2B5EF4-FFF2-40B4-BE49-F238E27FC236}">
                <a16:creationId xmlns:a16="http://schemas.microsoft.com/office/drawing/2014/main" id="{1D8B1809-7B23-47C6-A634-91FE4293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992612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52">
            <a:extLst xmlns:a="http://schemas.openxmlformats.org/drawingml/2006/main">
              <a:ext uri="{FF2B5EF4-FFF2-40B4-BE49-F238E27FC236}">
                <a16:creationId xmlns:a16="http://schemas.microsoft.com/office/drawing/2014/main" id="{63D18357-7201-48D7-A7AD-97FCCEB0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2회차 · PostgreSQL CDC</a:t>
            </a:r>
          </a:p>
        </p:txBody>
      </p:sp>
      <p:sp>
        <p:nvSpPr>
          <p:cNvPr id="2" name="text-53">
            <a:extLst xmlns:a="http://schemas.openxmlformats.org/drawingml/2006/main">
              <a:ext uri="{FF2B5EF4-FFF2-40B4-BE49-F238E27FC236}">
                <a16:creationId xmlns:a16="http://schemas.microsoft.com/office/drawing/2014/main" id="{902E3B0E-EA5A-4303-9BFE-F862E68AC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Bronze에서 같은 환불의 세 이력 조회</a:t>
            </a:r>
          </a:p>
        </p:txBody>
      </p:sp>
      <p:sp>
        <p:nvSpPr>
          <p:cNvPr id="3" name="text-54">
            <a:extLst xmlns:a="http://schemas.openxmlformats.org/drawingml/2006/main">
              <a:ext uri="{FF2B5EF4-FFF2-40B4-BE49-F238E27FC236}">
                <a16:creationId xmlns:a16="http://schemas.microsoft.com/office/drawing/2014/main" id="{9936E93D-E0A8-462B-94F7-2304ACE2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Spark SQL · lake.bronze.cdc_events</a:t>
            </a:r>
          </a:p>
        </p:txBody>
      </p:sp>
      <p:sp>
        <p:nvSpPr>
          <p:cNvPr id="4" name="panel-55">
            <a:extLst xmlns:a="http://schemas.openxmlformats.org/drawingml/2006/main">
              <a:ext uri="{FF2B5EF4-FFF2-40B4-BE49-F238E27FC236}">
                <a16:creationId xmlns:a16="http://schemas.microsoft.com/office/drawing/2014/main" id="{E35C00DE-4F9C-47FB-A2D8-688BF69AD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972800" cy="3314700"/>
          </a:xfrm>
          <a:prstGeom xmlns:a="http://schemas.openxmlformats.org/drawingml/2006/main" prst="roundRect">
            <a:avLst>
              <a:gd name="adj" fmla="val 2586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5" name="text-56">
            <a:extLst xmlns:a="http://schemas.openxmlformats.org/drawingml/2006/main">
              <a:ext uri="{FF2B5EF4-FFF2-40B4-BE49-F238E27FC236}">
                <a16:creationId xmlns:a16="http://schemas.microsoft.com/office/drawing/2014/main" id="{8399E71D-C3CD-4452-B1FA-93F9127A7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71700"/>
            <a:ext cx="1055370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defPPr>
            <a:lvl1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lvl1pPr>
            <a:lvl2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lvl2pPr>
            <a:lvl3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lvl3pPr>
            <a:lvl4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lvl4pPr>
            <a:lvl5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lvl5pPr>
            <a:lvl6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lvl6pPr>
            <a:lvl7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lvl7pPr>
            <a:lvl8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lvl8pPr>
            <a:lvl9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pPr>
            <a:r>
              <a:rPr sz="1725" b="0">
                <a:solidFill>
                  <a:srgbClr val="F8FAFC"/>
                </a:solidFill>
                <a:latin typeface="D2Coding"/>
                <a:ea typeface="D2Coding"/>
                <a:cs typeface="D2Coding"/>
              </a:rPr>
              <a:t>SELECT get_json_object(payload, '$.op') AS op,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pPr>
            <a:r>
              <a:rPr sz="1725" b="0">
                <a:solidFill>
                  <a:srgbClr val="F8FAFC"/>
                </a:solidFill>
                <a:latin typeface="D2Coding"/>
                <a:ea typeface="D2Coding"/>
                <a:cs typeface="D2Coding"/>
              </a:rPr>
              <a:t>       get_json_object(payload, '$.before.amount') AS before_amount,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pPr>
            <a:r>
              <a:rPr sz="1725" b="0">
                <a:solidFill>
                  <a:srgbClr val="F8FAFC"/>
                </a:solidFill>
                <a:latin typeface="D2Coding"/>
                <a:ea typeface="D2Coding"/>
                <a:cs typeface="D2Coding"/>
              </a:rPr>
              <a:t>       get_json_object(payload, '$.after.amount') AS after_amount,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pPr>
            <a:r>
              <a:rPr sz="1725" b="0">
                <a:solidFill>
                  <a:srgbClr val="F8FAFC"/>
                </a:solidFill>
                <a:latin typeface="D2Coding"/>
                <a:ea typeface="D2Coding"/>
                <a:cs typeface="D2Coding"/>
              </a:rPr>
              <a:t>       topic, partition_id, kafka_offset, _file AS parquet_file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pPr>
            <a:r>
              <a:rPr sz="1725" b="0">
                <a:solidFill>
                  <a:srgbClr val="F8FAFC"/>
                </a:solidFill>
                <a:latin typeface="D2Coding"/>
                <a:ea typeface="D2Coding"/>
                <a:cs typeface="D2Coding"/>
              </a:rPr>
              <a:t>FROM lake.bronze.cdc_events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pPr>
            <a:r>
              <a:rPr sz="1725" b="0">
                <a:solidFill>
                  <a:srgbClr val="F8FAFC"/>
                </a:solidFill>
                <a:latin typeface="D2Coding"/>
                <a:ea typeface="D2Coding"/>
                <a:cs typeface="D2Coding"/>
              </a:rPr>
              <a:t>WHERE topic = 'cdc.public.refunds'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pPr>
            <a:r>
              <a:rPr sz="1725" b="0">
                <a:solidFill>
                  <a:srgbClr val="F8FAFC"/>
                </a:solidFill>
                <a:latin typeface="D2Coding"/>
                <a:ea typeface="D2Coding"/>
                <a:cs typeface="D2Coding"/>
              </a:rPr>
              <a:t>  AND (get_json_object(payload, '$.after.refund_id') = '&lt;환불_ID&gt;'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pPr>
            <a:r>
              <a:rPr sz="1725" b="0">
                <a:solidFill>
                  <a:srgbClr val="F8FAFC"/>
                </a:solidFill>
                <a:latin typeface="D2Coding"/>
                <a:ea typeface="D2Coding"/>
                <a:cs typeface="D2Coding"/>
              </a:rPr>
              <a:t>    OR get_json_object(payload, '$.before.refund_id') = '&lt;환불_ID&gt;')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pPr>
            <a:r>
              <a:rPr sz="1725" b="0">
                <a:solidFill>
                  <a:srgbClr val="F8FAFC"/>
                </a:solidFill>
                <a:latin typeface="D2Coding"/>
                <a:ea typeface="D2Coding"/>
                <a:cs typeface="D2Coding"/>
              </a:rPr>
              <a:t>ORDER BY partition_id, kafka_offset;</a:t>
            </a:r>
          </a:p>
        </p:txBody>
      </p:sp>
      <p:sp>
        <p:nvSpPr>
          <p:cNvPr id="6" name="panel-57">
            <a:extLst xmlns:a="http://schemas.openxmlformats.org/drawingml/2006/main">
              <a:ext uri="{FF2B5EF4-FFF2-40B4-BE49-F238E27FC236}">
                <a16:creationId xmlns:a16="http://schemas.microsoft.com/office/drawing/2014/main" id="{D8DEEA75-30F2-4FCD-90BD-17D598F20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70485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22D3EE"/>
            </a:solidFill>
          </a:ln>
        </p:spPr>
      </p:sp>
      <p:sp>
        <p:nvSpPr>
          <p:cNvPr id="7" name="text-58">
            <a:extLst xmlns:a="http://schemas.openxmlformats.org/drawingml/2006/main">
              <a:ext uri="{FF2B5EF4-FFF2-40B4-BE49-F238E27FC236}">
                <a16:creationId xmlns:a16="http://schemas.microsoft.com/office/drawing/2014/main" id="{0169E4AC-9085-4D7F-8F0B-199BFB58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10629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DELETE는 before의 PK도 찾습니다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331501-FF7B-44ED-9CAD-4E20FB238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9" name="text-59">
            <a:extLst xmlns:a="http://schemas.openxmlformats.org/drawingml/2006/main">
              <a:ext uri="{FF2B5EF4-FFF2-40B4-BE49-F238E27FC236}">
                <a16:creationId xmlns:a16="http://schemas.microsoft.com/office/drawing/2014/main" id="{83252AA2-68FD-413E-B0F8-388CE23B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CDC · Iceberg 스터디  |  2회차</a:t>
            </a:r>
          </a:p>
        </p:txBody>
      </p:sp>
      <p:sp>
        <p:nvSpPr>
          <p:cNvPr id="10" name="text-60">
            <a:extLst xmlns:a="http://schemas.openxmlformats.org/drawingml/2006/main">
              <a:ext uri="{FF2B5EF4-FFF2-40B4-BE49-F238E27FC236}">
                <a16:creationId xmlns:a16="http://schemas.microsoft.com/office/drawing/2014/main" id="{ACC7635D-D264-4008-B7B6-4BF08634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059954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61">
            <a:extLst xmlns:a="http://schemas.openxmlformats.org/drawingml/2006/main">
              <a:ext uri="{FF2B5EF4-FFF2-40B4-BE49-F238E27FC236}">
                <a16:creationId xmlns:a16="http://schemas.microsoft.com/office/drawing/2014/main" id="{48E0EEB5-BEC9-449C-9E04-6A8D783C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2회차 · PostgreSQL CDC</a:t>
            </a:r>
          </a:p>
        </p:txBody>
      </p:sp>
      <p:sp>
        <p:nvSpPr>
          <p:cNvPr id="2" name="text-62">
            <a:extLst xmlns:a="http://schemas.openxmlformats.org/drawingml/2006/main">
              <a:ext uri="{FF2B5EF4-FFF2-40B4-BE49-F238E27FC236}">
                <a16:creationId xmlns:a16="http://schemas.microsoft.com/office/drawing/2014/main" id="{D5BB2613-C6DB-4106-AB60-00DCBCBDF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조회 결과를 이렇게 대조합니다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104038-DE2B-41F9-A44D-1B511D9FA71E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19450"/>
                <a:gridCol w="7753350"/>
              </a:tblGrid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2D3EE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확인할 것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334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2D3EE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판단할 근거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33444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같은 환불인가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before / after의 refund_id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변경 내용이 맞는가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op와 20,000 → 30,000 → 삭제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어느 메시지인가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topic + partition_id + kafka_offset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어느 파일에 있는가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parquet_file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4" name="panel-63">
            <a:extLst xmlns:a="http://schemas.openxmlformats.org/drawingml/2006/main">
              <a:ext uri="{FF2B5EF4-FFF2-40B4-BE49-F238E27FC236}">
                <a16:creationId xmlns:a16="http://schemas.microsoft.com/office/drawing/2014/main" id="{5F2851D0-810A-4754-9C0A-8550C8B0B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70485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22D3EE"/>
            </a:solidFill>
          </a:ln>
        </p:spPr>
      </p:sp>
      <p:sp>
        <p:nvSpPr>
          <p:cNvPr id="5" name="text-64">
            <a:extLst xmlns:a="http://schemas.openxmlformats.org/drawingml/2006/main">
              <a:ext uri="{FF2B5EF4-FFF2-40B4-BE49-F238E27FC236}">
                <a16:creationId xmlns:a16="http://schemas.microsoft.com/office/drawing/2014/main" id="{95F2B582-8B4F-41B9-B682-C9FC95E8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10629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오늘의 관찰은 이번 키의 결과입니다. 전체 데이터의 무누락 보장은 아닙니다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FEEC33-9594-4F34-BFEF-FE4CDC8B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7" name="text-65">
            <a:extLst xmlns:a="http://schemas.openxmlformats.org/drawingml/2006/main">
              <a:ext uri="{FF2B5EF4-FFF2-40B4-BE49-F238E27FC236}">
                <a16:creationId xmlns:a16="http://schemas.microsoft.com/office/drawing/2014/main" id="{1B5E0F4C-1B64-41F5-AAF5-FB55560F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CDC · Iceberg 스터디  |  2회차</a:t>
            </a:r>
          </a:p>
        </p:txBody>
      </p:sp>
      <p:sp>
        <p:nvSpPr>
          <p:cNvPr id="8" name="text-66">
            <a:extLst xmlns:a="http://schemas.openxmlformats.org/drawingml/2006/main">
              <a:ext uri="{FF2B5EF4-FFF2-40B4-BE49-F238E27FC236}">
                <a16:creationId xmlns:a16="http://schemas.microsoft.com/office/drawing/2014/main" id="{615622C4-C968-4832-AF46-38F93AAA1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3348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67">
            <a:extLst xmlns:a="http://schemas.openxmlformats.org/drawingml/2006/main">
              <a:ext uri="{FF2B5EF4-FFF2-40B4-BE49-F238E27FC236}">
                <a16:creationId xmlns:a16="http://schemas.microsoft.com/office/drawing/2014/main" id="{A3519D50-F8B9-4BCC-80D1-757D62BA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2회차 · PostgreSQL CDC</a:t>
            </a:r>
          </a:p>
        </p:txBody>
      </p:sp>
      <p:sp>
        <p:nvSpPr>
          <p:cNvPr id="2" name="text-68">
            <a:extLst xmlns:a="http://schemas.openxmlformats.org/drawingml/2006/main">
              <a:ext uri="{FF2B5EF4-FFF2-40B4-BE49-F238E27FC236}">
                <a16:creationId xmlns:a16="http://schemas.microsoft.com/office/drawing/2014/main" id="{A4A08799-0DCE-4313-8FE1-CF6FE065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현재 테이블이 참조하는 파일 확인</a:t>
            </a:r>
          </a:p>
        </p:txBody>
      </p:sp>
      <p:sp>
        <p:nvSpPr>
          <p:cNvPr id="3" name="text-69">
            <a:extLst xmlns:a="http://schemas.openxmlformats.org/drawingml/2006/main">
              <a:ext uri="{FF2B5EF4-FFF2-40B4-BE49-F238E27FC236}">
                <a16:creationId xmlns:a16="http://schemas.microsoft.com/office/drawing/2014/main" id="{90848B3C-D308-46AB-9BF9-BDD913B8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Spark SQL · Iceberg files 메타데이터 테이블</a:t>
            </a:r>
          </a:p>
        </p:txBody>
      </p:sp>
      <p:sp>
        <p:nvSpPr>
          <p:cNvPr id="4" name="panel-70">
            <a:extLst xmlns:a="http://schemas.openxmlformats.org/drawingml/2006/main">
              <a:ext uri="{FF2B5EF4-FFF2-40B4-BE49-F238E27FC236}">
                <a16:creationId xmlns:a16="http://schemas.microsoft.com/office/drawing/2014/main" id="{B5BC696E-2D32-4AB7-823F-7BB86157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972800" cy="3314700"/>
          </a:xfrm>
          <a:prstGeom xmlns:a="http://schemas.openxmlformats.org/drawingml/2006/main" prst="roundRect">
            <a:avLst>
              <a:gd name="adj" fmla="val 2586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5" name="text-71">
            <a:extLst xmlns:a="http://schemas.openxmlformats.org/drawingml/2006/main">
              <a:ext uri="{FF2B5EF4-FFF2-40B4-BE49-F238E27FC236}">
                <a16:creationId xmlns:a16="http://schemas.microsoft.com/office/drawing/2014/main" id="{B6618537-F426-4DE7-BE68-76AF93AB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71700"/>
            <a:ext cx="1055370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defPPr>
            <a:lvl1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lvl1pPr>
            <a:lvl2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lvl2pPr>
            <a:lvl3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lvl3pPr>
            <a:lvl4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lvl4pPr>
            <a:lvl5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lvl5pPr>
            <a:lvl6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lvl6pPr>
            <a:lvl7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lvl7pPr>
            <a:lvl8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lvl8pPr>
            <a:lvl9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pPr>
            <a:r>
              <a:rPr sz="1725" b="0">
                <a:solidFill>
                  <a:srgbClr val="F8FAFC"/>
                </a:solidFill>
                <a:latin typeface="D2Coding"/>
                <a:ea typeface="D2Coding"/>
                <a:cs typeface="D2Coding"/>
              </a:rPr>
              <a:t>SELECT file_path, file_format, record_count, file_size_in_bytes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pPr>
            <a:r>
              <a:rPr sz="1725" b="0">
                <a:solidFill>
                  <a:srgbClr val="F8FAFC"/>
                </a:solidFill>
                <a:latin typeface="D2Coding"/>
                <a:ea typeface="D2Coding"/>
                <a:cs typeface="D2Coding"/>
              </a:rPr>
              <a:t>FROM lake.bronze.cdc_events.files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pPr>
            <a:r>
              <a:rPr sz="1725" b="0">
                <a:solidFill>
                  <a:srgbClr val="F8FAFC"/>
                </a:solidFill>
                <a:latin typeface="D2Coding"/>
                <a:ea typeface="D2Coding"/>
                <a:cs typeface="D2Coding"/>
              </a:rPr>
              <a:t>WHERE content = 0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pPr>
            <a:r>
              <a:rPr sz="1725" b="0">
                <a:solidFill>
                  <a:srgbClr val="F8FAFC"/>
                </a:solidFill>
                <a:latin typeface="D2Coding"/>
                <a:ea typeface="D2Coding"/>
                <a:cs typeface="D2Coding"/>
              </a:rPr>
              <a:t>ORDER BY file_path LIMIT 10;</a:t>
            </a:r>
          </a:p>
        </p:txBody>
      </p:sp>
      <p:sp>
        <p:nvSpPr>
          <p:cNvPr id="6" name="panel-72">
            <a:extLst xmlns:a="http://schemas.openxmlformats.org/drawingml/2006/main">
              <a:ext uri="{FF2B5EF4-FFF2-40B4-BE49-F238E27FC236}">
                <a16:creationId xmlns:a16="http://schemas.microsoft.com/office/drawing/2014/main" id="{B7E8C47E-C88B-4D50-88B0-05F0A465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70485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22D3EE"/>
            </a:solidFill>
          </a:ln>
        </p:spPr>
      </p:sp>
      <p:sp>
        <p:nvSpPr>
          <p:cNvPr id="7" name="text-73">
            <a:extLst xmlns:a="http://schemas.openxmlformats.org/drawingml/2006/main">
              <a:ext uri="{FF2B5EF4-FFF2-40B4-BE49-F238E27FC236}">
                <a16:creationId xmlns:a16="http://schemas.microsoft.com/office/drawing/2014/main" id="{602ECE82-E540-4EDF-8F5D-4FD189D72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10629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parquet_file과 file_path를 연결합니다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F0EE2C-4C9D-4D42-9D50-94339AE2D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9" name="text-74">
            <a:extLst xmlns:a="http://schemas.openxmlformats.org/drawingml/2006/main">
              <a:ext uri="{FF2B5EF4-FFF2-40B4-BE49-F238E27FC236}">
                <a16:creationId xmlns:a16="http://schemas.microsoft.com/office/drawing/2014/main" id="{F86A517D-9B4D-4124-AC78-642EF365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CDC · Iceberg 스터디  |  2회차</a:t>
            </a:r>
          </a:p>
        </p:txBody>
      </p:sp>
      <p:sp>
        <p:nvSpPr>
          <p:cNvPr id="10" name="text-75">
            <a:extLst xmlns:a="http://schemas.openxmlformats.org/drawingml/2006/main">
              <a:ext uri="{FF2B5EF4-FFF2-40B4-BE49-F238E27FC236}">
                <a16:creationId xmlns:a16="http://schemas.microsoft.com/office/drawing/2014/main" id="{F3C077AA-EDF8-4BFB-AC84-32F26D57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736724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76">
            <a:extLst xmlns:a="http://schemas.openxmlformats.org/drawingml/2006/main">
              <a:ext uri="{FF2B5EF4-FFF2-40B4-BE49-F238E27FC236}">
                <a16:creationId xmlns:a16="http://schemas.microsoft.com/office/drawing/2014/main" id="{91536528-62A7-4107-B6A2-DDB403BFB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2회차 · PostgreSQL CDC</a:t>
            </a:r>
          </a:p>
        </p:txBody>
      </p:sp>
      <p:sp>
        <p:nvSpPr>
          <p:cNvPr id="2" name="text-77">
            <a:extLst xmlns:a="http://schemas.openxmlformats.org/drawingml/2006/main">
              <a:ext uri="{FF2B5EF4-FFF2-40B4-BE49-F238E27FC236}">
                <a16:creationId xmlns:a16="http://schemas.microsoft.com/office/drawing/2014/main" id="{6505C4E4-AE9A-4C26-A981-8608D4DF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Parquet 파일의 내용까지 확인</a:t>
            </a:r>
          </a:p>
        </p:txBody>
      </p:sp>
      <p:sp>
        <p:nvSpPr>
          <p:cNvPr id="3" name="panel-78">
            <a:extLst xmlns:a="http://schemas.openxmlformats.org/drawingml/2006/main">
              <a:ext uri="{FF2B5EF4-FFF2-40B4-BE49-F238E27FC236}">
                <a16:creationId xmlns:a16="http://schemas.microsoft.com/office/drawing/2014/main" id="{DEC3DCB3-E969-4E0A-826F-7C21B158D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2536031" cy="17716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4" name="text-79">
            <a:extLst xmlns:a="http://schemas.openxmlformats.org/drawingml/2006/main">
              <a:ext uri="{FF2B5EF4-FFF2-40B4-BE49-F238E27FC236}">
                <a16:creationId xmlns:a16="http://schemas.microsoft.com/office/drawing/2014/main" id="{87A25B43-6470-4CBD-9A40-BEBF94C7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638425"/>
            <a:ext cx="2250281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Bronze SQL</a:t>
            </a:r>
          </a:p>
        </p:txBody>
      </p:sp>
      <p:sp>
        <p:nvSpPr>
          <p:cNvPr id="5" name="text-80">
            <a:extLst xmlns:a="http://schemas.openxmlformats.org/drawingml/2006/main">
              <a:ext uri="{FF2B5EF4-FFF2-40B4-BE49-F238E27FC236}">
                <a16:creationId xmlns:a16="http://schemas.microsoft.com/office/drawing/2014/main" id="{E5EC01D9-BDDE-4EB0-BB2E-0BA03693B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57575"/>
            <a:ext cx="2269331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대상 행 + 파일 경로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CF61E2-3FF5-4037-866A-3FD984EA7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3731" y="3124200"/>
            <a:ext cx="2000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</a:ln>
        </p:spPr>
      </p:sp>
      <p:sp>
        <p:nvSpPr>
          <p:cNvPr id="7" name="panel-81">
            <a:extLst xmlns:a="http://schemas.openxmlformats.org/drawingml/2006/main">
              <a:ext uri="{FF2B5EF4-FFF2-40B4-BE49-F238E27FC236}">
                <a16:creationId xmlns:a16="http://schemas.microsoft.com/office/drawing/2014/main" id="{FA7316FF-C1B8-4180-93A3-8B20AC29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1856" y="2362200"/>
            <a:ext cx="2536031" cy="17716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8" name="text-82">
            <a:extLst xmlns:a="http://schemas.openxmlformats.org/drawingml/2006/main">
              <a:ext uri="{FF2B5EF4-FFF2-40B4-BE49-F238E27FC236}">
                <a16:creationId xmlns:a16="http://schemas.microsoft.com/office/drawing/2014/main" id="{3C3D5A1B-CA1D-4146-A045-0C990C55B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4731" y="2638425"/>
            <a:ext cx="2250281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files 메타데이터</a:t>
            </a:r>
          </a:p>
        </p:txBody>
      </p:sp>
      <p:sp>
        <p:nvSpPr>
          <p:cNvPr id="9" name="text-83">
            <a:extLst xmlns:a="http://schemas.openxmlformats.org/drawingml/2006/main">
              <a:ext uri="{FF2B5EF4-FFF2-40B4-BE49-F238E27FC236}">
                <a16:creationId xmlns:a16="http://schemas.microsoft.com/office/drawing/2014/main" id="{600C2AC9-5F30-4415-97CF-39523D84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5206" y="3457575"/>
            <a:ext cx="2269331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현재 파일 참조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A98F7-91BE-48EB-9E60-5084FB76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5988" y="3124200"/>
            <a:ext cx="2000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</a:ln>
        </p:spPr>
      </p:sp>
      <p:sp>
        <p:nvSpPr>
          <p:cNvPr id="11" name="panel-84">
            <a:extLst xmlns:a="http://schemas.openxmlformats.org/drawingml/2006/main">
              <a:ext uri="{FF2B5EF4-FFF2-40B4-BE49-F238E27FC236}">
                <a16:creationId xmlns:a16="http://schemas.microsoft.com/office/drawing/2014/main" id="{77906194-B714-42BA-AA5E-FB91F9F9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4113" y="2362200"/>
            <a:ext cx="2536031" cy="17716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12" name="text-85">
            <a:extLst xmlns:a="http://schemas.openxmlformats.org/drawingml/2006/main">
              <a:ext uri="{FF2B5EF4-FFF2-40B4-BE49-F238E27FC236}">
                <a16:creationId xmlns:a16="http://schemas.microsoft.com/office/drawing/2014/main" id="{2143A368-DB83-4776-BA6A-CDA1D05E3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6988" y="2638425"/>
            <a:ext cx="2250281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MinIO 데이터 파일</a:t>
            </a:r>
          </a:p>
        </p:txBody>
      </p:sp>
      <p:sp>
        <p:nvSpPr>
          <p:cNvPr id="13" name="text-86">
            <a:extLst xmlns:a="http://schemas.openxmlformats.org/drawingml/2006/main">
              <a:ext uri="{FF2B5EF4-FFF2-40B4-BE49-F238E27FC236}">
                <a16:creationId xmlns:a16="http://schemas.microsoft.com/office/drawing/2014/main" id="{23261558-F1F8-4BD2-9CBA-6A1786B6F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7463" y="3457575"/>
            <a:ext cx="2269331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실제 Parquet 읽기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6031F0-636E-454F-B0E0-8131C10E9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8244" y="3124200"/>
            <a:ext cx="2000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</a:ln>
        </p:spPr>
      </p:sp>
      <p:sp>
        <p:nvSpPr>
          <p:cNvPr id="15" name="panel-87">
            <a:extLst xmlns:a="http://schemas.openxmlformats.org/drawingml/2006/main">
              <a:ext uri="{FF2B5EF4-FFF2-40B4-BE49-F238E27FC236}">
                <a16:creationId xmlns:a16="http://schemas.microsoft.com/office/drawing/2014/main" id="{ABE87957-D254-4D83-8A36-3609B36A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6369" y="2362200"/>
            <a:ext cx="2536031" cy="17716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22D3EE"/>
            </a:solidFill>
          </a:ln>
        </p:spPr>
      </p:sp>
      <p:sp>
        <p:nvSpPr>
          <p:cNvPr id="16" name="text-88">
            <a:extLst xmlns:a="http://schemas.openxmlformats.org/drawingml/2006/main">
              <a:ext uri="{FF2B5EF4-FFF2-40B4-BE49-F238E27FC236}">
                <a16:creationId xmlns:a16="http://schemas.microsoft.com/office/drawing/2014/main" id="{E02030BF-3E61-4D12-9FAA-E97F5C86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244" y="2638425"/>
            <a:ext cx="2250281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내용 대조</a:t>
            </a:r>
          </a:p>
        </p:txBody>
      </p:sp>
      <p:sp>
        <p:nvSpPr>
          <p:cNvPr id="17" name="text-89">
            <a:extLst xmlns:a="http://schemas.openxmlformats.org/drawingml/2006/main">
              <a:ext uri="{FF2B5EF4-FFF2-40B4-BE49-F238E27FC236}">
                <a16:creationId xmlns:a16="http://schemas.microsoft.com/office/drawing/2014/main" id="{364AD4DE-32A3-4E91-8C39-C6AD8B20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9719" y="3457575"/>
            <a:ext cx="2269331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payload · 위치</a:t>
            </a:r>
          </a:p>
        </p:txBody>
      </p:sp>
      <p:sp>
        <p:nvSpPr>
          <p:cNvPr id="18" name="panel-90">
            <a:extLst xmlns:a="http://schemas.openxmlformats.org/drawingml/2006/main">
              <a:ext uri="{FF2B5EF4-FFF2-40B4-BE49-F238E27FC236}">
                <a16:creationId xmlns:a16="http://schemas.microsoft.com/office/drawing/2014/main" id="{875AC341-6457-4925-BECC-851136F7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70485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22D3EE"/>
            </a:solidFill>
          </a:ln>
        </p:spPr>
      </p:sp>
      <p:sp>
        <p:nvSpPr>
          <p:cNvPr id="19" name="text-91">
            <a:extLst xmlns:a="http://schemas.openxmlformats.org/drawingml/2006/main">
              <a:ext uri="{FF2B5EF4-FFF2-40B4-BE49-F238E27FC236}">
                <a16:creationId xmlns:a16="http://schemas.microsoft.com/office/drawing/2014/main" id="{498554F4-F39B-4A55-93F1-0A8AD773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10629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metadata.json이나 파일 이름을 보는 데서 끝내지 않습니다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2A9F35-E5B1-46A9-89EF-AF5D98A5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21" name="text-92">
            <a:extLst xmlns:a="http://schemas.openxmlformats.org/drawingml/2006/main">
              <a:ext uri="{FF2B5EF4-FFF2-40B4-BE49-F238E27FC236}">
                <a16:creationId xmlns:a16="http://schemas.microsoft.com/office/drawing/2014/main" id="{F7B8EDF4-CD72-47DB-9C0C-938091F1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CDC · Iceberg 스터디  |  2회차</a:t>
            </a:r>
          </a:p>
        </p:txBody>
      </p:sp>
      <p:sp>
        <p:nvSpPr>
          <p:cNvPr id="22" name="text-93">
            <a:extLst xmlns:a="http://schemas.openxmlformats.org/drawingml/2006/main">
              <a:ext uri="{FF2B5EF4-FFF2-40B4-BE49-F238E27FC236}">
                <a16:creationId xmlns:a16="http://schemas.microsoft.com/office/drawing/2014/main" id="{531F8511-5779-478F-86F9-8D123816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624184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94">
            <a:extLst xmlns:a="http://schemas.openxmlformats.org/drawingml/2006/main">
              <a:ext uri="{FF2B5EF4-FFF2-40B4-BE49-F238E27FC236}">
                <a16:creationId xmlns:a16="http://schemas.microsoft.com/office/drawing/2014/main" id="{6F64003C-1230-4BA0-90DA-D8CADF9EA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2회차 · PostgreSQL CDC</a:t>
            </a:r>
          </a:p>
        </p:txBody>
      </p:sp>
      <p:sp>
        <p:nvSpPr>
          <p:cNvPr id="2" name="text-95">
            <a:extLst xmlns:a="http://schemas.openxmlformats.org/drawingml/2006/main">
              <a:ext uri="{FF2B5EF4-FFF2-40B4-BE49-F238E27FC236}">
                <a16:creationId xmlns:a16="http://schemas.microsoft.com/office/drawing/2014/main" id="{BE06514B-C039-4489-8A1A-A63ACF20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파일 확인에서 구분할 것</a:t>
            </a:r>
          </a:p>
        </p:txBody>
      </p:sp>
      <p:sp>
        <p:nvSpPr>
          <p:cNvPr id="3" name="panel-96">
            <a:extLst xmlns:a="http://schemas.openxmlformats.org/drawingml/2006/main">
              <a:ext uri="{FF2B5EF4-FFF2-40B4-BE49-F238E27FC236}">
                <a16:creationId xmlns:a16="http://schemas.microsoft.com/office/drawing/2014/main" id="{0A01620D-8596-4292-BBA0-DEC398D45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517900" cy="3028950"/>
          </a:xfrm>
          <a:prstGeom xmlns:a="http://schemas.openxmlformats.org/drawingml/2006/main" prst="roundRect">
            <a:avLst>
              <a:gd name="adj" fmla="val 283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4" name="text-97">
            <a:extLst xmlns:a="http://schemas.openxmlformats.org/drawingml/2006/main">
              <a:ext uri="{FF2B5EF4-FFF2-40B4-BE49-F238E27FC236}">
                <a16:creationId xmlns:a16="http://schemas.microsoft.com/office/drawing/2014/main" id="{1AA2134C-C85C-4E66-BFCC-4C6C804B8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3060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rPr>
              <a:t>변경 이벤트</a:t>
            </a:r>
          </a:p>
        </p:txBody>
      </p:sp>
      <p:sp>
        <p:nvSpPr>
          <p:cNvPr id="5" name="text-98">
            <a:extLst xmlns:a="http://schemas.openxmlformats.org/drawingml/2006/main">
              <a:ext uri="{FF2B5EF4-FFF2-40B4-BE49-F238E27FC236}">
                <a16:creationId xmlns:a16="http://schemas.microsoft.com/office/drawing/2014/main" id="{F94BCF65-2D1B-4334-9D33-96268A69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86100"/>
            <a:ext cx="30607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c/u/d 각각이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Bronze의 한 이력</a:t>
            </a:r>
          </a:p>
        </p:txBody>
      </p:sp>
      <p:sp>
        <p:nvSpPr>
          <p:cNvPr id="6" name="panel-99">
            <a:extLst xmlns:a="http://schemas.openxmlformats.org/drawingml/2006/main">
              <a:ext uri="{FF2B5EF4-FFF2-40B4-BE49-F238E27FC236}">
                <a16:creationId xmlns:a16="http://schemas.microsoft.com/office/drawing/2014/main" id="{8E7A3948-B700-4BF9-9BF2-1F04A550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050" y="1943100"/>
            <a:ext cx="3517900" cy="3028950"/>
          </a:xfrm>
          <a:prstGeom xmlns:a="http://schemas.openxmlformats.org/drawingml/2006/main" prst="roundRect">
            <a:avLst>
              <a:gd name="adj" fmla="val 283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7" name="text-100">
            <a:extLst xmlns:a="http://schemas.openxmlformats.org/drawingml/2006/main">
              <a:ext uri="{FF2B5EF4-FFF2-40B4-BE49-F238E27FC236}">
                <a16:creationId xmlns:a16="http://schemas.microsoft.com/office/drawing/2014/main" id="{D177E7DE-7CBB-4A8E-A675-9CF12270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2209800"/>
            <a:ext cx="3060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데이터 파일</a:t>
            </a:r>
          </a:p>
        </p:txBody>
      </p:sp>
      <p:sp>
        <p:nvSpPr>
          <p:cNvPr id="8" name="text-101">
            <a:extLst xmlns:a="http://schemas.openxmlformats.org/drawingml/2006/main">
              <a:ext uri="{FF2B5EF4-FFF2-40B4-BE49-F238E27FC236}">
                <a16:creationId xmlns:a16="http://schemas.microsoft.com/office/drawing/2014/main" id="{2E14DB25-7E36-45FA-B94C-3ADF8456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3086100"/>
            <a:ext cx="30607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여러 키·이벤트가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같이 들어갈 수 있음</a:t>
            </a:r>
          </a:p>
        </p:txBody>
      </p:sp>
      <p:sp>
        <p:nvSpPr>
          <p:cNvPr id="9" name="panel-102">
            <a:extLst xmlns:a="http://schemas.openxmlformats.org/drawingml/2006/main">
              <a:ext uri="{FF2B5EF4-FFF2-40B4-BE49-F238E27FC236}">
                <a16:creationId xmlns:a16="http://schemas.microsoft.com/office/drawing/2014/main" id="{998134D2-8E71-4E38-8DEF-33CC8CDE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1943100"/>
            <a:ext cx="3517900" cy="3028950"/>
          </a:xfrm>
          <a:prstGeom xmlns:a="http://schemas.openxmlformats.org/drawingml/2006/main" prst="roundRect">
            <a:avLst>
              <a:gd name="adj" fmla="val 283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10" name="text-103">
            <a:extLst xmlns:a="http://schemas.openxmlformats.org/drawingml/2006/main">
              <a:ext uri="{FF2B5EF4-FFF2-40B4-BE49-F238E27FC236}">
                <a16:creationId xmlns:a16="http://schemas.microsoft.com/office/drawing/2014/main" id="{E9C37465-9A05-4456-81A9-B0E7F30B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2209800"/>
            <a:ext cx="3060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Iceberg snapshot</a:t>
            </a:r>
          </a:p>
        </p:txBody>
      </p:sp>
      <p:sp>
        <p:nvSpPr>
          <p:cNvPr id="11" name="text-104">
            <a:extLst xmlns:a="http://schemas.openxmlformats.org/drawingml/2006/main">
              <a:ext uri="{FF2B5EF4-FFF2-40B4-BE49-F238E27FC236}">
                <a16:creationId xmlns:a16="http://schemas.microsoft.com/office/drawing/2014/main" id="{7D0B2B57-BC53-4FA4-B402-AC30B922D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3086100"/>
            <a:ext cx="30607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테이블이 참조하는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파일 집합의 버전</a:t>
            </a:r>
          </a:p>
        </p:txBody>
      </p:sp>
      <p:sp>
        <p:nvSpPr>
          <p:cNvPr id="12" name="panel-105">
            <a:extLst xmlns:a="http://schemas.openxmlformats.org/drawingml/2006/main">
              <a:ext uri="{FF2B5EF4-FFF2-40B4-BE49-F238E27FC236}">
                <a16:creationId xmlns:a16="http://schemas.microsoft.com/office/drawing/2014/main" id="{C5C73703-52AF-4216-825D-DCAC6830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70485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22D3EE"/>
            </a:solidFill>
          </a:ln>
        </p:spPr>
      </p:sp>
      <p:sp>
        <p:nvSpPr>
          <p:cNvPr id="13" name="text-106">
            <a:extLst xmlns:a="http://schemas.openxmlformats.org/drawingml/2006/main">
              <a:ext uri="{FF2B5EF4-FFF2-40B4-BE49-F238E27FC236}">
                <a16:creationId xmlns:a16="http://schemas.microsoft.com/office/drawing/2014/main" id="{73BC5D04-C1DF-41ED-A6EA-9B4C5BB1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10629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DML 한 번 = 파일 한 개 = snapshot 한 개로 가정하지 않습니다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611BAA-3049-4ECB-A2D3-FDD055D52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15" name="text-107">
            <a:extLst xmlns:a="http://schemas.openxmlformats.org/drawingml/2006/main">
              <a:ext uri="{FF2B5EF4-FFF2-40B4-BE49-F238E27FC236}">
                <a16:creationId xmlns:a16="http://schemas.microsoft.com/office/drawing/2014/main" id="{3DFAAF0E-7F9B-436C-B4C1-9892D3D4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CDC · Iceberg 스터디  |  2회차</a:t>
            </a:r>
          </a:p>
        </p:txBody>
      </p:sp>
      <p:sp>
        <p:nvSpPr>
          <p:cNvPr id="16" name="text-108">
            <a:extLst xmlns:a="http://schemas.openxmlformats.org/drawingml/2006/main">
              <a:ext uri="{FF2B5EF4-FFF2-40B4-BE49-F238E27FC236}">
                <a16:creationId xmlns:a16="http://schemas.microsoft.com/office/drawing/2014/main" id="{3F0A693C-8E48-41EC-A880-4E320C90C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20753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-109">
            <a:extLst xmlns:a="http://schemas.openxmlformats.org/drawingml/2006/main">
              <a:ext uri="{FF2B5EF4-FFF2-40B4-BE49-F238E27FC236}">
                <a16:creationId xmlns:a16="http://schemas.microsoft.com/office/drawing/2014/main" id="{3E1FE09C-98F1-4898-BD67-6DD7813F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2회차 · PostgreSQL CDC</a:t>
            </a:r>
          </a:p>
        </p:txBody>
      </p:sp>
      <p:sp>
        <p:nvSpPr>
          <p:cNvPr id="2" name="text-110">
            <a:extLst xmlns:a="http://schemas.openxmlformats.org/drawingml/2006/main">
              <a:ext uri="{FF2B5EF4-FFF2-40B4-BE49-F238E27FC236}">
                <a16:creationId xmlns:a16="http://schemas.microsoft.com/office/drawing/2014/main" id="{25653852-04A1-4A0D-95DD-822087D4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PostgreSQL에서 확인할 수집 조건</a:t>
            </a:r>
          </a:p>
        </p:txBody>
      </p:sp>
      <p:sp>
        <p:nvSpPr>
          <p:cNvPr id="3" name="panel-111">
            <a:extLst xmlns:a="http://schemas.openxmlformats.org/drawingml/2006/main">
              <a:ext uri="{FF2B5EF4-FFF2-40B4-BE49-F238E27FC236}">
                <a16:creationId xmlns:a16="http://schemas.microsoft.com/office/drawing/2014/main" id="{46436730-311D-4231-BF55-6C5C5EA9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372100" cy="1562100"/>
          </a:xfrm>
          <a:prstGeom xmlns:a="http://schemas.openxmlformats.org/drawingml/2006/main" prst="roundRect">
            <a:avLst>
              <a:gd name="adj" fmla="val 548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4" name="text-112">
            <a:extLst xmlns:a="http://schemas.openxmlformats.org/drawingml/2006/main">
              <a:ext uri="{FF2B5EF4-FFF2-40B4-BE49-F238E27FC236}">
                <a16:creationId xmlns:a16="http://schemas.microsoft.com/office/drawing/2014/main" id="{F5A56689-0262-48D8-92CA-A7AA1B01A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491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rPr>
              <a:t>wal_level</a:t>
            </a:r>
          </a:p>
        </p:txBody>
      </p:sp>
      <p:sp>
        <p:nvSpPr>
          <p:cNvPr id="5" name="text-113">
            <a:extLst xmlns:a="http://schemas.openxmlformats.org/drawingml/2006/main">
              <a:ext uri="{FF2B5EF4-FFF2-40B4-BE49-F238E27FC236}">
                <a16:creationId xmlns:a16="http://schemas.microsoft.com/office/drawing/2014/main" id="{3686DA2F-24F9-449B-BB4C-04DE6F866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38400"/>
            <a:ext cx="4914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논리 디코딩에 필요한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WAL 설정</a:t>
            </a:r>
          </a:p>
        </p:txBody>
      </p:sp>
      <p:sp>
        <p:nvSpPr>
          <p:cNvPr id="6" name="panel-114">
            <a:extLst xmlns:a="http://schemas.openxmlformats.org/drawingml/2006/main">
              <a:ext uri="{FF2B5EF4-FFF2-40B4-BE49-F238E27FC236}">
                <a16:creationId xmlns:a16="http://schemas.microsoft.com/office/drawing/2014/main" id="{777E968E-ABED-4380-854B-3EBCF60C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52600"/>
            <a:ext cx="5372100" cy="1562100"/>
          </a:xfrm>
          <a:prstGeom xmlns:a="http://schemas.openxmlformats.org/drawingml/2006/main" prst="roundRect">
            <a:avLst>
              <a:gd name="adj" fmla="val 548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7" name="text-115">
            <a:extLst xmlns:a="http://schemas.openxmlformats.org/drawingml/2006/main">
              <a:ext uri="{FF2B5EF4-FFF2-40B4-BE49-F238E27FC236}">
                <a16:creationId xmlns:a16="http://schemas.microsoft.com/office/drawing/2014/main" id="{B3E98C35-F352-42EE-960B-05B275E9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43100"/>
            <a:ext cx="491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publication</a:t>
            </a:r>
          </a:p>
        </p:txBody>
      </p:sp>
      <p:sp>
        <p:nvSpPr>
          <p:cNvPr id="8" name="text-116">
            <a:extLst xmlns:a="http://schemas.openxmlformats.org/drawingml/2006/main">
              <a:ext uri="{FF2B5EF4-FFF2-40B4-BE49-F238E27FC236}">
                <a16:creationId xmlns:a16="http://schemas.microsoft.com/office/drawing/2014/main" id="{CE8886A9-B5B3-4008-BCA4-D0396F09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38400"/>
            <a:ext cx="4914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어떤 테이블의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변경을 발행할지</a:t>
            </a:r>
          </a:p>
        </p:txBody>
      </p:sp>
      <p:sp>
        <p:nvSpPr>
          <p:cNvPr id="9" name="panel-117">
            <a:extLst xmlns:a="http://schemas.openxmlformats.org/drawingml/2006/main">
              <a:ext uri="{FF2B5EF4-FFF2-40B4-BE49-F238E27FC236}">
                <a16:creationId xmlns:a16="http://schemas.microsoft.com/office/drawing/2014/main" id="{B9F1A74A-5D06-4CA9-A4C4-2CCE40FD7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5372100" cy="1562100"/>
          </a:xfrm>
          <a:prstGeom xmlns:a="http://schemas.openxmlformats.org/drawingml/2006/main" prst="roundRect">
            <a:avLst>
              <a:gd name="adj" fmla="val 548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10" name="text-118">
            <a:extLst xmlns:a="http://schemas.openxmlformats.org/drawingml/2006/main">
              <a:ext uri="{FF2B5EF4-FFF2-40B4-BE49-F238E27FC236}">
                <a16:creationId xmlns:a16="http://schemas.microsoft.com/office/drawing/2014/main" id="{90EA417D-A538-4476-8250-CDA1A042A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491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replica identity</a:t>
            </a:r>
          </a:p>
        </p:txBody>
      </p:sp>
      <p:sp>
        <p:nvSpPr>
          <p:cNvPr id="11" name="text-119">
            <a:extLst xmlns:a="http://schemas.openxmlformats.org/drawingml/2006/main">
              <a:ext uri="{FF2B5EF4-FFF2-40B4-BE49-F238E27FC236}">
                <a16:creationId xmlns:a16="http://schemas.microsoft.com/office/drawing/2014/main" id="{37E973EF-DD57-43F5-A3D6-AEE7631BF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4914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UPDATE·DELETE에서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이전 행을 식별할 정보</a:t>
            </a:r>
          </a:p>
        </p:txBody>
      </p:sp>
      <p:sp>
        <p:nvSpPr>
          <p:cNvPr id="12" name="panel-120">
            <a:extLst xmlns:a="http://schemas.openxmlformats.org/drawingml/2006/main">
              <a:ext uri="{FF2B5EF4-FFF2-40B4-BE49-F238E27FC236}">
                <a16:creationId xmlns:a16="http://schemas.microsoft.com/office/drawing/2014/main" id="{6FC1C8BE-CE3C-4944-95AB-C6BB5B29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05200"/>
            <a:ext cx="5372100" cy="1562100"/>
          </a:xfrm>
          <a:prstGeom xmlns:a="http://schemas.openxmlformats.org/drawingml/2006/main" prst="roundRect">
            <a:avLst>
              <a:gd name="adj" fmla="val 548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13" name="text-121">
            <a:extLst xmlns:a="http://schemas.openxmlformats.org/drawingml/2006/main">
              <a:ext uri="{FF2B5EF4-FFF2-40B4-BE49-F238E27FC236}">
                <a16:creationId xmlns:a16="http://schemas.microsoft.com/office/drawing/2014/main" id="{A083E692-03B3-42D6-A0A8-3AD3D304C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95700"/>
            <a:ext cx="491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replication slot</a:t>
            </a:r>
          </a:p>
        </p:txBody>
      </p:sp>
      <p:sp>
        <p:nvSpPr>
          <p:cNvPr id="14" name="text-122">
            <a:extLst xmlns:a="http://schemas.openxmlformats.org/drawingml/2006/main">
              <a:ext uri="{FF2B5EF4-FFF2-40B4-BE49-F238E27FC236}">
                <a16:creationId xmlns:a16="http://schemas.microsoft.com/office/drawing/2014/main" id="{DD746378-E7C0-4342-A662-695F1EAB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91000"/>
            <a:ext cx="4914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소비 진행 위치와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필요한 WAL 보존</a:t>
            </a:r>
          </a:p>
        </p:txBody>
      </p:sp>
      <p:sp>
        <p:nvSpPr>
          <p:cNvPr id="15" name="panel-123">
            <a:extLst xmlns:a="http://schemas.openxmlformats.org/drawingml/2006/main">
              <a:ext uri="{FF2B5EF4-FFF2-40B4-BE49-F238E27FC236}">
                <a16:creationId xmlns:a16="http://schemas.microsoft.com/office/drawing/2014/main" id="{E760E8DA-E7E3-4643-82E4-EACF3AF09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70485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22D3EE"/>
            </a:solidFill>
          </a:ln>
        </p:spPr>
      </p:sp>
      <p:sp>
        <p:nvSpPr>
          <p:cNvPr id="16" name="text-124">
            <a:extLst xmlns:a="http://schemas.openxmlformats.org/drawingml/2006/main">
              <a:ext uri="{FF2B5EF4-FFF2-40B4-BE49-F238E27FC236}">
                <a16:creationId xmlns:a16="http://schemas.microsoft.com/office/drawing/2014/main" id="{6B35ABA0-E5AF-42A1-A791-D62FD1BED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10629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이름이 비슷해도 역할은 다릅니다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0E20BB-92EA-46F7-88C9-364861CFC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18" name="text-125">
            <a:extLst xmlns:a="http://schemas.openxmlformats.org/drawingml/2006/main">
              <a:ext uri="{FF2B5EF4-FFF2-40B4-BE49-F238E27FC236}">
                <a16:creationId xmlns:a16="http://schemas.microsoft.com/office/drawing/2014/main" id="{080F8033-ABE0-435A-9094-B02DE16C7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CDC · Iceberg 스터디  |  2회차</a:t>
            </a:r>
          </a:p>
        </p:txBody>
      </p:sp>
      <p:sp>
        <p:nvSpPr>
          <p:cNvPr id="19" name="text-126">
            <a:extLst xmlns:a="http://schemas.openxmlformats.org/drawingml/2006/main">
              <a:ext uri="{FF2B5EF4-FFF2-40B4-BE49-F238E27FC236}">
                <a16:creationId xmlns:a16="http://schemas.microsoft.com/office/drawing/2014/main" id="{F38A397F-7150-45EE-8839-B5C000F0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4706241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127">
            <a:extLst xmlns:a="http://schemas.openxmlformats.org/drawingml/2006/main">
              <a:ext uri="{FF2B5EF4-FFF2-40B4-BE49-F238E27FC236}">
                <a16:creationId xmlns:a16="http://schemas.microsoft.com/office/drawing/2014/main" id="{53BD79B2-54D2-498F-B0D1-48159A69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2회차 · PostgreSQL CDC</a:t>
            </a:r>
          </a:p>
        </p:txBody>
      </p:sp>
      <p:sp>
        <p:nvSpPr>
          <p:cNvPr id="2" name="text-128">
            <a:extLst xmlns:a="http://schemas.openxmlformats.org/drawingml/2006/main">
              <a:ext uri="{FF2B5EF4-FFF2-40B4-BE49-F238E27FC236}">
                <a16:creationId xmlns:a16="http://schemas.microsoft.com/office/drawing/2014/main" id="{E8DE7184-96EA-4209-8BD5-FBD1ECB8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publication과 수집 대상 테이블</a:t>
            </a:r>
          </a:p>
        </p:txBody>
      </p:sp>
      <p:sp>
        <p:nvSpPr>
          <p:cNvPr id="3" name="text-129">
            <a:extLst xmlns:a="http://schemas.openxmlformats.org/drawingml/2006/main">
              <a:ext uri="{FF2B5EF4-FFF2-40B4-BE49-F238E27FC236}">
                <a16:creationId xmlns:a16="http://schemas.microsoft.com/office/drawing/2014/main" id="{74C9CDC4-610E-4496-8F32-800F309FA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PostgreSQL · app 데이터베이스</a:t>
            </a:r>
          </a:p>
        </p:txBody>
      </p:sp>
      <p:sp>
        <p:nvSpPr>
          <p:cNvPr id="4" name="panel-130">
            <a:extLst xmlns:a="http://schemas.openxmlformats.org/drawingml/2006/main">
              <a:ext uri="{FF2B5EF4-FFF2-40B4-BE49-F238E27FC236}">
                <a16:creationId xmlns:a16="http://schemas.microsoft.com/office/drawing/2014/main" id="{7AF212A1-76E8-4F4D-BD97-2C0C27697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972800" cy="3314700"/>
          </a:xfrm>
          <a:prstGeom xmlns:a="http://schemas.openxmlformats.org/drawingml/2006/main" prst="roundRect">
            <a:avLst>
              <a:gd name="adj" fmla="val 2586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5" name="text-131">
            <a:extLst xmlns:a="http://schemas.openxmlformats.org/drawingml/2006/main">
              <a:ext uri="{FF2B5EF4-FFF2-40B4-BE49-F238E27FC236}">
                <a16:creationId xmlns:a16="http://schemas.microsoft.com/office/drawing/2014/main" id="{5D58B04D-F91A-4712-ABAE-9D17139C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71700"/>
            <a:ext cx="1055370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defPPr>
            <a:lvl1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lvl1pPr>
            <a:lvl2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lvl2pPr>
            <a:lvl3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lvl3pPr>
            <a:lvl4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lvl4pPr>
            <a:lvl5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lvl5pPr>
            <a:lvl6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lvl6pPr>
            <a:lvl7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lvl7pPr>
            <a:lvl8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lvl8pPr>
            <a:lvl9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pPr>
            <a:r>
              <a:rPr sz="1725" b="0">
                <a:solidFill>
                  <a:srgbClr val="F8FAFC"/>
                </a:solidFill>
                <a:latin typeface="D2Coding"/>
                <a:ea typeface="D2Coding"/>
                <a:cs typeface="D2Coding"/>
              </a:rPr>
              <a:t>SHOW wal_level;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pPr>
            <a:r>
              <a:rPr sz="1725" b="0">
                <a:solidFill>
                  <a:srgbClr val="F8FAFC"/>
                </a:solidFill>
                <a:latin typeface="D2Coding"/>
                <a:ea typeface="D2Coding"/>
                <a:cs typeface="D2Coding"/>
              </a:rPr>
              <a:t>SELECT pubname, schemaname, tablename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pPr>
            <a:r>
              <a:rPr sz="1725" b="0">
                <a:solidFill>
                  <a:srgbClr val="F8FAFC"/>
                </a:solidFill>
                <a:latin typeface="D2Coding"/>
                <a:ea typeface="D2Coding"/>
                <a:cs typeface="D2Coding"/>
              </a:rPr>
              <a:t>FROM pg_publication_tables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pPr>
            <a:r>
              <a:rPr sz="1725" b="0">
                <a:solidFill>
                  <a:srgbClr val="F8FAFC"/>
                </a:solidFill>
                <a:latin typeface="D2Coding"/>
                <a:ea typeface="D2Coding"/>
                <a:cs typeface="D2Coding"/>
              </a:rPr>
              <a:t>WHERE pubname = 'cdc_lab'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pPr>
            <a:r>
              <a:rPr sz="1725" b="0">
                <a:solidFill>
                  <a:srgbClr val="F8FAFC"/>
                </a:solidFill>
                <a:latin typeface="D2Coding"/>
                <a:ea typeface="D2Coding"/>
                <a:cs typeface="D2Coding"/>
              </a:rPr>
              <a:t>ORDER BY schemaname, tablename;</a:t>
            </a:r>
          </a:p>
        </p:txBody>
      </p:sp>
      <p:sp>
        <p:nvSpPr>
          <p:cNvPr id="6" name="panel-132">
            <a:extLst xmlns:a="http://schemas.openxmlformats.org/drawingml/2006/main">
              <a:ext uri="{FF2B5EF4-FFF2-40B4-BE49-F238E27FC236}">
                <a16:creationId xmlns:a16="http://schemas.microsoft.com/office/drawing/2014/main" id="{A0A87BE0-FBD0-4A40-8C01-2BAE6556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70485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22D3EE"/>
            </a:solidFill>
          </a:ln>
        </p:spPr>
      </p:sp>
      <p:sp>
        <p:nvSpPr>
          <p:cNvPr id="7" name="text-133">
            <a:extLst xmlns:a="http://schemas.openxmlformats.org/drawingml/2006/main">
              <a:ext uri="{FF2B5EF4-FFF2-40B4-BE49-F238E27FC236}">
                <a16:creationId xmlns:a16="http://schemas.microsoft.com/office/drawing/2014/main" id="{221CCFED-9777-48FD-8B29-29FC04DBA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10629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현재 예제: public.orders · public.payments · public.refunds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8F70D4-E47B-4577-A70D-0E3081D17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9" name="text-134">
            <a:extLst xmlns:a="http://schemas.openxmlformats.org/drawingml/2006/main">
              <a:ext uri="{FF2B5EF4-FFF2-40B4-BE49-F238E27FC236}">
                <a16:creationId xmlns:a16="http://schemas.microsoft.com/office/drawing/2014/main" id="{B0932145-1681-4535-AE12-DFD56FCFA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CDC · Iceberg 스터디  |  2회차</a:t>
            </a:r>
          </a:p>
        </p:txBody>
      </p:sp>
      <p:sp>
        <p:nvSpPr>
          <p:cNvPr id="10" name="text-135">
            <a:extLst xmlns:a="http://schemas.openxmlformats.org/drawingml/2006/main">
              <a:ext uri="{FF2B5EF4-FFF2-40B4-BE49-F238E27FC236}">
                <a16:creationId xmlns:a16="http://schemas.microsoft.com/office/drawing/2014/main" id="{508F8F78-D8AD-4CDB-A670-8C8DBFD7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5874314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136">
            <a:extLst xmlns:a="http://schemas.openxmlformats.org/drawingml/2006/main">
              <a:ext uri="{FF2B5EF4-FFF2-40B4-BE49-F238E27FC236}">
                <a16:creationId xmlns:a16="http://schemas.microsoft.com/office/drawing/2014/main" id="{251D5B71-0B14-4844-86CE-786C15689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2회차 · PostgreSQL CDC</a:t>
            </a:r>
          </a:p>
        </p:txBody>
      </p:sp>
      <p:sp>
        <p:nvSpPr>
          <p:cNvPr id="2" name="text-137">
            <a:extLst xmlns:a="http://schemas.openxmlformats.org/drawingml/2006/main">
              <a:ext uri="{FF2B5EF4-FFF2-40B4-BE49-F238E27FC236}">
                <a16:creationId xmlns:a16="http://schemas.microsoft.com/office/drawing/2014/main" id="{046F2764-D74B-41C6-A574-CE92C4116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이전 금액은 어떤 설정으로 관찰할까요?</a:t>
            </a:r>
          </a:p>
        </p:txBody>
      </p:sp>
      <p:sp>
        <p:nvSpPr>
          <p:cNvPr id="3" name="text-138">
            <a:extLst xmlns:a="http://schemas.openxmlformats.org/drawingml/2006/main">
              <a:ext uri="{FF2B5EF4-FFF2-40B4-BE49-F238E27FC236}">
                <a16:creationId xmlns:a16="http://schemas.microsoft.com/office/drawing/2014/main" id="{D52BCECF-5FD5-4CC5-A3A0-2FBB0CC0F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PostgreSQL · 현재 설정 조회</a:t>
            </a:r>
          </a:p>
        </p:txBody>
      </p:sp>
      <p:sp>
        <p:nvSpPr>
          <p:cNvPr id="4" name="panel-139">
            <a:extLst xmlns:a="http://schemas.openxmlformats.org/drawingml/2006/main">
              <a:ext uri="{FF2B5EF4-FFF2-40B4-BE49-F238E27FC236}">
                <a16:creationId xmlns:a16="http://schemas.microsoft.com/office/drawing/2014/main" id="{BF636257-467E-4A73-8F7A-C86B38BEF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972800" cy="3314700"/>
          </a:xfrm>
          <a:prstGeom xmlns:a="http://schemas.openxmlformats.org/drawingml/2006/main" prst="roundRect">
            <a:avLst>
              <a:gd name="adj" fmla="val 2586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5" name="text-140">
            <a:extLst xmlns:a="http://schemas.openxmlformats.org/drawingml/2006/main">
              <a:ext uri="{FF2B5EF4-FFF2-40B4-BE49-F238E27FC236}">
                <a16:creationId xmlns:a16="http://schemas.microsoft.com/office/drawing/2014/main" id="{631EAD3B-89C7-4EB9-B2CE-A0EA3A1C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71700"/>
            <a:ext cx="1055370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defPPr>
            <a:lvl1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lvl1pPr>
            <a:lvl2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lvl2pPr>
            <a:lvl3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lvl3pPr>
            <a:lvl4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lvl4pPr>
            <a:lvl5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lvl5pPr>
            <a:lvl6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lvl6pPr>
            <a:lvl7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lvl7pPr>
            <a:lvl8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lvl8pPr>
            <a:lvl9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pPr>
            <a:r>
              <a:rPr sz="1725" b="0">
                <a:solidFill>
                  <a:srgbClr val="F8FAFC"/>
                </a:solidFill>
                <a:latin typeface="D2Coding"/>
                <a:ea typeface="D2Coding"/>
                <a:cs typeface="D2Coding"/>
              </a:rPr>
              <a:t>SELECT c.relname, c.relreplident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pPr>
            <a:r>
              <a:rPr sz="1725" b="0">
                <a:solidFill>
                  <a:srgbClr val="F8FAFC"/>
                </a:solidFill>
                <a:latin typeface="D2Coding"/>
                <a:ea typeface="D2Coding"/>
                <a:cs typeface="D2Coding"/>
              </a:rPr>
              <a:t>FROM pg_class c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pPr>
            <a:r>
              <a:rPr sz="1725" b="0">
                <a:solidFill>
                  <a:srgbClr val="F8FAFC"/>
                </a:solidFill>
                <a:latin typeface="D2Coding"/>
                <a:ea typeface="D2Coding"/>
                <a:cs typeface="D2Coding"/>
              </a:rPr>
              <a:t>JOIN pg_namespace n ON n.oid = c.relnamespace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pPr>
            <a:r>
              <a:rPr sz="1725" b="0">
                <a:solidFill>
                  <a:srgbClr val="F8FAFC"/>
                </a:solidFill>
                <a:latin typeface="D2Coding"/>
                <a:ea typeface="D2Coding"/>
                <a:cs typeface="D2Coding"/>
              </a:rPr>
              <a:t>WHERE n.nspname = 'public'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pPr>
            <a:r>
              <a:rPr sz="1725" b="0">
                <a:solidFill>
                  <a:srgbClr val="F8FAFC"/>
                </a:solidFill>
                <a:latin typeface="D2Coding"/>
                <a:ea typeface="D2Coding"/>
                <a:cs typeface="D2Coding"/>
              </a:rPr>
              <a:t>  AND c.relname IN ('orders', 'payments', 'refunds');</a:t>
            </a:r>
          </a:p>
        </p:txBody>
      </p:sp>
      <p:sp>
        <p:nvSpPr>
          <p:cNvPr id="6" name="panel-141">
            <a:extLst xmlns:a="http://schemas.openxmlformats.org/drawingml/2006/main">
              <a:ext uri="{FF2B5EF4-FFF2-40B4-BE49-F238E27FC236}">
                <a16:creationId xmlns:a16="http://schemas.microsoft.com/office/drawing/2014/main" id="{BD6AF5FA-732B-48FC-985E-9A835B02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70485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22D3EE"/>
            </a:solidFill>
          </a:ln>
        </p:spPr>
      </p:sp>
      <p:sp>
        <p:nvSpPr>
          <p:cNvPr id="7" name="text-142">
            <a:extLst xmlns:a="http://schemas.openxmlformats.org/drawingml/2006/main">
              <a:ext uri="{FF2B5EF4-FFF2-40B4-BE49-F238E27FC236}">
                <a16:creationId xmlns:a16="http://schemas.microsoft.com/office/drawing/2014/main" id="{BC256360-5564-4441-B684-06618A4C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10629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이번 실습은 relreplident = f, REPLICA IDENTITY FULL입니다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B6C3EE-E1C1-4C2B-AD0B-F8F87134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9" name="text-143">
            <a:extLst xmlns:a="http://schemas.openxmlformats.org/drawingml/2006/main">
              <a:ext uri="{FF2B5EF4-FFF2-40B4-BE49-F238E27FC236}">
                <a16:creationId xmlns:a16="http://schemas.microsoft.com/office/drawing/2014/main" id="{5105DBCE-2348-48CA-B046-742850A9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CDC · Iceberg 스터디  |  2회차</a:t>
            </a:r>
          </a:p>
        </p:txBody>
      </p:sp>
      <p:sp>
        <p:nvSpPr>
          <p:cNvPr id="10" name="text-144">
            <a:extLst xmlns:a="http://schemas.openxmlformats.org/drawingml/2006/main">
              <a:ext uri="{FF2B5EF4-FFF2-40B4-BE49-F238E27FC236}">
                <a16:creationId xmlns:a16="http://schemas.microsoft.com/office/drawing/2014/main" id="{F6BC1271-2668-4788-B8F3-DE58C189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17654269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45">
            <a:extLst xmlns:a="http://schemas.openxmlformats.org/drawingml/2006/main">
              <a:ext uri="{FF2B5EF4-FFF2-40B4-BE49-F238E27FC236}">
                <a16:creationId xmlns:a16="http://schemas.microsoft.com/office/drawing/2014/main" id="{AE34C0C4-6BA9-4F3A-A09F-C0541D49F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2회차 · PostgreSQL CDC</a:t>
            </a:r>
          </a:p>
        </p:txBody>
      </p:sp>
      <p:sp>
        <p:nvSpPr>
          <p:cNvPr id="2" name="text-146">
            <a:extLst xmlns:a="http://schemas.openxmlformats.org/drawingml/2006/main">
              <a:ext uri="{FF2B5EF4-FFF2-40B4-BE49-F238E27FC236}">
                <a16:creationId xmlns:a16="http://schemas.microsoft.com/office/drawing/2014/main" id="{5932598D-8C9B-4AA3-9B3C-322CC108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slot의 두 위치와 WAL 보존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FA2E45-2CF5-41E2-AB9E-04583993B8E3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19450"/>
                <a:gridCol w="7753350"/>
              </a:tblGrid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2D3EE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필드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334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2D3EE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읽을 의미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33444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active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현재 slot을 스트리밍하는 소비자가 있는가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restart_lsn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slot이 아직 필요로 할 수 있는 가장 오래된 WAL 위치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confirmed_flush_lsn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논리 slot 소비자가 수신을 확인한 위치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wal_status (참고)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공식 뷰의 WAL 가용 상태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4" name="panel-147">
            <a:extLst xmlns:a="http://schemas.openxmlformats.org/drawingml/2006/main">
              <a:ext uri="{FF2B5EF4-FFF2-40B4-BE49-F238E27FC236}">
                <a16:creationId xmlns:a16="http://schemas.microsoft.com/office/drawing/2014/main" id="{8728C318-3CBA-4D17-A451-D98019A54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70485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22D3EE"/>
            </a:solidFill>
          </a:ln>
        </p:spPr>
      </p:sp>
      <p:sp>
        <p:nvSpPr>
          <p:cNvPr id="5" name="text-148">
            <a:extLst xmlns:a="http://schemas.openxmlformats.org/drawingml/2006/main">
              <a:ext uri="{FF2B5EF4-FFF2-40B4-BE49-F238E27FC236}">
                <a16:creationId xmlns:a16="http://schemas.microsoft.com/office/drawing/2014/main" id="{A74565C2-DB66-4402-BF8D-3EEB0EB0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10629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confirmed_flush_lsn은 Iceberg 적재 완료 위치가 아닙니다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FBBCBD-3729-49EB-A6E6-6F72E5D6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7" name="text-149">
            <a:extLst xmlns:a="http://schemas.openxmlformats.org/drawingml/2006/main">
              <a:ext uri="{FF2B5EF4-FFF2-40B4-BE49-F238E27FC236}">
                <a16:creationId xmlns:a16="http://schemas.microsoft.com/office/drawing/2014/main" id="{1DC17D58-D849-4327-854E-23B114C18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CDC · Iceberg 스터디  |  2회차</a:t>
            </a:r>
          </a:p>
        </p:txBody>
      </p:sp>
      <p:sp>
        <p:nvSpPr>
          <p:cNvPr id="8" name="text-150">
            <a:extLst xmlns:a="http://schemas.openxmlformats.org/drawingml/2006/main">
              <a:ext uri="{FF2B5EF4-FFF2-40B4-BE49-F238E27FC236}">
                <a16:creationId xmlns:a16="http://schemas.microsoft.com/office/drawing/2014/main" id="{D3AEA87E-027F-44C3-B58C-69076DE2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63376697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151">
            <a:extLst xmlns:a="http://schemas.openxmlformats.org/drawingml/2006/main">
              <a:ext uri="{FF2B5EF4-FFF2-40B4-BE49-F238E27FC236}">
                <a16:creationId xmlns:a16="http://schemas.microsoft.com/office/drawing/2014/main" id="{4ECED445-8E74-4A47-8C71-29F79E87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2회차 · PostgreSQL CDC</a:t>
            </a:r>
          </a:p>
        </p:txBody>
      </p:sp>
      <p:sp>
        <p:nvSpPr>
          <p:cNvPr id="2" name="text-152">
            <a:extLst xmlns:a="http://schemas.openxmlformats.org/drawingml/2006/main">
              <a:ext uri="{FF2B5EF4-FFF2-40B4-BE49-F238E27FC236}">
                <a16:creationId xmlns:a16="http://schemas.microsoft.com/office/drawing/2014/main" id="{4378569A-35A3-4F5C-BD0B-9B15D6BE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Debezium 설정과 실제 수집 범위</a:t>
            </a:r>
          </a:p>
        </p:txBody>
      </p:sp>
      <p:sp>
        <p:nvSpPr>
          <p:cNvPr id="3" name="text-153">
            <a:extLst xmlns:a="http://schemas.openxmlformats.org/drawingml/2006/main">
              <a:ext uri="{FF2B5EF4-FFF2-40B4-BE49-F238E27FC236}">
                <a16:creationId xmlns:a16="http://schemas.microsoft.com/office/drawing/2014/main" id="{1B90E15B-8F3B-478E-9A0A-9E473D712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실제 설정 중 학습에 필요한 항목만 표시</a:t>
            </a:r>
          </a:p>
        </p:txBody>
      </p:sp>
      <p:sp>
        <p:nvSpPr>
          <p:cNvPr id="4" name="panel-154">
            <a:extLst xmlns:a="http://schemas.openxmlformats.org/drawingml/2006/main">
              <a:ext uri="{FF2B5EF4-FFF2-40B4-BE49-F238E27FC236}">
                <a16:creationId xmlns:a16="http://schemas.microsoft.com/office/drawing/2014/main" id="{8EDC9951-7EDD-4ABE-BEE0-4A9D7D234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972800" cy="3314700"/>
          </a:xfrm>
          <a:prstGeom xmlns:a="http://schemas.openxmlformats.org/drawingml/2006/main" prst="roundRect">
            <a:avLst>
              <a:gd name="adj" fmla="val 2586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5" name="text-155">
            <a:extLst xmlns:a="http://schemas.openxmlformats.org/drawingml/2006/main">
              <a:ext uri="{FF2B5EF4-FFF2-40B4-BE49-F238E27FC236}">
                <a16:creationId xmlns:a16="http://schemas.microsoft.com/office/drawing/2014/main" id="{47995463-9B44-4F9E-BA83-EB1513BF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71700"/>
            <a:ext cx="1055370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defPPr>
            <a:lvl1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lvl1pPr>
            <a:lvl2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lvl2pPr>
            <a:lvl3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lvl3pPr>
            <a:lvl4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lvl4pPr>
            <a:lvl5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lvl5pPr>
            <a:lvl6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lvl6pPr>
            <a:lvl7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lvl7pPr>
            <a:lvl8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lvl8pPr>
            <a:lvl9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pPr>
            <a:r>
              <a:rPr sz="1725" b="0">
                <a:solidFill>
                  <a:srgbClr val="F8FAFC"/>
                </a:solidFill>
                <a:latin typeface="D2Coding"/>
                <a:ea typeface="D2Coding"/>
                <a:cs typeface="D2Coding"/>
              </a:rPr>
              <a:t>{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pPr>
            <a:r>
              <a:rPr sz="1725" b="0">
                <a:solidFill>
                  <a:srgbClr val="F8FAFC"/>
                </a:solidFill>
                <a:latin typeface="D2Coding"/>
                <a:ea typeface="D2Coding"/>
                <a:cs typeface="D2Coding"/>
              </a:rPr>
              <a:t>  "plugin.name": "pgoutput",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pPr>
            <a:r>
              <a:rPr sz="1725" b="0">
                <a:solidFill>
                  <a:srgbClr val="F8FAFC"/>
                </a:solidFill>
                <a:latin typeface="D2Coding"/>
                <a:ea typeface="D2Coding"/>
                <a:cs typeface="D2Coding"/>
              </a:rPr>
              <a:t>  "slot.name": "cdc_lab",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pPr>
            <a:r>
              <a:rPr sz="1725" b="0">
                <a:solidFill>
                  <a:srgbClr val="F8FAFC"/>
                </a:solidFill>
                <a:latin typeface="D2Coding"/>
                <a:ea typeface="D2Coding"/>
                <a:cs typeface="D2Coding"/>
              </a:rPr>
              <a:t>  "publication.name": "cdc_lab",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pPr>
            <a:r>
              <a:rPr sz="1725" b="0">
                <a:solidFill>
                  <a:srgbClr val="F8FAFC"/>
                </a:solidFill>
                <a:latin typeface="D2Coding"/>
                <a:ea typeface="D2Coding"/>
                <a:cs typeface="D2Coding"/>
              </a:rPr>
              <a:t>  "publication.autocreate.mode": "disabled",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pPr>
            <a:r>
              <a:rPr sz="1725" b="0">
                <a:solidFill>
                  <a:srgbClr val="F8FAFC"/>
                </a:solidFill>
                <a:latin typeface="D2Coding"/>
                <a:ea typeface="D2Coding"/>
                <a:cs typeface="D2Coding"/>
              </a:rPr>
              <a:t>  "table.include.list": "public.orders,public.payments,public.refunds",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pPr>
            <a:r>
              <a:rPr sz="1725" b="0">
                <a:solidFill>
                  <a:srgbClr val="F8FAFC"/>
                </a:solidFill>
                <a:latin typeface="D2Coding"/>
                <a:ea typeface="D2Coding"/>
                <a:cs typeface="D2Coding"/>
              </a:rPr>
              <a:t>  "topic.prefix": "cdc",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pPr>
            <a:r>
              <a:rPr sz="1725" b="0">
                <a:solidFill>
                  <a:srgbClr val="F8FAFC"/>
                </a:solidFill>
                <a:latin typeface="D2Coding"/>
                <a:ea typeface="D2Coding"/>
                <a:cs typeface="D2Coding"/>
              </a:rPr>
              <a:t>  "snapshot.mode": "initial",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pPr>
            <a:r>
              <a:rPr sz="1725" b="0">
                <a:solidFill>
                  <a:srgbClr val="F8FAFC"/>
                </a:solidFill>
                <a:latin typeface="D2Coding"/>
                <a:ea typeface="D2Coding"/>
                <a:cs typeface="D2Coding"/>
              </a:rPr>
              <a:t>  "tombstones.on.delete": "true"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pPr>
            <a:r>
              <a:rPr sz="1725" b="0">
                <a:solidFill>
                  <a:srgbClr val="F8FAFC"/>
                </a:solidFill>
                <a:latin typeface="D2Coding"/>
                <a:ea typeface="D2Coding"/>
                <a:cs typeface="D2Coding"/>
              </a:rPr>
              <a:t>}</a:t>
            </a:r>
          </a:p>
        </p:txBody>
      </p:sp>
      <p:sp>
        <p:nvSpPr>
          <p:cNvPr id="6" name="panel-156">
            <a:extLst xmlns:a="http://schemas.openxmlformats.org/drawingml/2006/main">
              <a:ext uri="{FF2B5EF4-FFF2-40B4-BE49-F238E27FC236}">
                <a16:creationId xmlns:a16="http://schemas.microsoft.com/office/drawing/2014/main" id="{684E38B8-25BD-45ED-8CFD-281C8356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70485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22D3EE"/>
            </a:solidFill>
          </a:ln>
        </p:spPr>
      </p:sp>
      <p:sp>
        <p:nvSpPr>
          <p:cNvPr id="7" name="text-157">
            <a:extLst xmlns:a="http://schemas.openxmlformats.org/drawingml/2006/main">
              <a:ext uri="{FF2B5EF4-FFF2-40B4-BE49-F238E27FC236}">
                <a16:creationId xmlns:a16="http://schemas.microsoft.com/office/drawing/2014/main" id="{384920E5-B438-495B-8741-76294087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10629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publication · include list · 실제 이벤트를 함께 확인합니다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3AD156-7B87-4A7C-8554-9EF642BD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9" name="text-158">
            <a:extLst xmlns:a="http://schemas.openxmlformats.org/drawingml/2006/main">
              <a:ext uri="{FF2B5EF4-FFF2-40B4-BE49-F238E27FC236}">
                <a16:creationId xmlns:a16="http://schemas.microsoft.com/office/drawing/2014/main" id="{2D526264-E62C-4AA6-9A77-6F40458A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CDC · Iceberg 스터디  |  2회차</a:t>
            </a:r>
          </a:p>
        </p:txBody>
      </p:sp>
      <p:sp>
        <p:nvSpPr>
          <p:cNvPr id="10" name="text-159">
            <a:extLst xmlns:a="http://schemas.openxmlformats.org/drawingml/2006/main">
              <a:ext uri="{FF2B5EF4-FFF2-40B4-BE49-F238E27FC236}">
                <a16:creationId xmlns:a16="http://schemas.microsoft.com/office/drawing/2014/main" id="{78D5814B-E598-4FCC-AE8A-146F285D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73491135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160">
            <a:extLst xmlns:a="http://schemas.openxmlformats.org/drawingml/2006/main">
              <a:ext uri="{FF2B5EF4-FFF2-40B4-BE49-F238E27FC236}">
                <a16:creationId xmlns:a16="http://schemas.microsoft.com/office/drawing/2014/main" id="{B1BDA8A5-6773-410F-8448-B5E36E64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휴식</a:t>
            </a:r>
          </a:p>
        </p:txBody>
      </p:sp>
      <p:sp>
        <p:nvSpPr>
          <p:cNvPr id="2" name="text-161">
            <a:extLst xmlns:a="http://schemas.openxmlformats.org/drawingml/2006/main">
              <a:ext uri="{FF2B5EF4-FFF2-40B4-BE49-F238E27FC236}">
                <a16:creationId xmlns:a16="http://schemas.microsoft.com/office/drawing/2014/main" id="{0E6E3B85-6DA0-4AAA-A142-63F90EED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43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43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43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43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43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43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43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43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43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43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3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5분 쉬고 이어가겠습니다</a:t>
            </a:r>
          </a:p>
        </p:txBody>
      </p:sp>
      <p:sp>
        <p:nvSpPr>
          <p:cNvPr id="3" name="text-162">
            <a:extLst xmlns:a="http://schemas.openxmlformats.org/drawingml/2006/main">
              <a:ext uri="{FF2B5EF4-FFF2-40B4-BE49-F238E27FC236}">
                <a16:creationId xmlns:a16="http://schemas.microsoft.com/office/drawing/2014/main" id="{8FA2393D-F3D7-475B-912A-CCF9563E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17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17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17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17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17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17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17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17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17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돌아오면 스냅샷 r과 작은 파서로 이벤트를 해석합니다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40ACDD-11C3-4F8B-916E-94A51C03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5" name="text-163">
            <a:extLst xmlns:a="http://schemas.openxmlformats.org/drawingml/2006/main">
              <a:ext uri="{FF2B5EF4-FFF2-40B4-BE49-F238E27FC236}">
                <a16:creationId xmlns:a16="http://schemas.microsoft.com/office/drawing/2014/main" id="{CE105055-FFDE-483A-9064-06940394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CDC · Iceberg 스터디  |  2회차</a:t>
            </a:r>
          </a:p>
        </p:txBody>
      </p:sp>
      <p:sp>
        <p:nvSpPr>
          <p:cNvPr id="6" name="text-164">
            <a:extLst xmlns:a="http://schemas.openxmlformats.org/drawingml/2006/main">
              <a:ext uri="{FF2B5EF4-FFF2-40B4-BE49-F238E27FC236}">
                <a16:creationId xmlns:a16="http://schemas.microsoft.com/office/drawing/2014/main" id="{1C123AE8-6FC1-49D6-B9B8-F210BE019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20754875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65">
            <a:extLst xmlns:a="http://schemas.openxmlformats.org/drawingml/2006/main">
              <a:ext uri="{FF2B5EF4-FFF2-40B4-BE49-F238E27FC236}">
                <a16:creationId xmlns:a16="http://schemas.microsoft.com/office/drawing/2014/main" id="{A8384078-A8F8-4B58-B5BA-39261E6A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2회차 · PostgreSQL CDC</a:t>
            </a:r>
          </a:p>
        </p:txBody>
      </p:sp>
      <p:sp>
        <p:nvSpPr>
          <p:cNvPr id="2" name="text-166">
            <a:extLst xmlns:a="http://schemas.openxmlformats.org/drawingml/2006/main">
              <a:ext uri="{FF2B5EF4-FFF2-40B4-BE49-F238E27FC236}">
                <a16:creationId xmlns:a16="http://schemas.microsoft.com/office/drawing/2014/main" id="{F9622A8A-4EAB-4F35-9B0D-1072EB19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초기 스냅샷 r과 이후 c/u/d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F670D0-6542-4ACE-AFE0-EC86AABC9D1B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3476625"/>
                <a:gridCol w="5210175"/>
              </a:tblGrid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2D3EE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구분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334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2D3EE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무엇을 나타내는가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334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2D3EE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이번 시간의 확인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33444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r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스냅샷에서 읽은 현재 행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보존된 실제 표본 또는 표시된 fixture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c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수집 시작 이후 생성 이벤트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새 환불 20,000원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u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기존 행의 변경 이벤트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같은 환불 30,000원으로 정정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물리 삭제 이벤트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before 값과 after=null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4" name="panel-167">
            <a:extLst xmlns:a="http://schemas.openxmlformats.org/drawingml/2006/main">
              <a:ext uri="{FF2B5EF4-FFF2-40B4-BE49-F238E27FC236}">
                <a16:creationId xmlns:a16="http://schemas.microsoft.com/office/drawing/2014/main" id="{C3A7E7DB-2A3D-439F-8698-CA6DD58F8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70485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22D3EE"/>
            </a:solidFill>
          </a:ln>
        </p:spPr>
      </p:sp>
      <p:sp>
        <p:nvSpPr>
          <p:cNvPr id="5" name="text-168">
            <a:extLst xmlns:a="http://schemas.openxmlformats.org/drawingml/2006/main">
              <a:ext uri="{FF2B5EF4-FFF2-40B4-BE49-F238E27FC236}">
                <a16:creationId xmlns:a16="http://schemas.microsoft.com/office/drawing/2014/main" id="{6011EC16-F340-4E8A-ADA0-388DE9B1A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10629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snapshot.mode=initial은 매 재시작마다 전체 스냅샷을 뜬다는 뜻이 아닙니다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1229D1-783B-4100-9A9B-0766E7FA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7" name="text-169">
            <a:extLst xmlns:a="http://schemas.openxmlformats.org/drawingml/2006/main">
              <a:ext uri="{FF2B5EF4-FFF2-40B4-BE49-F238E27FC236}">
                <a16:creationId xmlns:a16="http://schemas.microsoft.com/office/drawing/2014/main" id="{F95B0E85-6A97-4550-9925-2AC24D683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CDC · Iceberg 스터디  |  2회차</a:t>
            </a:r>
          </a:p>
        </p:txBody>
      </p:sp>
      <p:sp>
        <p:nvSpPr>
          <p:cNvPr id="8" name="text-170">
            <a:extLst xmlns:a="http://schemas.openxmlformats.org/drawingml/2006/main">
              <a:ext uri="{FF2B5EF4-FFF2-40B4-BE49-F238E27FC236}">
                <a16:creationId xmlns:a16="http://schemas.microsoft.com/office/drawing/2014/main" id="{0B88F565-22E8-4A8D-A4A8-3990A32D7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79025520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171">
            <a:extLst xmlns:a="http://schemas.openxmlformats.org/drawingml/2006/main">
              <a:ext uri="{FF2B5EF4-FFF2-40B4-BE49-F238E27FC236}">
                <a16:creationId xmlns:a16="http://schemas.microsoft.com/office/drawing/2014/main" id="{71D0EE2F-ACE5-4B18-92F6-7D39BF92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2회차 · PostgreSQL CDC</a:t>
            </a:r>
          </a:p>
        </p:txBody>
      </p:sp>
      <p:sp>
        <p:nvSpPr>
          <p:cNvPr id="2" name="text-172">
            <a:extLst xmlns:a="http://schemas.openxmlformats.org/drawingml/2006/main">
              <a:ext uri="{FF2B5EF4-FFF2-40B4-BE49-F238E27FC236}">
                <a16:creationId xmlns:a16="http://schemas.microsoft.com/office/drawing/2014/main" id="{5FA0FBC3-5FA4-4342-A22B-737BE269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작은 파서의 입력과 출력</a:t>
            </a:r>
          </a:p>
        </p:txBody>
      </p:sp>
      <p:sp>
        <p:nvSpPr>
          <p:cNvPr id="3" name="panel-173">
            <a:extLst xmlns:a="http://schemas.openxmlformats.org/drawingml/2006/main">
              <a:ext uri="{FF2B5EF4-FFF2-40B4-BE49-F238E27FC236}">
                <a16:creationId xmlns:a16="http://schemas.microsoft.com/office/drawing/2014/main" id="{38F0472E-BD44-4102-88D6-F829B815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517900" cy="3028950"/>
          </a:xfrm>
          <a:prstGeom xmlns:a="http://schemas.openxmlformats.org/drawingml/2006/main" prst="roundRect">
            <a:avLst>
              <a:gd name="adj" fmla="val 283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4" name="text-174">
            <a:extLst xmlns:a="http://schemas.openxmlformats.org/drawingml/2006/main">
              <a:ext uri="{FF2B5EF4-FFF2-40B4-BE49-F238E27FC236}">
                <a16:creationId xmlns:a16="http://schemas.microsoft.com/office/drawing/2014/main" id="{22679E11-AD44-49B8-8BDF-64B4E54D5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3060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rPr>
              <a:t>입력</a:t>
            </a:r>
          </a:p>
        </p:txBody>
      </p:sp>
      <p:sp>
        <p:nvSpPr>
          <p:cNvPr id="5" name="text-175">
            <a:extLst xmlns:a="http://schemas.openxmlformats.org/drawingml/2006/main">
              <a:ext uri="{FF2B5EF4-FFF2-40B4-BE49-F238E27FC236}">
                <a16:creationId xmlns:a16="http://schemas.microsoft.com/office/drawing/2014/main" id="{87774848-EACA-4753-9C30-EA53CF8F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86100"/>
            <a:ext cx="30607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Kafka value 원문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+ key · topic · partition · offset</a:t>
            </a:r>
          </a:p>
        </p:txBody>
      </p:sp>
      <p:sp>
        <p:nvSpPr>
          <p:cNvPr id="6" name="panel-176">
            <a:extLst xmlns:a="http://schemas.openxmlformats.org/drawingml/2006/main">
              <a:ext uri="{FF2B5EF4-FFF2-40B4-BE49-F238E27FC236}">
                <a16:creationId xmlns:a16="http://schemas.microsoft.com/office/drawing/2014/main" id="{E5574C97-D1FE-42F1-A1AC-327A8EC3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050" y="1943100"/>
            <a:ext cx="3517900" cy="3028950"/>
          </a:xfrm>
          <a:prstGeom xmlns:a="http://schemas.openxmlformats.org/drawingml/2006/main" prst="roundRect">
            <a:avLst>
              <a:gd name="adj" fmla="val 283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7" name="text-177">
            <a:extLst xmlns:a="http://schemas.openxmlformats.org/drawingml/2006/main">
              <a:ext uri="{FF2B5EF4-FFF2-40B4-BE49-F238E27FC236}">
                <a16:creationId xmlns:a16="http://schemas.microsoft.com/office/drawing/2014/main" id="{B4328582-AAA2-4B77-B854-9ECFEEBB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2209800"/>
            <a:ext cx="3060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해석</a:t>
            </a:r>
          </a:p>
        </p:txBody>
      </p:sp>
      <p:sp>
        <p:nvSpPr>
          <p:cNvPr id="8" name="text-178">
            <a:extLst xmlns:a="http://schemas.openxmlformats.org/drawingml/2006/main">
              <a:ext uri="{FF2B5EF4-FFF2-40B4-BE49-F238E27FC236}">
                <a16:creationId xmlns:a16="http://schemas.microsoft.com/office/drawing/2014/main" id="{EC7A8D24-1D03-443E-9281-DAF326930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3086100"/>
            <a:ext cx="30607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JSON 구조와 op 확인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DELETE는 before에서 PK</a:t>
            </a:r>
          </a:p>
        </p:txBody>
      </p:sp>
      <p:sp>
        <p:nvSpPr>
          <p:cNvPr id="9" name="panel-179">
            <a:extLst xmlns:a="http://schemas.openxmlformats.org/drawingml/2006/main">
              <a:ext uri="{FF2B5EF4-FFF2-40B4-BE49-F238E27FC236}">
                <a16:creationId xmlns:a16="http://schemas.microsoft.com/office/drawing/2014/main" id="{A5716291-B3C9-4614-A5D8-5369D57B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1943100"/>
            <a:ext cx="3517900" cy="3028950"/>
          </a:xfrm>
          <a:prstGeom xmlns:a="http://schemas.openxmlformats.org/drawingml/2006/main" prst="roundRect">
            <a:avLst>
              <a:gd name="adj" fmla="val 283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10" name="text-180">
            <a:extLst xmlns:a="http://schemas.openxmlformats.org/drawingml/2006/main">
              <a:ext uri="{FF2B5EF4-FFF2-40B4-BE49-F238E27FC236}">
                <a16:creationId xmlns:a16="http://schemas.microsoft.com/office/drawing/2014/main" id="{9BF6F19D-A776-4E04-94CE-41E824931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2209800"/>
            <a:ext cx="3060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출력</a:t>
            </a:r>
          </a:p>
        </p:txBody>
      </p:sp>
      <p:sp>
        <p:nvSpPr>
          <p:cNvPr id="11" name="text-181">
            <a:extLst xmlns:a="http://schemas.openxmlformats.org/drawingml/2006/main">
              <a:ext uri="{FF2B5EF4-FFF2-40B4-BE49-F238E27FC236}">
                <a16:creationId xmlns:a16="http://schemas.microsoft.com/office/drawing/2014/main" id="{E1061825-BE12-4962-9DE5-C33A55F9E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3086100"/>
            <a:ext cx="30607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변경 요약 또는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tombstone · 오류 분류</a:t>
            </a:r>
          </a:p>
        </p:txBody>
      </p:sp>
      <p:sp>
        <p:nvSpPr>
          <p:cNvPr id="12" name="panel-182">
            <a:extLst xmlns:a="http://schemas.openxmlformats.org/drawingml/2006/main">
              <a:ext uri="{FF2B5EF4-FFF2-40B4-BE49-F238E27FC236}">
                <a16:creationId xmlns:a16="http://schemas.microsoft.com/office/drawing/2014/main" id="{AF85556B-5A1F-4E60-A94D-A1D01CF26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70485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22D3EE"/>
            </a:solidFill>
          </a:ln>
        </p:spPr>
      </p:sp>
      <p:sp>
        <p:nvSpPr>
          <p:cNvPr id="13" name="text-183">
            <a:extLst xmlns:a="http://schemas.openxmlformats.org/drawingml/2006/main">
              <a:ext uri="{FF2B5EF4-FFF2-40B4-BE49-F238E27FC236}">
                <a16:creationId xmlns:a16="http://schemas.microsoft.com/office/drawing/2014/main" id="{6BD4AF64-85D9-4692-A11B-A51B0051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10629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원문 적재 파이프라인을 바꾸지 않는 독립적인 해석 도구입니다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25EC16-C6F6-45A8-930A-7C288C4E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15" name="text-184">
            <a:extLst xmlns:a="http://schemas.openxmlformats.org/drawingml/2006/main">
              <a:ext uri="{FF2B5EF4-FFF2-40B4-BE49-F238E27FC236}">
                <a16:creationId xmlns:a16="http://schemas.microsoft.com/office/drawing/2014/main" id="{E5647A3B-A815-4D4F-91AF-0C2CF869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CDC · Iceberg 스터디  |  2회차</a:t>
            </a:r>
          </a:p>
        </p:txBody>
      </p:sp>
      <p:sp>
        <p:nvSpPr>
          <p:cNvPr id="16" name="text-185">
            <a:extLst xmlns:a="http://schemas.openxmlformats.org/drawingml/2006/main">
              <a:ext uri="{FF2B5EF4-FFF2-40B4-BE49-F238E27FC236}">
                <a16:creationId xmlns:a16="http://schemas.microsoft.com/office/drawing/2014/main" id="{DBD07B47-4D5C-4182-B7C4-C4D5BDA48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90103403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186">
            <a:extLst xmlns:a="http://schemas.openxmlformats.org/drawingml/2006/main">
              <a:ext uri="{FF2B5EF4-FFF2-40B4-BE49-F238E27FC236}">
                <a16:creationId xmlns:a16="http://schemas.microsoft.com/office/drawing/2014/main" id="{C45363F3-B553-4005-95D3-44D6202B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2회차 · PostgreSQL CDC</a:t>
            </a:r>
          </a:p>
        </p:txBody>
      </p:sp>
      <p:sp>
        <p:nvSpPr>
          <p:cNvPr id="2" name="text-187">
            <a:extLst xmlns:a="http://schemas.openxmlformats.org/drawingml/2006/main">
              <a:ext uri="{FF2B5EF4-FFF2-40B4-BE49-F238E27FC236}">
                <a16:creationId xmlns:a16="http://schemas.microsoft.com/office/drawing/2014/main" id="{C332E376-42D2-4EF1-85AD-7C472BAC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변경 종류에 따라 행을 선택하기</a:t>
            </a:r>
          </a:p>
        </p:txBody>
      </p:sp>
      <p:sp>
        <p:nvSpPr>
          <p:cNvPr id="3" name="text-188">
            <a:extLst xmlns:a="http://schemas.openxmlformats.org/drawingml/2006/main">
              <a:ext uri="{FF2B5EF4-FFF2-40B4-BE49-F238E27FC236}">
                <a16:creationId xmlns:a16="http://schemas.microsoft.com/office/drawing/2014/main" id="{2E3AAF58-DA97-4E06-A9D4-E5F35B5E7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Python · event_parser.py의 핵심 분기</a:t>
            </a:r>
          </a:p>
        </p:txBody>
      </p:sp>
      <p:sp>
        <p:nvSpPr>
          <p:cNvPr id="4" name="panel-189">
            <a:extLst xmlns:a="http://schemas.openxmlformats.org/drawingml/2006/main">
              <a:ext uri="{FF2B5EF4-FFF2-40B4-BE49-F238E27FC236}">
                <a16:creationId xmlns:a16="http://schemas.microsoft.com/office/drawing/2014/main" id="{DF2E06CE-A8AF-49C1-AAB0-CDAC5EAC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972800" cy="3314700"/>
          </a:xfrm>
          <a:prstGeom xmlns:a="http://schemas.openxmlformats.org/drawingml/2006/main" prst="roundRect">
            <a:avLst>
              <a:gd name="adj" fmla="val 2586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5" name="text-190">
            <a:extLst xmlns:a="http://schemas.openxmlformats.org/drawingml/2006/main">
              <a:ext uri="{FF2B5EF4-FFF2-40B4-BE49-F238E27FC236}">
                <a16:creationId xmlns:a16="http://schemas.microsoft.com/office/drawing/2014/main" id="{F6C0ADD8-5C21-4D0C-AD3E-556922736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71700"/>
            <a:ext cx="1055370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defPPr>
            <a:lvl1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lvl1pPr>
            <a:lvl2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lvl2pPr>
            <a:lvl3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lvl3pPr>
            <a:lvl4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lvl4pPr>
            <a:lvl5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lvl5pPr>
            <a:lvl6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lvl6pPr>
            <a:lvl7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lvl7pPr>
            <a:lvl8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lvl8pPr>
            <a:lvl9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pPr>
            <a:r>
              <a:rPr sz="1725" b="0">
                <a:solidFill>
                  <a:srgbClr val="F8FAFC"/>
                </a:solidFill>
                <a:latin typeface="D2Coding"/>
                <a:ea typeface="D2Coding"/>
                <a:cs typeface="D2Coding"/>
              </a:rPr>
              <a:t># 핵심 분기만 발췌했습니다.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pPr>
            <a:r>
              <a:rPr sz="1725" b="0">
                <a:solidFill>
                  <a:srgbClr val="F8FAFC"/>
                </a:solidFill>
                <a:latin typeface="D2Coding"/>
                <a:ea typeface="D2Coding"/>
                <a:cs typeface="D2Coding"/>
              </a:rPr>
              <a:t>if raw_value is None: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pPr>
            <a:r>
              <a:rPr sz="1725" b="0">
                <a:solidFill>
                  <a:srgbClr val="F8FAFC"/>
                </a:solidFill>
                <a:latin typeface="D2Coding"/>
                <a:ea typeface="D2Coding"/>
                <a:cs typeface="D2Coding"/>
              </a:rPr>
              <a:t>    return {'kind': 'tombstone'}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pPr>
          </a:p>
          <a:p xmlns:a="http://schemas.openxmlformats.org/drawingml/2006/main">
            <a: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pPr>
            <a:r>
              <a:rPr sz="1725" b="0">
                <a:solidFill>
                  <a:srgbClr val="F8FAFC"/>
                </a:solidFill>
                <a:latin typeface="D2Coding"/>
                <a:ea typeface="D2Coding"/>
                <a:cs typeface="D2Coding"/>
              </a:rPr>
              <a:t>value = json.loads(raw_value)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pPr>
            <a:r>
              <a:rPr sz="1725" b="0">
                <a:solidFill>
                  <a:srgbClr val="F8FAFC"/>
                </a:solidFill>
                <a:latin typeface="D2Coding"/>
                <a:ea typeface="D2Coding"/>
                <a:cs typeface="D2Coding"/>
              </a:rPr>
              <a:t>if value is None: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pPr>
            <a:r>
              <a:rPr sz="1725" b="0">
                <a:solidFill>
                  <a:srgbClr val="F8FAFC"/>
                </a:solidFill>
                <a:latin typeface="D2Coding"/>
                <a:ea typeface="D2Coding"/>
                <a:cs typeface="D2Coding"/>
              </a:rPr>
              <a:t>    return invalid('invalid_json_null')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pPr>
            <a:r>
              <a:rPr sz="1725" b="0">
                <a:solidFill>
                  <a:srgbClr val="F8FAFC"/>
                </a:solidFill>
                <a:latin typeface="D2Coding"/>
                <a:ea typeface="D2Coding"/>
                <a:cs typeface="D2Coding"/>
              </a:rPr>
              <a:t>op = value['op']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pPr>
            <a:r>
              <a:rPr sz="1725" b="0">
                <a:solidFill>
                  <a:srgbClr val="F8FAFC"/>
                </a:solidFill>
                <a:latin typeface="D2Coding"/>
                <a:ea typeface="D2Coding"/>
                <a:cs typeface="D2Coding"/>
              </a:rPr>
              <a:t>row = value.get('before') if op == 'd' else value.get('after')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8FAFC"/>
                </a:solidFill>
                <a:latin typeface="D2Coding"/>
                <a:ea typeface="D2Coding"/>
                <a:cs typeface="D2Coding"/>
              </a:defRPr>
            </a:pPr>
            <a:r>
              <a:rPr sz="1725" b="0">
                <a:solidFill>
                  <a:srgbClr val="F8FAFC"/>
                </a:solidFill>
                <a:latin typeface="D2Coding"/>
                <a:ea typeface="D2Coding"/>
                <a:cs typeface="D2Coding"/>
              </a:rPr>
              <a:t># 전체 검증과 PK 선택은 event_parser.py에서 확인합니다.</a:t>
            </a:r>
          </a:p>
        </p:txBody>
      </p:sp>
      <p:sp>
        <p:nvSpPr>
          <p:cNvPr id="6" name="panel-191">
            <a:extLst xmlns:a="http://schemas.openxmlformats.org/drawingml/2006/main">
              <a:ext uri="{FF2B5EF4-FFF2-40B4-BE49-F238E27FC236}">
                <a16:creationId xmlns:a16="http://schemas.microsoft.com/office/drawing/2014/main" id="{894E2FEC-0C3B-469F-B870-11523608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70485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22D3EE"/>
            </a:solidFill>
          </a:ln>
        </p:spPr>
      </p:sp>
      <p:sp>
        <p:nvSpPr>
          <p:cNvPr id="7" name="text-192">
            <a:extLst xmlns:a="http://schemas.openxmlformats.org/drawingml/2006/main">
              <a:ext uri="{FF2B5EF4-FFF2-40B4-BE49-F238E27FC236}">
                <a16:creationId xmlns:a16="http://schemas.microsoft.com/office/drawing/2014/main" id="{F09B4147-023C-4E74-9B8A-12F5BE0D9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10629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왜 DELETE에서 after를 선택하면 안 될까요?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4D3B55-3BFA-4C2A-A169-84085CDA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9" name="text-193">
            <a:extLst xmlns:a="http://schemas.openxmlformats.org/drawingml/2006/main">
              <a:ext uri="{FF2B5EF4-FFF2-40B4-BE49-F238E27FC236}">
                <a16:creationId xmlns:a16="http://schemas.microsoft.com/office/drawing/2014/main" id="{236DC752-0E60-4989-8978-5505FB56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CDC · Iceberg 스터디  |  2회차</a:t>
            </a:r>
          </a:p>
        </p:txBody>
      </p:sp>
      <p:sp>
        <p:nvSpPr>
          <p:cNvPr id="10" name="text-194">
            <a:extLst xmlns:a="http://schemas.openxmlformats.org/drawingml/2006/main">
              <a:ext uri="{FF2B5EF4-FFF2-40B4-BE49-F238E27FC236}">
                <a16:creationId xmlns:a16="http://schemas.microsoft.com/office/drawing/2014/main" id="{BA8048E6-E05D-4A99-80D3-08BD084C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12438176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95">
            <a:extLst xmlns:a="http://schemas.openxmlformats.org/drawingml/2006/main">
              <a:ext uri="{FF2B5EF4-FFF2-40B4-BE49-F238E27FC236}">
                <a16:creationId xmlns:a16="http://schemas.microsoft.com/office/drawing/2014/main" id="{9C4922D8-184E-4AA4-83EA-22A08DEB0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2회차 · PostgreSQL CDC</a:t>
            </a:r>
          </a:p>
        </p:txBody>
      </p:sp>
      <p:sp>
        <p:nvSpPr>
          <p:cNvPr id="2" name="text-196">
            <a:extLst xmlns:a="http://schemas.openxmlformats.org/drawingml/2006/main">
              <a:ext uri="{FF2B5EF4-FFF2-40B4-BE49-F238E27FC236}">
                <a16:creationId xmlns:a16="http://schemas.microsoft.com/office/drawing/2014/main" id="{98120273-81F6-4E55-B5B1-6487E2E8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파서 결과를 입력별로 확인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D95FFD-31C8-45E5-9070-85EC7D5AD80C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19450"/>
                <a:gridCol w="7753350"/>
              </a:tblGrid>
              <a:tr h="5556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2D3EE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입력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334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2D3EE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확인할 것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33444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생성 c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after에서 PK와 현재 값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삭제 d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before에서 PK, after=null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wire value=null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tombstone으로 구분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JSON 텍스트 null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invalid_json_null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나머지 입력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r·u·오류 검증은 복습에서 확인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4" name="panel-197">
            <a:extLst xmlns:a="http://schemas.openxmlformats.org/drawingml/2006/main">
              <a:ext uri="{FF2B5EF4-FFF2-40B4-BE49-F238E27FC236}">
                <a16:creationId xmlns:a16="http://schemas.microsoft.com/office/drawing/2014/main" id="{B2754BF0-24FD-4E43-91D6-74DB89BD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70485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22D3EE"/>
            </a:solidFill>
          </a:ln>
        </p:spPr>
      </p:sp>
      <p:sp>
        <p:nvSpPr>
          <p:cNvPr id="5" name="text-198">
            <a:extLst xmlns:a="http://schemas.openxmlformats.org/drawingml/2006/main">
              <a:ext uri="{FF2B5EF4-FFF2-40B4-BE49-F238E27FC236}">
                <a16:creationId xmlns:a16="http://schemas.microsoft.com/office/drawing/2014/main" id="{4C541CD9-2816-4328-BD06-0DAF22503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10629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이어서 새 환불을 실행하고 실제 메시지와 비교합니다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59853C-B691-41F3-9032-40AA9235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7" name="text-199">
            <a:extLst xmlns:a="http://schemas.openxmlformats.org/drawingml/2006/main">
              <a:ext uri="{FF2B5EF4-FFF2-40B4-BE49-F238E27FC236}">
                <a16:creationId xmlns:a16="http://schemas.microsoft.com/office/drawing/2014/main" id="{6A6AB27C-1DDB-473B-8E54-61F7CE432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CDC · Iceberg 스터디  |  2회차</a:t>
            </a:r>
          </a:p>
        </p:txBody>
      </p:sp>
      <p:sp>
        <p:nvSpPr>
          <p:cNvPr id="8" name="text-200">
            <a:extLst xmlns:a="http://schemas.openxmlformats.org/drawingml/2006/main">
              <a:ext uri="{FF2B5EF4-FFF2-40B4-BE49-F238E27FC236}">
                <a16:creationId xmlns:a16="http://schemas.microsoft.com/office/drawing/2014/main" id="{B15E9A73-E11A-4E01-BF88-AA8FFA14A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34765931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201">
            <a:extLst xmlns:a="http://schemas.openxmlformats.org/drawingml/2006/main">
              <a:ext uri="{FF2B5EF4-FFF2-40B4-BE49-F238E27FC236}">
                <a16:creationId xmlns:a16="http://schemas.microsoft.com/office/drawing/2014/main" id="{5CD9C622-931D-4F37-ACAB-DF750B21A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2회차 · PostgreSQL CDC</a:t>
            </a:r>
          </a:p>
        </p:txBody>
      </p:sp>
      <p:sp>
        <p:nvSpPr>
          <p:cNvPr id="2" name="text-202">
            <a:extLst xmlns:a="http://schemas.openxmlformats.org/drawingml/2006/main">
              <a:ext uri="{FF2B5EF4-FFF2-40B4-BE49-F238E27FC236}">
                <a16:creationId xmlns:a16="http://schemas.microsoft.com/office/drawing/2014/main" id="{517C7D29-F2CE-418F-A323-948D1861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Kafka key · value · 수집 위치</a:t>
            </a:r>
          </a:p>
        </p:txBody>
      </p:sp>
      <p:sp>
        <p:nvSpPr>
          <p:cNvPr id="3" name="panel-203">
            <a:extLst xmlns:a="http://schemas.openxmlformats.org/drawingml/2006/main">
              <a:ext uri="{FF2B5EF4-FFF2-40B4-BE49-F238E27FC236}">
                <a16:creationId xmlns:a16="http://schemas.microsoft.com/office/drawing/2014/main" id="{D512ABB7-A664-4E5F-B010-3DFA7A66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517900" cy="3028950"/>
          </a:xfrm>
          <a:prstGeom xmlns:a="http://schemas.openxmlformats.org/drawingml/2006/main" prst="roundRect">
            <a:avLst>
              <a:gd name="adj" fmla="val 283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4" name="text-204">
            <a:extLst xmlns:a="http://schemas.openxmlformats.org/drawingml/2006/main">
              <a:ext uri="{FF2B5EF4-FFF2-40B4-BE49-F238E27FC236}">
                <a16:creationId xmlns:a16="http://schemas.microsoft.com/office/drawing/2014/main" id="{1BCCDE8A-EBA3-4616-B66B-D83F49A5D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3060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rPr>
              <a:t>key</a:t>
            </a:r>
          </a:p>
        </p:txBody>
      </p:sp>
      <p:sp>
        <p:nvSpPr>
          <p:cNvPr id="5" name="text-205">
            <a:extLst xmlns:a="http://schemas.openxmlformats.org/drawingml/2006/main">
              <a:ext uri="{FF2B5EF4-FFF2-40B4-BE49-F238E27FC236}">
                <a16:creationId xmlns:a16="http://schemas.microsoft.com/office/drawing/2014/main" id="{A1E8967B-1EFA-4746-B499-67BFD3EA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86100"/>
            <a:ext cx="30607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{"refund_id": "...-r1"}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같은 원천 행을 식별</a:t>
            </a:r>
          </a:p>
        </p:txBody>
      </p:sp>
      <p:sp>
        <p:nvSpPr>
          <p:cNvPr id="6" name="panel-206">
            <a:extLst xmlns:a="http://schemas.openxmlformats.org/drawingml/2006/main">
              <a:ext uri="{FF2B5EF4-FFF2-40B4-BE49-F238E27FC236}">
                <a16:creationId xmlns:a16="http://schemas.microsoft.com/office/drawing/2014/main" id="{D1728FC3-F6EB-48AE-B6AD-9BA04B29D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050" y="1943100"/>
            <a:ext cx="3517900" cy="3028950"/>
          </a:xfrm>
          <a:prstGeom xmlns:a="http://schemas.openxmlformats.org/drawingml/2006/main" prst="roundRect">
            <a:avLst>
              <a:gd name="adj" fmla="val 283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7" name="text-207">
            <a:extLst xmlns:a="http://schemas.openxmlformats.org/drawingml/2006/main">
              <a:ext uri="{FF2B5EF4-FFF2-40B4-BE49-F238E27FC236}">
                <a16:creationId xmlns:a16="http://schemas.microsoft.com/office/drawing/2014/main" id="{B557386D-E09E-44AF-A986-32DA22C5B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2209800"/>
            <a:ext cx="3060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value</a:t>
            </a:r>
          </a:p>
        </p:txBody>
      </p:sp>
      <p:sp>
        <p:nvSpPr>
          <p:cNvPr id="8" name="text-208">
            <a:extLst xmlns:a="http://schemas.openxmlformats.org/drawingml/2006/main">
              <a:ext uri="{FF2B5EF4-FFF2-40B4-BE49-F238E27FC236}">
                <a16:creationId xmlns:a16="http://schemas.microsoft.com/office/drawing/2014/main" id="{88F8E345-E9CA-42BA-B169-4905165E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3086100"/>
            <a:ext cx="30607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op · before · after · source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변경 내용과 원천 정보</a:t>
            </a:r>
          </a:p>
        </p:txBody>
      </p:sp>
      <p:sp>
        <p:nvSpPr>
          <p:cNvPr id="9" name="panel-209">
            <a:extLst xmlns:a="http://schemas.openxmlformats.org/drawingml/2006/main">
              <a:ext uri="{FF2B5EF4-FFF2-40B4-BE49-F238E27FC236}">
                <a16:creationId xmlns:a16="http://schemas.microsoft.com/office/drawing/2014/main" id="{581A51B7-CE5D-4756-B856-F4CBFF61E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1943100"/>
            <a:ext cx="3517900" cy="3028950"/>
          </a:xfrm>
          <a:prstGeom xmlns:a="http://schemas.openxmlformats.org/drawingml/2006/main" prst="roundRect">
            <a:avLst>
              <a:gd name="adj" fmla="val 283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10" name="text-210">
            <a:extLst xmlns:a="http://schemas.openxmlformats.org/drawingml/2006/main">
              <a:ext uri="{FF2B5EF4-FFF2-40B4-BE49-F238E27FC236}">
                <a16:creationId xmlns:a16="http://schemas.microsoft.com/office/drawing/2014/main" id="{A2733DDC-882D-4178-A520-C0EA204F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2209800"/>
            <a:ext cx="3060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수집 위치</a:t>
            </a:r>
          </a:p>
        </p:txBody>
      </p:sp>
      <p:sp>
        <p:nvSpPr>
          <p:cNvPr id="11" name="text-211">
            <a:extLst xmlns:a="http://schemas.openxmlformats.org/drawingml/2006/main">
              <a:ext uri="{FF2B5EF4-FFF2-40B4-BE49-F238E27FC236}">
                <a16:creationId xmlns:a16="http://schemas.microsoft.com/office/drawing/2014/main" id="{1A93AEFC-478C-4C54-9359-26EB4063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3086100"/>
            <a:ext cx="30607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topic · partition · offset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Kafka 레코드의 위치</a:t>
            </a:r>
          </a:p>
        </p:txBody>
      </p:sp>
      <p:sp>
        <p:nvSpPr>
          <p:cNvPr id="12" name="panel-212">
            <a:extLst xmlns:a="http://schemas.openxmlformats.org/drawingml/2006/main">
              <a:ext uri="{FF2B5EF4-FFF2-40B4-BE49-F238E27FC236}">
                <a16:creationId xmlns:a16="http://schemas.microsoft.com/office/drawing/2014/main" id="{69E936FF-41DE-4F80-9993-49A9EE54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70485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22D3EE"/>
            </a:solidFill>
          </a:ln>
        </p:spPr>
      </p:sp>
      <p:sp>
        <p:nvSpPr>
          <p:cNvPr id="13" name="text-213">
            <a:extLst xmlns:a="http://schemas.openxmlformats.org/drawingml/2006/main">
              <a:ext uri="{FF2B5EF4-FFF2-40B4-BE49-F238E27FC236}">
                <a16:creationId xmlns:a16="http://schemas.microsoft.com/office/drawing/2014/main" id="{7C467C97-30E1-4288-965C-B3664F72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10629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Bronze는 value 원문과 위치를 저장합니다. key는 별도 컬럼이 없습니다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BE115C-7107-4E21-91AF-89DF941D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15" name="text-214">
            <a:extLst xmlns:a="http://schemas.openxmlformats.org/drawingml/2006/main">
              <a:ext uri="{FF2B5EF4-FFF2-40B4-BE49-F238E27FC236}">
                <a16:creationId xmlns:a16="http://schemas.microsoft.com/office/drawing/2014/main" id="{2B43581D-3E9F-41FD-8CE7-C98EE714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CDC · Iceberg 스터디  |  2회차</a:t>
            </a:r>
          </a:p>
        </p:txBody>
      </p:sp>
      <p:sp>
        <p:nvSpPr>
          <p:cNvPr id="16" name="text-215">
            <a:extLst xmlns:a="http://schemas.openxmlformats.org/drawingml/2006/main">
              <a:ext uri="{FF2B5EF4-FFF2-40B4-BE49-F238E27FC236}">
                <a16:creationId xmlns:a16="http://schemas.microsoft.com/office/drawing/2014/main" id="{45C47B33-D33A-46A7-8085-867EAAA3B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30415013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16">
            <a:extLst xmlns:a="http://schemas.openxmlformats.org/drawingml/2006/main">
              <a:ext uri="{FF2B5EF4-FFF2-40B4-BE49-F238E27FC236}">
                <a16:creationId xmlns:a16="http://schemas.microsoft.com/office/drawing/2014/main" id="{BEE36A36-A18A-4175-B90F-37ED9885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2회차 · PostgreSQL CDC</a:t>
            </a:r>
          </a:p>
        </p:txBody>
      </p:sp>
      <p:sp>
        <p:nvSpPr>
          <p:cNvPr id="2" name="text-217">
            <a:extLst xmlns:a="http://schemas.openxmlformats.org/drawingml/2006/main">
              <a:ext uri="{FF2B5EF4-FFF2-40B4-BE49-F238E27FC236}">
                <a16:creationId xmlns:a16="http://schemas.microsoft.com/office/drawing/2014/main" id="{F3CD2C1D-EAD3-44CA-8960-841AE322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DELETE와 tombstone은 다릅니다</a:t>
            </a:r>
          </a:p>
        </p:txBody>
      </p:sp>
      <p:sp>
        <p:nvSpPr>
          <p:cNvPr id="3" name="panel-218">
            <a:extLst xmlns:a="http://schemas.openxmlformats.org/drawingml/2006/main">
              <a:ext uri="{FF2B5EF4-FFF2-40B4-BE49-F238E27FC236}">
                <a16:creationId xmlns:a16="http://schemas.microsoft.com/office/drawing/2014/main" id="{92AFC05E-155A-45CE-B050-17FE09FCB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381625" cy="3028950"/>
          </a:xfrm>
          <a:prstGeom xmlns:a="http://schemas.openxmlformats.org/drawingml/2006/main" prst="roundRect">
            <a:avLst>
              <a:gd name="adj" fmla="val 283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4" name="text-219">
            <a:extLst xmlns:a="http://schemas.openxmlformats.org/drawingml/2006/main">
              <a:ext uri="{FF2B5EF4-FFF2-40B4-BE49-F238E27FC236}">
                <a16:creationId xmlns:a16="http://schemas.microsoft.com/office/drawing/2014/main" id="{985E4EF8-558C-431B-910C-5092ED3F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49244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rPr>
              <a:t>삭제 이벤트</a:t>
            </a:r>
          </a:p>
        </p:txBody>
      </p:sp>
      <p:sp>
        <p:nvSpPr>
          <p:cNvPr id="5" name="text-220">
            <a:extLst xmlns:a="http://schemas.openxmlformats.org/drawingml/2006/main">
              <a:ext uri="{FF2B5EF4-FFF2-40B4-BE49-F238E27FC236}">
                <a16:creationId xmlns:a16="http://schemas.microsoft.com/office/drawing/2014/main" id="{8773025D-9C9E-4EAC-9EB7-589098419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86100"/>
            <a:ext cx="49244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value는 JSON 객체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op=d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before=삭제 전 행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after=null</a:t>
            </a:r>
          </a:p>
        </p:txBody>
      </p:sp>
      <p:sp>
        <p:nvSpPr>
          <p:cNvPr id="6" name="panel-221">
            <a:extLst xmlns:a="http://schemas.openxmlformats.org/drawingml/2006/main">
              <a:ext uri="{FF2B5EF4-FFF2-40B4-BE49-F238E27FC236}">
                <a16:creationId xmlns:a16="http://schemas.microsoft.com/office/drawing/2014/main" id="{F483F0AD-5C28-46A0-B994-1438A4AB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943100"/>
            <a:ext cx="5381625" cy="3028950"/>
          </a:xfrm>
          <a:prstGeom xmlns:a="http://schemas.openxmlformats.org/drawingml/2006/main" prst="roundRect">
            <a:avLst>
              <a:gd name="adj" fmla="val 283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7" name="text-222">
            <a:extLst xmlns:a="http://schemas.openxmlformats.org/drawingml/2006/main">
              <a:ext uri="{FF2B5EF4-FFF2-40B4-BE49-F238E27FC236}">
                <a16:creationId xmlns:a16="http://schemas.microsoft.com/office/drawing/2014/main" id="{86678BB0-2080-461B-924F-192F0E088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209800"/>
            <a:ext cx="49244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tombstone</a:t>
            </a:r>
          </a:p>
        </p:txBody>
      </p:sp>
      <p:sp>
        <p:nvSpPr>
          <p:cNvPr id="8" name="text-223">
            <a:extLst xmlns:a="http://schemas.openxmlformats.org/drawingml/2006/main">
              <a:ext uri="{FF2B5EF4-FFF2-40B4-BE49-F238E27FC236}">
                <a16:creationId xmlns:a16="http://schemas.microsoft.com/office/drawing/2014/main" id="{49A57845-9433-45CE-A87D-7070ED341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86100"/>
            <a:ext cx="49244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key는 그대로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wire value=null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이번 Bronze에서는 제외</a:t>
            </a:r>
          </a:p>
        </p:txBody>
      </p:sp>
      <p:sp>
        <p:nvSpPr>
          <p:cNvPr id="9" name="panel-224">
            <a:extLst xmlns:a="http://schemas.openxmlformats.org/drawingml/2006/main">
              <a:ext uri="{FF2B5EF4-FFF2-40B4-BE49-F238E27FC236}">
                <a16:creationId xmlns:a16="http://schemas.microsoft.com/office/drawing/2014/main" id="{D231E374-ED7E-40A1-90F3-3A865AA19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70485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22D3EE"/>
            </a:solidFill>
          </a:ln>
        </p:spPr>
      </p:sp>
      <p:sp>
        <p:nvSpPr>
          <p:cNvPr id="10" name="text-225">
            <a:extLst xmlns:a="http://schemas.openxmlformats.org/drawingml/2006/main">
              <a:ext uri="{FF2B5EF4-FFF2-40B4-BE49-F238E27FC236}">
                <a16:creationId xmlns:a16="http://schemas.microsoft.com/office/drawing/2014/main" id="{EBB6F536-5F18-4F02-B003-16A0A3CC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10629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Kafka 메시지 수와 Bronze 행 수를 그대로 같다고 비교하지 않습니다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C1DA7D-6D24-4705-BECF-C29B841B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12" name="text-226">
            <a:extLst xmlns:a="http://schemas.openxmlformats.org/drawingml/2006/main">
              <a:ext uri="{FF2B5EF4-FFF2-40B4-BE49-F238E27FC236}">
                <a16:creationId xmlns:a16="http://schemas.microsoft.com/office/drawing/2014/main" id="{1EA9EA9E-1811-4C89-B375-2587843F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CDC · Iceberg 스터디  |  2회차</a:t>
            </a:r>
          </a:p>
        </p:txBody>
      </p:sp>
      <p:sp>
        <p:nvSpPr>
          <p:cNvPr id="13" name="text-227">
            <a:extLst xmlns:a="http://schemas.openxmlformats.org/drawingml/2006/main">
              <a:ext uri="{FF2B5EF4-FFF2-40B4-BE49-F238E27FC236}">
                <a16:creationId xmlns:a16="http://schemas.microsoft.com/office/drawing/2014/main" id="{5A673288-7123-404B-B360-F8FBE9EF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3289255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228">
            <a:extLst xmlns:a="http://schemas.openxmlformats.org/drawingml/2006/main">
              <a:ext uri="{FF2B5EF4-FFF2-40B4-BE49-F238E27FC236}">
                <a16:creationId xmlns:a16="http://schemas.microsoft.com/office/drawing/2014/main" id="{552E214F-22BE-46A4-AC85-436D4D1AA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2회차 · PostgreSQL CDC</a:t>
            </a:r>
          </a:p>
        </p:txBody>
      </p:sp>
      <p:sp>
        <p:nvSpPr>
          <p:cNvPr id="2" name="text-229">
            <a:extLst xmlns:a="http://schemas.openxmlformats.org/drawingml/2006/main">
              <a:ext uri="{FF2B5EF4-FFF2-40B4-BE49-F238E27FC236}">
                <a16:creationId xmlns:a16="http://schemas.microsoft.com/office/drawing/2014/main" id="{57B20D7A-AE9F-41D5-AA84-201C59C5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새 환불을 실행하기 전에 예측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B461FD-F1AB-4FEA-B36D-ABB6A32A285B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2476500"/>
                <a:gridCol w="3000375"/>
                <a:gridCol w="3019425"/>
              </a:tblGrid>
              <a:tr h="8334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2D3EE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변경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334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2D3EE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원천 행 수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334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2D3EE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before.amount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334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2D3EE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after.amount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33444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INSERT 20,000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?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?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?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UPDATE 30,000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?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?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?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DELETE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?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?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?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4" name="panel-230">
            <a:extLst xmlns:a="http://schemas.openxmlformats.org/drawingml/2006/main">
              <a:ext uri="{FF2B5EF4-FFF2-40B4-BE49-F238E27FC236}">
                <a16:creationId xmlns:a16="http://schemas.microsoft.com/office/drawing/2014/main" id="{36913D3E-CEEB-4B8C-81F5-D62842203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70485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22D3EE"/>
            </a:solidFill>
          </a:ln>
        </p:spPr>
      </p:sp>
      <p:sp>
        <p:nvSpPr>
          <p:cNvPr id="5" name="text-231">
            <a:extLst xmlns:a="http://schemas.openxmlformats.org/drawingml/2006/main">
              <a:ext uri="{FF2B5EF4-FFF2-40B4-BE49-F238E27FC236}">
                <a16:creationId xmlns:a16="http://schemas.microsoft.com/office/drawing/2014/main" id="{6CC541A7-67BD-4D45-8A00-B1F6CF93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10629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예측을 적고 실제 key · op · 값 · 위치와 비교합니다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B876C1-94C5-48AB-95B7-ACDC9080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7" name="text-232">
            <a:extLst xmlns:a="http://schemas.openxmlformats.org/drawingml/2006/main">
              <a:ext uri="{FF2B5EF4-FFF2-40B4-BE49-F238E27FC236}">
                <a16:creationId xmlns:a16="http://schemas.microsoft.com/office/drawing/2014/main" id="{8E3B74D8-7846-4453-8CB7-E3C95A322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CDC · Iceberg 스터디  |  2회차</a:t>
            </a:r>
          </a:p>
        </p:txBody>
      </p:sp>
      <p:sp>
        <p:nvSpPr>
          <p:cNvPr id="8" name="text-233">
            <a:extLst xmlns:a="http://schemas.openxmlformats.org/drawingml/2006/main">
              <a:ext uri="{FF2B5EF4-FFF2-40B4-BE49-F238E27FC236}">
                <a16:creationId xmlns:a16="http://schemas.microsoft.com/office/drawing/2014/main" id="{D2624F27-B1E1-4A6D-885F-05FF03738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95167277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234">
            <a:extLst xmlns:a="http://schemas.openxmlformats.org/drawingml/2006/main">
              <a:ext uri="{FF2B5EF4-FFF2-40B4-BE49-F238E27FC236}">
                <a16:creationId xmlns:a16="http://schemas.microsoft.com/office/drawing/2014/main" id="{BECC0EBB-D4CC-4FA4-88E8-E0D49FB01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2회차 · PostgreSQL CDC</a:t>
            </a:r>
          </a:p>
        </p:txBody>
      </p:sp>
      <p:sp>
        <p:nvSpPr>
          <p:cNvPr id="2" name="text-235">
            <a:extLst xmlns:a="http://schemas.openxmlformats.org/drawingml/2006/main">
              <a:ext uri="{FF2B5EF4-FFF2-40B4-BE49-F238E27FC236}">
                <a16:creationId xmlns:a16="http://schemas.microsoft.com/office/drawing/2014/main" id="{4B64920B-2522-4638-9870-8523C980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원천 변경부터 Bronze 조회까지 대조</a:t>
            </a:r>
          </a:p>
        </p:txBody>
      </p:sp>
      <p:sp>
        <p:nvSpPr>
          <p:cNvPr id="3" name="panel-236">
            <a:extLst xmlns:a="http://schemas.openxmlformats.org/drawingml/2006/main">
              <a:ext uri="{FF2B5EF4-FFF2-40B4-BE49-F238E27FC236}">
                <a16:creationId xmlns:a16="http://schemas.microsoft.com/office/drawing/2014/main" id="{8FD1B685-E748-461F-AF75-CE500A214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2536031" cy="17716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4" name="text-237">
            <a:extLst xmlns:a="http://schemas.openxmlformats.org/drawingml/2006/main">
              <a:ext uri="{FF2B5EF4-FFF2-40B4-BE49-F238E27FC236}">
                <a16:creationId xmlns:a16="http://schemas.microsoft.com/office/drawing/2014/main" id="{4004FE94-EB86-4E1B-BFF8-F381A478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638425"/>
            <a:ext cx="2250281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원천 변경</a:t>
            </a:r>
          </a:p>
        </p:txBody>
      </p:sp>
      <p:sp>
        <p:nvSpPr>
          <p:cNvPr id="5" name="text-238">
            <a:extLst xmlns:a="http://schemas.openxmlformats.org/drawingml/2006/main">
              <a:ext uri="{FF2B5EF4-FFF2-40B4-BE49-F238E27FC236}">
                <a16:creationId xmlns:a16="http://schemas.microsoft.com/office/drawing/2014/main" id="{67890AED-EE82-486C-B564-B2D04CC56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57575"/>
            <a:ext cx="2269331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환불 c → u → 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5DD94A-B453-4077-919D-E088F6F3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3731" y="3124200"/>
            <a:ext cx="2000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</a:ln>
        </p:spPr>
      </p:sp>
      <p:sp>
        <p:nvSpPr>
          <p:cNvPr id="7" name="panel-239">
            <a:extLst xmlns:a="http://schemas.openxmlformats.org/drawingml/2006/main">
              <a:ext uri="{FF2B5EF4-FFF2-40B4-BE49-F238E27FC236}">
                <a16:creationId xmlns:a16="http://schemas.microsoft.com/office/drawing/2014/main" id="{31B7467C-A4A1-4773-A018-15E317B5F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1856" y="2362200"/>
            <a:ext cx="2536031" cy="17716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8" name="text-240">
            <a:extLst xmlns:a="http://schemas.openxmlformats.org/drawingml/2006/main">
              <a:ext uri="{FF2B5EF4-FFF2-40B4-BE49-F238E27FC236}">
                <a16:creationId xmlns:a16="http://schemas.microsoft.com/office/drawing/2014/main" id="{7C0CF634-5784-4201-8EEB-6E94546EE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4731" y="2638425"/>
            <a:ext cx="2250281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원천 SELECT</a:t>
            </a:r>
          </a:p>
        </p:txBody>
      </p:sp>
      <p:sp>
        <p:nvSpPr>
          <p:cNvPr id="9" name="text-241">
            <a:extLst xmlns:a="http://schemas.openxmlformats.org/drawingml/2006/main">
              <a:ext uri="{FF2B5EF4-FFF2-40B4-BE49-F238E27FC236}">
                <a16:creationId xmlns:a16="http://schemas.microsoft.com/office/drawing/2014/main" id="{34875EF2-1416-43EB-8570-DB1DF1C4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5206" y="3457575"/>
            <a:ext cx="2269331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현재 행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CE5F97-719A-41AC-A68B-3C73A3A33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5988" y="3124200"/>
            <a:ext cx="2000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</a:ln>
        </p:spPr>
      </p:sp>
      <p:sp>
        <p:nvSpPr>
          <p:cNvPr id="11" name="panel-242">
            <a:extLst xmlns:a="http://schemas.openxmlformats.org/drawingml/2006/main">
              <a:ext uri="{FF2B5EF4-FFF2-40B4-BE49-F238E27FC236}">
                <a16:creationId xmlns:a16="http://schemas.microsoft.com/office/drawing/2014/main" id="{EB8486B2-1B3E-44D0-8527-C25EF7240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4113" y="2362200"/>
            <a:ext cx="2536031" cy="17716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12" name="text-243">
            <a:extLst xmlns:a="http://schemas.openxmlformats.org/drawingml/2006/main">
              <a:ext uri="{FF2B5EF4-FFF2-40B4-BE49-F238E27FC236}">
                <a16:creationId xmlns:a16="http://schemas.microsoft.com/office/drawing/2014/main" id="{FE28DFC1-AD30-4BF5-9764-3B936E80C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6988" y="2638425"/>
            <a:ext cx="2250281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Kafka 확인</a:t>
            </a:r>
          </a:p>
        </p:txBody>
      </p:sp>
      <p:sp>
        <p:nvSpPr>
          <p:cNvPr id="13" name="text-244">
            <a:extLst xmlns:a="http://schemas.openxmlformats.org/drawingml/2006/main">
              <a:ext uri="{FF2B5EF4-FFF2-40B4-BE49-F238E27FC236}">
                <a16:creationId xmlns:a16="http://schemas.microsoft.com/office/drawing/2014/main" id="{8E653F5B-5EB8-4AFF-B8BD-7828788C9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7463" y="3457575"/>
            <a:ext cx="2269331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key · value · 위치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B5A379-4494-4826-9443-7FF33A8FF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8244" y="3124200"/>
            <a:ext cx="2000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</a:ln>
        </p:spPr>
      </p:sp>
      <p:sp>
        <p:nvSpPr>
          <p:cNvPr id="15" name="panel-245">
            <a:extLst xmlns:a="http://schemas.openxmlformats.org/drawingml/2006/main">
              <a:ext uri="{FF2B5EF4-FFF2-40B4-BE49-F238E27FC236}">
                <a16:creationId xmlns:a16="http://schemas.microsoft.com/office/drawing/2014/main" id="{059BFDBE-F712-4EA2-ACEF-B20112FA3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6369" y="2362200"/>
            <a:ext cx="2536031" cy="17716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22D3EE"/>
            </a:solidFill>
          </a:ln>
        </p:spPr>
      </p:sp>
      <p:sp>
        <p:nvSpPr>
          <p:cNvPr id="16" name="text-246">
            <a:extLst xmlns:a="http://schemas.openxmlformats.org/drawingml/2006/main">
              <a:ext uri="{FF2B5EF4-FFF2-40B4-BE49-F238E27FC236}">
                <a16:creationId xmlns:a16="http://schemas.microsoft.com/office/drawing/2014/main" id="{2416BABA-53D9-4A82-A2F4-75C95C0BF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244" y="2638425"/>
            <a:ext cx="2250281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Bronze 확인</a:t>
            </a:r>
          </a:p>
        </p:txBody>
      </p:sp>
      <p:sp>
        <p:nvSpPr>
          <p:cNvPr id="17" name="text-247">
            <a:extLst xmlns:a="http://schemas.openxmlformats.org/drawingml/2006/main">
              <a:ext uri="{FF2B5EF4-FFF2-40B4-BE49-F238E27FC236}">
                <a16:creationId xmlns:a16="http://schemas.microsoft.com/office/drawing/2014/main" id="{ABB3AB43-03DC-4CBE-9203-037978AB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9719" y="3457575"/>
            <a:ext cx="2269331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같은 위치와 내용</a:t>
            </a:r>
          </a:p>
        </p:txBody>
      </p:sp>
      <p:sp>
        <p:nvSpPr>
          <p:cNvPr id="18" name="panel-248">
            <a:extLst xmlns:a="http://schemas.openxmlformats.org/drawingml/2006/main">
              <a:ext uri="{FF2B5EF4-FFF2-40B4-BE49-F238E27FC236}">
                <a16:creationId xmlns:a16="http://schemas.microsoft.com/office/drawing/2014/main" id="{4F3055FE-368B-4F41-8B59-5E1199C9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70485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22D3EE"/>
            </a:solidFill>
          </a:ln>
        </p:spPr>
      </p:sp>
      <p:sp>
        <p:nvSpPr>
          <p:cNvPr id="19" name="text-249">
            <a:extLst xmlns:a="http://schemas.openxmlformats.org/drawingml/2006/main">
              <a:ext uri="{FF2B5EF4-FFF2-40B4-BE49-F238E27FC236}">
                <a16:creationId xmlns:a16="http://schemas.microsoft.com/office/drawing/2014/main" id="{274CED35-8572-494E-B11B-67DBAC53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10629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변경 직후 비어 있으면 도착·commit·조회 시점을 구분해 기다립니다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BF39D4-5A41-4C88-8E32-613B4D0DD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21" name="text-250">
            <a:extLst xmlns:a="http://schemas.openxmlformats.org/drawingml/2006/main">
              <a:ext uri="{FF2B5EF4-FFF2-40B4-BE49-F238E27FC236}">
                <a16:creationId xmlns:a16="http://schemas.microsoft.com/office/drawing/2014/main" id="{F1505DF8-F56E-443E-BB42-507DBD290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CDC · Iceberg 스터디  |  2회차</a:t>
            </a:r>
          </a:p>
        </p:txBody>
      </p:sp>
      <p:sp>
        <p:nvSpPr>
          <p:cNvPr id="22" name="text-251">
            <a:extLst xmlns:a="http://schemas.openxmlformats.org/drawingml/2006/main">
              <a:ext uri="{FF2B5EF4-FFF2-40B4-BE49-F238E27FC236}">
                <a16:creationId xmlns:a16="http://schemas.microsoft.com/office/drawing/2014/main" id="{D9E663EB-AF7B-47F4-BF59-EC83688A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65312617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252">
            <a:extLst xmlns:a="http://schemas.openxmlformats.org/drawingml/2006/main">
              <a:ext uri="{FF2B5EF4-FFF2-40B4-BE49-F238E27FC236}">
                <a16:creationId xmlns:a16="http://schemas.microsoft.com/office/drawing/2014/main" id="{864F1134-9EC6-416F-B892-E6FCDEBAE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2회차 · PostgreSQL CDC</a:t>
            </a:r>
          </a:p>
        </p:txBody>
      </p:sp>
      <p:sp>
        <p:nvSpPr>
          <p:cNvPr id="2" name="text-253">
            <a:extLst xmlns:a="http://schemas.openxmlformats.org/drawingml/2006/main">
              <a:ext uri="{FF2B5EF4-FFF2-40B4-BE49-F238E27FC236}">
                <a16:creationId xmlns:a16="http://schemas.microsoft.com/office/drawing/2014/main" id="{1F084A51-3D22-4663-BEC4-136BBD346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수집이 안 보일 때 확인할 구간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90A66D-4F91-422E-A530-7D9CED469E6E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19450"/>
                <a:gridCol w="7753350"/>
              </a:tblGrid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2D3EE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관찰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334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2D3EE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먼저 확인할 것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33444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원천만 바뀜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commit · publication · include list · connector/task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Kafka에는 있고 Bronze에는 없음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Flink 입력 · 처리 · checkpoint · sink commit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Bronze에 c와 u만 보임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after-only 조건 · before PK · 실제 key와 위치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한 파일에 c만 보임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현재 files 목록 · 같은 키의 전체 Bronze 조회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4" name="panel-254">
            <a:extLst xmlns:a="http://schemas.openxmlformats.org/drawingml/2006/main">
              <a:ext uri="{FF2B5EF4-FFF2-40B4-BE49-F238E27FC236}">
                <a16:creationId xmlns:a16="http://schemas.microsoft.com/office/drawing/2014/main" id="{AF19E4A6-A01B-4A31-BBA0-DD5F525E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70485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22D3EE"/>
            </a:solidFill>
          </a:ln>
        </p:spPr>
      </p:sp>
      <p:sp>
        <p:nvSpPr>
          <p:cNvPr id="5" name="text-255">
            <a:extLst xmlns:a="http://schemas.openxmlformats.org/drawingml/2006/main">
              <a:ext uri="{FF2B5EF4-FFF2-40B4-BE49-F238E27FC236}">
                <a16:creationId xmlns:a16="http://schemas.microsoft.com/office/drawing/2014/main" id="{E761CC4A-9481-476F-87ED-D1985EA68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10629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“안 된다” 대신 마지막으로 확인한 지점을 말합니다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F5C665-E04A-4489-AB08-E964C43A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7" name="text-256">
            <a:extLst xmlns:a="http://schemas.openxmlformats.org/drawingml/2006/main">
              <a:ext uri="{FF2B5EF4-FFF2-40B4-BE49-F238E27FC236}">
                <a16:creationId xmlns:a16="http://schemas.microsoft.com/office/drawing/2014/main" id="{F58A1512-AFDD-439B-9A68-E91BFDEC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CDC · Iceberg 스터디  |  2회차</a:t>
            </a:r>
          </a:p>
        </p:txBody>
      </p:sp>
      <p:sp>
        <p:nvSpPr>
          <p:cNvPr id="8" name="text-257">
            <a:extLst xmlns:a="http://schemas.openxmlformats.org/drawingml/2006/main">
              <a:ext uri="{FF2B5EF4-FFF2-40B4-BE49-F238E27FC236}">
                <a16:creationId xmlns:a16="http://schemas.microsoft.com/office/drawing/2014/main" id="{EF4157C5-3D2D-47DF-A7DA-3D8F18746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45134092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258">
            <a:extLst xmlns:a="http://schemas.openxmlformats.org/drawingml/2006/main">
              <a:ext uri="{FF2B5EF4-FFF2-40B4-BE49-F238E27FC236}">
                <a16:creationId xmlns:a16="http://schemas.microsoft.com/office/drawing/2014/main" id="{1261A884-6B81-4A0C-9F07-D34436DD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2회차 · PostgreSQL CDC</a:t>
            </a:r>
          </a:p>
        </p:txBody>
      </p:sp>
      <p:sp>
        <p:nvSpPr>
          <p:cNvPr id="2" name="text-259">
            <a:extLst xmlns:a="http://schemas.openxmlformats.org/drawingml/2006/main">
              <a:ext uri="{FF2B5EF4-FFF2-40B4-BE49-F238E27FC236}">
                <a16:creationId xmlns:a16="http://schemas.microsoft.com/office/drawing/2014/main" id="{4D3C6008-1D41-44F0-B569-B9D297D9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오늘 확인한 증거</a:t>
            </a:r>
          </a:p>
        </p:txBody>
      </p:sp>
      <p:sp>
        <p:nvSpPr>
          <p:cNvPr id="3" name="panel-260">
            <a:extLst xmlns:a="http://schemas.openxmlformats.org/drawingml/2006/main">
              <a:ext uri="{FF2B5EF4-FFF2-40B4-BE49-F238E27FC236}">
                <a16:creationId xmlns:a16="http://schemas.microsoft.com/office/drawing/2014/main" id="{1852A160-0876-4DD1-ADB2-00D2ECB46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517900" cy="3028950"/>
          </a:xfrm>
          <a:prstGeom xmlns:a="http://schemas.openxmlformats.org/drawingml/2006/main" prst="roundRect">
            <a:avLst>
              <a:gd name="adj" fmla="val 283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4" name="text-261">
            <a:extLst xmlns:a="http://schemas.openxmlformats.org/drawingml/2006/main">
              <a:ext uri="{FF2B5EF4-FFF2-40B4-BE49-F238E27FC236}">
                <a16:creationId xmlns:a16="http://schemas.microsoft.com/office/drawing/2014/main" id="{CFA6D6D3-1424-4657-B3B4-5B35A3E4B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3060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rPr>
              <a:t>수집 설정</a:t>
            </a:r>
          </a:p>
        </p:txBody>
      </p:sp>
      <p:sp>
        <p:nvSpPr>
          <p:cNvPr id="5" name="text-262">
            <a:extLst xmlns:a="http://schemas.openxmlformats.org/drawingml/2006/main">
              <a:ext uri="{FF2B5EF4-FFF2-40B4-BE49-F238E27FC236}">
                <a16:creationId xmlns:a16="http://schemas.microsoft.com/office/drawing/2014/main" id="{3E9D0F20-CC9F-42AD-897F-6B3F09DF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86100"/>
            <a:ext cx="30607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publication · slot · FULL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Debezium include list</a:t>
            </a:r>
          </a:p>
        </p:txBody>
      </p:sp>
      <p:sp>
        <p:nvSpPr>
          <p:cNvPr id="6" name="panel-263">
            <a:extLst xmlns:a="http://schemas.openxmlformats.org/drawingml/2006/main">
              <a:ext uri="{FF2B5EF4-FFF2-40B4-BE49-F238E27FC236}">
                <a16:creationId xmlns:a16="http://schemas.microsoft.com/office/drawing/2014/main" id="{4A169DCC-DA9E-4424-B1F5-DEE38E68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050" y="1943100"/>
            <a:ext cx="3517900" cy="3028950"/>
          </a:xfrm>
          <a:prstGeom xmlns:a="http://schemas.openxmlformats.org/drawingml/2006/main" prst="roundRect">
            <a:avLst>
              <a:gd name="adj" fmla="val 283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7" name="text-264">
            <a:extLst xmlns:a="http://schemas.openxmlformats.org/drawingml/2006/main">
              <a:ext uri="{FF2B5EF4-FFF2-40B4-BE49-F238E27FC236}">
                <a16:creationId xmlns:a16="http://schemas.microsoft.com/office/drawing/2014/main" id="{CFA96C3C-CFA2-4F72-ADF8-42724E30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2209800"/>
            <a:ext cx="3060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변경 이벤트</a:t>
            </a:r>
          </a:p>
        </p:txBody>
      </p:sp>
      <p:sp>
        <p:nvSpPr>
          <p:cNvPr id="8" name="text-265">
            <a:extLst xmlns:a="http://schemas.openxmlformats.org/drawingml/2006/main">
              <a:ext uri="{FF2B5EF4-FFF2-40B4-BE49-F238E27FC236}">
                <a16:creationId xmlns:a16="http://schemas.microsoft.com/office/drawing/2014/main" id="{B625073B-ACFF-44C8-89ED-03818F314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3086100"/>
            <a:ext cx="30607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같은 환불의 c/u/d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key · 값 · 전달 위치</a:t>
            </a:r>
          </a:p>
        </p:txBody>
      </p:sp>
      <p:sp>
        <p:nvSpPr>
          <p:cNvPr id="9" name="panel-266">
            <a:extLst xmlns:a="http://schemas.openxmlformats.org/drawingml/2006/main">
              <a:ext uri="{FF2B5EF4-FFF2-40B4-BE49-F238E27FC236}">
                <a16:creationId xmlns:a16="http://schemas.microsoft.com/office/drawing/2014/main" id="{56BC8A88-9E5A-4642-8C59-1F808D77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1943100"/>
            <a:ext cx="3517900" cy="3028950"/>
          </a:xfrm>
          <a:prstGeom xmlns:a="http://schemas.openxmlformats.org/drawingml/2006/main" prst="roundRect">
            <a:avLst>
              <a:gd name="adj" fmla="val 283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10" name="text-267">
            <a:extLst xmlns:a="http://schemas.openxmlformats.org/drawingml/2006/main">
              <a:ext uri="{FF2B5EF4-FFF2-40B4-BE49-F238E27FC236}">
                <a16:creationId xmlns:a16="http://schemas.microsoft.com/office/drawing/2014/main" id="{E52B2E57-F4E3-49C4-9D81-5EE0479D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2209800"/>
            <a:ext cx="3060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저장 결과</a:t>
            </a:r>
          </a:p>
        </p:txBody>
      </p:sp>
      <p:sp>
        <p:nvSpPr>
          <p:cNvPr id="11" name="text-268">
            <a:extLst xmlns:a="http://schemas.openxmlformats.org/drawingml/2006/main">
              <a:ext uri="{FF2B5EF4-FFF2-40B4-BE49-F238E27FC236}">
                <a16:creationId xmlns:a16="http://schemas.microsoft.com/office/drawing/2014/main" id="{2C862C2B-295B-45A6-A711-3A0ECE45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3086100"/>
            <a:ext cx="30607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Bronze 세 이력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현재 Parquet 내용</a:t>
            </a:r>
          </a:p>
        </p:txBody>
      </p:sp>
      <p:sp>
        <p:nvSpPr>
          <p:cNvPr id="12" name="panel-269">
            <a:extLst xmlns:a="http://schemas.openxmlformats.org/drawingml/2006/main">
              <a:ext uri="{FF2B5EF4-FFF2-40B4-BE49-F238E27FC236}">
                <a16:creationId xmlns:a16="http://schemas.microsoft.com/office/drawing/2014/main" id="{4D283E68-CF9E-4C0A-B025-434430C22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70485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22D3EE"/>
            </a:solidFill>
          </a:ln>
        </p:spPr>
      </p:sp>
      <p:sp>
        <p:nvSpPr>
          <p:cNvPr id="13" name="text-270">
            <a:extLst xmlns:a="http://schemas.openxmlformats.org/drawingml/2006/main">
              <a:ext uri="{FF2B5EF4-FFF2-40B4-BE49-F238E27FC236}">
                <a16:creationId xmlns:a16="http://schemas.microsoft.com/office/drawing/2014/main" id="{210FFE9C-5169-4096-9034-57C02999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10629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설정이 맞는지와 결과가 맞는지를 함께 확인합니다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EC2FE9-A0E8-4E3B-8DF0-0D0650CA6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15" name="text-271">
            <a:extLst xmlns:a="http://schemas.openxmlformats.org/drawingml/2006/main">
              <a:ext uri="{FF2B5EF4-FFF2-40B4-BE49-F238E27FC236}">
                <a16:creationId xmlns:a16="http://schemas.microsoft.com/office/drawing/2014/main" id="{E56F31A0-38F5-4121-B41E-EA3310226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CDC · Iceberg 스터디  |  2회차</a:t>
            </a:r>
          </a:p>
        </p:txBody>
      </p:sp>
      <p:sp>
        <p:nvSpPr>
          <p:cNvPr id="16" name="text-272">
            <a:extLst xmlns:a="http://schemas.openxmlformats.org/drawingml/2006/main">
              <a:ext uri="{FF2B5EF4-FFF2-40B4-BE49-F238E27FC236}">
                <a16:creationId xmlns:a16="http://schemas.microsoft.com/office/drawing/2014/main" id="{3F9297DE-A591-4EFB-ACB6-9B32B9BF1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8432880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273">
            <a:extLst xmlns:a="http://schemas.openxmlformats.org/drawingml/2006/main">
              <a:ext uri="{FF2B5EF4-FFF2-40B4-BE49-F238E27FC236}">
                <a16:creationId xmlns:a16="http://schemas.microsoft.com/office/drawing/2014/main" id="{0CCF6EBE-0530-4878-B618-CA3214E05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2회차 · PostgreSQL CDC</a:t>
            </a:r>
          </a:p>
        </p:txBody>
      </p:sp>
      <p:sp>
        <p:nvSpPr>
          <p:cNvPr id="2" name="text-274">
            <a:extLst xmlns:a="http://schemas.openxmlformats.org/drawingml/2006/main">
              <a:ext uri="{FF2B5EF4-FFF2-40B4-BE49-F238E27FC236}">
                <a16:creationId xmlns:a16="http://schemas.microsoft.com/office/drawing/2014/main" id="{6DF9E35D-6744-4F2E-B5E9-0BC8306F3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복습과 다음 회차</a:t>
            </a:r>
          </a:p>
        </p:txBody>
      </p:sp>
      <p:sp>
        <p:nvSpPr>
          <p:cNvPr id="3" name="panel-275">
            <a:extLst xmlns:a="http://schemas.openxmlformats.org/drawingml/2006/main">
              <a:ext uri="{FF2B5EF4-FFF2-40B4-BE49-F238E27FC236}">
                <a16:creationId xmlns:a16="http://schemas.microsoft.com/office/drawing/2014/main" id="{92A555AA-F43D-4728-94F8-DB0EEB67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517900" cy="3028950"/>
          </a:xfrm>
          <a:prstGeom xmlns:a="http://schemas.openxmlformats.org/drawingml/2006/main" prst="roundRect">
            <a:avLst>
              <a:gd name="adj" fmla="val 283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4" name="text-276">
            <a:extLst xmlns:a="http://schemas.openxmlformats.org/drawingml/2006/main">
              <a:ext uri="{FF2B5EF4-FFF2-40B4-BE49-F238E27FC236}">
                <a16:creationId xmlns:a16="http://schemas.microsoft.com/office/drawing/2014/main" id="{2AB199DE-6CF1-4C26-BEDF-919552B2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3060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rPr>
              <a:t>개인 환경 복습</a:t>
            </a:r>
          </a:p>
        </p:txBody>
      </p:sp>
      <p:sp>
        <p:nvSpPr>
          <p:cNvPr id="5" name="text-277">
            <a:extLst xmlns:a="http://schemas.openxmlformats.org/drawingml/2006/main">
              <a:ext uri="{FF2B5EF4-FFF2-40B4-BE49-F238E27FC236}">
                <a16:creationId xmlns:a16="http://schemas.microsoft.com/office/drawing/2014/main" id="{6795C325-26E1-4A4B-8EA7-E5D9A1CB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86100"/>
            <a:ext cx="30607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공통 예제 실행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SQL·파서 결과·막힌 점 정리</a:t>
            </a:r>
          </a:p>
        </p:txBody>
      </p:sp>
      <p:sp>
        <p:nvSpPr>
          <p:cNvPr id="6" name="panel-278">
            <a:extLst xmlns:a="http://schemas.openxmlformats.org/drawingml/2006/main">
              <a:ext uri="{FF2B5EF4-FFF2-40B4-BE49-F238E27FC236}">
                <a16:creationId xmlns:a16="http://schemas.microsoft.com/office/drawing/2014/main" id="{61EC8F5B-9387-4F07-8466-7CB4EB0BA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050" y="1943100"/>
            <a:ext cx="3517900" cy="3028950"/>
          </a:xfrm>
          <a:prstGeom xmlns:a="http://schemas.openxmlformats.org/drawingml/2006/main" prst="roundRect">
            <a:avLst>
              <a:gd name="adj" fmla="val 283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7" name="text-279">
            <a:extLst xmlns:a="http://schemas.openxmlformats.org/drawingml/2006/main">
              <a:ext uri="{FF2B5EF4-FFF2-40B4-BE49-F238E27FC236}">
                <a16:creationId xmlns:a16="http://schemas.microsoft.com/office/drawing/2014/main" id="{733192DA-2CA9-48EE-A921-FF490796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2209800"/>
            <a:ext cx="3060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제출과 공유</a:t>
            </a:r>
          </a:p>
        </p:txBody>
      </p:sp>
      <p:sp>
        <p:nvSpPr>
          <p:cNvPr id="8" name="text-280">
            <a:extLst xmlns:a="http://schemas.openxmlformats.org/drawingml/2006/main">
              <a:ext uri="{FF2B5EF4-FFF2-40B4-BE49-F238E27FC236}">
                <a16:creationId xmlns:a16="http://schemas.microsoft.com/office/drawing/2014/main" id="{2DA5D2D4-6D78-41A6-844B-6741F67B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3086100"/>
            <a:ext cx="30607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submission.md + SQL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진행한 과정을 동료와 공유</a:t>
            </a:r>
          </a:p>
        </p:txBody>
      </p:sp>
      <p:sp>
        <p:nvSpPr>
          <p:cNvPr id="9" name="panel-281">
            <a:extLst xmlns:a="http://schemas.openxmlformats.org/drawingml/2006/main">
              <a:ext uri="{FF2B5EF4-FFF2-40B4-BE49-F238E27FC236}">
                <a16:creationId xmlns:a16="http://schemas.microsoft.com/office/drawing/2014/main" id="{C39C44FC-54BA-4663-8C15-626431B0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1943100"/>
            <a:ext cx="3517900" cy="3028950"/>
          </a:xfrm>
          <a:prstGeom xmlns:a="http://schemas.openxmlformats.org/drawingml/2006/main" prst="roundRect">
            <a:avLst>
              <a:gd name="adj" fmla="val 283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10" name="text-282">
            <a:extLst xmlns:a="http://schemas.openxmlformats.org/drawingml/2006/main">
              <a:ext uri="{FF2B5EF4-FFF2-40B4-BE49-F238E27FC236}">
                <a16:creationId xmlns:a16="http://schemas.microsoft.com/office/drawing/2014/main" id="{2ED85A95-3FBF-4BC4-A949-9F3913253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2209800"/>
            <a:ext cx="3060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3회차</a:t>
            </a:r>
          </a:p>
        </p:txBody>
      </p:sp>
      <p:sp>
        <p:nvSpPr>
          <p:cNvPr id="11" name="text-283">
            <a:extLst xmlns:a="http://schemas.openxmlformats.org/drawingml/2006/main">
              <a:ext uri="{FF2B5EF4-FFF2-40B4-BE49-F238E27FC236}">
                <a16:creationId xmlns:a16="http://schemas.microsoft.com/office/drawing/2014/main" id="{E6355852-07A2-4BEF-850F-473AAB81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3086100"/>
            <a:ext cx="30607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Flink → Bronze 적재 심화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개인 도메인·테이블 설계 확정</a:t>
            </a:r>
          </a:p>
        </p:txBody>
      </p:sp>
      <p:sp>
        <p:nvSpPr>
          <p:cNvPr id="12" name="panel-284">
            <a:extLst xmlns:a="http://schemas.openxmlformats.org/drawingml/2006/main">
              <a:ext uri="{FF2B5EF4-FFF2-40B4-BE49-F238E27FC236}">
                <a16:creationId xmlns:a16="http://schemas.microsoft.com/office/drawing/2014/main" id="{532072B0-60AE-4F76-A132-9587A963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70485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22D3EE"/>
            </a:solidFill>
          </a:ln>
        </p:spPr>
      </p:sp>
      <p:sp>
        <p:nvSpPr>
          <p:cNvPr id="13" name="text-285">
            <a:extLst xmlns:a="http://schemas.openxmlformats.org/drawingml/2006/main">
              <a:ext uri="{FF2B5EF4-FFF2-40B4-BE49-F238E27FC236}">
                <a16:creationId xmlns:a16="http://schemas.microsoft.com/office/drawing/2014/main" id="{611B4C36-B035-4A4B-8C0F-BEBC4F3AB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10629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제출 방법·기한은 별도 안내를 따릅니다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42EEDC-F985-4357-AFE3-76649B867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15" name="text-286">
            <a:extLst xmlns:a="http://schemas.openxmlformats.org/drawingml/2006/main">
              <a:ext uri="{FF2B5EF4-FFF2-40B4-BE49-F238E27FC236}">
                <a16:creationId xmlns:a16="http://schemas.microsoft.com/office/drawing/2014/main" id="{45CECCA8-B461-4C15-8981-F9903CCF5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CDC · Iceberg 스터디  |  2회차</a:t>
            </a:r>
          </a:p>
        </p:txBody>
      </p:sp>
      <p:sp>
        <p:nvSpPr>
          <p:cNvPr id="16" name="text-287">
            <a:extLst xmlns:a="http://schemas.openxmlformats.org/drawingml/2006/main">
              <a:ext uri="{FF2B5EF4-FFF2-40B4-BE49-F238E27FC236}">
                <a16:creationId xmlns:a16="http://schemas.microsoft.com/office/drawing/2014/main" id="{1DACE53A-A6E0-44BA-A4C6-19C5DA46C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06922543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288">
            <a:extLst xmlns:a="http://schemas.openxmlformats.org/drawingml/2006/main">
              <a:ext uri="{FF2B5EF4-FFF2-40B4-BE49-F238E27FC236}">
                <a16:creationId xmlns:a16="http://schemas.microsoft.com/office/drawing/2014/main" id="{3FACE06D-642C-40DE-B2AB-80664F83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2회차 · PostgreSQL CDC</a:t>
            </a:r>
          </a:p>
        </p:txBody>
      </p:sp>
      <p:sp>
        <p:nvSpPr>
          <p:cNvPr id="2" name="text-289">
            <a:extLst xmlns:a="http://schemas.openxmlformats.org/drawingml/2006/main">
              <a:ext uri="{FF2B5EF4-FFF2-40B4-BE49-F238E27FC236}">
                <a16:creationId xmlns:a16="http://schemas.microsoft.com/office/drawing/2014/main" id="{CEB16302-CD5B-4618-AE56-6B25AC2F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공식 문서와 실습 자료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6984EB-F328-4F40-AD60-128FCB834355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7734300"/>
              </a:tblGrid>
              <a:tr h="4762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2D3EE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자료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334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2D3EE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확인할 내용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33444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PostgreSQL 17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Logical decoding · publication · replication slots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Debezium 3.2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PostgreSQL connector · snapshot · change events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Apache Kafka 3.9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Partition ordering · record metadata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Apache Iceberg 1.10.0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파일 조회 · Parquet 디코드 · Flink writes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Apache Spark 3.5.6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Parquet 읽기 (별도 참고)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GitHub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kim-dabin/cdc-lakehouse-study · labs/session02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4" name="text-290">
            <a:extLst xmlns:a="http://schemas.openxmlformats.org/drawingml/2006/main">
              <a:ext uri="{FF2B5EF4-FFF2-40B4-BE49-F238E27FC236}">
                <a16:creationId xmlns:a16="http://schemas.microsoft.com/office/drawing/2014/main" id="{4C06E3A7-F714-4B42-9A5F-2F0551ED1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875" b="0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875" b="0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875" b="0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875" b="0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875" b="0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875" b="0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875" b="0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875" b="0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875" b="0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공식 링크는 labs/session02/references.md에 있습니다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004C44-333E-48E7-9FC2-4D07734F9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6" name="text-291">
            <a:extLst xmlns:a="http://schemas.openxmlformats.org/drawingml/2006/main">
              <a:ext uri="{FF2B5EF4-FFF2-40B4-BE49-F238E27FC236}">
                <a16:creationId xmlns:a16="http://schemas.microsoft.com/office/drawing/2014/main" id="{4B7EDF4D-82C0-44DB-A2E4-0F051064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CDC · Iceberg 스터디  |  2회차</a:t>
            </a:r>
          </a:p>
        </p:txBody>
      </p:sp>
      <p:sp>
        <p:nvSpPr>
          <p:cNvPr id="7" name="text-292">
            <a:extLst xmlns:a="http://schemas.openxmlformats.org/drawingml/2006/main">
              <a:ext uri="{FF2B5EF4-FFF2-40B4-BE49-F238E27FC236}">
                <a16:creationId xmlns:a16="http://schemas.microsoft.com/office/drawing/2014/main" id="{C3793EAC-B61C-49C5-80B3-5CE8FD563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8080162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2026-10-23T05:35:43.5600000Z</dcterms:created>
  <dcterms:modified xsi:type="dcterms:W3CDTF">2026-10-23T05:35:43.5600000Z</dcterms:modified>
</coreProperties>
</file>