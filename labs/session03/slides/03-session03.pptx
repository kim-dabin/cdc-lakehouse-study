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ba51ed50ca42ee" /><Relationship Type="http://schemas.openxmlformats.org/officeDocument/2006/relationships/extended-properties" Target="/docProps/app.xml" Id="Rad8a2acbae814403" /><Relationship Type="http://schemas.openxmlformats.org/officeDocument/2006/relationships/officeDocument" Target="/ppt/presentation.xml" Id="R33fcd152d38148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51a35dd0fe417b"/>
  </p:sldMasterIdLst>
  <p:notesMasterIdLst>
    <p:notesMasterId xmlns:r="http://schemas.openxmlformats.org/officeDocument/2006/relationships" r:id="R29142267bb7f4910"/>
  </p:notesMasterIdLst>
  <p:sldIdLst>
    <p:sldId xmlns:r="http://schemas.openxmlformats.org/officeDocument/2006/relationships" id="256" r:id="R66c5299a0eba44e8"/>
    <p:sldId xmlns:r="http://schemas.openxmlformats.org/officeDocument/2006/relationships" id="257" r:id="Rbe0f123e61dd4ee1"/>
    <p:sldId xmlns:r="http://schemas.openxmlformats.org/officeDocument/2006/relationships" id="258" r:id="R5f90bcab746e46f9"/>
    <p:sldId xmlns:r="http://schemas.openxmlformats.org/officeDocument/2006/relationships" id="259" r:id="R9369a422ddc445b9"/>
    <p:sldId xmlns:r="http://schemas.openxmlformats.org/officeDocument/2006/relationships" id="260" r:id="Rf23db1af02ad43a6"/>
    <p:sldId xmlns:r="http://schemas.openxmlformats.org/officeDocument/2006/relationships" id="261" r:id="R2bdbe99a5ec94032"/>
    <p:sldId xmlns:r="http://schemas.openxmlformats.org/officeDocument/2006/relationships" id="262" r:id="R97651c4d8927442e"/>
    <p:sldId xmlns:r="http://schemas.openxmlformats.org/officeDocument/2006/relationships" id="263" r:id="R2f6490d2dcbb42d8"/>
    <p:sldId xmlns:r="http://schemas.openxmlformats.org/officeDocument/2006/relationships" id="264" r:id="Rc5ee8015a85d4bf5"/>
    <p:sldId xmlns:r="http://schemas.openxmlformats.org/officeDocument/2006/relationships" id="265" r:id="R6a3aa327c5ed4dc4"/>
    <p:sldId xmlns:r="http://schemas.openxmlformats.org/officeDocument/2006/relationships" id="266" r:id="R87bf340d0e3a482a"/>
    <p:sldId xmlns:r="http://schemas.openxmlformats.org/officeDocument/2006/relationships" id="267" r:id="R6193834b53764bd8"/>
    <p:sldId xmlns:r="http://schemas.openxmlformats.org/officeDocument/2006/relationships" id="268" r:id="Rccaf830a85ec422c"/>
    <p:sldId xmlns:r="http://schemas.openxmlformats.org/officeDocument/2006/relationships" id="269" r:id="R4932873b1f804428"/>
    <p:sldId xmlns:r="http://schemas.openxmlformats.org/officeDocument/2006/relationships" id="270" r:id="R95be72f87d0f4849"/>
    <p:sldId xmlns:r="http://schemas.openxmlformats.org/officeDocument/2006/relationships" id="271" r:id="Re162ab57d913476c"/>
    <p:sldId xmlns:r="http://schemas.openxmlformats.org/officeDocument/2006/relationships" id="272" r:id="Rc152d96d71a9494b"/>
    <p:sldId xmlns:r="http://schemas.openxmlformats.org/officeDocument/2006/relationships" id="273" r:id="R4e3f2dc0ecd04db4"/>
    <p:sldId xmlns:r="http://schemas.openxmlformats.org/officeDocument/2006/relationships" id="274" r:id="R78e03257e19542ee"/>
    <p:sldId xmlns:r="http://schemas.openxmlformats.org/officeDocument/2006/relationships" id="275" r:id="R2603786653384e54"/>
    <p:sldId xmlns:r="http://schemas.openxmlformats.org/officeDocument/2006/relationships" id="276" r:id="R4e86a4aa650a4ca9"/>
    <p:sldId xmlns:r="http://schemas.openxmlformats.org/officeDocument/2006/relationships" id="277" r:id="Rc870a8422e9941f2"/>
    <p:sldId xmlns:r="http://schemas.openxmlformats.org/officeDocument/2006/relationships" id="278" r:id="R89e47dc4a4f94dae"/>
    <p:sldId xmlns:r="http://schemas.openxmlformats.org/officeDocument/2006/relationships" id="279" r:id="R6d6ef453d52249e9"/>
    <p:sldId xmlns:r="http://schemas.openxmlformats.org/officeDocument/2006/relationships" id="280" r:id="R6af13ffaef714ae8"/>
    <p:sldId xmlns:r="http://schemas.openxmlformats.org/officeDocument/2006/relationships" id="281" r:id="R9e3932744bb0494f"/>
    <p:sldId xmlns:r="http://schemas.openxmlformats.org/officeDocument/2006/relationships" id="282" r:id="R74013e46d5ac4bc8"/>
    <p:sldId xmlns:r="http://schemas.openxmlformats.org/officeDocument/2006/relationships" id="283" r:id="R4938e87478fa4371"/>
    <p:sldId xmlns:r="http://schemas.openxmlformats.org/officeDocument/2006/relationships" id="284" r:id="Rb065ccfdeb624574"/>
    <p:sldId xmlns:r="http://schemas.openxmlformats.org/officeDocument/2006/relationships" id="285" r:id="R1ae4c7ca0e1848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31411bd67645bc" /><Relationship Type="http://schemas.openxmlformats.org/officeDocument/2006/relationships/slideMaster" Target="/ppt/slideMasters/slideMaster1.xml" Id="R4751a35dd0fe417b" /><Relationship Type="http://schemas.openxmlformats.org/officeDocument/2006/relationships/notesMaster" Target="/ppt/notesMasters/notesMaster1.xml" Id="R29142267bb7f4910" /><Relationship Type="http://schemas.openxmlformats.org/officeDocument/2006/relationships/presProps" Target="/ppt/presProps.xml" Id="R6fb08cb73ff34c79" /><Relationship Type="http://schemas.openxmlformats.org/officeDocument/2006/relationships/tableStyles" Target="/ppt/tableStyles.xml" Id="R64ba9e9942734da0" /><Relationship Type="http://schemas.openxmlformats.org/officeDocument/2006/relationships/slide" Target="/ppt/slides/slide1.xml" Id="R66c5299a0eba44e8" /><Relationship Type="http://schemas.openxmlformats.org/officeDocument/2006/relationships/slide" Target="/ppt/slides/slide2.xml" Id="Rbe0f123e61dd4ee1" /><Relationship Type="http://schemas.openxmlformats.org/officeDocument/2006/relationships/slide" Target="/ppt/slides/slide3.xml" Id="R5f90bcab746e46f9" /><Relationship Type="http://schemas.openxmlformats.org/officeDocument/2006/relationships/slide" Target="/ppt/slides/slide4.xml" Id="R9369a422ddc445b9" /><Relationship Type="http://schemas.openxmlformats.org/officeDocument/2006/relationships/slide" Target="/ppt/slides/slide5.xml" Id="Rf23db1af02ad43a6" /><Relationship Type="http://schemas.openxmlformats.org/officeDocument/2006/relationships/slide" Target="/ppt/slides/slide6.xml" Id="R2bdbe99a5ec94032" /><Relationship Type="http://schemas.openxmlformats.org/officeDocument/2006/relationships/slide" Target="/ppt/slides/slide7.xml" Id="R97651c4d8927442e" /><Relationship Type="http://schemas.openxmlformats.org/officeDocument/2006/relationships/slide" Target="/ppt/slides/slide8.xml" Id="R2f6490d2dcbb42d8" /><Relationship Type="http://schemas.openxmlformats.org/officeDocument/2006/relationships/slide" Target="/ppt/slides/slide9.xml" Id="Rc5ee8015a85d4bf5" /><Relationship Type="http://schemas.openxmlformats.org/officeDocument/2006/relationships/slide" Target="/ppt/slides/slide10.xml" Id="R6a3aa327c5ed4dc4" /><Relationship Type="http://schemas.openxmlformats.org/officeDocument/2006/relationships/slide" Target="/ppt/slides/slide11.xml" Id="R87bf340d0e3a482a" /><Relationship Type="http://schemas.openxmlformats.org/officeDocument/2006/relationships/slide" Target="/ppt/slides/slide12.xml" Id="R6193834b53764bd8" /><Relationship Type="http://schemas.openxmlformats.org/officeDocument/2006/relationships/slide" Target="/ppt/slides/slide13.xml" Id="Rccaf830a85ec422c" /><Relationship Type="http://schemas.openxmlformats.org/officeDocument/2006/relationships/slide" Target="/ppt/slides/slide14.xml" Id="R4932873b1f804428" /><Relationship Type="http://schemas.openxmlformats.org/officeDocument/2006/relationships/slide" Target="/ppt/slides/slide15.xml" Id="R95be72f87d0f4849" /><Relationship Type="http://schemas.openxmlformats.org/officeDocument/2006/relationships/slide" Target="/ppt/slides/slide16.xml" Id="Re162ab57d913476c" /><Relationship Type="http://schemas.openxmlformats.org/officeDocument/2006/relationships/slide" Target="/ppt/slides/slide17.xml" Id="Rc152d96d71a9494b" /><Relationship Type="http://schemas.openxmlformats.org/officeDocument/2006/relationships/slide" Target="/ppt/slides/slide18.xml" Id="R4e3f2dc0ecd04db4" /><Relationship Type="http://schemas.openxmlformats.org/officeDocument/2006/relationships/slide" Target="/ppt/slides/slide19.xml" Id="R78e03257e19542ee" /><Relationship Type="http://schemas.openxmlformats.org/officeDocument/2006/relationships/slide" Target="/ppt/slides/slide20.xml" Id="R2603786653384e54" /><Relationship Type="http://schemas.openxmlformats.org/officeDocument/2006/relationships/slide" Target="/ppt/slides/slide21.xml" Id="R4e86a4aa650a4ca9" /><Relationship Type="http://schemas.openxmlformats.org/officeDocument/2006/relationships/slide" Target="/ppt/slides/slide22.xml" Id="Rc870a8422e9941f2" /><Relationship Type="http://schemas.openxmlformats.org/officeDocument/2006/relationships/slide" Target="/ppt/slides/slide23.xml" Id="R89e47dc4a4f94dae" /><Relationship Type="http://schemas.openxmlformats.org/officeDocument/2006/relationships/slide" Target="/ppt/slides/slide24.xml" Id="R6d6ef453d52249e9" /><Relationship Type="http://schemas.openxmlformats.org/officeDocument/2006/relationships/slide" Target="/ppt/slides/slide25.xml" Id="R6af13ffaef714ae8" /><Relationship Type="http://schemas.openxmlformats.org/officeDocument/2006/relationships/slide" Target="/ppt/slides/slide26.xml" Id="R9e3932744bb0494f" /><Relationship Type="http://schemas.openxmlformats.org/officeDocument/2006/relationships/slide" Target="/ppt/slides/slide27.xml" Id="R74013e46d5ac4bc8" /><Relationship Type="http://schemas.openxmlformats.org/officeDocument/2006/relationships/slide" Target="/ppt/slides/slide28.xml" Id="R4938e87478fa4371" /><Relationship Type="http://schemas.openxmlformats.org/officeDocument/2006/relationships/slide" Target="/ppt/slides/slide29.xml" Id="Rb065ccfdeb624574" /><Relationship Type="http://schemas.openxmlformats.org/officeDocument/2006/relationships/slide" Target="/ppt/slides/slide30.xml" Id="R1ae4c7ca0e1848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d94a9fe31e48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261f434f474c5d" /><Relationship Type="http://schemas.openxmlformats.org/officeDocument/2006/relationships/notesMaster" Target="/ppt/notesMasters/notesMaster1.xml" Id="R548f244030e44d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1cf868e74e4ed4" /><Relationship Type="http://schemas.openxmlformats.org/officeDocument/2006/relationships/notesMaster" Target="/ppt/notesMasters/notesMaster1.xml" Id="R99b70828c036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47caceca974aa7" /><Relationship Type="http://schemas.openxmlformats.org/officeDocument/2006/relationships/notesMaster" Target="/ppt/notesMasters/notesMaster1.xml" Id="Rb6d50f6b1b9544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295f1e0bc24ccb" /><Relationship Type="http://schemas.openxmlformats.org/officeDocument/2006/relationships/notesMaster" Target="/ppt/notesMasters/notesMaster1.xml" Id="R6c4df0e0ed6442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ca31c71f784e57" /><Relationship Type="http://schemas.openxmlformats.org/officeDocument/2006/relationships/notesMaster" Target="/ppt/notesMasters/notesMaster1.xml" Id="R4000d3d32cab49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e8f919e7b6432e" /><Relationship Type="http://schemas.openxmlformats.org/officeDocument/2006/relationships/notesMaster" Target="/ppt/notesMasters/notesMaster1.xml" Id="R605e00a3e8bb4e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f1281e701c4c5e" /><Relationship Type="http://schemas.openxmlformats.org/officeDocument/2006/relationships/notesMaster" Target="/ppt/notesMasters/notesMaster1.xml" Id="R17a0ee46c97d46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919e94646b43c8" /><Relationship Type="http://schemas.openxmlformats.org/officeDocument/2006/relationships/notesMaster" Target="/ppt/notesMasters/notesMaster1.xml" Id="Reaa0072eee4c49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c933a1d81e4dc2" /><Relationship Type="http://schemas.openxmlformats.org/officeDocument/2006/relationships/notesMaster" Target="/ppt/notesMasters/notesMaster1.xml" Id="Rbd08aae5e4d745a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f700e9d74734c2c" /><Relationship Type="http://schemas.openxmlformats.org/officeDocument/2006/relationships/notesMaster" Target="/ppt/notesMasters/notesMaster1.xml" Id="R1e4877ee173b4e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4bceba196b46b3" /><Relationship Type="http://schemas.openxmlformats.org/officeDocument/2006/relationships/notesMaster" Target="/ppt/notesMasters/notesMaster1.xml" Id="Rc4f009185cb9461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46707f5dfb43d7" /><Relationship Type="http://schemas.openxmlformats.org/officeDocument/2006/relationships/notesMaster" Target="/ppt/notesMasters/notesMaster1.xml" Id="R19eb2d91ed464f8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287b00e261142bf" /><Relationship Type="http://schemas.openxmlformats.org/officeDocument/2006/relationships/notesMaster" Target="/ppt/notesMasters/notesMaster1.xml" Id="Rc671f5377d3c4d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d1d148821934620" /><Relationship Type="http://schemas.openxmlformats.org/officeDocument/2006/relationships/notesMaster" Target="/ppt/notesMasters/notesMaster1.xml" Id="R51a482b7424e446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e09de2904447bb" /><Relationship Type="http://schemas.openxmlformats.org/officeDocument/2006/relationships/notesMaster" Target="/ppt/notesMasters/notesMaster1.xml" Id="R975e7c12d1a34f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31b8f46bc5745cc" /><Relationship Type="http://schemas.openxmlformats.org/officeDocument/2006/relationships/notesMaster" Target="/ppt/notesMasters/notesMaster1.xml" Id="R9fd3842ecc2e4d8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d5f2d3fa9a94727" /><Relationship Type="http://schemas.openxmlformats.org/officeDocument/2006/relationships/notesMaster" Target="/ppt/notesMasters/notesMaster1.xml" Id="Re668f8a49c394c0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b0374a7d58e456f" /><Relationship Type="http://schemas.openxmlformats.org/officeDocument/2006/relationships/notesMaster" Target="/ppt/notesMasters/notesMaster1.xml" Id="R2108293114a74de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215c111a9274fb6" /><Relationship Type="http://schemas.openxmlformats.org/officeDocument/2006/relationships/notesMaster" Target="/ppt/notesMasters/notesMaster1.xml" Id="R19589a08265741d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8922272f2ee464b" /><Relationship Type="http://schemas.openxmlformats.org/officeDocument/2006/relationships/notesMaster" Target="/ppt/notesMasters/notesMaster1.xml" Id="R45f5f430370b4ff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c3adf8ee7a643e2" /><Relationship Type="http://schemas.openxmlformats.org/officeDocument/2006/relationships/notesMaster" Target="/ppt/notesMasters/notesMaster1.xml" Id="Rffdb76fa7a9c424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83b7292cb264315" /><Relationship Type="http://schemas.openxmlformats.org/officeDocument/2006/relationships/notesMaster" Target="/ppt/notesMasters/notesMaster1.xml" Id="Rce7de6ce6aa9491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69cd4af166240d0" /><Relationship Type="http://schemas.openxmlformats.org/officeDocument/2006/relationships/notesMaster" Target="/ppt/notesMasters/notesMaster1.xml" Id="Rcbe772893a97437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9046edb318e455f" /><Relationship Type="http://schemas.openxmlformats.org/officeDocument/2006/relationships/notesMaster" Target="/ppt/notesMasters/notesMaster1.xml" Id="Rdd2df6e58d3f45e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547dc9212f94b53" /><Relationship Type="http://schemas.openxmlformats.org/officeDocument/2006/relationships/notesMaster" Target="/ppt/notesMasters/notesMaster1.xml" Id="Rd61d983946f542a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06b363936f04c6b" /><Relationship Type="http://schemas.openxmlformats.org/officeDocument/2006/relationships/notesMaster" Target="/ppt/notesMasters/notesMaster1.xml" Id="R4fd851e5fbc34b4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9d77f8edd5c4cfc" /><Relationship Type="http://schemas.openxmlformats.org/officeDocument/2006/relationships/notesMaster" Target="/ppt/notesMasters/notesMaster1.xml" Id="Re8365cc982ec486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862c6cb57446fc" /><Relationship Type="http://schemas.openxmlformats.org/officeDocument/2006/relationships/notesMaster" Target="/ppt/notesMasters/notesMaster1.xml" Id="Rf20469e8ecb64a0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e505143acc945db" /><Relationship Type="http://schemas.openxmlformats.org/officeDocument/2006/relationships/notesMaster" Target="/ppt/notesMasters/notesMaster1.xml" Id="R3016d146207a461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998e15facc84a7d" /><Relationship Type="http://schemas.openxmlformats.org/officeDocument/2006/relationships/notesMaster" Target="/ppt/notesMasters/notesMaster1.xml" Id="Re5ca73ec811a4d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9c42a74ef40d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932ba690c42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8e4d0b27b842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358227f2a417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9a1e826984f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aea17f81ff43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094685-1EB5-4CBD-AC9A-C42C04D4B8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A878AE-B2C1-4D2F-8A33-6B951F3807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998D0F7-4811-4D99-A7A6-31FBA3C75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8CF480-7062-46AB-A61D-E404E16C7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3599D4-BD08-42E0-8C02-7FF9561D1B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965D1B-EABA-44A1-8B0E-8C3C708F19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B952FA-5DA8-42A7-B253-30E7E1A589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C0EB4C4-18B4-4D3D-AD73-EE6C5433CE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789514-56B3-4A2F-9E70-B6F42C0DA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59AF48-E6F8-4073-BE7E-E1FE80E47B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a3b145609a4a1a" /><Relationship Type="http://schemas.openxmlformats.org/officeDocument/2006/relationships/slideLayout" Target="/ppt/slideLayouts/slideLayout1.xml" Id="Rca68b2e12c544d48" /><Relationship Type="http://schemas.openxmlformats.org/officeDocument/2006/relationships/slideLayout" Target="/ppt/slideLayouts/slideLayout2.xml" Id="R38676a2571bf4992" /><Relationship Type="http://schemas.openxmlformats.org/officeDocument/2006/relationships/slideLayout" Target="/ppt/slideLayouts/slideLayout3.xml" Id="R449151885fc34c4a" /><Relationship Type="http://schemas.openxmlformats.org/officeDocument/2006/relationships/slideLayout" Target="/ppt/slideLayouts/slideLayout4.xml" Id="Rb3113d5e8efd49b1" /><Relationship Type="http://schemas.openxmlformats.org/officeDocument/2006/relationships/slideLayout" Target="/ppt/slideLayouts/slideLayout5.xml" Id="Refccac6c489b4860" /><Relationship Type="http://schemas.openxmlformats.org/officeDocument/2006/relationships/slideLayout" Target="/ppt/slideLayouts/slideLayout6.xml" Id="Rdc671b7c860146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68b2e12c544d48"/>
    <p:sldLayoutId xmlns:r="http://schemas.openxmlformats.org/officeDocument/2006/relationships" id="2147483650" r:id="R38676a2571bf4992"/>
    <p:sldLayoutId xmlns:r="http://schemas.openxmlformats.org/officeDocument/2006/relationships" id="2147483651" r:id="R449151885fc34c4a"/>
    <p:sldLayoutId xmlns:r="http://schemas.openxmlformats.org/officeDocument/2006/relationships" id="2147483652" r:id="Rb3113d5e8efd49b1"/>
    <p:sldLayoutId xmlns:r="http://schemas.openxmlformats.org/officeDocument/2006/relationships" id="2147483653" r:id="Refccac6c489b4860"/>
    <p:sldLayoutId xmlns:r="http://schemas.openxmlformats.org/officeDocument/2006/relationships" id="2147483654" r:id="Rdc671b7c860146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0c8ebfe2a749aa" /><Relationship Type="http://schemas.openxmlformats.org/officeDocument/2006/relationships/notesSlide" Target="/ppt/notesSlides/notesSlide1.xml" Id="R62c8146f25bd4a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f0909d6122459a" /><Relationship Type="http://schemas.openxmlformats.org/officeDocument/2006/relationships/image" Target="/ppt/media/image.png" Id="R6ca2fc7201924bd4" /><Relationship Type="http://schemas.openxmlformats.org/officeDocument/2006/relationships/notesSlide" Target="/ppt/notesSlides/notesSlide2.xml" Id="R396bba49b44241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0308b03c7f4b4f" /><Relationship Type="http://schemas.openxmlformats.org/officeDocument/2006/relationships/notesSlide" Target="/ppt/notesSlides/notesSlide3.xml" Id="R158420b5c39b48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3183698ac94bb7" /><Relationship Type="http://schemas.openxmlformats.org/officeDocument/2006/relationships/notesSlide" Target="/ppt/notesSlides/notesSlide4.xml" Id="R580ecbd5e51f46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de4956dae14191" /><Relationship Type="http://schemas.openxmlformats.org/officeDocument/2006/relationships/notesSlide" Target="/ppt/notesSlides/notesSlide5.xml" Id="Reb59c89e2d6649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2aa88396fd488d" /><Relationship Type="http://schemas.openxmlformats.org/officeDocument/2006/relationships/notesSlide" Target="/ppt/notesSlides/notesSlide6.xml" Id="R00436629f7de44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faca07cfcd4fd1" /><Relationship Type="http://schemas.openxmlformats.org/officeDocument/2006/relationships/notesSlide" Target="/ppt/notesSlides/notesSlide7.xml" Id="R60ac847765be43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fe2abb9346413b" /><Relationship Type="http://schemas.openxmlformats.org/officeDocument/2006/relationships/notesSlide" Target="/ppt/notesSlides/notesSlide8.xml" Id="Rf8454b25b7814c8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da0cd3f7954ba1" /><Relationship Type="http://schemas.openxmlformats.org/officeDocument/2006/relationships/notesSlide" Target="/ppt/notesSlides/notesSlide9.xml" Id="R2af7c8a2bff249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a9e0d537224355" /><Relationship Type="http://schemas.openxmlformats.org/officeDocument/2006/relationships/notesSlide" Target="/ppt/notesSlides/notesSlide10.xml" Id="Re8a38e91a3d947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3dfb5f78114d3e" /><Relationship Type="http://schemas.openxmlformats.org/officeDocument/2006/relationships/notesSlide" Target="/ppt/notesSlides/notesSlide11.xml" Id="R94fea335ae0042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2c07c3ae2c47a4" /><Relationship Type="http://schemas.openxmlformats.org/officeDocument/2006/relationships/notesSlide" Target="/ppt/notesSlides/notesSlide12.xml" Id="Rfb22e72413ed41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d4f458cd3b48e2" /><Relationship Type="http://schemas.openxmlformats.org/officeDocument/2006/relationships/notesSlide" Target="/ppt/notesSlides/notesSlide13.xml" Id="R446e2c4d4f7d42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46856f2852458a" /><Relationship Type="http://schemas.openxmlformats.org/officeDocument/2006/relationships/notesSlide" Target="/ppt/notesSlides/notesSlide14.xml" Id="R53f3b67020b8463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fe89a92c9c4cbe" /><Relationship Type="http://schemas.openxmlformats.org/officeDocument/2006/relationships/notesSlide" Target="/ppt/notesSlides/notesSlide15.xml" Id="R9acdb3f97cd14ef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943666d7a74556" /><Relationship Type="http://schemas.openxmlformats.org/officeDocument/2006/relationships/notesSlide" Target="/ppt/notesSlides/notesSlide16.xml" Id="Rc4b8dcb6e09f470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0938ff09664fb0" /><Relationship Type="http://schemas.openxmlformats.org/officeDocument/2006/relationships/notesSlide" Target="/ppt/notesSlides/notesSlide17.xml" Id="Rb3f3b5a86a1d4b5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90c4506a01411b" /><Relationship Type="http://schemas.openxmlformats.org/officeDocument/2006/relationships/notesSlide" Target="/ppt/notesSlides/notesSlide18.xml" Id="Re36ed8373a7a4de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f38abdcc704c0c" /><Relationship Type="http://schemas.openxmlformats.org/officeDocument/2006/relationships/notesSlide" Target="/ppt/notesSlides/notesSlide19.xml" Id="R49f8609d1e1944f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8d49f8cff544ff" /><Relationship Type="http://schemas.openxmlformats.org/officeDocument/2006/relationships/notesSlide" Target="/ppt/notesSlides/notesSlide20.xml" Id="R42d19e6e23b44a9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ec9448a70e41e2" /><Relationship Type="http://schemas.openxmlformats.org/officeDocument/2006/relationships/notesSlide" Target="/ppt/notesSlides/notesSlide21.xml" Id="R9a3622009803472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b0974af5c748b2" /><Relationship Type="http://schemas.openxmlformats.org/officeDocument/2006/relationships/notesSlide" Target="/ppt/notesSlides/notesSlide22.xml" Id="R8144176b4ee541e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e9d430d3ee4c94" /><Relationship Type="http://schemas.openxmlformats.org/officeDocument/2006/relationships/notesSlide" Target="/ppt/notesSlides/notesSlide23.xml" Id="R237d187026f5478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79024e73224686" /><Relationship Type="http://schemas.openxmlformats.org/officeDocument/2006/relationships/notesSlide" Target="/ppt/notesSlides/notesSlide24.xml" Id="R9976d24a35674b8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5349afdd6345f2" /><Relationship Type="http://schemas.openxmlformats.org/officeDocument/2006/relationships/notesSlide" Target="/ppt/notesSlides/notesSlide25.xml" Id="R160dffaf3b74431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9ed7ca46464233" /><Relationship Type="http://schemas.openxmlformats.org/officeDocument/2006/relationships/notesSlide" Target="/ppt/notesSlides/notesSlide26.xml" Id="Rdf686be239ba4b5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f2a07401284c5c" /><Relationship Type="http://schemas.openxmlformats.org/officeDocument/2006/relationships/notesSlide" Target="/ppt/notesSlides/notesSlide27.xml" Id="R940a214b917d42d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0913976e5745e7" /><Relationship Type="http://schemas.openxmlformats.org/officeDocument/2006/relationships/notesSlide" Target="/ppt/notesSlides/notesSlide28.xml" Id="R37c89d646211450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6137e826e140cb" /><Relationship Type="http://schemas.openxmlformats.org/officeDocument/2006/relationships/notesSlide" Target="/ppt/notesSlides/notesSlide29.xml" Id="R8a594db0386d48b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1cdfd4875e481d" /><Relationship Type="http://schemas.openxmlformats.org/officeDocument/2006/relationships/notesSlide" Target="/ppt/notesSlides/notesSlide30.xml" Id="Rfa2f2f318ee243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DE6B6716-0B0E-47BB-96F7-1297EBBC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CDC / Iceberg 프로젝트 스터디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6E7E411-999A-4CDA-8864-5F55F5C8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58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예제로 이해하는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 → Bronze 적재 심화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D2B3F-196B-4441-ACAE-1D00FF4B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67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4D45B2-6D0C-4A5E-8FCD-D8CBF8D2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Flink → Bronze 적재 심화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개인 도메인·테이블 설계 확정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9413CA0-7499-4E3E-9D3E-2F9ADD43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도입 이유 · 내부 동작 · 운영 판단 · 개인 프로젝트 설계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BE9BC-103F-4273-BC74-39A86266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BB9D8AC-43EF-41E0-887C-CB7CB258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F2AF13BD-9796-4D64-874F-0DA80CD2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959603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45CAE0-CCCC-4DFC-A6B0-576696D0B9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2fc7201924bd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03D1E2-1AF0-4B46-A7C1-6D4067E2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72310973-32F7-4712-B6A7-C2D3237A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예제를 이해하고 내 설계로 가져갑니다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661B-6EE5-4E02-A3E3-B7C06A07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8">
            <a:extLst xmlns:a="http://schemas.openxmlformats.org/drawingml/2006/main">
              <a:ext uri="{FF2B5EF4-FFF2-40B4-BE49-F238E27FC236}">
                <a16:creationId xmlns:a16="http://schemas.microsoft.com/office/drawing/2014/main" id="{57626F3E-5D52-45AD-93C3-959C59F8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6" name="text-9">
            <a:extLst xmlns:a="http://schemas.openxmlformats.org/drawingml/2006/main">
              <a:ext uri="{FF2B5EF4-FFF2-40B4-BE49-F238E27FC236}">
                <a16:creationId xmlns:a16="http://schemas.microsoft.com/office/drawing/2014/main" id="{412D6900-421C-43A0-8BDA-F5E72FEB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13772-2402-43BF-B918-0B2001A9EFE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838200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예제에서 할 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내 설계로 가져갈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요구와 구성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결제·환불 변경과 대안 비교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필요한 이력·두 지연 목표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내부 저장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 SQL·파일·checkpoint·commit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입력과 복구 책임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확인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강사 맥미니 공유 화면 시연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학생 SQL·기대 결과 예측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설계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선택과 한계를 바탕으로 정리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2~3개·입력·검증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s03-text-0">
            <a:extLst xmlns:a="http://schemas.openxmlformats.org/drawingml/2006/main">
              <a:ext uri="{FF2B5EF4-FFF2-40B4-BE49-F238E27FC236}">
                <a16:creationId xmlns:a16="http://schemas.microsoft.com/office/drawing/2014/main" id="{E0E2BE93-940E-4B7C-B81E-A8A5D63F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수업은 강사 시연·학생 SQL 예측 · 집에서는 공통 전체 실행</a:t>
            </a:r>
          </a:p>
        </p:txBody>
      </p:sp>
    </p:spTree>
    <p:extLst>
      <p:ext uri="{BB962C8B-B14F-4D97-AF65-F5344CB8AC3E}">
        <p14:creationId xmlns:p14="http://schemas.microsoft.com/office/powerpoint/2010/main" val="2124853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도메인 · 주문·결제·환불의 관계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3E71F-1D44-4A2B-AC13-C1CBA002B89D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86915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키와 관계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orders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order_id PK · 주문 한 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payments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payment_id PK · order_id FK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refunds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refund_id PK · payment_id FK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">
            <a:extLst xmlns:a="http://schemas.openxmlformats.org/drawingml/2006/main">
              <a:ext uri="{FF2B5EF4-FFF2-40B4-BE49-F238E27FC236}">
                <a16:creationId xmlns:a16="http://schemas.microsoft.com/office/drawing/2014/main" id="{A574D158-985B-4674-86C1-192DB5AE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">
            <a:extLst xmlns:a="http://schemas.openxmlformats.org/drawingml/2006/main">
              <a:ext uri="{FF2B5EF4-FFF2-40B4-BE49-F238E27FC236}">
                <a16:creationId xmlns:a16="http://schemas.microsoft.com/office/drawing/2014/main" id="{D3BEBF80-6A83-41B1-A42E-102C482A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공통 예제: 결제 100000원 · 같은 환불의 생성·정정·철회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771D88-1385-4F19-A699-AD6A98620FC3}"/>
              </a:ext>
            </a:extLst>
          </p:cNvPr>
          <p:cNvCxnSpPr>
            <a:stCxn xmlns:a="http://schemas.openxmlformats.org/drawingml/2006/main" id="22" idx="2"/>
            <a:endCxn xmlns:a="http://schemas.openxmlformats.org/drawingml/2006/main" id="45" idx="0"/>
          </p:cNvCxnSpPr>
          <p:nvPr/>
        </p:nvCxnSpPr>
        <p:spPr>
          <a:xfrm xmlns:a="http://schemas.openxmlformats.org/drawingml/2006/main">
            <a:off x="7681913" y="3467100"/>
            <a:ext cx="2043113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4B7779F-9473-4ADD-9AA6-189CE8363556}"/>
              </a:ext>
            </a:extLst>
          </p:cNvPr>
          <p:cNvCxnSpPr>
            <a:stCxn xmlns:a="http://schemas.openxmlformats.org/drawingml/2006/main" id="22" idx="2"/>
            <a:endCxn xmlns:a="http://schemas.openxmlformats.org/drawingml/2006/main" id="42" idx="0"/>
          </p:cNvCxnSpPr>
          <p:nvPr/>
        </p:nvCxnSpPr>
        <p:spPr>
          <a:xfrm xmlns:a="http://schemas.openxmlformats.org/drawingml/2006/main" flipH="1">
            <a:off x="5667375" y="3467100"/>
            <a:ext cx="2014538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4D399"/>
            </a:solidFill>
            <a:prstDash val="solid"/>
            <a:tailEnd type="triangle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DFE020-1ED3-44A1-90D7-075C293571BF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39" idx="0"/>
          </p:cNvCxnSpPr>
          <p:nvPr/>
        </p:nvCxnSpPr>
        <p:spPr>
          <a:xfrm xmlns:a="http://schemas.openxmlformats.org/drawingml/2006/main" flipH="1">
            <a:off x="2133600" y="3467100"/>
            <a:ext cx="3929063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9E4CE0-C5B1-4F74-BEB7-7FA39C1C461A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1002030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34155"/>
            </a:solidFill>
            <a:prstDash val="dash"/>
            <a:tailEnd type="triangle" w="med" len="med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CE7788-BDBB-4972-BAD8-E8D0AFFDAC43}"/>
              </a:ext>
            </a:extLst>
          </p:cNvPr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51535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34155"/>
            </a:solidFill>
            <a:prstDash val="dash"/>
            <a:tailEnd type="triangle" w="med" len="med"/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2BB705-685A-4465-8AEC-EC9D6B3B8C0D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670560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6A0DC3-3DD0-4D9B-92C0-F2F758C1645B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527685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027B25-110D-432B-B7A7-5705A0A261F4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84810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45E1BD-53C9-4111-AF0D-56A50CB31C2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276475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파이프라인에서 오늘 볼 범위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0" name="s03-panel-3">
            <a:extLst xmlns:a="http://schemas.openxmlformats.org/drawingml/2006/main">
              <a:ext uri="{FF2B5EF4-FFF2-40B4-BE49-F238E27FC236}">
                <a16:creationId xmlns:a16="http://schemas.microsoft.com/office/drawing/2014/main" id="{8059BFD8-5587-4F64-8737-BA20C96C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666875" cy="1666875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s03-text-4">
            <a:extLst xmlns:a="http://schemas.openxmlformats.org/drawingml/2006/main">
              <a:ext uri="{FF2B5EF4-FFF2-40B4-BE49-F238E27FC236}">
                <a16:creationId xmlns:a16="http://schemas.microsoft.com/office/drawing/2014/main" id="{F1200970-FC15-403E-B746-8712E5D1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1438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PostgreSQL</a:t>
            </a:r>
          </a:p>
        </p:txBody>
      </p:sp>
      <p:sp>
        <p:nvSpPr>
          <p:cNvPr id="12" name="s03-text-5">
            <a:extLst xmlns:a="http://schemas.openxmlformats.org/drawingml/2006/main">
              <a:ext uri="{FF2B5EF4-FFF2-40B4-BE49-F238E27FC236}">
                <a16:creationId xmlns:a16="http://schemas.microsoft.com/office/drawing/2014/main" id="{476767BD-3407-4D01-B0A2-5071DAE7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438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orders</a:t>
            </a:r>
          </a:p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payments · refunds</a:t>
            </a:r>
          </a:p>
        </p:txBody>
      </p:sp>
      <p:sp>
        <p:nvSpPr>
          <p:cNvPr id="13" name="s03-panel-6">
            <a:extLst xmlns:a="http://schemas.openxmlformats.org/drawingml/2006/main">
              <a:ext uri="{FF2B5EF4-FFF2-40B4-BE49-F238E27FC236}">
                <a16:creationId xmlns:a16="http://schemas.microsoft.com/office/drawing/2014/main" id="{450BB540-BBB1-4AE7-A9FE-7493EDD8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00225"/>
            <a:ext cx="1428750" cy="1666875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7">
            <a:extLst xmlns:a="http://schemas.openxmlformats.org/drawingml/2006/main">
              <a:ext uri="{FF2B5EF4-FFF2-40B4-BE49-F238E27FC236}">
                <a16:creationId xmlns:a16="http://schemas.microsoft.com/office/drawing/2014/main" id="{1BF1D32D-F787-4790-99F5-AD5C3355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971675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Debezium</a:t>
            </a:r>
          </a:p>
        </p:txBody>
      </p:sp>
      <p:sp>
        <p:nvSpPr>
          <p:cNvPr id="15" name="s03-text-8">
            <a:extLst xmlns:a="http://schemas.openxmlformats.org/drawingml/2006/main">
              <a:ext uri="{FF2B5EF4-FFF2-40B4-BE49-F238E27FC236}">
                <a16:creationId xmlns:a16="http://schemas.microsoft.com/office/drawing/2014/main" id="{3DD43265-59CF-4A5B-8E18-901B340C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57450"/>
            <a:ext cx="12001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WAL → 이벤트</a:t>
            </a:r>
          </a:p>
        </p:txBody>
      </p:sp>
      <p:sp>
        <p:nvSpPr>
          <p:cNvPr id="16" name="s03-panel-9">
            <a:extLst xmlns:a="http://schemas.openxmlformats.org/drawingml/2006/main">
              <a:ext uri="{FF2B5EF4-FFF2-40B4-BE49-F238E27FC236}">
                <a16:creationId xmlns:a16="http://schemas.microsoft.com/office/drawing/2014/main" id="{1A075EC3-8360-4CAA-AC64-B9E0F77F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800225"/>
            <a:ext cx="1285875" cy="1666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s03-text-10">
            <a:extLst xmlns:a="http://schemas.openxmlformats.org/drawingml/2006/main">
              <a:ext uri="{FF2B5EF4-FFF2-40B4-BE49-F238E27FC236}">
                <a16:creationId xmlns:a16="http://schemas.microsoft.com/office/drawing/2014/main" id="{BB384071-2AB4-4631-8C9F-ABA874B9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971675"/>
            <a:ext cx="1057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18" name="s03-text-11">
            <a:extLst xmlns:a="http://schemas.openxmlformats.org/drawingml/2006/main">
              <a:ext uri="{FF2B5EF4-FFF2-40B4-BE49-F238E27FC236}">
                <a16:creationId xmlns:a16="http://schemas.microsoft.com/office/drawing/2014/main" id="{C4D581D9-575D-4B2D-92DB-3FFD1C18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457450"/>
            <a:ext cx="1057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로그 보관</a:t>
            </a:r>
          </a:p>
        </p:txBody>
      </p:sp>
      <p:sp>
        <p:nvSpPr>
          <p:cNvPr id="19" name="s03-panel-12">
            <a:extLst xmlns:a="http://schemas.openxmlformats.org/drawingml/2006/main">
              <a:ext uri="{FF2B5EF4-FFF2-40B4-BE49-F238E27FC236}">
                <a16:creationId xmlns:a16="http://schemas.microsoft.com/office/drawing/2014/main" id="{01AE2C40-5C65-4C9D-B138-E86768A5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800225"/>
            <a:ext cx="1285875" cy="1666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s03-text-13">
            <a:extLst xmlns:a="http://schemas.openxmlformats.org/drawingml/2006/main">
              <a:ext uri="{FF2B5EF4-FFF2-40B4-BE49-F238E27FC236}">
                <a16:creationId xmlns:a16="http://schemas.microsoft.com/office/drawing/2014/main" id="{71AD75CE-AB65-4199-AF92-E752CB01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1971675"/>
            <a:ext cx="1057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</a:t>
            </a:r>
          </a:p>
        </p:txBody>
      </p:sp>
      <p:sp>
        <p:nvSpPr>
          <p:cNvPr id="21" name="s03-text-14">
            <a:extLst xmlns:a="http://schemas.openxmlformats.org/drawingml/2006/main">
              <a:ext uri="{FF2B5EF4-FFF2-40B4-BE49-F238E27FC236}">
                <a16:creationId xmlns:a16="http://schemas.microsoft.com/office/drawing/2014/main" id="{DF9FD452-3E3D-4E57-BA1C-ADA8A70B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457450"/>
            <a:ext cx="1057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지속 처리</a:t>
            </a:r>
          </a:p>
        </p:txBody>
      </p:sp>
      <p:sp>
        <p:nvSpPr>
          <p:cNvPr id="22" name="s03-panel-15">
            <a:extLst xmlns:a="http://schemas.openxmlformats.org/drawingml/2006/main">
              <a:ext uri="{FF2B5EF4-FFF2-40B4-BE49-F238E27FC236}">
                <a16:creationId xmlns:a16="http://schemas.microsoft.com/office/drawing/2014/main" id="{F09901A2-BD25-4E60-8DCE-55084A85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800225"/>
            <a:ext cx="1666875" cy="1666875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3" name="s03-text-16">
            <a:extLst xmlns:a="http://schemas.openxmlformats.org/drawingml/2006/main">
              <a:ext uri="{FF2B5EF4-FFF2-40B4-BE49-F238E27FC236}">
                <a16:creationId xmlns:a16="http://schemas.microsoft.com/office/drawing/2014/main" id="{390F5B20-B08F-4FCF-859D-7C6EA5B8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971675"/>
            <a:ext cx="1438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</a:t>
            </a:r>
          </a:p>
        </p:txBody>
      </p:sp>
      <p:sp>
        <p:nvSpPr>
          <p:cNvPr id="24" name="s03-text-17">
            <a:extLst xmlns:a="http://schemas.openxmlformats.org/drawingml/2006/main">
              <a:ext uri="{FF2B5EF4-FFF2-40B4-BE49-F238E27FC236}">
                <a16:creationId xmlns:a16="http://schemas.microsoft.com/office/drawing/2014/main" id="{C110696C-52E5-4200-AB27-FCA7F3A9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457450"/>
            <a:ext cx="1438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</a:t>
            </a:r>
          </a:p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원문 append</a:t>
            </a:r>
          </a:p>
        </p:txBody>
      </p:sp>
      <p:sp>
        <p:nvSpPr>
          <p:cNvPr id="25" name="s03-panel-18">
            <a:extLst xmlns:a="http://schemas.openxmlformats.org/drawingml/2006/main">
              <a:ext uri="{FF2B5EF4-FFF2-40B4-BE49-F238E27FC236}">
                <a16:creationId xmlns:a16="http://schemas.microsoft.com/office/drawing/2014/main" id="{C9F1FC76-AB6E-4FBE-A57E-CD85C9E7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800225"/>
            <a:ext cx="1362075" cy="1666875"/>
          </a:xfrm>
          <a:prstGeom xmlns:a="http://schemas.openxmlformats.org/drawingml/2006/main" prst="roundRect">
            <a:avLst>
              <a:gd name="adj" fmla="val 6294"/>
            </a:avLst>
          </a:prstGeom>
          <a:solidFill xmlns:a="http://schemas.openxmlformats.org/drawingml/2006/main">
            <a:srgbClr val="151F31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6" name="s03-text-19">
            <a:extLst xmlns:a="http://schemas.openxmlformats.org/drawingml/2006/main">
              <a:ext uri="{FF2B5EF4-FFF2-40B4-BE49-F238E27FC236}">
                <a16:creationId xmlns:a16="http://schemas.microsoft.com/office/drawing/2014/main" id="{9F110F7E-C0BD-4BA1-8C8A-BC8FE245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971675"/>
            <a:ext cx="11334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Silver</a:t>
            </a:r>
          </a:p>
        </p:txBody>
      </p:sp>
      <p:sp>
        <p:nvSpPr>
          <p:cNvPr id="27" name="s03-text-20">
            <a:extLst xmlns:a="http://schemas.openxmlformats.org/drawingml/2006/main">
              <a:ext uri="{FF2B5EF4-FFF2-40B4-BE49-F238E27FC236}">
                <a16:creationId xmlns:a16="http://schemas.microsoft.com/office/drawing/2014/main" id="{0CD97CD5-DEDC-45E0-9B93-B52EFBCB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457450"/>
            <a:ext cx="11334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Spark SQL</a:t>
            </a:r>
          </a:p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현재 상태</a:t>
            </a:r>
          </a:p>
        </p:txBody>
      </p:sp>
      <p:sp>
        <p:nvSpPr>
          <p:cNvPr id="28" name="s03-panel-21">
            <a:extLst xmlns:a="http://schemas.openxmlformats.org/drawingml/2006/main">
              <a:ext uri="{FF2B5EF4-FFF2-40B4-BE49-F238E27FC236}">
                <a16:creationId xmlns:a16="http://schemas.microsoft.com/office/drawing/2014/main" id="{49396F49-9E58-41F6-BC7F-C7DB23EB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1800225"/>
            <a:ext cx="1419225" cy="1666875"/>
          </a:xfrm>
          <a:prstGeom xmlns:a="http://schemas.openxmlformats.org/drawingml/2006/main" prst="roundRect">
            <a:avLst>
              <a:gd name="adj" fmla="val 6040"/>
            </a:avLst>
          </a:prstGeom>
          <a:solidFill xmlns:a="http://schemas.openxmlformats.org/drawingml/2006/main">
            <a:srgbClr val="151F31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9" name="s03-text-22">
            <a:extLst xmlns:a="http://schemas.openxmlformats.org/drawingml/2006/main">
              <a:ext uri="{FF2B5EF4-FFF2-40B4-BE49-F238E27FC236}">
                <a16:creationId xmlns:a16="http://schemas.microsoft.com/office/drawing/2014/main" id="{0A2B2920-B026-425B-8EA7-0F3AEAF8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971675"/>
            <a:ext cx="1190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Gold</a:t>
            </a:r>
          </a:p>
        </p:txBody>
      </p:sp>
      <p:sp>
        <p:nvSpPr>
          <p:cNvPr id="30" name="s03-text-23">
            <a:extLst xmlns:a="http://schemas.openxmlformats.org/drawingml/2006/main">
              <a:ext uri="{FF2B5EF4-FFF2-40B4-BE49-F238E27FC236}">
                <a16:creationId xmlns:a16="http://schemas.microsoft.com/office/drawing/2014/main" id="{A1DD7851-AF5B-4F71-9E24-18BBA2FC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457450"/>
            <a:ext cx="11906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dbt + Spark</a:t>
            </a:r>
          </a:p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분석 마트</a:t>
            </a:r>
          </a:p>
        </p:txBody>
      </p:sp>
      <p:sp>
        <p:nvSpPr>
          <p:cNvPr id="37" name="s03-text-24">
            <a:extLst xmlns:a="http://schemas.openxmlformats.org/drawingml/2006/main">
              <a:ext uri="{FF2B5EF4-FFF2-40B4-BE49-F238E27FC236}">
                <a16:creationId xmlns:a16="http://schemas.microsoft.com/office/drawing/2014/main" id="{18BCF1C2-B6A7-45AB-9267-78C390A6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90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 공통 예제로 확인</a:t>
            </a:r>
          </a:p>
        </p:txBody>
      </p:sp>
      <p:sp>
        <p:nvSpPr>
          <p:cNvPr id="38" name="s03-text-25">
            <a:extLst xmlns:a="http://schemas.openxmlformats.org/drawingml/2006/main">
              <a:ext uri="{FF2B5EF4-FFF2-40B4-BE49-F238E27FC236}">
                <a16:creationId xmlns:a16="http://schemas.microsoft.com/office/drawing/2014/main" id="{09F33488-EB1D-4803-B007-1F1851AB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457325"/>
            <a:ext cx="29241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후속 회차 · 별도 실행</a:t>
            </a:r>
          </a:p>
        </p:txBody>
      </p:sp>
      <p:sp>
        <p:nvSpPr>
          <p:cNvPr id="39" name="s03-panel-26">
            <a:extLst xmlns:a="http://schemas.openxmlformats.org/drawingml/2006/main">
              <a:ext uri="{FF2B5EF4-FFF2-40B4-BE49-F238E27FC236}">
                <a16:creationId xmlns:a16="http://schemas.microsoft.com/office/drawing/2014/main" id="{D0C9E6A0-87D1-45BC-BA66-7A8C797C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048000" cy="112395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40" name="s03-text-27">
            <a:extLst xmlns:a="http://schemas.openxmlformats.org/drawingml/2006/main">
              <a:ext uri="{FF2B5EF4-FFF2-40B4-BE49-F238E27FC236}">
                <a16:creationId xmlns:a16="http://schemas.microsoft.com/office/drawing/2014/main" id="{D2E22EBE-F34C-4D32-8E10-0FA5D051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57675"/>
            <a:ext cx="2743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Flink state 볼륨</a:t>
            </a:r>
          </a:p>
        </p:txBody>
      </p:sp>
      <p:sp>
        <p:nvSpPr>
          <p:cNvPr id="41" name="s03-text-28">
            <a:extLst xmlns:a="http://schemas.openxmlformats.org/drawingml/2006/main">
              <a:ext uri="{FF2B5EF4-FFF2-40B4-BE49-F238E27FC236}">
                <a16:creationId xmlns:a16="http://schemas.microsoft.com/office/drawing/2014/main" id="{AF0576B3-7881-48A9-93AF-1781D9F7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76775"/>
            <a:ext cx="274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위치·pending 복구 상태</a:t>
            </a:r>
          </a:p>
        </p:txBody>
      </p:sp>
      <p:sp>
        <p:nvSpPr>
          <p:cNvPr id="42" name="s03-panel-29">
            <a:extLst xmlns:a="http://schemas.openxmlformats.org/drawingml/2006/main">
              <a:ext uri="{FF2B5EF4-FFF2-40B4-BE49-F238E27FC236}">
                <a16:creationId xmlns:a16="http://schemas.microsoft.com/office/drawing/2014/main" id="{DD868774-B033-4531-BC86-9F14545A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24325"/>
            <a:ext cx="3333750" cy="112395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43" name="s03-text-30">
            <a:extLst xmlns:a="http://schemas.openxmlformats.org/drawingml/2006/main">
              <a:ext uri="{FF2B5EF4-FFF2-40B4-BE49-F238E27FC236}">
                <a16:creationId xmlns:a16="http://schemas.microsoft.com/office/drawing/2014/main" id="{57777D70-FA84-474C-ABA0-CCD53C04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257675"/>
            <a:ext cx="30289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Catalog PostgreSQL</a:t>
            </a:r>
          </a:p>
        </p:txBody>
      </p:sp>
      <p:sp>
        <p:nvSpPr>
          <p:cNvPr id="44" name="s03-text-31">
            <a:extLst xmlns:a="http://schemas.openxmlformats.org/drawingml/2006/main">
              <a:ext uri="{FF2B5EF4-FFF2-40B4-BE49-F238E27FC236}">
                <a16:creationId xmlns:a16="http://schemas.microsoft.com/office/drawing/2014/main" id="{81D0DEE8-2F68-40FE-BEDD-7F60BA04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3028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 위치 · catalog-db</a:t>
            </a:r>
          </a:p>
        </p:txBody>
      </p:sp>
      <p:sp>
        <p:nvSpPr>
          <p:cNvPr id="45" name="s03-panel-32">
            <a:extLst xmlns:a="http://schemas.openxmlformats.org/drawingml/2006/main">
              <a:ext uri="{FF2B5EF4-FFF2-40B4-BE49-F238E27FC236}">
                <a16:creationId xmlns:a16="http://schemas.microsoft.com/office/drawing/2014/main" id="{00D9C4D1-F1A6-4EC9-AC83-25EFD2A4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24325"/>
            <a:ext cx="3714750" cy="112395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46" name="s03-text-33">
            <a:extLst xmlns:a="http://schemas.openxmlformats.org/drawingml/2006/main">
              <a:ext uri="{FF2B5EF4-FFF2-40B4-BE49-F238E27FC236}">
                <a16:creationId xmlns:a16="http://schemas.microsoft.com/office/drawing/2014/main" id="{7AA1894B-20F5-42D4-B09F-228AF507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4099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MinIO / S3</a:t>
            </a:r>
          </a:p>
        </p:txBody>
      </p:sp>
      <p:sp>
        <p:nvSpPr>
          <p:cNvPr id="47" name="s03-text-34">
            <a:extLst xmlns:a="http://schemas.openxmlformats.org/drawingml/2006/main">
              <a:ext uri="{FF2B5EF4-FFF2-40B4-BE49-F238E27FC236}">
                <a16:creationId xmlns:a16="http://schemas.microsoft.com/office/drawing/2014/main" id="{F5CA4909-7A13-4F33-9B78-EB95A6B0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76775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Parquet + Iceberg metadata</a:t>
            </a:r>
          </a:p>
        </p:txBody>
      </p:sp>
      <p:sp>
        <p:nvSpPr>
          <p:cNvPr id="51" name="s03-text-35">
            <a:extLst xmlns:a="http://schemas.openxmlformats.org/drawingml/2006/main">
              <a:ext uri="{FF2B5EF4-FFF2-40B4-BE49-F238E27FC236}">
                <a16:creationId xmlns:a16="http://schemas.microsoft.com/office/drawing/2014/main" id="{624987CB-AF9F-460A-BAA4-E15979D9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서로 다른 저장 책임</a:t>
            </a:r>
          </a:p>
        </p:txBody>
      </p:sp>
      <p:sp>
        <p:nvSpPr>
          <p:cNvPr id="52" name="s03-panel-36">
            <a:extLst xmlns:a="http://schemas.openxmlformats.org/drawingml/2006/main">
              <a:ext uri="{FF2B5EF4-FFF2-40B4-BE49-F238E27FC236}">
                <a16:creationId xmlns:a16="http://schemas.microsoft.com/office/drawing/2014/main" id="{E7E5E4E0-4F6D-43DB-B082-CC379C1E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3" name="s03-text-37">
            <a:extLst xmlns:a="http://schemas.openxmlformats.org/drawingml/2006/main">
              <a:ext uri="{FF2B5EF4-FFF2-40B4-BE49-F238E27FC236}">
                <a16:creationId xmlns:a16="http://schemas.microsoft.com/office/drawing/2014/main" id="{B6E4DFE2-D67B-4ED0-809C-FA42008A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오늘: PostgreSQL → Debezium → Kafka → Flink → Iceberg Bronze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왜 CDC·Kafka를 두고 지연을 나눌까요?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8" name="s03-panel-38">
            <a:extLst xmlns:a="http://schemas.openxmlformats.org/drawingml/2006/main">
              <a:ext uri="{FF2B5EF4-FFF2-40B4-BE49-F238E27FC236}">
                <a16:creationId xmlns:a16="http://schemas.microsoft.com/office/drawing/2014/main" id="{4D522876-18A8-48F6-9B1E-5E623313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9">
            <a:extLst xmlns:a="http://schemas.openxmlformats.org/drawingml/2006/main">
              <a:ext uri="{FF2B5EF4-FFF2-40B4-BE49-F238E27FC236}">
                <a16:creationId xmlns:a16="http://schemas.microsoft.com/office/drawing/2014/main" id="{A56B8419-29A5-4307-B258-38277CBA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CDC·Kafka</a:t>
            </a:r>
          </a:p>
        </p:txBody>
      </p:sp>
      <p:sp>
        <p:nvSpPr>
          <p:cNvPr id="20" name="s03-text-40">
            <a:extLst xmlns:a="http://schemas.openxmlformats.org/drawingml/2006/main">
              <a:ext uri="{FF2B5EF4-FFF2-40B4-BE49-F238E27FC236}">
                <a16:creationId xmlns:a16="http://schemas.microsoft.com/office/drawing/2014/main" id="{849CDED0-6089-41BB-95F2-613D94F0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전달과 입력 보관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원천·브로커 운영 비용</a:t>
            </a:r>
          </a:p>
        </p:txBody>
      </p:sp>
      <p:sp>
        <p:nvSpPr>
          <p:cNvPr id="21" name="s03-panel-41">
            <a:extLst xmlns:a="http://schemas.openxmlformats.org/drawingml/2006/main">
              <a:ext uri="{FF2B5EF4-FFF2-40B4-BE49-F238E27FC236}">
                <a16:creationId xmlns:a16="http://schemas.microsoft.com/office/drawing/2014/main" id="{C95F1E3D-A1C5-40C0-AA5A-F92BCAFB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42">
            <a:extLst xmlns:a="http://schemas.openxmlformats.org/drawingml/2006/main">
              <a:ext uri="{FF2B5EF4-FFF2-40B4-BE49-F238E27FC236}">
                <a16:creationId xmlns:a16="http://schemas.microsoft.com/office/drawing/2014/main" id="{ABD1C8D6-6953-42DB-A1B2-C87696DB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Bronze 지연</a:t>
            </a:r>
          </a:p>
        </p:txBody>
      </p:sp>
      <p:sp>
        <p:nvSpPr>
          <p:cNvPr id="23" name="s03-text-43">
            <a:extLst xmlns:a="http://schemas.openxmlformats.org/drawingml/2006/main">
              <a:ext uri="{FF2B5EF4-FFF2-40B4-BE49-F238E27FC236}">
                <a16:creationId xmlns:a16="http://schemas.microsoft.com/office/drawing/2014/main" id="{4DA1AB5A-70E7-4A2F-9050-B4206039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변경 이력이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조회될 때까지</a:t>
            </a:r>
          </a:p>
        </p:txBody>
      </p:sp>
      <p:sp>
        <p:nvSpPr>
          <p:cNvPr id="24" name="s03-panel-44">
            <a:extLst xmlns:a="http://schemas.openxmlformats.org/drawingml/2006/main">
              <a:ext uri="{FF2B5EF4-FFF2-40B4-BE49-F238E27FC236}">
                <a16:creationId xmlns:a16="http://schemas.microsoft.com/office/drawing/2014/main" id="{C96F8D07-D0F2-4307-A8FE-634C00F6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45">
            <a:extLst xmlns:a="http://schemas.openxmlformats.org/drawingml/2006/main">
              <a:ext uri="{FF2B5EF4-FFF2-40B4-BE49-F238E27FC236}">
                <a16:creationId xmlns:a16="http://schemas.microsoft.com/office/drawing/2014/main" id="{0E444FC2-D9D7-485E-BE2E-439F8066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지표 지연</a:t>
            </a:r>
          </a:p>
        </p:txBody>
      </p:sp>
      <p:sp>
        <p:nvSpPr>
          <p:cNvPr id="26" name="s03-text-46">
            <a:extLst xmlns:a="http://schemas.openxmlformats.org/drawingml/2006/main">
              <a:ext uri="{FF2B5EF4-FFF2-40B4-BE49-F238E27FC236}">
                <a16:creationId xmlns:a16="http://schemas.microsoft.com/office/drawing/2014/main" id="{6AE703BE-E880-4D0A-87CF-70D1569B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후속 갱신을 거쳐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기대 집계가 읽힐 때까지</a:t>
            </a:r>
          </a:p>
        </p:txBody>
      </p:sp>
      <p:sp>
        <p:nvSpPr>
          <p:cNvPr id="27" name="s03-panel-47">
            <a:extLst xmlns:a="http://schemas.openxmlformats.org/drawingml/2006/main">
              <a:ext uri="{FF2B5EF4-FFF2-40B4-BE49-F238E27FC236}">
                <a16:creationId xmlns:a16="http://schemas.microsoft.com/office/drawing/2014/main" id="{39198901-CF90-42FA-B755-AF757D96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48">
            <a:extLst xmlns:a="http://schemas.openxmlformats.org/drawingml/2006/main">
              <a:ext uri="{FF2B5EF4-FFF2-40B4-BE49-F238E27FC236}">
                <a16:creationId xmlns:a16="http://schemas.microsoft.com/office/drawing/2014/main" id="{C9057E26-398A-4E73-88DA-C9798DEE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수집이 빨라진 것과 최종 지표가 갱신된 것을 나누어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Flink는 Kafka의 변경을 계속 처리합니다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35" name="s03-panel-69">
            <a:extLst xmlns:a="http://schemas.openxmlformats.org/drawingml/2006/main">
              <a:ext uri="{FF2B5EF4-FFF2-40B4-BE49-F238E27FC236}">
                <a16:creationId xmlns:a16="http://schemas.microsoft.com/office/drawing/2014/main" id="{31C03458-4E4D-4479-9AA8-DDDCBDDB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6" name="s03-text-70">
            <a:extLst xmlns:a="http://schemas.openxmlformats.org/drawingml/2006/main">
              <a:ext uri="{FF2B5EF4-FFF2-40B4-BE49-F238E27FC236}">
                <a16:creationId xmlns:a16="http://schemas.microsoft.com/office/drawing/2014/main" id="{713C56C4-B4F7-4872-B0DD-F7AAD4B0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Debezium은 변경 수집 · Kafka는 보관 · Flink는 처리 · Iceberg는 테이블 상태 관리</a:t>
            </a:r>
          </a:p>
        </p:txBody>
      </p:sp>
      <p:sp>
        <p:nvSpPr>
          <p:cNvPr id="37" name="flink-supplement-card-0">
            <a:extLst xmlns:a="http://schemas.openxmlformats.org/drawingml/2006/main">
              <a:ext uri="{FF2B5EF4-FFF2-40B4-BE49-F238E27FC236}">
                <a16:creationId xmlns:a16="http://schemas.microsoft.com/office/drawing/2014/main" id="{F279CDCF-1CD1-4E72-A8C4-A3EB64EF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38" name="flink-supplement-text-0">
            <a:extLst xmlns:a="http://schemas.openxmlformats.org/drawingml/2006/main">
              <a:ext uri="{FF2B5EF4-FFF2-40B4-BE49-F238E27FC236}">
                <a16:creationId xmlns:a16="http://schemas.microsoft.com/office/drawing/2014/main" id="{1348823A-23C1-4EC3-AA4B-9A95D97B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계속 실행하는 SQL</a:t>
            </a:r>
          </a:p>
        </p:txBody>
      </p:sp>
      <p:sp>
        <p:nvSpPr>
          <p:cNvPr id="39" name="flink-supplement-text-1">
            <a:extLst xmlns:a="http://schemas.openxmlformats.org/drawingml/2006/main">
              <a:ext uri="{FF2B5EF4-FFF2-40B4-BE49-F238E27FC236}">
                <a16:creationId xmlns:a16="http://schemas.microsoft.com/office/drawing/2014/main" id="{23378C66-BECD-4575-84A7-A360446D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Kafka를 계속 읽고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선택·변환한 결과를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sink로 보냅니다</a:t>
            </a:r>
          </a:p>
        </p:txBody>
      </p:sp>
      <p:sp>
        <p:nvSpPr>
          <p:cNvPr id="40" name="flink-supplement-card-1">
            <a:extLst xmlns:a="http://schemas.openxmlformats.org/drawingml/2006/main">
              <a:ext uri="{FF2B5EF4-FFF2-40B4-BE49-F238E27FC236}">
                <a16:creationId xmlns:a16="http://schemas.microsoft.com/office/drawing/2014/main" id="{9018F06D-DCA4-486C-84AB-E8DDE163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1" name="flink-supplement-text-2">
            <a:extLst xmlns:a="http://schemas.openxmlformats.org/drawingml/2006/main">
              <a:ext uri="{FF2B5EF4-FFF2-40B4-BE49-F238E27FC236}">
                <a16:creationId xmlns:a16="http://schemas.microsoft.com/office/drawing/2014/main" id="{A6EC76E1-F311-4766-935F-DDCE8980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읽은 위치와 상태</a:t>
            </a:r>
          </a:p>
        </p:txBody>
      </p:sp>
      <p:sp>
        <p:nvSpPr>
          <p:cNvPr id="42" name="flink-supplement-text-3">
            <a:extLst xmlns:a="http://schemas.openxmlformats.org/drawingml/2006/main">
              <a:ext uri="{FF2B5EF4-FFF2-40B4-BE49-F238E27FC236}">
                <a16:creationId xmlns:a16="http://schemas.microsoft.com/office/drawing/2014/main" id="{DBF51F21-87DD-4F83-8A9F-85EDEB0E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offset과 미확정 작업을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checkpoint에 보관해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복구에 사용합니다</a:t>
            </a:r>
          </a:p>
        </p:txBody>
      </p:sp>
      <p:sp>
        <p:nvSpPr>
          <p:cNvPr id="43" name="flink-supplement-card-2">
            <a:extLst xmlns:a="http://schemas.openxmlformats.org/drawingml/2006/main">
              <a:ext uri="{FF2B5EF4-FFF2-40B4-BE49-F238E27FC236}">
                <a16:creationId xmlns:a16="http://schemas.microsoft.com/office/drawing/2014/main" id="{CF9839F3-9F0E-40EE-8867-A75C6B18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4" name="flink-supplement-text-4">
            <a:extLst xmlns:a="http://schemas.openxmlformats.org/drawingml/2006/main">
              <a:ext uri="{FF2B5EF4-FFF2-40B4-BE49-F238E27FC236}">
                <a16:creationId xmlns:a16="http://schemas.microsoft.com/office/drawing/2014/main" id="{21E197F1-8183-4B4D-8327-C78BC1D1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이번 예제의 처리</a:t>
            </a:r>
          </a:p>
        </p:txBody>
      </p:sp>
      <p:sp>
        <p:nvSpPr>
          <p:cNvPr id="45" name="flink-supplement-text-5">
            <a:extLst xmlns:a="http://schemas.openxmlformats.org/drawingml/2006/main">
              <a:ext uri="{FF2B5EF4-FFF2-40B4-BE49-F238E27FC236}">
                <a16:creationId xmlns:a16="http://schemas.microsoft.com/office/drawing/2014/main" id="{E88F7541-DC0B-4044-AA04-4350BBF4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SQL 조건으로 null 제외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c/u/d 원문과 전달 위치를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Bronze에 추가합니다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Iceberg는 Parquet를 테이블로 관리합니다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2E195-789D-43BD-B7E2-E9A1B6EF89D3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Parquet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관리 범위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컬럼 데이터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파일들을 묶은 테이블 상태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담는 정보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행·컬럼 통계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스키마·snapshot·파일 참조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읽는 대상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지정한 파일의 데이터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선택한 snapshot의 유효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역할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행을 저장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파일의 포함·변경을 확정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71">
            <a:extLst xmlns:a="http://schemas.openxmlformats.org/drawingml/2006/main">
              <a:ext uri="{FF2B5EF4-FFF2-40B4-BE49-F238E27FC236}">
                <a16:creationId xmlns:a16="http://schemas.microsoft.com/office/drawing/2014/main" id="{DD0FB93C-3853-4675-B66C-2A6818B7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72">
            <a:extLst xmlns:a="http://schemas.openxmlformats.org/drawingml/2006/main">
              <a:ext uri="{FF2B5EF4-FFF2-40B4-BE49-F238E27FC236}">
                <a16:creationId xmlns:a16="http://schemas.microsoft.com/office/drawing/2014/main" id="{D318399F-BBC3-4A14-9477-C6D16F1E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저장소는 객체 보관 · Catalog는 현재 metadata 위치 · 엔진은 SQL 실행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Flink를 선택한 이유와 운영 부담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BEA2EC-BBEF-402E-AB8E-EB17C50B9C55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검토할 조건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함께 드는 비용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Airflow + Spark 배치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시간·일 단위 갱신이면 충분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 발견·재조회 범위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Spark Structured Streaming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Spark 기반 마이크로배치 활용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trigger·상태·파일 관리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Connect Iceberg Sink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전달·routing 기능이 요구에 맞음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connector·commit 설정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+ Iceberg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지속 처리·입력과 상태 복원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상시 엔진·checkpoint·파일 관리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73">
            <a:extLst xmlns:a="http://schemas.openxmlformats.org/drawingml/2006/main">
              <a:ext uri="{FF2B5EF4-FFF2-40B4-BE49-F238E27FC236}">
                <a16:creationId xmlns:a16="http://schemas.microsoft.com/office/drawing/2014/main" id="{51645D6A-3DBD-415A-B3D4-CA6731F8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74">
            <a:extLst xmlns:a="http://schemas.openxmlformats.org/drawingml/2006/main">
              <a:ext uri="{FF2B5EF4-FFF2-40B4-BE49-F238E27FC236}">
                <a16:creationId xmlns:a16="http://schemas.microsoft.com/office/drawing/2014/main" id="{09504A15-FF03-4782-84B7-F879864E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이번 선택: 지속 적재·상태 복구·Iceberg commit을 연결해 배웁니다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64EEAB-3CFC-4A21-8616-8E80681C7F78}"/>
              </a:ext>
            </a:extLst>
          </p:cNvPr>
          <p:cNvCxnSpPr>
            <a:stCxn xmlns:a="http://schemas.openxmlformats.org/drawingml/2006/main" id="27" idx="0"/>
            <a:endCxn xmlns:a="http://schemas.openxmlformats.org/drawingml/2006/main" id="16" idx="2"/>
          </p:cNvCxnSpPr>
          <p:nvPr/>
        </p:nvCxnSpPr>
        <p:spPr>
          <a:xfrm xmlns:a="http://schemas.openxmlformats.org/drawingml/2006/main" flipV="1">
            <a:off x="9429750" y="2943225"/>
            <a:ext cx="20955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68C4E4-941F-4AA0-8A5C-1B1A6F93DAF1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6943725" y="4438650"/>
            <a:ext cx="542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D51BAD-337B-4E36-8655-5A1F90FCC31E}"/>
              </a:ext>
            </a:extLst>
          </p:cNvPr>
          <p:cNvCxnSpPr>
            <a:stCxn xmlns:a="http://schemas.openxmlformats.org/drawingml/2006/main" id="21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3600450" y="4438650"/>
            <a:ext cx="542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C06672-8049-4322-A888-7B98F0397E75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5486400" y="2943225"/>
            <a:ext cx="60960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dash"/>
            <a:tailEnd type="triangle" w="med" len="med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64488F-036A-4967-B466-D3D49F39A369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1943100" y="2943225"/>
            <a:ext cx="25717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환불 이벤트 한 건이 Flink를 통과하는 과정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10" name="s03-panel-49">
            <a:extLst xmlns:a="http://schemas.openxmlformats.org/drawingml/2006/main">
              <a:ext uri="{FF2B5EF4-FFF2-40B4-BE49-F238E27FC236}">
                <a16:creationId xmlns:a16="http://schemas.microsoft.com/office/drawing/2014/main" id="{E83E5214-86CF-46E4-A0BE-4C7358E5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2667000" cy="1162050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s03-text-50">
            <a:extLst xmlns:a="http://schemas.openxmlformats.org/drawingml/2006/main">
              <a:ext uri="{FF2B5EF4-FFF2-40B4-BE49-F238E27FC236}">
                <a16:creationId xmlns:a16="http://schemas.microsoft.com/office/drawing/2014/main" id="{7C73ECFF-9BE0-40A3-8F49-E2F5BDC9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14525"/>
            <a:ext cx="2362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12" name="s03-text-51">
            <a:extLst xmlns:a="http://schemas.openxmlformats.org/drawingml/2006/main">
              <a:ext uri="{FF2B5EF4-FFF2-40B4-BE49-F238E27FC236}">
                <a16:creationId xmlns:a16="http://schemas.microsoft.com/office/drawing/2014/main" id="{013B475F-0B26-4DCD-AD84-458A3268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보관된 입력 · topic/partition</a:t>
            </a:r>
          </a:p>
        </p:txBody>
      </p:sp>
      <p:sp>
        <p:nvSpPr>
          <p:cNvPr id="13" name="s03-panel-52">
            <a:extLst xmlns:a="http://schemas.openxmlformats.org/drawingml/2006/main">
              <a:ext uri="{FF2B5EF4-FFF2-40B4-BE49-F238E27FC236}">
                <a16:creationId xmlns:a16="http://schemas.microsoft.com/office/drawing/2014/main" id="{192D33C4-3738-4D75-A2C5-D66D4276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81175"/>
            <a:ext cx="3524250" cy="1162050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53">
            <a:extLst xmlns:a="http://schemas.openxmlformats.org/drawingml/2006/main">
              <a:ext uri="{FF2B5EF4-FFF2-40B4-BE49-F238E27FC236}">
                <a16:creationId xmlns:a16="http://schemas.microsoft.com/office/drawing/2014/main" id="{C6430981-FA22-4007-AA52-2D922081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914525"/>
            <a:ext cx="3219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JobManager</a:t>
            </a:r>
          </a:p>
        </p:txBody>
      </p:sp>
      <p:sp>
        <p:nvSpPr>
          <p:cNvPr id="15" name="s03-text-54">
            <a:extLst xmlns:a="http://schemas.openxmlformats.org/drawingml/2006/main">
              <a:ext uri="{FF2B5EF4-FFF2-40B4-BE49-F238E27FC236}">
                <a16:creationId xmlns:a16="http://schemas.microsoft.com/office/drawing/2014/main" id="{BAB77678-ADAB-4173-9643-B32056D4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333625"/>
            <a:ext cx="321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job 조정 · checkpoint 시작</a:t>
            </a:r>
          </a:p>
        </p:txBody>
      </p:sp>
      <p:sp>
        <p:nvSpPr>
          <p:cNvPr id="16" name="s03-panel-55">
            <a:extLst xmlns:a="http://schemas.openxmlformats.org/drawingml/2006/main">
              <a:ext uri="{FF2B5EF4-FFF2-40B4-BE49-F238E27FC236}">
                <a16:creationId xmlns:a16="http://schemas.microsoft.com/office/drawing/2014/main" id="{41984B3C-5881-405D-997C-706416CB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81175"/>
            <a:ext cx="3886200" cy="1162050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17" name="s03-text-56">
            <a:extLst xmlns:a="http://schemas.openxmlformats.org/drawingml/2006/main">
              <a:ext uri="{FF2B5EF4-FFF2-40B4-BE49-F238E27FC236}">
                <a16:creationId xmlns:a16="http://schemas.microsoft.com/office/drawing/2014/main" id="{49C711AC-5437-467D-8579-DEA068F3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14525"/>
            <a:ext cx="3581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Checkpoint 상태</a:t>
            </a:r>
          </a:p>
        </p:txBody>
      </p:sp>
      <p:sp>
        <p:nvSpPr>
          <p:cNvPr id="18" name="s03-text-57">
            <a:extLst xmlns:a="http://schemas.openxmlformats.org/drawingml/2006/main">
              <a:ext uri="{FF2B5EF4-FFF2-40B4-BE49-F238E27FC236}">
                <a16:creationId xmlns:a16="http://schemas.microsoft.com/office/drawing/2014/main" id="{E46339F0-94F5-46F5-A625-63EC41D3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33625"/>
            <a:ext cx="358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위치·pending 파일 참조</a:t>
            </a:r>
          </a:p>
        </p:txBody>
      </p:sp>
      <p:sp>
        <p:nvSpPr>
          <p:cNvPr id="19" name="s03-panel-58">
            <a:extLst xmlns:a="http://schemas.openxmlformats.org/drawingml/2006/main">
              <a:ext uri="{FF2B5EF4-FFF2-40B4-BE49-F238E27FC236}">
                <a16:creationId xmlns:a16="http://schemas.microsoft.com/office/drawing/2014/main" id="{9E06D831-7ED7-4271-9034-43185AA5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9475"/>
            <a:ext cx="10972800" cy="1933575"/>
          </a:xfrm>
          <a:prstGeom xmlns:a="http://schemas.openxmlformats.org/drawingml/2006/main" prst="roundRect">
            <a:avLst>
              <a:gd name="adj" fmla="val 4433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0" name="s03-text-59">
            <a:extLst xmlns:a="http://schemas.openxmlformats.org/drawingml/2006/main">
              <a:ext uri="{FF2B5EF4-FFF2-40B4-BE49-F238E27FC236}">
                <a16:creationId xmlns:a16="http://schemas.microsoft.com/office/drawing/2014/main" id="{C90AA2FA-1FB2-437A-A7BF-6B0D76A2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57775"/>
            <a:ext cx="10191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TaskManager에서 실행하는 연산자</a:t>
            </a:r>
          </a:p>
        </p:txBody>
      </p:sp>
      <p:sp>
        <p:nvSpPr>
          <p:cNvPr id="21" name="s03-panel-60">
            <a:extLst xmlns:a="http://schemas.openxmlformats.org/drawingml/2006/main">
              <a:ext uri="{FF2B5EF4-FFF2-40B4-BE49-F238E27FC236}">
                <a16:creationId xmlns:a16="http://schemas.microsoft.com/office/drawing/2014/main" id="{1CCDC480-1FFB-4916-AD5E-A3782EC4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2800350" cy="9906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61">
            <a:extLst xmlns:a="http://schemas.openxmlformats.org/drawingml/2006/main">
              <a:ext uri="{FF2B5EF4-FFF2-40B4-BE49-F238E27FC236}">
                <a16:creationId xmlns:a16="http://schemas.microsoft.com/office/drawing/2014/main" id="{4F5C90F5-EBF3-4434-BEE7-CA4B5D29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2495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 source</a:t>
            </a:r>
          </a:p>
        </p:txBody>
      </p:sp>
      <p:sp>
        <p:nvSpPr>
          <p:cNvPr id="23" name="s03-text-62">
            <a:extLst xmlns:a="http://schemas.openxmlformats.org/drawingml/2006/main">
              <a:ext uri="{FF2B5EF4-FFF2-40B4-BE49-F238E27FC236}">
                <a16:creationId xmlns:a16="http://schemas.microsoft.com/office/drawing/2014/main" id="{0C3EC281-8F7E-4931-8953-07DCA53E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249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레코드·전달 정보 읽기</a:t>
            </a:r>
          </a:p>
        </p:txBody>
      </p:sp>
      <p:sp>
        <p:nvSpPr>
          <p:cNvPr id="24" name="s03-panel-63">
            <a:extLst xmlns:a="http://schemas.openxmlformats.org/drawingml/2006/main">
              <a:ext uri="{FF2B5EF4-FFF2-40B4-BE49-F238E27FC236}">
                <a16:creationId xmlns:a16="http://schemas.microsoft.com/office/drawing/2014/main" id="{59749F75-E485-4D05-B383-919FD4AA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943350"/>
            <a:ext cx="2800350" cy="9906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5" name="s03-text-64">
            <a:extLst xmlns:a="http://schemas.openxmlformats.org/drawingml/2006/main">
              <a:ext uri="{FF2B5EF4-FFF2-40B4-BE49-F238E27FC236}">
                <a16:creationId xmlns:a16="http://schemas.microsoft.com/office/drawing/2014/main" id="{5C25CD6D-1352-4D59-97FB-0256D433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076700"/>
            <a:ext cx="2495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Filter / SELECT</a:t>
            </a:r>
          </a:p>
        </p:txBody>
      </p:sp>
      <p:sp>
        <p:nvSpPr>
          <p:cNvPr id="26" name="s03-text-65">
            <a:extLst xmlns:a="http://schemas.openxmlformats.org/drawingml/2006/main">
              <a:ext uri="{FF2B5EF4-FFF2-40B4-BE49-F238E27FC236}">
                <a16:creationId xmlns:a16="http://schemas.microsoft.com/office/drawing/2014/main" id="{DF8C4C92-1DF6-4BAB-B405-677A7B35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495800"/>
            <a:ext cx="249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null 제외 · 컬럼 선택</a:t>
            </a:r>
          </a:p>
        </p:txBody>
      </p:sp>
      <p:sp>
        <p:nvSpPr>
          <p:cNvPr id="27" name="s03-panel-66">
            <a:extLst xmlns:a="http://schemas.openxmlformats.org/drawingml/2006/main">
              <a:ext uri="{FF2B5EF4-FFF2-40B4-BE49-F238E27FC236}">
                <a16:creationId xmlns:a16="http://schemas.microsoft.com/office/drawing/2014/main" id="{FE1D14E2-5B82-408B-88E1-8F95FAED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43350"/>
            <a:ext cx="3886200" cy="9906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67">
            <a:extLst xmlns:a="http://schemas.openxmlformats.org/drawingml/2006/main">
              <a:ext uri="{FF2B5EF4-FFF2-40B4-BE49-F238E27FC236}">
                <a16:creationId xmlns:a16="http://schemas.microsoft.com/office/drawing/2014/main" id="{6AF7C3C7-317B-46D1-8A33-A8295FCC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76700"/>
            <a:ext cx="3581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Iceberg writer</a:t>
            </a:r>
          </a:p>
        </p:txBody>
      </p:sp>
      <p:sp>
        <p:nvSpPr>
          <p:cNvPr id="29" name="s03-text-68">
            <a:extLst xmlns:a="http://schemas.openxmlformats.org/drawingml/2006/main">
              <a:ext uri="{FF2B5EF4-FFF2-40B4-BE49-F238E27FC236}">
                <a16:creationId xmlns:a16="http://schemas.microsoft.com/office/drawing/2014/main" id="{1D5D9B6A-84B6-40BE-B754-26B2297D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95800"/>
            <a:ext cx="358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레코드 처리 · 파일 준비</a:t>
            </a:r>
          </a:p>
        </p:txBody>
      </p:sp>
      <p:sp>
        <p:nvSpPr>
          <p:cNvPr id="35" name="s03-panel-69">
            <a:extLst xmlns:a="http://schemas.openxmlformats.org/drawingml/2006/main">
              <a:ext uri="{FF2B5EF4-FFF2-40B4-BE49-F238E27FC236}">
                <a16:creationId xmlns:a16="http://schemas.microsoft.com/office/drawing/2014/main" id="{31C03458-4E4D-4479-9AA8-DDDCBDDB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6" name="s03-text-70">
            <a:extLst xmlns:a="http://schemas.openxmlformats.org/drawingml/2006/main">
              <a:ext uri="{FF2B5EF4-FFF2-40B4-BE49-F238E27FC236}">
                <a16:creationId xmlns:a16="http://schemas.microsoft.com/office/drawing/2014/main" id="{713C56C4-B4F7-4872-B0DD-F7AAD4B0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생성·수정·삭제 본문은 각각 append · null tombstone 제외 · 현재 상태 계산은 후속 Silver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op=d·tombstone·append를 구분합니다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18" name="s03-panel-77">
            <a:extLst xmlns:a="http://schemas.openxmlformats.org/drawingml/2006/main">
              <a:ext uri="{FF2B5EF4-FFF2-40B4-BE49-F238E27FC236}">
                <a16:creationId xmlns:a16="http://schemas.microsoft.com/office/drawing/2014/main" id="{C6503278-B63A-44C7-85E5-DB85D46D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78">
            <a:extLst xmlns:a="http://schemas.openxmlformats.org/drawingml/2006/main">
              <a:ext uri="{FF2B5EF4-FFF2-40B4-BE49-F238E27FC236}">
                <a16:creationId xmlns:a16="http://schemas.microsoft.com/office/drawing/2014/main" id="{2261798D-58FA-4426-A921-049E48D8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op=d JSON</a:t>
            </a:r>
          </a:p>
        </p:txBody>
      </p:sp>
      <p:sp>
        <p:nvSpPr>
          <p:cNvPr id="20" name="s03-text-79">
            <a:extLst xmlns:a="http://schemas.openxmlformats.org/drawingml/2006/main">
              <a:ext uri="{FF2B5EF4-FFF2-40B4-BE49-F238E27FC236}">
                <a16:creationId xmlns:a16="http://schemas.microsoft.com/office/drawing/2014/main" id="{F81551C6-2D7E-4ED3-A603-887AC93C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삭제 before를 담은 이력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Bronze에 보존</a:t>
            </a:r>
          </a:p>
        </p:txBody>
      </p:sp>
      <p:sp>
        <p:nvSpPr>
          <p:cNvPr id="21" name="s03-panel-80">
            <a:extLst xmlns:a="http://schemas.openxmlformats.org/drawingml/2006/main">
              <a:ext uri="{FF2B5EF4-FFF2-40B4-BE49-F238E27FC236}">
                <a16:creationId xmlns:a16="http://schemas.microsoft.com/office/drawing/2014/main" id="{ACABDB47-9931-476E-8CEC-1FEBF161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81">
            <a:extLst xmlns:a="http://schemas.openxmlformats.org/drawingml/2006/main">
              <a:ext uri="{FF2B5EF4-FFF2-40B4-BE49-F238E27FC236}">
                <a16:creationId xmlns:a16="http://schemas.microsoft.com/office/drawing/2014/main" id="{2C514490-A0BF-482B-B5BF-CA9CD36F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wire-null</a:t>
            </a:r>
          </a:p>
        </p:txBody>
      </p:sp>
      <p:sp>
        <p:nvSpPr>
          <p:cNvPr id="23" name="s03-text-82">
            <a:extLst xmlns:a="http://schemas.openxmlformats.org/drawingml/2006/main">
              <a:ext uri="{FF2B5EF4-FFF2-40B4-BE49-F238E27FC236}">
                <a16:creationId xmlns:a16="http://schemas.microsoft.com/office/drawing/2014/main" id="{3DA61D60-78A6-4B3A-9743-2D2BB64C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payload IS NOT NULL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wire-null value 제외</a:t>
            </a:r>
          </a:p>
        </p:txBody>
      </p:sp>
      <p:sp>
        <p:nvSpPr>
          <p:cNvPr id="24" name="s03-panel-83">
            <a:extLst xmlns:a="http://schemas.openxmlformats.org/drawingml/2006/main">
              <a:ext uri="{FF2B5EF4-FFF2-40B4-BE49-F238E27FC236}">
                <a16:creationId xmlns:a16="http://schemas.microsoft.com/office/drawing/2014/main" id="{302AA6C4-0B63-4C80-96E2-647FD8AF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84">
            <a:extLst xmlns:a="http://schemas.openxmlformats.org/drawingml/2006/main">
              <a:ext uri="{FF2B5EF4-FFF2-40B4-BE49-F238E27FC236}">
                <a16:creationId xmlns:a16="http://schemas.microsoft.com/office/drawing/2014/main" id="{A6EEE897-F86B-4BEA-80F4-8104419F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raw append</a:t>
            </a:r>
          </a:p>
        </p:txBody>
      </p:sp>
      <p:sp>
        <p:nvSpPr>
          <p:cNvPr id="26" name="s03-text-85">
            <a:extLst xmlns:a="http://schemas.openxmlformats.org/drawingml/2006/main">
              <a:ext uri="{FF2B5EF4-FFF2-40B4-BE49-F238E27FC236}">
                <a16:creationId xmlns:a16="http://schemas.microsoft.com/office/drawing/2014/main" id="{90B46035-627A-4DEF-85CB-DD2E84BE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c/u/d를 각각 저장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상태는 별도 해석</a:t>
            </a:r>
          </a:p>
        </p:txBody>
      </p:sp>
      <p:sp>
        <p:nvSpPr>
          <p:cNvPr id="27" name="s03-panel-86">
            <a:extLst xmlns:a="http://schemas.openxmlformats.org/drawingml/2006/main">
              <a:ext uri="{FF2B5EF4-FFF2-40B4-BE49-F238E27FC236}">
                <a16:creationId xmlns:a16="http://schemas.microsoft.com/office/drawing/2014/main" id="{48F2C2A2-B29E-45FF-B704-B834B5EE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87">
            <a:extLst xmlns:a="http://schemas.openxmlformats.org/drawingml/2006/main">
              <a:ext uri="{FF2B5EF4-FFF2-40B4-BE49-F238E27FC236}">
                <a16:creationId xmlns:a16="http://schemas.microsoft.com/office/drawing/2014/main" id="{9E831ED3-AFC9-45C0-BF2B-B5046F3C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이번 Debezium envelope 전제입니다 · Bronze의 op=d는 일반 data 행입니다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작업이 멈추면 어디서 다시 시작하나요?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18" name="s03-panel-88">
            <a:extLst xmlns:a="http://schemas.openxmlformats.org/drawingml/2006/main">
              <a:ext uri="{FF2B5EF4-FFF2-40B4-BE49-F238E27FC236}">
                <a16:creationId xmlns:a16="http://schemas.microsoft.com/office/drawing/2014/main" id="{39F08EB0-E275-4E61-9F2C-09F00C33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89">
            <a:extLst xmlns:a="http://schemas.openxmlformats.org/drawingml/2006/main">
              <a:ext uri="{FF2B5EF4-FFF2-40B4-BE49-F238E27FC236}">
                <a16:creationId xmlns:a16="http://schemas.microsoft.com/office/drawing/2014/main" id="{AF772CCC-B30F-4685-9F09-EA9BCBEC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① 멈추기 전</a:t>
            </a:r>
          </a:p>
        </p:txBody>
      </p:sp>
      <p:sp>
        <p:nvSpPr>
          <p:cNvPr id="20" name="s03-text-90">
            <a:extLst xmlns:a="http://schemas.openxmlformats.org/drawingml/2006/main">
              <a:ext uri="{FF2B5EF4-FFF2-40B4-BE49-F238E27FC236}">
                <a16:creationId xmlns:a16="http://schemas.microsoft.com/office/drawing/2014/main" id="{31D2FBC5-6912-4C8F-8BC2-F786C015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입력 위치와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미확정 파일 참조를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checkpoint에 보관</a:t>
            </a:r>
          </a:p>
        </p:txBody>
      </p:sp>
      <p:sp>
        <p:nvSpPr>
          <p:cNvPr id="21" name="s03-panel-91">
            <a:extLst xmlns:a="http://schemas.openxmlformats.org/drawingml/2006/main">
              <a:ext uri="{FF2B5EF4-FFF2-40B4-BE49-F238E27FC236}">
                <a16:creationId xmlns:a16="http://schemas.microsoft.com/office/drawing/2014/main" id="{948231C8-EA56-4A91-B77E-65C5B665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92">
            <a:extLst xmlns:a="http://schemas.openxmlformats.org/drawingml/2006/main">
              <a:ext uri="{FF2B5EF4-FFF2-40B4-BE49-F238E27FC236}">
                <a16:creationId xmlns:a16="http://schemas.microsoft.com/office/drawing/2014/main" id="{9E6F0287-28FB-460A-9E28-0086A1AC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② 상태를 복원</a:t>
            </a:r>
          </a:p>
        </p:txBody>
      </p:sp>
      <p:sp>
        <p:nvSpPr>
          <p:cNvPr id="23" name="s03-text-93">
            <a:extLst xmlns:a="http://schemas.openxmlformats.org/drawingml/2006/main">
              <a:ext uri="{FF2B5EF4-FFF2-40B4-BE49-F238E27FC236}">
                <a16:creationId xmlns:a16="http://schemas.microsoft.com/office/drawing/2014/main" id="{90F9A0AA-1653-4E5E-A670-FF6C16F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저장한 위치부터 재처리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pending 파일 작업과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commit 기록을 대조</a:t>
            </a:r>
          </a:p>
        </p:txBody>
      </p:sp>
      <p:sp>
        <p:nvSpPr>
          <p:cNvPr id="24" name="s03-panel-94">
            <a:extLst xmlns:a="http://schemas.openxmlformats.org/drawingml/2006/main">
              <a:ext uri="{FF2B5EF4-FFF2-40B4-BE49-F238E27FC236}">
                <a16:creationId xmlns:a16="http://schemas.microsoft.com/office/drawing/2014/main" id="{59E1FDAA-2EF3-4FE4-B680-82AA0F2C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95">
            <a:extLst xmlns:a="http://schemas.openxmlformats.org/drawingml/2006/main">
              <a:ext uri="{FF2B5EF4-FFF2-40B4-BE49-F238E27FC236}">
                <a16:creationId xmlns:a16="http://schemas.microsoft.com/office/drawing/2014/main" id="{D6DAB84A-002C-4E7B-8275-869F7183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③ 상태 없이 새 job</a:t>
            </a:r>
          </a:p>
        </p:txBody>
      </p:sp>
      <p:sp>
        <p:nvSpPr>
          <p:cNvPr id="26" name="s03-text-96">
            <a:extLst xmlns:a="http://schemas.openxmlformats.org/drawingml/2006/main">
              <a:ext uri="{FF2B5EF4-FFF2-40B4-BE49-F238E27FC236}">
                <a16:creationId xmlns:a16="http://schemas.microsoft.com/office/drawing/2014/main" id="{A6A71F2C-ABA0-4709-BD05-C306A41B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earliest는 보관 입력 재독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기존 Bronze 중복 적재와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만료를 확인</a:t>
            </a:r>
          </a:p>
        </p:txBody>
      </p:sp>
      <p:sp>
        <p:nvSpPr>
          <p:cNvPr id="27" name="s03-panel-97">
            <a:extLst xmlns:a="http://schemas.openxmlformats.org/drawingml/2006/main">
              <a:ext uri="{FF2B5EF4-FFF2-40B4-BE49-F238E27FC236}">
                <a16:creationId xmlns:a16="http://schemas.microsoft.com/office/drawing/2014/main" id="{BE16D1F0-CFF7-474A-9F20-35499D22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98">
            <a:extLst xmlns:a="http://schemas.openxmlformats.org/drawingml/2006/main">
              <a:ext uri="{FF2B5EF4-FFF2-40B4-BE49-F238E27FC236}">
                <a16:creationId xmlns:a16="http://schemas.microsoft.com/office/drawing/2014/main" id="{4B266B33-D0A5-4B7F-8D74-73C7DDFF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복구에는 보존된 입력·상태·파일이 필요합니다 · checkpoint 완료와 새 환불 조회는 별도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0B83E6-D938-4A70-BC86-3855F72B55F8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3848100" y="43529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B56936-79ED-4D99-89BA-3C6B99F3C4C3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7715250" y="43529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D0F353-0FB6-4069-82F4-8DA5DCE06444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9963150" y="3019425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898B6C-CB78-4897-94DA-2556A92A3F73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15250" y="24003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9E73DB-BD53-4ADF-95CA-C6CC4A673B4B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48100" y="24003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 reader가 파일을 찾는 순서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10" name="s03-panel-99">
            <a:extLst xmlns:a="http://schemas.openxmlformats.org/drawingml/2006/main">
              <a:ext uri="{FF2B5EF4-FFF2-40B4-BE49-F238E27FC236}">
                <a16:creationId xmlns:a16="http://schemas.microsoft.com/office/drawing/2014/main" id="{0B09A772-D516-42B2-AC4D-25073196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11" name="s03-text-100">
            <a:extLst xmlns:a="http://schemas.openxmlformats.org/drawingml/2006/main">
              <a:ext uri="{FF2B5EF4-FFF2-40B4-BE49-F238E27FC236}">
                <a16:creationId xmlns:a16="http://schemas.microsoft.com/office/drawing/2014/main" id="{CDB05AD4-92D8-4FBE-831B-DCDE08F0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14525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① Catalog PostgreSQL</a:t>
            </a:r>
          </a:p>
        </p:txBody>
      </p:sp>
      <p:sp>
        <p:nvSpPr>
          <p:cNvPr id="12" name="s03-text-101">
            <a:extLst xmlns:a="http://schemas.openxmlformats.org/drawingml/2006/main">
              <a:ext uri="{FF2B5EF4-FFF2-40B4-BE49-F238E27FC236}">
                <a16:creationId xmlns:a16="http://schemas.microsoft.com/office/drawing/2014/main" id="{27BA8B68-3CC0-4FBE-9A1F-6F775CC7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metadata_location</a:t>
            </a:r>
          </a:p>
        </p:txBody>
      </p:sp>
      <p:sp>
        <p:nvSpPr>
          <p:cNvPr id="13" name="s03-panel-102">
            <a:extLst xmlns:a="http://schemas.openxmlformats.org/drawingml/2006/main">
              <a:ext uri="{FF2B5EF4-FFF2-40B4-BE49-F238E27FC236}">
                <a16:creationId xmlns:a16="http://schemas.microsoft.com/office/drawing/2014/main" id="{1BFD6123-B070-4D83-82EB-D37676C8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81175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103">
            <a:extLst xmlns:a="http://schemas.openxmlformats.org/drawingml/2006/main">
              <a:ext uri="{FF2B5EF4-FFF2-40B4-BE49-F238E27FC236}">
                <a16:creationId xmlns:a16="http://schemas.microsoft.com/office/drawing/2014/main" id="{CA188581-8F1E-4C61-AF5B-8DBC4303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14525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② metadata.json</a:t>
            </a:r>
          </a:p>
        </p:txBody>
      </p:sp>
      <p:sp>
        <p:nvSpPr>
          <p:cNvPr id="15" name="s03-text-104">
            <a:extLst xmlns:a="http://schemas.openxmlformats.org/drawingml/2006/main">
              <a:ext uri="{FF2B5EF4-FFF2-40B4-BE49-F238E27FC236}">
                <a16:creationId xmlns:a16="http://schemas.microsoft.com/office/drawing/2014/main" id="{5BB462E8-BE14-4DF2-B2A4-A296E17C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33625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스키마 · 현재 snapshot ID</a:t>
            </a:r>
          </a:p>
        </p:txBody>
      </p:sp>
      <p:sp>
        <p:nvSpPr>
          <p:cNvPr id="16" name="s03-panel-105">
            <a:extLst xmlns:a="http://schemas.openxmlformats.org/drawingml/2006/main">
              <a:ext uri="{FF2B5EF4-FFF2-40B4-BE49-F238E27FC236}">
                <a16:creationId xmlns:a16="http://schemas.microsoft.com/office/drawing/2014/main" id="{A330A2EB-79D5-4421-88D1-74E58A48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81175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s03-text-106">
            <a:extLst xmlns:a="http://schemas.openxmlformats.org/drawingml/2006/main">
              <a:ext uri="{FF2B5EF4-FFF2-40B4-BE49-F238E27FC236}">
                <a16:creationId xmlns:a16="http://schemas.microsoft.com/office/drawing/2014/main" id="{F69AB0FC-8725-4FE9-9C81-99F4C77D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14525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③ Snapshot</a:t>
            </a:r>
          </a:p>
        </p:txBody>
      </p:sp>
      <p:sp>
        <p:nvSpPr>
          <p:cNvPr id="18" name="s03-text-107">
            <a:extLst xmlns:a="http://schemas.openxmlformats.org/drawingml/2006/main">
              <a:ext uri="{FF2B5EF4-FFF2-40B4-BE49-F238E27FC236}">
                <a16:creationId xmlns:a16="http://schemas.microsoft.com/office/drawing/2014/main" id="{D80153AB-8882-4DCC-8144-7DE71B8B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33625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manifest list 위치</a:t>
            </a:r>
          </a:p>
        </p:txBody>
      </p:sp>
      <p:sp>
        <p:nvSpPr>
          <p:cNvPr id="19" name="s03-panel-108">
            <a:extLst xmlns:a="http://schemas.openxmlformats.org/drawingml/2006/main">
              <a:ext uri="{FF2B5EF4-FFF2-40B4-BE49-F238E27FC236}">
                <a16:creationId xmlns:a16="http://schemas.microsoft.com/office/drawing/2014/main" id="{4DD9D0AE-AF67-4160-B2B3-41F35DEF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33800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s03-text-109">
            <a:extLst xmlns:a="http://schemas.openxmlformats.org/drawingml/2006/main">
              <a:ext uri="{FF2B5EF4-FFF2-40B4-BE49-F238E27FC236}">
                <a16:creationId xmlns:a16="http://schemas.microsoft.com/office/drawing/2014/main" id="{344961CD-6847-4106-A285-C80E1893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6715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④ Manifest list</a:t>
            </a:r>
          </a:p>
        </p:txBody>
      </p:sp>
      <p:sp>
        <p:nvSpPr>
          <p:cNvPr id="21" name="s03-text-110">
            <a:extLst xmlns:a="http://schemas.openxmlformats.org/drawingml/2006/main">
              <a:ext uri="{FF2B5EF4-FFF2-40B4-BE49-F238E27FC236}">
                <a16:creationId xmlns:a16="http://schemas.microsoft.com/office/drawing/2014/main" id="{04EB247E-A7FE-4851-80AA-95139018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86250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manifest 파일 목록 · Avro</a:t>
            </a:r>
          </a:p>
        </p:txBody>
      </p:sp>
      <p:sp>
        <p:nvSpPr>
          <p:cNvPr id="22" name="s03-panel-111">
            <a:extLst xmlns:a="http://schemas.openxmlformats.org/drawingml/2006/main">
              <a:ext uri="{FF2B5EF4-FFF2-40B4-BE49-F238E27FC236}">
                <a16:creationId xmlns:a16="http://schemas.microsoft.com/office/drawing/2014/main" id="{EC6067C7-E7AA-4B86-899F-447D0D37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33800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3" name="s03-text-112">
            <a:extLst xmlns:a="http://schemas.openxmlformats.org/drawingml/2006/main">
              <a:ext uri="{FF2B5EF4-FFF2-40B4-BE49-F238E27FC236}">
                <a16:creationId xmlns:a16="http://schemas.microsoft.com/office/drawing/2014/main" id="{366FD35D-5A17-4E15-A3FD-4228D028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86715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⑤ Manifest</a:t>
            </a:r>
          </a:p>
        </p:txBody>
      </p:sp>
      <p:sp>
        <p:nvSpPr>
          <p:cNvPr id="24" name="s03-text-113">
            <a:extLst xmlns:a="http://schemas.openxmlformats.org/drawingml/2006/main">
              <a:ext uri="{FF2B5EF4-FFF2-40B4-BE49-F238E27FC236}">
                <a16:creationId xmlns:a16="http://schemas.microsoft.com/office/drawing/2014/main" id="{EC2B8631-4CE4-4A4B-9B93-F6948F43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86250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data file 항목 · Avro</a:t>
            </a:r>
          </a:p>
        </p:txBody>
      </p:sp>
      <p:sp>
        <p:nvSpPr>
          <p:cNvPr id="25" name="s03-panel-114">
            <a:extLst xmlns:a="http://schemas.openxmlformats.org/drawingml/2006/main">
              <a:ext uri="{FF2B5EF4-FFF2-40B4-BE49-F238E27FC236}">
                <a16:creationId xmlns:a16="http://schemas.microsoft.com/office/drawing/2014/main" id="{4653CEC1-2832-4A04-A06B-F57882F5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6" name="s03-text-115">
            <a:extLst xmlns:a="http://schemas.openxmlformats.org/drawingml/2006/main">
              <a:ext uri="{FF2B5EF4-FFF2-40B4-BE49-F238E27FC236}">
                <a16:creationId xmlns:a16="http://schemas.microsoft.com/office/drawing/2014/main" id="{C3B2ACBF-5765-441B-B355-CC28C3EE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⑥ Parquet</a:t>
            </a:r>
          </a:p>
        </p:txBody>
      </p:sp>
      <p:sp>
        <p:nvSpPr>
          <p:cNvPr id="27" name="s03-text-116">
            <a:extLst xmlns:a="http://schemas.openxmlformats.org/drawingml/2006/main">
              <a:ext uri="{FF2B5EF4-FFF2-40B4-BE49-F238E27FC236}">
                <a16:creationId xmlns:a16="http://schemas.microsoft.com/office/drawing/2014/main" id="{5B7AB662-78E1-4163-B7E5-D9C2E263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실제 Bronze 행</a:t>
            </a:r>
          </a:p>
        </p:txBody>
      </p:sp>
      <p:sp>
        <p:nvSpPr>
          <p:cNvPr id="33" name="s03-text-117">
            <a:extLst xmlns:a="http://schemas.openxmlformats.org/drawingml/2006/main">
              <a:ext uri="{FF2B5EF4-FFF2-40B4-BE49-F238E27FC236}">
                <a16:creationId xmlns:a16="http://schemas.microsoft.com/office/drawing/2014/main" id="{66FF847B-9253-497A-A68F-927404AF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metadata.json · manifest list · manifest · Parquet는 MinIO / S3에 저장</a:t>
            </a:r>
          </a:p>
        </p:txBody>
      </p:sp>
      <p:sp>
        <p:nvSpPr>
          <p:cNvPr id="34" name="s03-panel-118">
            <a:extLst xmlns:a="http://schemas.openxmlformats.org/drawingml/2006/main">
              <a:ext uri="{FF2B5EF4-FFF2-40B4-BE49-F238E27FC236}">
                <a16:creationId xmlns:a16="http://schemas.microsoft.com/office/drawing/2014/main" id="{7D4B0568-B1F7-4B87-9001-D2894D71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5" name="s03-text-119">
            <a:extLst xmlns:a="http://schemas.openxmlformats.org/drawingml/2006/main">
              <a:ext uri="{FF2B5EF4-FFF2-40B4-BE49-F238E27FC236}">
                <a16:creationId xmlns:a16="http://schemas.microsoft.com/office/drawing/2014/main" id="{B373DD62-B793-48C6-B279-FBF0C719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Catalog의 현재 참조가 읽을 metadata와 snapshot을 결정합니다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DD062F-539C-4600-B7F3-EB7B60C173D2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H="1">
            <a:off x="9677400" y="3238500"/>
            <a:ext cx="285750" cy="12239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FD803A-0B3B-42C7-B9BE-446F098B0CB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34300" y="2452688"/>
            <a:ext cx="609600" cy="714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959744-4CA2-4921-8891-C3611925970C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67150" y="2452688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레코드가 오면 writer는 파일을 작성합니다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10" name="s03-panel-120">
            <a:extLst xmlns:a="http://schemas.openxmlformats.org/drawingml/2006/main">
              <a:ext uri="{FF2B5EF4-FFF2-40B4-BE49-F238E27FC236}">
                <a16:creationId xmlns:a16="http://schemas.microsoft.com/office/drawing/2014/main" id="{F8468E46-642A-4BE6-BFA2-CCF8DC48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25755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s03-text-121">
            <a:extLst xmlns:a="http://schemas.openxmlformats.org/drawingml/2006/main">
              <a:ext uri="{FF2B5EF4-FFF2-40B4-BE49-F238E27FC236}">
                <a16:creationId xmlns:a16="http://schemas.microsoft.com/office/drawing/2014/main" id="{5B518559-640B-48D1-967A-85DC160A0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2952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계속 들어오는 행</a:t>
            </a:r>
          </a:p>
        </p:txBody>
      </p:sp>
      <p:sp>
        <p:nvSpPr>
          <p:cNvPr id="12" name="s03-text-122">
            <a:extLst xmlns:a="http://schemas.openxmlformats.org/drawingml/2006/main">
              <a:ext uri="{FF2B5EF4-FFF2-40B4-BE49-F238E27FC236}">
                <a16:creationId xmlns:a16="http://schemas.microsoft.com/office/drawing/2014/main" id="{594055A0-4E46-4D6D-A67C-9F9EAEC0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527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→ filter → writer</a:t>
            </a:r>
          </a:p>
        </p:txBody>
      </p:sp>
      <p:sp>
        <p:nvSpPr>
          <p:cNvPr id="13" name="s03-panel-123">
            <a:extLst xmlns:a="http://schemas.openxmlformats.org/drawingml/2006/main">
              <a:ext uri="{FF2B5EF4-FFF2-40B4-BE49-F238E27FC236}">
                <a16:creationId xmlns:a16="http://schemas.microsoft.com/office/drawing/2014/main" id="{387A4947-1844-43D1-834D-2C4EF587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25755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124">
            <a:extLst xmlns:a="http://schemas.openxmlformats.org/drawingml/2006/main">
              <a:ext uri="{FF2B5EF4-FFF2-40B4-BE49-F238E27FC236}">
                <a16:creationId xmlns:a16="http://schemas.microsoft.com/office/drawing/2014/main" id="{8DFA66AD-5A2E-4524-9F78-8150BE47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43100"/>
            <a:ext cx="2952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Writer의 파일 준비</a:t>
            </a:r>
          </a:p>
        </p:txBody>
      </p:sp>
      <p:sp>
        <p:nvSpPr>
          <p:cNvPr id="15" name="s03-text-125">
            <a:extLst xmlns:a="http://schemas.openxmlformats.org/drawingml/2006/main">
              <a:ext uri="{FF2B5EF4-FFF2-40B4-BE49-F238E27FC236}">
                <a16:creationId xmlns:a16="http://schemas.microsoft.com/office/drawing/2014/main" id="{F7899FD7-F8CD-4EF0-8618-764E5E34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62200"/>
            <a:ext cx="29527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버퍼·파일 쓰기는 계속 진행</a:t>
            </a:r>
          </a:p>
        </p:txBody>
      </p:sp>
      <p:sp>
        <p:nvSpPr>
          <p:cNvPr id="16" name="s03-panel-126">
            <a:extLst xmlns:a="http://schemas.openxmlformats.org/drawingml/2006/main">
              <a:ext uri="{FF2B5EF4-FFF2-40B4-BE49-F238E27FC236}">
                <a16:creationId xmlns:a16="http://schemas.microsoft.com/office/drawing/2014/main" id="{3DBD4BA4-BAE9-4B86-BC65-AADFAABE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238500" cy="142875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17" name="s03-text-127">
            <a:extLst xmlns:a="http://schemas.openxmlformats.org/drawingml/2006/main">
              <a:ext uri="{FF2B5EF4-FFF2-40B4-BE49-F238E27FC236}">
                <a16:creationId xmlns:a16="http://schemas.microsoft.com/office/drawing/2014/main" id="{608CC64E-9E13-4B5A-97E8-7E46D27D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Checkpoint barrier</a:t>
            </a:r>
          </a:p>
        </p:txBody>
      </p:sp>
      <p:sp>
        <p:nvSpPr>
          <p:cNvPr id="18" name="s03-text-128">
            <a:extLst xmlns:a="http://schemas.openxmlformats.org/drawingml/2006/main">
              <a:ext uri="{FF2B5EF4-FFF2-40B4-BE49-F238E27FC236}">
                <a16:creationId xmlns:a16="http://schemas.microsoft.com/office/drawing/2014/main" id="{8DC17809-96D9-40EF-8DA5-6387DCC3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62200"/>
            <a:ext cx="2933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열린 파일 마감</a:t>
            </a:r>
          </a:p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FlinkWriteResult</a:t>
            </a:r>
          </a:p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(checkpointId, result)</a:t>
            </a:r>
          </a:p>
        </p:txBody>
      </p:sp>
      <p:sp>
        <p:nvSpPr>
          <p:cNvPr id="21" name="s03-panel-129">
            <a:extLst xmlns:a="http://schemas.openxmlformats.org/drawingml/2006/main">
              <a:ext uri="{FF2B5EF4-FFF2-40B4-BE49-F238E27FC236}">
                <a16:creationId xmlns:a16="http://schemas.microsoft.com/office/drawing/2014/main" id="{97FFC708-42FA-497F-AF0A-DA66F36F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38575"/>
            <a:ext cx="7162800" cy="1247775"/>
          </a:xfrm>
          <a:prstGeom xmlns:a="http://schemas.openxmlformats.org/drawingml/2006/main" prst="roundRect">
            <a:avLst>
              <a:gd name="adj" fmla="val 687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22" name="s03-text-130">
            <a:extLst xmlns:a="http://schemas.openxmlformats.org/drawingml/2006/main">
              <a:ext uri="{FF2B5EF4-FFF2-40B4-BE49-F238E27FC236}">
                <a16:creationId xmlns:a16="http://schemas.microsoft.com/office/drawing/2014/main" id="{FAF05341-FCD3-4F83-9F25-3A8DCC80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971925"/>
            <a:ext cx="685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Pending 파일 참조를 checkpoint 상태에 보관</a:t>
            </a:r>
          </a:p>
        </p:txBody>
      </p:sp>
      <p:sp>
        <p:nvSpPr>
          <p:cNvPr id="23" name="s03-text-131">
            <a:extLst xmlns:a="http://schemas.openxmlformats.org/drawingml/2006/main">
              <a:ext uri="{FF2B5EF4-FFF2-40B4-BE49-F238E27FC236}">
                <a16:creationId xmlns:a16="http://schemas.microsoft.com/office/drawing/2014/main" id="{CC1AA3DC-D397-453D-9047-A746A485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91025"/>
            <a:ext cx="685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아직 테이블에 commit되지 않은 준비 파일일 수 있습니다</a:t>
            </a:r>
          </a:p>
        </p:txBody>
      </p:sp>
      <p:sp>
        <p:nvSpPr>
          <p:cNvPr id="25" name="s03-text-132">
            <a:extLst xmlns:a="http://schemas.openxmlformats.org/drawingml/2006/main">
              <a:ext uri="{FF2B5EF4-FFF2-40B4-BE49-F238E27FC236}">
                <a16:creationId xmlns:a16="http://schemas.microsoft.com/office/drawing/2014/main" id="{BBEE010D-8DB2-48F8-AC87-764CC5B8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WriteResult를 checkpoint ID와 감싸 전달합니다 · WriteResult 자체에 ID가 있지는 않습니다</a:t>
            </a:r>
          </a:p>
        </p:txBody>
      </p:sp>
      <p:sp>
        <p:nvSpPr>
          <p:cNvPr id="26" name="s03-panel-133">
            <a:extLst xmlns:a="http://schemas.openxmlformats.org/drawingml/2006/main">
              <a:ext uri="{FF2B5EF4-FFF2-40B4-BE49-F238E27FC236}">
                <a16:creationId xmlns:a16="http://schemas.microsoft.com/office/drawing/2014/main" id="{E7495003-28C0-4E88-B536-7DA0A3CD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7" name="s03-text-134">
            <a:extLst xmlns:a="http://schemas.openxmlformats.org/drawingml/2006/main">
              <a:ext uri="{FF2B5EF4-FFF2-40B4-BE49-F238E27FC236}">
                <a16:creationId xmlns:a16="http://schemas.microsoft.com/office/drawing/2014/main" id="{6510C3C6-136E-440D-936B-FECF0038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연속 파일 작성 → barrier 전 파일 마감 → pending 결과를 복구 상태에 보존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028359-0313-4CD3-8D13-A79255946B77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H="1">
            <a:off x="9677400" y="3095625"/>
            <a:ext cx="285750" cy="1381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4D399"/>
            </a:solidFill>
            <a:prstDash val="solid"/>
            <a:tailEnd type="triangle" w="med" len="med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B36B7B-6CC3-4800-ABA6-A91C914FB630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15250" y="2452688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5F16A4-E04A-4ECB-8CB7-6F6A1C093D7A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48100" y="2452688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 완료 뒤 테이블을 commit합니다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10" name="s03-panel-135">
            <a:extLst xmlns:a="http://schemas.openxmlformats.org/drawingml/2006/main">
              <a:ext uri="{FF2B5EF4-FFF2-40B4-BE49-F238E27FC236}">
                <a16:creationId xmlns:a16="http://schemas.microsoft.com/office/drawing/2014/main" id="{1FA4B613-B462-4862-B534-E00574AA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23850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11" name="s03-text-136">
            <a:extLst xmlns:a="http://schemas.openxmlformats.org/drawingml/2006/main">
              <a:ext uri="{FF2B5EF4-FFF2-40B4-BE49-F238E27FC236}">
                <a16:creationId xmlns:a16="http://schemas.microsoft.com/office/drawing/2014/main" id="{6DD175D3-30F6-42DD-B796-1E1F6502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① Checkpoint 완료 통지</a:t>
            </a:r>
          </a:p>
        </p:txBody>
      </p:sp>
      <p:sp>
        <p:nvSpPr>
          <p:cNvPr id="12" name="s03-text-137">
            <a:extLst xmlns:a="http://schemas.openxmlformats.org/drawingml/2006/main">
              <a:ext uri="{FF2B5EF4-FFF2-40B4-BE49-F238E27FC236}">
                <a16:creationId xmlns:a16="http://schemas.microsoft.com/office/drawing/2014/main" id="{8E21CAFE-6D2C-4004-97EB-41074E4A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337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상태가 저장됨</a:t>
            </a:r>
          </a:p>
        </p:txBody>
      </p:sp>
      <p:sp>
        <p:nvSpPr>
          <p:cNvPr id="13" name="s03-panel-138">
            <a:extLst xmlns:a="http://schemas.openxmlformats.org/drawingml/2006/main">
              <a:ext uri="{FF2B5EF4-FFF2-40B4-BE49-F238E27FC236}">
                <a16:creationId xmlns:a16="http://schemas.microsoft.com/office/drawing/2014/main" id="{ECB83CB5-7D92-46A1-8F9D-33B77C80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23850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139">
            <a:extLst xmlns:a="http://schemas.openxmlformats.org/drawingml/2006/main">
              <a:ext uri="{FF2B5EF4-FFF2-40B4-BE49-F238E27FC236}">
                <a16:creationId xmlns:a16="http://schemas.microsoft.com/office/drawing/2014/main" id="{E9C6C987-F32E-487C-9D60-3351E024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② Iceberg committer</a:t>
            </a:r>
          </a:p>
        </p:txBody>
      </p:sp>
      <p:sp>
        <p:nvSpPr>
          <p:cNvPr id="15" name="s03-text-140">
            <a:extLst xmlns:a="http://schemas.openxmlformats.org/drawingml/2006/main">
              <a:ext uri="{FF2B5EF4-FFF2-40B4-BE49-F238E27FC236}">
                <a16:creationId xmlns:a16="http://schemas.microsoft.com/office/drawing/2014/main" id="{6BE9EDD1-7586-438A-90D5-41ED3859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62200"/>
            <a:ext cx="29337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준비된 파일·metadata commit</a:t>
            </a:r>
          </a:p>
        </p:txBody>
      </p:sp>
      <p:sp>
        <p:nvSpPr>
          <p:cNvPr id="16" name="s03-panel-141">
            <a:extLst xmlns:a="http://schemas.openxmlformats.org/drawingml/2006/main">
              <a:ext uri="{FF2B5EF4-FFF2-40B4-BE49-F238E27FC236}">
                <a16:creationId xmlns:a16="http://schemas.microsoft.com/office/drawing/2014/main" id="{FBA288A2-41AA-470B-A64A-840E9589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23850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17" name="s03-text-142">
            <a:extLst xmlns:a="http://schemas.openxmlformats.org/drawingml/2006/main">
              <a:ext uri="{FF2B5EF4-FFF2-40B4-BE49-F238E27FC236}">
                <a16:creationId xmlns:a16="http://schemas.microsoft.com/office/drawing/2014/main" id="{14C72691-EA49-4452-A9E6-53A833EF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③ Catalog 참조 갱신</a:t>
            </a:r>
          </a:p>
        </p:txBody>
      </p:sp>
      <p:sp>
        <p:nvSpPr>
          <p:cNvPr id="18" name="s03-text-143">
            <a:extLst xmlns:a="http://schemas.openxmlformats.org/drawingml/2006/main">
              <a:ext uri="{FF2B5EF4-FFF2-40B4-BE49-F238E27FC236}">
                <a16:creationId xmlns:a16="http://schemas.microsoft.com/office/drawing/2014/main" id="{47E5400F-0461-4FAC-AEE0-EF547609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62200"/>
            <a:ext cx="29337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 위치 원자적 변경</a:t>
            </a:r>
          </a:p>
        </p:txBody>
      </p:sp>
      <p:sp>
        <p:nvSpPr>
          <p:cNvPr id="21" name="s03-panel-144">
            <a:extLst xmlns:a="http://schemas.openxmlformats.org/drawingml/2006/main">
              <a:ext uri="{FF2B5EF4-FFF2-40B4-BE49-F238E27FC236}">
                <a16:creationId xmlns:a16="http://schemas.microsoft.com/office/drawing/2014/main" id="{BBF040C1-7EB3-4369-8463-1EF35259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57625"/>
            <a:ext cx="71628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22" name="s03-text-145">
            <a:extLst xmlns:a="http://schemas.openxmlformats.org/drawingml/2006/main">
              <a:ext uri="{FF2B5EF4-FFF2-40B4-BE49-F238E27FC236}">
                <a16:creationId xmlns:a16="http://schemas.microsoft.com/office/drawing/2014/main" id="{6F2EC307-316D-44C4-B716-715A0AAE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990975"/>
            <a:ext cx="685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④ 새로 실행한 Spark SQL 조회</a:t>
            </a:r>
          </a:p>
        </p:txBody>
      </p:sp>
      <p:sp>
        <p:nvSpPr>
          <p:cNvPr id="23" name="s03-text-146">
            <a:extLst xmlns:a="http://schemas.openxmlformats.org/drawingml/2006/main">
              <a:ext uri="{FF2B5EF4-FFF2-40B4-BE49-F238E27FC236}">
                <a16:creationId xmlns:a16="http://schemas.microsoft.com/office/drawing/2014/main" id="{1B1A50ED-4C9B-46A7-BFFE-A157ED77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0075"/>
            <a:ext cx="685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snapshot의 manifest를 따라 포함된 파일을 읽습니다</a:t>
            </a:r>
          </a:p>
        </p:txBody>
      </p:sp>
      <p:sp>
        <p:nvSpPr>
          <p:cNvPr id="25" name="s03-text-147">
            <a:extLst xmlns:a="http://schemas.openxmlformats.org/drawingml/2006/main">
              <a:ext uri="{FF2B5EF4-FFF2-40B4-BE49-F238E27FC236}">
                <a16:creationId xmlns:a16="http://schemas.microsoft.com/office/drawing/2014/main" id="{E7FD50FD-15E1-46B0-A285-D00DA441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파일 준비와 테이블 공개는 다른 단계 · 파일 전체가 한꺼번에 업로드되는 트랜잭션이 아닙니다</a:t>
            </a:r>
          </a:p>
        </p:txBody>
      </p:sp>
      <p:sp>
        <p:nvSpPr>
          <p:cNvPr id="26" name="s03-panel-148">
            <a:extLst xmlns:a="http://schemas.openxmlformats.org/drawingml/2006/main">
              <a:ext uri="{FF2B5EF4-FFF2-40B4-BE49-F238E27FC236}">
                <a16:creationId xmlns:a16="http://schemas.microsoft.com/office/drawing/2014/main" id="{90C35DD1-6A2F-41DC-AF60-05B146F9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7" name="s03-text-149">
            <a:extLst xmlns:a="http://schemas.openxmlformats.org/drawingml/2006/main">
              <a:ext uri="{FF2B5EF4-FFF2-40B4-BE49-F238E27FC236}">
                <a16:creationId xmlns:a16="http://schemas.microsoft.com/office/drawing/2014/main" id="{AB0B0836-2073-4795-860C-E0C4CBB9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파일과 metadata 준비 후, 한 테이블의 현재 metadata 참조를 원자적으로 갱신합니다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checkpoint·commit·업무 중복의 경계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sp>
        <p:nvSpPr>
          <p:cNvPr id="18" name="s03-panel-150">
            <a:extLst xmlns:a="http://schemas.openxmlformats.org/drawingml/2006/main">
              <a:ext uri="{FF2B5EF4-FFF2-40B4-BE49-F238E27FC236}">
                <a16:creationId xmlns:a16="http://schemas.microsoft.com/office/drawing/2014/main" id="{C46F92C4-E959-42E3-98F6-A75414D2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51">
            <a:extLst xmlns:a="http://schemas.openxmlformats.org/drawingml/2006/main">
              <a:ext uri="{FF2B5EF4-FFF2-40B4-BE49-F238E27FC236}">
                <a16:creationId xmlns:a16="http://schemas.microsoft.com/office/drawing/2014/main" id="{757AFB94-7CC4-4818-8D4A-3DC334D8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 checkpoint</a:t>
            </a:r>
          </a:p>
        </p:txBody>
      </p:sp>
      <p:sp>
        <p:nvSpPr>
          <p:cNvPr id="20" name="s03-text-152">
            <a:extLst xmlns:a="http://schemas.openxmlformats.org/drawingml/2006/main">
              <a:ext uri="{FF2B5EF4-FFF2-40B4-BE49-F238E27FC236}">
                <a16:creationId xmlns:a16="http://schemas.microsoft.com/office/drawing/2014/main" id="{77BFCCF0-BD89-4385-820E-80532971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복구할 입력과 상태의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지점이 완료</a:t>
            </a:r>
          </a:p>
        </p:txBody>
      </p:sp>
      <p:sp>
        <p:nvSpPr>
          <p:cNvPr id="21" name="s03-panel-153">
            <a:extLst xmlns:a="http://schemas.openxmlformats.org/drawingml/2006/main">
              <a:ext uri="{FF2B5EF4-FFF2-40B4-BE49-F238E27FC236}">
                <a16:creationId xmlns:a16="http://schemas.microsoft.com/office/drawing/2014/main" id="{4FAEFD1D-4C67-4BFF-9A76-627D334B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54">
            <a:extLst xmlns:a="http://schemas.openxmlformats.org/drawingml/2006/main">
              <a:ext uri="{FF2B5EF4-FFF2-40B4-BE49-F238E27FC236}">
                <a16:creationId xmlns:a16="http://schemas.microsoft.com/office/drawing/2014/main" id="{33A1494D-1DF9-4BAE-9648-B5C46262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Iceberg commit</a:t>
            </a:r>
          </a:p>
        </p:txBody>
      </p:sp>
      <p:sp>
        <p:nvSpPr>
          <p:cNvPr id="23" name="s03-text-155">
            <a:extLst xmlns:a="http://schemas.openxmlformats.org/drawingml/2006/main">
              <a:ext uri="{FF2B5EF4-FFF2-40B4-BE49-F238E27FC236}">
                <a16:creationId xmlns:a16="http://schemas.microsoft.com/office/drawing/2014/main" id="{4396F9B7-C751-4E01-9758-D68C21D6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테이블 상태 확정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시 CP pending과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snapshot commit 기록 대조</a:t>
            </a:r>
          </a:p>
        </p:txBody>
      </p:sp>
      <p:sp>
        <p:nvSpPr>
          <p:cNvPr id="24" name="s03-panel-156">
            <a:extLst xmlns:a="http://schemas.openxmlformats.org/drawingml/2006/main">
              <a:ext uri="{FF2B5EF4-FFF2-40B4-BE49-F238E27FC236}">
                <a16:creationId xmlns:a16="http://schemas.microsoft.com/office/drawing/2014/main" id="{1AFBB866-2BC4-45EE-B27A-E49C22D7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57">
            <a:extLst xmlns:a="http://schemas.openxmlformats.org/drawingml/2006/main">
              <a:ext uri="{FF2B5EF4-FFF2-40B4-BE49-F238E27FC236}">
                <a16:creationId xmlns:a16="http://schemas.microsoft.com/office/drawing/2014/main" id="{B76E2DA8-B387-4131-8A7B-18D2E3DB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업무 중복</a:t>
            </a:r>
          </a:p>
        </p:txBody>
      </p:sp>
      <p:sp>
        <p:nvSpPr>
          <p:cNvPr id="26" name="s03-text-158">
            <a:extLst xmlns:a="http://schemas.openxmlformats.org/drawingml/2006/main">
              <a:ext uri="{FF2B5EF4-FFF2-40B4-BE49-F238E27FC236}">
                <a16:creationId xmlns:a16="http://schemas.microsoft.com/office/drawing/2014/main" id="{71E94D04-E03F-4614-88B4-426AF1DC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다른 전달의 반복은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키·버전 규칙이 필요</a:t>
            </a:r>
          </a:p>
        </p:txBody>
      </p:sp>
      <p:sp>
        <p:nvSpPr>
          <p:cNvPr id="27" name="s03-panel-159">
            <a:extLst xmlns:a="http://schemas.openxmlformats.org/drawingml/2006/main">
              <a:ext uri="{FF2B5EF4-FFF2-40B4-BE49-F238E27FC236}">
                <a16:creationId xmlns:a16="http://schemas.microsoft.com/office/drawing/2014/main" id="{27CC94DA-F3E7-4395-92B4-26576707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160">
            <a:extLst xmlns:a="http://schemas.openxmlformats.org/drawingml/2006/main">
              <a:ext uri="{FF2B5EF4-FFF2-40B4-BE49-F238E27FC236}">
                <a16:creationId xmlns:a16="http://schemas.microsoft.com/office/drawing/2014/main" id="{6D2A58D5-E372-4531-9AA8-03A47D05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CP 성공과 commit 완료는 별도 · 복구는 pending과 commit 기록 대조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예제에서 기대하는 결과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6E37E-835A-4DE8-B226-16584F4F4B58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변경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금액 before → after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결과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생성 c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null → 20000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 키의 생성 이력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정정 u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20000 → 30000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키의 변경 이력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철회 d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30000 → 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 보존 · tombstone 제외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최종 상태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현재 행 0개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c/u/d 3이력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61">
            <a:extLst xmlns:a="http://schemas.openxmlformats.org/drawingml/2006/main">
              <a:ext uri="{FF2B5EF4-FFF2-40B4-BE49-F238E27FC236}">
                <a16:creationId xmlns:a16="http://schemas.microsoft.com/office/drawing/2014/main" id="{7D6DB973-27F6-4FFF-9AF6-A62C893D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62">
            <a:extLst xmlns:a="http://schemas.openxmlformats.org/drawingml/2006/main">
              <a:ext uri="{FF2B5EF4-FFF2-40B4-BE49-F238E27FC236}">
                <a16:creationId xmlns:a16="http://schemas.microsoft.com/office/drawing/2014/main" id="{E04F9E40-532B-486E-AC95-8DACBA0C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시연 전 먼저 예측합니다 · 환불 키는 원천 0행 / Bronze c/u/d 3행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8E428A-BECC-4749-8899-4DE49C2A1118}"/>
              </a:ext>
            </a:extLst>
          </p:cNvPr>
          <p:cNvCxnSpPr>
            <a:stCxn xmlns:a="http://schemas.openxmlformats.org/drawingml/2006/main" id="30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87058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F73E33-5B9E-4A94-A84C-245928356F8B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582930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9A84E8-2DC3-44E4-A713-12B566023DCA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29527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23" name="text-76">
            <a:extLst xmlns:a="http://schemas.openxmlformats.org/drawingml/2006/main">
              <a:ext uri="{FF2B5EF4-FFF2-40B4-BE49-F238E27FC236}">
                <a16:creationId xmlns:a16="http://schemas.microsoft.com/office/drawing/2014/main" id="{91536528-62A7-4107-B6A2-DDB403BF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6505C4E4-AE9A-4C26-A981-8608D4DF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예제는 이 순서로 확인합니다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2A9F35-E5B1-46A9-89EF-AF5D98A5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92">
            <a:extLst xmlns:a="http://schemas.openxmlformats.org/drawingml/2006/main">
              <a:ext uri="{FF2B5EF4-FFF2-40B4-BE49-F238E27FC236}">
                <a16:creationId xmlns:a16="http://schemas.microsoft.com/office/drawing/2014/main" id="{F7B8EDF4-CD72-47DB-9C0C-938091F1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22" name="text-93">
            <a:extLst xmlns:a="http://schemas.openxmlformats.org/drawingml/2006/main">
              <a:ext uri="{FF2B5EF4-FFF2-40B4-BE49-F238E27FC236}">
                <a16:creationId xmlns:a16="http://schemas.microsoft.com/office/drawing/2014/main" id="{531F8511-5779-478F-86F9-8D123816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  <p:sp>
        <p:nvSpPr>
          <p:cNvPr id="24" name="s03-panel-163">
            <a:extLst xmlns:a="http://schemas.openxmlformats.org/drawingml/2006/main">
              <a:ext uri="{FF2B5EF4-FFF2-40B4-BE49-F238E27FC236}">
                <a16:creationId xmlns:a16="http://schemas.microsoft.com/office/drawing/2014/main" id="{A12D327C-B72C-4E7E-B426-B8D4CCCE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5" name="s03-text-164">
            <a:extLst xmlns:a="http://schemas.openxmlformats.org/drawingml/2006/main">
              <a:ext uri="{FF2B5EF4-FFF2-40B4-BE49-F238E27FC236}">
                <a16:creationId xmlns:a16="http://schemas.microsoft.com/office/drawing/2014/main" id="{A67B3EB5-03F0-4821-8D03-5F48B22F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원천 현재</a:t>
            </a:r>
          </a:p>
        </p:txBody>
      </p:sp>
      <p:sp>
        <p:nvSpPr>
          <p:cNvPr id="26" name="s03-text-165">
            <a:extLst xmlns:a="http://schemas.openxmlformats.org/drawingml/2006/main">
              <a:ext uri="{FF2B5EF4-FFF2-40B4-BE49-F238E27FC236}">
                <a16:creationId xmlns:a16="http://schemas.microsoft.com/office/drawing/2014/main" id="{E0CA4CAF-CF76-4B03-93B4-36E97CBC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환불 키의 행</a:t>
            </a:r>
          </a:p>
        </p:txBody>
      </p:sp>
      <p:sp>
        <p:nvSpPr>
          <p:cNvPr id="27" name="s03-panel-166">
            <a:extLst xmlns:a="http://schemas.openxmlformats.org/drawingml/2006/main">
              <a:ext uri="{FF2B5EF4-FFF2-40B4-BE49-F238E27FC236}">
                <a16:creationId xmlns:a16="http://schemas.microsoft.com/office/drawing/2014/main" id="{F2E33016-930C-498D-9DC1-29B69679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28" name="s03-text-167">
            <a:extLst xmlns:a="http://schemas.openxmlformats.org/drawingml/2006/main">
              <a:ext uri="{FF2B5EF4-FFF2-40B4-BE49-F238E27FC236}">
                <a16:creationId xmlns:a16="http://schemas.microsoft.com/office/drawing/2014/main" id="{5A386180-52DC-42D6-8A2E-4C71302F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Kafka 이력</a:t>
            </a:r>
          </a:p>
        </p:txBody>
      </p:sp>
      <p:sp>
        <p:nvSpPr>
          <p:cNvPr id="29" name="s03-text-168">
            <a:extLst xmlns:a="http://schemas.openxmlformats.org/drawingml/2006/main">
              <a:ext uri="{FF2B5EF4-FFF2-40B4-BE49-F238E27FC236}">
                <a16:creationId xmlns:a16="http://schemas.microsoft.com/office/drawing/2014/main" id="{6B2D434C-D9E9-43D9-A766-43DA211B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키·op·전달 위치</a:t>
            </a:r>
          </a:p>
        </p:txBody>
      </p:sp>
      <p:sp>
        <p:nvSpPr>
          <p:cNvPr id="30" name="s03-panel-169">
            <a:extLst xmlns:a="http://schemas.openxmlformats.org/drawingml/2006/main">
              <a:ext uri="{FF2B5EF4-FFF2-40B4-BE49-F238E27FC236}">
                <a16:creationId xmlns:a16="http://schemas.microsoft.com/office/drawing/2014/main" id="{6F47FDF3-E1E0-4DCF-BA43-13FE5156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31" name="s03-text-170">
            <a:extLst xmlns:a="http://schemas.openxmlformats.org/drawingml/2006/main">
              <a:ext uri="{FF2B5EF4-FFF2-40B4-BE49-F238E27FC236}">
                <a16:creationId xmlns:a16="http://schemas.microsoft.com/office/drawing/2014/main" id="{CEE80BA6-E5F0-484E-8D8B-971EE65B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Flink 진행</a:t>
            </a:r>
          </a:p>
        </p:txBody>
      </p:sp>
      <p:sp>
        <p:nvSpPr>
          <p:cNvPr id="32" name="s03-text-171">
            <a:extLst xmlns:a="http://schemas.openxmlformats.org/drawingml/2006/main">
              <a:ext uri="{FF2B5EF4-FFF2-40B4-BE49-F238E27FC236}">
                <a16:creationId xmlns:a16="http://schemas.microsoft.com/office/drawing/2014/main" id="{EC428D02-1754-4CFD-A8C6-91A1E746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job·checkpoint 참고</a:t>
            </a:r>
          </a:p>
        </p:txBody>
      </p:sp>
      <p:sp>
        <p:nvSpPr>
          <p:cNvPr id="33" name="s03-panel-172">
            <a:extLst xmlns:a="http://schemas.openxmlformats.org/drawingml/2006/main">
              <a:ext uri="{FF2B5EF4-FFF2-40B4-BE49-F238E27FC236}">
                <a16:creationId xmlns:a16="http://schemas.microsoft.com/office/drawing/2014/main" id="{079C84EF-C9B3-41B1-AB91-9A7AB876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4" name="s03-text-173">
            <a:extLst xmlns:a="http://schemas.openxmlformats.org/drawingml/2006/main">
              <a:ext uri="{FF2B5EF4-FFF2-40B4-BE49-F238E27FC236}">
                <a16:creationId xmlns:a16="http://schemas.microsoft.com/office/drawing/2014/main" id="{981B98C4-63E4-428D-AF89-7C09E2BB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 조회</a:t>
            </a:r>
          </a:p>
        </p:txBody>
      </p:sp>
      <p:sp>
        <p:nvSpPr>
          <p:cNvPr id="35" name="s03-text-174">
            <a:extLst xmlns:a="http://schemas.openxmlformats.org/drawingml/2006/main">
              <a:ext uri="{FF2B5EF4-FFF2-40B4-BE49-F238E27FC236}">
                <a16:creationId xmlns:a16="http://schemas.microsoft.com/office/drawing/2014/main" id="{1DB79972-9208-4AA4-B1D5-A2AD9D75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키·c/u/d·금액</a:t>
            </a:r>
          </a:p>
        </p:txBody>
      </p:sp>
      <p:sp>
        <p:nvSpPr>
          <p:cNvPr id="39" name="s03-panel-175">
            <a:extLst xmlns:a="http://schemas.openxmlformats.org/drawingml/2006/main">
              <a:ext uri="{FF2B5EF4-FFF2-40B4-BE49-F238E27FC236}">
                <a16:creationId xmlns:a16="http://schemas.microsoft.com/office/drawing/2014/main" id="{A399B293-7490-4BD8-9644-49E99D57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40" name="s03-text-176">
            <a:extLst xmlns:a="http://schemas.openxmlformats.org/drawingml/2006/main">
              <a:ext uri="{FF2B5EF4-FFF2-40B4-BE49-F238E27FC236}">
                <a16:creationId xmlns:a16="http://schemas.microsoft.com/office/drawing/2014/main" id="{A921106B-E752-408F-BAC4-89260B3E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강사 화면 시연 · 같은 키로 원천·Kafka·Bronze의 실제 결과를 대조합니다</a:t>
            </a:r>
          </a:p>
        </p:txBody>
      </p:sp>
    </p:spTree>
    <p:extLst>
      <p:ext uri="{BB962C8B-B14F-4D97-AF65-F5344CB8AC3E}">
        <p14:creationId xmlns:p14="http://schemas.microsoft.com/office/powerpoint/2010/main" val="12624184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MinIO 위치와 Catalog의 현재 참조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  <p:sp>
        <p:nvSpPr>
          <p:cNvPr id="18" name="s03-panel-177">
            <a:extLst xmlns:a="http://schemas.openxmlformats.org/drawingml/2006/main">
              <a:ext uri="{FF2B5EF4-FFF2-40B4-BE49-F238E27FC236}">
                <a16:creationId xmlns:a16="http://schemas.microsoft.com/office/drawing/2014/main" id="{B575EBE8-FC42-4E6C-A58E-F46FF787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78">
            <a:extLst xmlns:a="http://schemas.openxmlformats.org/drawingml/2006/main">
              <a:ext uri="{FF2B5EF4-FFF2-40B4-BE49-F238E27FC236}">
                <a16:creationId xmlns:a16="http://schemas.microsoft.com/office/drawing/2014/main" id="{76A05933-AC50-4BAE-BCEA-BC20455F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참조</a:t>
            </a:r>
          </a:p>
        </p:txBody>
      </p:sp>
      <p:sp>
        <p:nvSpPr>
          <p:cNvPr id="20" name="s03-text-179">
            <a:extLst xmlns:a="http://schemas.openxmlformats.org/drawingml/2006/main">
              <a:ext uri="{FF2B5EF4-FFF2-40B4-BE49-F238E27FC236}">
                <a16:creationId xmlns:a16="http://schemas.microsoft.com/office/drawing/2014/main" id="{246A1348-242C-4DE2-B498-27C90227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별도 catalog-db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metadata_location</a:t>
            </a:r>
          </a:p>
        </p:txBody>
      </p:sp>
      <p:sp>
        <p:nvSpPr>
          <p:cNvPr id="21" name="s03-panel-180">
            <a:extLst xmlns:a="http://schemas.openxmlformats.org/drawingml/2006/main">
              <a:ext uri="{FF2B5EF4-FFF2-40B4-BE49-F238E27FC236}">
                <a16:creationId xmlns:a16="http://schemas.microsoft.com/office/drawing/2014/main" id="{6023603B-224C-4138-AD58-36461112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81">
            <a:extLst xmlns:a="http://schemas.openxmlformats.org/drawingml/2006/main">
              <a:ext uri="{FF2B5EF4-FFF2-40B4-BE49-F238E27FC236}">
                <a16:creationId xmlns:a16="http://schemas.microsoft.com/office/drawing/2014/main" id="{ECADFCF5-7254-4153-8F5E-4B76D5AD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물리 객체</a:t>
            </a:r>
          </a:p>
        </p:txBody>
      </p:sp>
      <p:sp>
        <p:nvSpPr>
          <p:cNvPr id="23" name="s03-text-182">
            <a:extLst xmlns:a="http://schemas.openxmlformats.org/drawingml/2006/main">
              <a:ext uri="{FF2B5EF4-FFF2-40B4-BE49-F238E27FC236}">
                <a16:creationId xmlns:a16="http://schemas.microsoft.com/office/drawing/2014/main" id="{A526A1F5-B0CA-4D62-9A41-975FA8C2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warehouse 버킷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bronze/cdc_events/</a:t>
            </a:r>
          </a:p>
        </p:txBody>
      </p:sp>
      <p:sp>
        <p:nvSpPr>
          <p:cNvPr id="24" name="s03-panel-183">
            <a:extLst xmlns:a="http://schemas.openxmlformats.org/drawingml/2006/main">
              <a:ext uri="{FF2B5EF4-FFF2-40B4-BE49-F238E27FC236}">
                <a16:creationId xmlns:a16="http://schemas.microsoft.com/office/drawing/2014/main" id="{00F10527-3395-4774-8E5D-8DE926B8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84">
            <a:extLst xmlns:a="http://schemas.openxmlformats.org/drawingml/2006/main">
              <a:ext uri="{FF2B5EF4-FFF2-40B4-BE49-F238E27FC236}">
                <a16:creationId xmlns:a16="http://schemas.microsoft.com/office/drawing/2014/main" id="{13C0668C-FF75-4F71-8B7F-11D117B1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복구 상태</a:t>
            </a:r>
          </a:p>
        </p:txBody>
      </p:sp>
      <p:sp>
        <p:nvSpPr>
          <p:cNvPr id="26" name="s03-text-185">
            <a:extLst xmlns:a="http://schemas.openxmlformats.org/drawingml/2006/main">
              <a:ext uri="{FF2B5EF4-FFF2-40B4-BE49-F238E27FC236}">
                <a16:creationId xmlns:a16="http://schemas.microsoft.com/office/drawing/2014/main" id="{A7776185-DF0D-4224-9490-5219EB77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별도 flink-state 볼륨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 버킷과 구분</a:t>
            </a:r>
          </a:p>
        </p:txBody>
      </p:sp>
      <p:sp>
        <p:nvSpPr>
          <p:cNvPr id="27" name="s03-panel-186">
            <a:extLst xmlns:a="http://schemas.openxmlformats.org/drawingml/2006/main">
              <a:ext uri="{FF2B5EF4-FFF2-40B4-BE49-F238E27FC236}">
                <a16:creationId xmlns:a16="http://schemas.microsoft.com/office/drawing/2014/main" id="{74453BEE-6D38-4E48-9F0F-5BE784E0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187">
            <a:extLst xmlns:a="http://schemas.openxmlformats.org/drawingml/2006/main">
              <a:ext uri="{FF2B5EF4-FFF2-40B4-BE49-F238E27FC236}">
                <a16:creationId xmlns:a16="http://schemas.microsoft.com/office/drawing/2014/main" id="{171C8258-EDAA-4F17-84FB-DD683592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Catalog 주소 → 사전 Download한 로컬 JSON → MinIO 객체·SQL 대조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파일·JSON·SQL을 교차 확인합니다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01467-3455-4167-AFC4-8EA02DBD14A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대상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물리 객체·관계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SQL에서 대조할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table metadata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metadata의 JSON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Catalog metadata_location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snapshot·manifest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JSON 참조 · Avro 목록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snapshots · metadata_log_entries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data 파일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data의 Parquet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files의 경로·행 수·byte 크기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 행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그 행을 읽은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payload 키·op · _file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88">
            <a:extLst xmlns:a="http://schemas.openxmlformats.org/drawingml/2006/main">
              <a:ext uri="{FF2B5EF4-FFF2-40B4-BE49-F238E27FC236}">
                <a16:creationId xmlns:a16="http://schemas.microsoft.com/office/drawing/2014/main" id="{6C41D8EA-5188-4348-A085-291013EA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89">
            <a:extLst xmlns:a="http://schemas.openxmlformats.org/drawingml/2006/main">
              <a:ext uri="{FF2B5EF4-FFF2-40B4-BE49-F238E27FC236}">
                <a16:creationId xmlns:a16="http://schemas.microsoft.com/office/drawing/2014/main" id="{30B271AD-8C77-42C4-9B8B-5C122C43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파일 존재 · 현재 참조 · 같은 키 조회 · 물리 bytes 디코드는 서로 다른 증거입니다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payload·_file·파일 행 수의 의미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  <p:sp>
        <p:nvSpPr>
          <p:cNvPr id="18" name="s03-panel-190">
            <a:extLst xmlns:a="http://schemas.openxmlformats.org/drawingml/2006/main">
              <a:ext uri="{FF2B5EF4-FFF2-40B4-BE49-F238E27FC236}">
                <a16:creationId xmlns:a16="http://schemas.microsoft.com/office/drawing/2014/main" id="{CAD41D21-D918-4B1C-8DC9-B591BAC6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91">
            <a:extLst xmlns:a="http://schemas.openxmlformats.org/drawingml/2006/main">
              <a:ext uri="{FF2B5EF4-FFF2-40B4-BE49-F238E27FC236}">
                <a16:creationId xmlns:a16="http://schemas.microsoft.com/office/drawing/2014/main" id="{1606417D-6A60-4CED-8650-44FD895A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payload 파싱</a:t>
            </a:r>
          </a:p>
        </p:txBody>
      </p:sp>
      <p:sp>
        <p:nvSpPr>
          <p:cNvPr id="20" name="s03-text-192">
            <a:extLst xmlns:a="http://schemas.openxmlformats.org/drawingml/2006/main">
              <a:ext uri="{FF2B5EF4-FFF2-40B4-BE49-F238E27FC236}">
                <a16:creationId xmlns:a16="http://schemas.microsoft.com/office/drawing/2014/main" id="{C5022B11-E739-43E8-9633-7D5407D6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before 또는 after의 키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환불·op·금액</a:t>
            </a:r>
          </a:p>
        </p:txBody>
      </p:sp>
      <p:sp>
        <p:nvSpPr>
          <p:cNvPr id="21" name="s03-panel-193">
            <a:extLst xmlns:a="http://schemas.openxmlformats.org/drawingml/2006/main">
              <a:ext uri="{FF2B5EF4-FFF2-40B4-BE49-F238E27FC236}">
                <a16:creationId xmlns:a16="http://schemas.microsoft.com/office/drawing/2014/main" id="{E73C4270-02D6-490F-BAB9-75ABA5CE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94">
            <a:extLst xmlns:a="http://schemas.openxmlformats.org/drawingml/2006/main">
              <a:ext uri="{FF2B5EF4-FFF2-40B4-BE49-F238E27FC236}">
                <a16:creationId xmlns:a16="http://schemas.microsoft.com/office/drawing/2014/main" id="{43F8537C-0F01-41D1-8F39-3B685DEF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_file 경로</a:t>
            </a:r>
          </a:p>
        </p:txBody>
      </p:sp>
      <p:sp>
        <p:nvSpPr>
          <p:cNvPr id="23" name="s03-text-195">
            <a:extLst xmlns:a="http://schemas.openxmlformats.org/drawingml/2006/main">
              <a:ext uri="{FF2B5EF4-FFF2-40B4-BE49-F238E27FC236}">
                <a16:creationId xmlns:a16="http://schemas.microsoft.com/office/drawing/2014/main" id="{04F75565-94EB-4DDE-8A8D-93CF8D65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행을 읽은 data 파일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이벤트별 1개 보장 없음</a:t>
            </a:r>
          </a:p>
        </p:txBody>
      </p:sp>
      <p:sp>
        <p:nvSpPr>
          <p:cNvPr id="24" name="s03-panel-196">
            <a:extLst xmlns:a="http://schemas.openxmlformats.org/drawingml/2006/main">
              <a:ext uri="{FF2B5EF4-FFF2-40B4-BE49-F238E27FC236}">
                <a16:creationId xmlns:a16="http://schemas.microsoft.com/office/drawing/2014/main" id="{00C71C49-A6F2-4D7C-92A6-0E166779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97">
            <a:extLst xmlns:a="http://schemas.openxmlformats.org/drawingml/2006/main">
              <a:ext uri="{FF2B5EF4-FFF2-40B4-BE49-F238E27FC236}">
                <a16:creationId xmlns:a16="http://schemas.microsoft.com/office/drawing/2014/main" id="{A84B072A-6619-4291-9FC8-BFD887D1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파일의 행 수</a:t>
            </a:r>
          </a:p>
        </p:txBody>
      </p:sp>
      <p:sp>
        <p:nvSpPr>
          <p:cNvPr id="26" name="s03-text-198">
            <a:extLst xmlns:a="http://schemas.openxmlformats.org/drawingml/2006/main">
              <a:ext uri="{FF2B5EF4-FFF2-40B4-BE49-F238E27FC236}">
                <a16:creationId xmlns:a16="http://schemas.microsoft.com/office/drawing/2014/main" id="{6851816D-5A97-4FA9-AF36-625EDAB0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전체 record_count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키별 matching과 구분</a:t>
            </a:r>
          </a:p>
        </p:txBody>
      </p:sp>
      <p:sp>
        <p:nvSpPr>
          <p:cNvPr id="27" name="s03-panel-199">
            <a:extLst xmlns:a="http://schemas.openxmlformats.org/drawingml/2006/main">
              <a:ext uri="{FF2B5EF4-FFF2-40B4-BE49-F238E27FC236}">
                <a16:creationId xmlns:a16="http://schemas.microsoft.com/office/drawing/2014/main" id="{AC88B833-CD50-4F28-A8A3-D0018EB2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00">
            <a:extLst xmlns:a="http://schemas.openxmlformats.org/drawingml/2006/main">
              <a:ext uri="{FF2B5EF4-FFF2-40B4-BE49-F238E27FC236}">
                <a16:creationId xmlns:a16="http://schemas.microsoft.com/office/drawing/2014/main" id="{5FA7536B-7F0B-4CE7-9006-1F22D6DC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먼저 예측: DELETE 키의 경로와 같은 키의 행 수·op 순서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변경 한 건과 지연의 측정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041FC0-A673-4A08-B349-F0BFEF3CB759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단계·측정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증거의 범위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준비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새 키 · 주문·결제 사전 준비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원천·Bronze 환불 이력 0행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시작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t0 INSERT 호출 · t1 commit 응답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Linux runner의 같은 초시계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끝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t2 같은 환불 행 최초 조회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op=c · 금액 20000 · 결제 키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해석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t2−t0 · t2−t1 두 관측값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반복 조회·쿼리 왕복 포함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01">
            <a:extLst xmlns:a="http://schemas.openxmlformats.org/drawingml/2006/main">
              <a:ext uri="{FF2B5EF4-FFF2-40B4-BE49-F238E27FC236}">
                <a16:creationId xmlns:a16="http://schemas.microsoft.com/office/drawing/2014/main" id="{38129A4E-A1A2-4E86-A9FB-54E875B8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02">
            <a:extLst xmlns:a="http://schemas.openxmlformats.org/drawingml/2006/main">
              <a:ext uri="{FF2B5EF4-FFF2-40B4-BE49-F238E27FC236}">
                <a16:creationId xmlns:a16="http://schemas.microsoft.com/office/drawing/2014/main" id="{A0B1B489-79E9-4128-8BB2-E58DAC26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강사 화면 시연: 시작·끝을 정하고 같은 환불 키로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운영에서는 입력부터 결과까지 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C0CF44-E146-4A21-A367-42593E2209B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범위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볼 증거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질문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rate · pending / lag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입력이 쌓이나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처리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busy · idle · backpressure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어디서 막히나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checkpoint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성공·실패·duration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복구 지점이 진행하나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commit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마지막 성공 경과·소요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 확정이 진행하나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결과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 · 같은 키 SELECT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필요한 변경이 읽히나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03">
            <a:extLst xmlns:a="http://schemas.openxmlformats.org/drawingml/2006/main">
              <a:ext uri="{FF2B5EF4-FFF2-40B4-BE49-F238E27FC236}">
                <a16:creationId xmlns:a16="http://schemas.microsoft.com/office/drawing/2014/main" id="{D58C989C-8255-41C3-B0DE-420C7C3C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04">
            <a:extLst xmlns:a="http://schemas.openxmlformats.org/drawingml/2006/main">
              <a:ext uri="{FF2B5EF4-FFF2-40B4-BE49-F238E27FC236}">
                <a16:creationId xmlns:a16="http://schemas.microsoft.com/office/drawing/2014/main" id="{36FE6388-9CED-4D0F-8E19-1E6ECA34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backpressure는 느린 하류에서 상류로 전파될 수 있습니다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작은 파일과 유지 관리의 비용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464759-D5C7-495E-A35B-451577E46EC8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선택·작업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얻는 것·목적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함께 확인할 조건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짧은 checkpoint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잦은 commit 기회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작은 파일·metadata 비용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목표 크기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rolling의 목표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간격·입력량·writer 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rewrite_data_files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작은 data 파일 재작성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7회차 · 동시 쓰기·연산 비용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 expiration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과거 table 버전 보존 종료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조회·복구에 필요한 버전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remove_orphan_files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참조되지 않는 객체 정리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pending·복구 안전 보존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05">
            <a:extLst xmlns:a="http://schemas.openxmlformats.org/drawingml/2006/main">
              <a:ext uri="{FF2B5EF4-FFF2-40B4-BE49-F238E27FC236}">
                <a16:creationId xmlns:a16="http://schemas.microsoft.com/office/drawing/2014/main" id="{8DD9D184-B266-4E38-8FEC-196ED42B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06">
            <a:extLst xmlns:a="http://schemas.openxmlformats.org/drawingml/2006/main">
              <a:ext uri="{FF2B5EF4-FFF2-40B4-BE49-F238E27FC236}">
                <a16:creationId xmlns:a16="http://schemas.microsoft.com/office/drawing/2014/main" id="{A34753D9-DE85-4A7B-9985-A6FE881E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snapshot에 없다는 이유만으로 파일을 지우지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운영 상황에서 다음 증거 고르기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  <p:sp>
        <p:nvSpPr>
          <p:cNvPr id="18" name="s03-panel-207">
            <a:extLst xmlns:a="http://schemas.openxmlformats.org/drawingml/2006/main">
              <a:ext uri="{FF2B5EF4-FFF2-40B4-BE49-F238E27FC236}">
                <a16:creationId xmlns:a16="http://schemas.microsoft.com/office/drawing/2014/main" id="{7E9F636A-7558-487E-9E8B-8F3668A4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08">
            <a:extLst xmlns:a="http://schemas.openxmlformats.org/drawingml/2006/main">
              <a:ext uri="{FF2B5EF4-FFF2-40B4-BE49-F238E27FC236}">
                <a16:creationId xmlns:a16="http://schemas.microsoft.com/office/drawing/2014/main" id="{A1EF94CF-08BD-471E-9E75-E1E4223C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RUNNING·결과 오래됨</a:t>
            </a:r>
          </a:p>
        </p:txBody>
      </p:sp>
      <p:sp>
        <p:nvSpPr>
          <p:cNvPr id="20" name="s03-text-209">
            <a:extLst xmlns:a="http://schemas.openxmlformats.org/drawingml/2006/main">
              <a:ext uri="{FF2B5EF4-FFF2-40B4-BE49-F238E27FC236}">
                <a16:creationId xmlns:a16="http://schemas.microsoft.com/office/drawing/2014/main" id="{4EACC10B-3B18-48DA-9CF2-AD114DE4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변경·같은 키부터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마지막 확인 경계 찾기</a:t>
            </a:r>
          </a:p>
        </p:txBody>
      </p:sp>
      <p:sp>
        <p:nvSpPr>
          <p:cNvPr id="21" name="s03-panel-210">
            <a:extLst xmlns:a="http://schemas.openxmlformats.org/drawingml/2006/main">
              <a:ext uri="{FF2B5EF4-FFF2-40B4-BE49-F238E27FC236}">
                <a16:creationId xmlns:a16="http://schemas.microsoft.com/office/drawing/2014/main" id="{189DB897-CDFB-461F-8684-102DC607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11">
            <a:extLst xmlns:a="http://schemas.openxmlformats.org/drawingml/2006/main">
              <a:ext uri="{FF2B5EF4-FFF2-40B4-BE49-F238E27FC236}">
                <a16:creationId xmlns:a16="http://schemas.microsoft.com/office/drawing/2014/main" id="{53E68C4E-F6ED-432C-929B-74D7D799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CP 성공·commit 오래됨</a:t>
            </a:r>
          </a:p>
        </p:txBody>
      </p:sp>
      <p:sp>
        <p:nvSpPr>
          <p:cNvPr id="23" name="s03-text-212">
            <a:extLst xmlns:a="http://schemas.openxmlformats.org/drawingml/2006/main">
              <a:ext uri="{FF2B5EF4-FFF2-40B4-BE49-F238E27FC236}">
                <a16:creationId xmlns:a16="http://schemas.microsoft.com/office/drawing/2014/main" id="{4135A634-DC12-4629-8354-CF3B4C06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로그·Catalog·저장소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가설을 증거로 확인</a:t>
            </a:r>
          </a:p>
        </p:txBody>
      </p:sp>
      <p:sp>
        <p:nvSpPr>
          <p:cNvPr id="24" name="s03-panel-213">
            <a:extLst xmlns:a="http://schemas.openxmlformats.org/drawingml/2006/main">
              <a:ext uri="{FF2B5EF4-FFF2-40B4-BE49-F238E27FC236}">
                <a16:creationId xmlns:a16="http://schemas.microsoft.com/office/drawing/2014/main" id="{794E832C-1FF0-452B-85DF-4E5A0D4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14">
            <a:extLst xmlns:a="http://schemas.openxmlformats.org/drawingml/2006/main">
              <a:ext uri="{FF2B5EF4-FFF2-40B4-BE49-F238E27FC236}">
                <a16:creationId xmlns:a16="http://schemas.microsoft.com/office/drawing/2014/main" id="{23DB420E-FD50-4777-92A8-BA415EF9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복구와 보관</a:t>
            </a:r>
          </a:p>
        </p:txBody>
      </p:sp>
      <p:sp>
        <p:nvSpPr>
          <p:cNvPr id="26" name="s03-text-215">
            <a:extLst xmlns:a="http://schemas.openxmlformats.org/drawingml/2006/main">
              <a:ext uri="{FF2B5EF4-FFF2-40B4-BE49-F238E27FC236}">
                <a16:creationId xmlns:a16="http://schemas.microsoft.com/office/drawing/2014/main" id="{9D102F3C-EB4A-461A-82BD-2A6CF122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입력·상태·파일 보존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보관 범위와 디스크 확인</a:t>
            </a:r>
          </a:p>
        </p:txBody>
      </p:sp>
      <p:sp>
        <p:nvSpPr>
          <p:cNvPr id="27" name="s03-panel-216">
            <a:extLst xmlns:a="http://schemas.openxmlformats.org/drawingml/2006/main">
              <a:ext uri="{FF2B5EF4-FFF2-40B4-BE49-F238E27FC236}">
                <a16:creationId xmlns:a16="http://schemas.microsoft.com/office/drawing/2014/main" id="{A3975441-0929-428E-AB9C-42AFFA63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17">
            <a:extLst xmlns:a="http://schemas.openxmlformats.org/drawingml/2006/main">
              <a:ext uri="{FF2B5EF4-FFF2-40B4-BE49-F238E27FC236}">
                <a16:creationId xmlns:a16="http://schemas.microsoft.com/office/drawing/2014/main" id="{49060A92-6178-4DF7-B445-7AFA776D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초기화·offset 변경보다 현재 증거와 보존 상태를 먼저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예제에서 개인 설계로 · 30분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26</a:t>
            </a:r>
          </a:p>
        </p:txBody>
      </p:sp>
      <p:sp>
        <p:nvSpPr>
          <p:cNvPr id="18" name="s03-panel-218">
            <a:extLst xmlns:a="http://schemas.openxmlformats.org/drawingml/2006/main">
              <a:ext uri="{FF2B5EF4-FFF2-40B4-BE49-F238E27FC236}">
                <a16:creationId xmlns:a16="http://schemas.microsoft.com/office/drawing/2014/main" id="{4F80CA80-0AB8-4985-AAAC-B50FFB32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19">
            <a:extLst xmlns:a="http://schemas.openxmlformats.org/drawingml/2006/main">
              <a:ext uri="{FF2B5EF4-FFF2-40B4-BE49-F238E27FC236}">
                <a16:creationId xmlns:a16="http://schemas.microsoft.com/office/drawing/2014/main" id="{8CDE11C0-2B8E-462E-9F23-C5F7BAB9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업무와 도메인</a:t>
            </a:r>
          </a:p>
        </p:txBody>
      </p:sp>
      <p:sp>
        <p:nvSpPr>
          <p:cNvPr id="20" name="s03-text-220">
            <a:extLst xmlns:a="http://schemas.openxmlformats.org/drawingml/2006/main">
              <a:ext uri="{FF2B5EF4-FFF2-40B4-BE49-F238E27FC236}">
                <a16:creationId xmlns:a16="http://schemas.microsoft.com/office/drawing/2014/main" id="{67A61280-D332-4AA3-83C9-F5E84241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누가 어떤 결과로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무엇을 결정하나요?</a:t>
            </a:r>
          </a:p>
        </p:txBody>
      </p:sp>
      <p:sp>
        <p:nvSpPr>
          <p:cNvPr id="21" name="s03-panel-221">
            <a:extLst xmlns:a="http://schemas.openxmlformats.org/drawingml/2006/main">
              <a:ext uri="{FF2B5EF4-FFF2-40B4-BE49-F238E27FC236}">
                <a16:creationId xmlns:a16="http://schemas.microsoft.com/office/drawing/2014/main" id="{ADEE48A7-C3B3-42D8-BC0E-CD24140F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22">
            <a:extLst xmlns:a="http://schemas.openxmlformats.org/drawingml/2006/main">
              <a:ext uri="{FF2B5EF4-FFF2-40B4-BE49-F238E27FC236}">
                <a16:creationId xmlns:a16="http://schemas.microsoft.com/office/drawing/2014/main" id="{88385312-6F06-4D6C-A07A-AE6FBD55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작은 원천 범위</a:t>
            </a:r>
          </a:p>
        </p:txBody>
      </p:sp>
      <p:sp>
        <p:nvSpPr>
          <p:cNvPr id="23" name="s03-text-223">
            <a:extLst xmlns:a="http://schemas.openxmlformats.org/drawingml/2006/main">
              <a:ext uri="{FF2B5EF4-FFF2-40B4-BE49-F238E27FC236}">
                <a16:creationId xmlns:a16="http://schemas.microsoft.com/office/drawing/2014/main" id="{052E0951-1D74-4493-8589-5DCC7764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 2~3개·PK/FK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변경·삭제 의미</a:t>
            </a:r>
          </a:p>
        </p:txBody>
      </p:sp>
      <p:sp>
        <p:nvSpPr>
          <p:cNvPr id="24" name="s03-panel-224">
            <a:extLst xmlns:a="http://schemas.openxmlformats.org/drawingml/2006/main">
              <a:ext uri="{FF2B5EF4-FFF2-40B4-BE49-F238E27FC236}">
                <a16:creationId xmlns:a16="http://schemas.microsoft.com/office/drawing/2014/main" id="{D1C58B83-2F87-4A47-B38B-223930A8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25">
            <a:extLst xmlns:a="http://schemas.openxmlformats.org/drawingml/2006/main">
              <a:ext uri="{FF2B5EF4-FFF2-40B4-BE49-F238E27FC236}">
                <a16:creationId xmlns:a16="http://schemas.microsoft.com/office/drawing/2014/main" id="{4A667CCE-12E2-4FB2-BB33-BC2289CF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입력과 검증</a:t>
            </a:r>
          </a:p>
        </p:txBody>
      </p:sp>
      <p:sp>
        <p:nvSpPr>
          <p:cNvPr id="26" name="s03-text-226">
            <a:extLst xmlns:a="http://schemas.openxmlformats.org/drawingml/2006/main">
              <a:ext uri="{FF2B5EF4-FFF2-40B4-BE49-F238E27FC236}">
                <a16:creationId xmlns:a16="http://schemas.microsoft.com/office/drawing/2014/main" id="{7150BFD6-9636-4960-B35F-6D8CF4E2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보존 계약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키의 기대 결과</a:t>
            </a:r>
          </a:p>
        </p:txBody>
      </p:sp>
      <p:sp>
        <p:nvSpPr>
          <p:cNvPr id="27" name="s03-panel-227">
            <a:extLst xmlns:a="http://schemas.openxmlformats.org/drawingml/2006/main">
              <a:ext uri="{FF2B5EF4-FFF2-40B4-BE49-F238E27FC236}">
                <a16:creationId xmlns:a16="http://schemas.microsoft.com/office/drawing/2014/main" id="{AB90565C-CAAE-4E1A-AF57-F51AB88F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28">
            <a:extLst xmlns:a="http://schemas.openxmlformats.org/drawingml/2006/main">
              <a:ext uri="{FF2B5EF4-FFF2-40B4-BE49-F238E27FC236}">
                <a16:creationId xmlns:a16="http://schemas.microsoft.com/office/drawing/2014/main" id="{EBD58CE7-2F2F-47D1-9F76-88928FA7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내 도메인의 변경 의미와 선택 이유를 학습지에 확정합니다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개인 원천 테이블과 변경 의미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27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607F9-47E8-4687-80B1-35B740B6F639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정할 것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학습지에 남길 내용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 2~3개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이름 · 한 행의 업무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키·시간·순서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PK/FK·최신 버전 → 4회차 MERGE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변경·삭제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삭제 정책·소급 정정 → 6회차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지표·튜닝 후보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조인·지표 테스트(5) · 파티션 후보(7)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29">
            <a:extLst xmlns:a="http://schemas.openxmlformats.org/drawingml/2006/main">
              <a:ext uri="{FF2B5EF4-FFF2-40B4-BE49-F238E27FC236}">
                <a16:creationId xmlns:a16="http://schemas.microsoft.com/office/drawing/2014/main" id="{E81AC006-5800-4122-9396-527FFC8F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30">
            <a:extLst xmlns:a="http://schemas.openxmlformats.org/drawingml/2006/main">
              <a:ext uri="{FF2B5EF4-FFF2-40B4-BE49-F238E27FC236}">
                <a16:creationId xmlns:a16="http://schemas.microsoft.com/office/drawing/2014/main" id="{C637AF07-C22A-4E6A-9560-94EF4B35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테이블 이름과 함께 키·변경 사례·해석 기준을 정합니다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입력 계약과 검증 기대값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  <p:sp>
        <p:nvSpPr>
          <p:cNvPr id="18" name="s03-panel-231">
            <a:extLst xmlns:a="http://schemas.openxmlformats.org/drawingml/2006/main">
              <a:ext uri="{FF2B5EF4-FFF2-40B4-BE49-F238E27FC236}">
                <a16:creationId xmlns:a16="http://schemas.microsoft.com/office/drawing/2014/main" id="{E1892931-B084-4B94-A695-45EF8DBA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32">
            <a:extLst xmlns:a="http://schemas.openxmlformats.org/drawingml/2006/main">
              <a:ext uri="{FF2B5EF4-FFF2-40B4-BE49-F238E27FC236}">
                <a16:creationId xmlns:a16="http://schemas.microsoft.com/office/drawing/2014/main" id="{F3B41415-4CD0-4C82-B855-2DA26B65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입력 계약</a:t>
            </a:r>
          </a:p>
        </p:txBody>
      </p:sp>
      <p:sp>
        <p:nvSpPr>
          <p:cNvPr id="20" name="s03-text-233">
            <a:extLst xmlns:a="http://schemas.openxmlformats.org/drawingml/2006/main">
              <a:ext uri="{FF2B5EF4-FFF2-40B4-BE49-F238E27FC236}">
                <a16:creationId xmlns:a16="http://schemas.microsoft.com/office/drawing/2014/main" id="{C3B395C6-B0BC-4AD7-8E28-2D01894D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원문·토픽·전달 위치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시각·삭제·보존 정책</a:t>
            </a:r>
          </a:p>
        </p:txBody>
      </p:sp>
      <p:sp>
        <p:nvSpPr>
          <p:cNvPr id="21" name="s03-panel-234">
            <a:extLst xmlns:a="http://schemas.openxmlformats.org/drawingml/2006/main">
              <a:ext uri="{FF2B5EF4-FFF2-40B4-BE49-F238E27FC236}">
                <a16:creationId xmlns:a16="http://schemas.microsoft.com/office/drawing/2014/main" id="{1124914A-EAC1-442F-AC04-2AFC6EF2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35">
            <a:extLst xmlns:a="http://schemas.openxmlformats.org/drawingml/2006/main">
              <a:ext uri="{FF2B5EF4-FFF2-40B4-BE49-F238E27FC236}">
                <a16:creationId xmlns:a16="http://schemas.microsoft.com/office/drawing/2014/main" id="{AB06B0DE-3BE6-4548-A1F8-760068E7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두 식별 기준</a:t>
            </a:r>
          </a:p>
        </p:txBody>
      </p:sp>
      <p:sp>
        <p:nvSpPr>
          <p:cNvPr id="23" name="s03-text-236">
            <a:extLst xmlns:a="http://schemas.openxmlformats.org/drawingml/2006/main">
              <a:ext uri="{FF2B5EF4-FFF2-40B4-BE49-F238E27FC236}">
                <a16:creationId xmlns:a16="http://schemas.microsoft.com/office/drawing/2014/main" id="{D71FFA25-C844-4308-BA49-74BED9CB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업무 키는 업무 행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identity는 전달 레코드</a:t>
            </a:r>
          </a:p>
        </p:txBody>
      </p:sp>
      <p:sp>
        <p:nvSpPr>
          <p:cNvPr id="24" name="s03-panel-237">
            <a:extLst xmlns:a="http://schemas.openxmlformats.org/drawingml/2006/main">
              <a:ext uri="{FF2B5EF4-FFF2-40B4-BE49-F238E27FC236}">
                <a16:creationId xmlns:a16="http://schemas.microsoft.com/office/drawing/2014/main" id="{41A1D5C7-C79B-42FB-9E9B-DD024CCD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38">
            <a:extLst xmlns:a="http://schemas.openxmlformats.org/drawingml/2006/main">
              <a:ext uri="{FF2B5EF4-FFF2-40B4-BE49-F238E27FC236}">
                <a16:creationId xmlns:a16="http://schemas.microsoft.com/office/drawing/2014/main" id="{BD86B12E-FC71-4158-8A9C-F2FEDAC3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검증 한 사례</a:t>
            </a:r>
          </a:p>
        </p:txBody>
      </p:sp>
      <p:sp>
        <p:nvSpPr>
          <p:cNvPr id="26" name="s03-text-239">
            <a:extLst xmlns:a="http://schemas.openxmlformats.org/drawingml/2006/main">
              <a:ext uri="{FF2B5EF4-FFF2-40B4-BE49-F238E27FC236}">
                <a16:creationId xmlns:a16="http://schemas.microsoft.com/office/drawing/2014/main" id="{84496457-5F99-47A6-93EF-4B712DFF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키의 기대값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MERGE·dbt 테스트 조건</a:t>
            </a:r>
          </a:p>
        </p:txBody>
      </p:sp>
      <p:sp>
        <p:nvSpPr>
          <p:cNvPr id="27" name="s03-panel-240">
            <a:extLst xmlns:a="http://schemas.openxmlformats.org/drawingml/2006/main">
              <a:ext uri="{FF2B5EF4-FFF2-40B4-BE49-F238E27FC236}">
                <a16:creationId xmlns:a16="http://schemas.microsoft.com/office/drawing/2014/main" id="{26E0651B-C221-4F2C-BB5A-08E728BA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41">
            <a:extLst xmlns:a="http://schemas.openxmlformats.org/drawingml/2006/main">
              <a:ext uri="{FF2B5EF4-FFF2-40B4-BE49-F238E27FC236}">
                <a16:creationId xmlns:a16="http://schemas.microsoft.com/office/drawing/2014/main" id="{83DAB82B-205F-458D-9F52-67E2A281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이력 수·현재 건수·업무 지표의 기대를 구분합니다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대표 설계 리뷰와 다음 회차 연결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29</a:t>
            </a:r>
          </a:p>
        </p:txBody>
      </p:sp>
      <p:sp>
        <p:nvSpPr>
          <p:cNvPr id="18" name="s03-panel-242">
            <a:extLst xmlns:a="http://schemas.openxmlformats.org/drawingml/2006/main">
              <a:ext uri="{FF2B5EF4-FFF2-40B4-BE49-F238E27FC236}">
                <a16:creationId xmlns:a16="http://schemas.microsoft.com/office/drawing/2014/main" id="{3ED4A21B-8760-4175-8936-008387B7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43">
            <a:extLst xmlns:a="http://schemas.openxmlformats.org/drawingml/2006/main">
              <a:ext uri="{FF2B5EF4-FFF2-40B4-BE49-F238E27FC236}">
                <a16:creationId xmlns:a16="http://schemas.microsoft.com/office/drawing/2014/main" id="{30697E62-E98B-43E2-AD3D-CA3D9D64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리뷰 12분</a:t>
            </a:r>
          </a:p>
        </p:txBody>
      </p:sp>
      <p:sp>
        <p:nvSpPr>
          <p:cNvPr id="20" name="s03-text-244">
            <a:extLst xmlns:a="http://schemas.openxmlformats.org/drawingml/2006/main">
              <a:ext uri="{FF2B5EF4-FFF2-40B4-BE49-F238E27FC236}">
                <a16:creationId xmlns:a16="http://schemas.microsoft.com/office/drawing/2014/main" id="{24503FA5-28B6-4A4A-99D1-CE5F2891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대표 2개 함께 보기 8분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전원 자가 점검 4분</a:t>
            </a:r>
          </a:p>
        </p:txBody>
      </p:sp>
      <p:sp>
        <p:nvSpPr>
          <p:cNvPr id="21" name="s03-panel-245">
            <a:extLst xmlns:a="http://schemas.openxmlformats.org/drawingml/2006/main">
              <a:ext uri="{FF2B5EF4-FFF2-40B4-BE49-F238E27FC236}">
                <a16:creationId xmlns:a16="http://schemas.microsoft.com/office/drawing/2014/main" id="{15B65499-39E2-494C-9487-B3308B0F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46">
            <a:extLst xmlns:a="http://schemas.openxmlformats.org/drawingml/2006/main">
              <a:ext uri="{FF2B5EF4-FFF2-40B4-BE49-F238E27FC236}">
                <a16:creationId xmlns:a16="http://schemas.microsoft.com/office/drawing/2014/main" id="{EFF95648-5EEE-4D59-8F89-8E7D218D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4~6회차 개인 구현</a:t>
            </a:r>
          </a:p>
        </p:txBody>
      </p:sp>
      <p:sp>
        <p:nvSpPr>
          <p:cNvPr id="23" name="s03-text-247">
            <a:extLst xmlns:a="http://schemas.openxmlformats.org/drawingml/2006/main">
              <a:ext uri="{FF2B5EF4-FFF2-40B4-BE49-F238E27FC236}">
                <a16:creationId xmlns:a16="http://schemas.microsoft.com/office/drawing/2014/main" id="{B140DE46-892A-4908-9113-DB1FA449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4 Silver 중복제거 MERGE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5 dbt Gold·테스트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6 수정·삭제 소급 정정</a:t>
            </a:r>
          </a:p>
        </p:txBody>
      </p:sp>
      <p:sp>
        <p:nvSpPr>
          <p:cNvPr id="24" name="s03-panel-248">
            <a:extLst xmlns:a="http://schemas.openxmlformats.org/drawingml/2006/main">
              <a:ext uri="{FF2B5EF4-FFF2-40B4-BE49-F238E27FC236}">
                <a16:creationId xmlns:a16="http://schemas.microsoft.com/office/drawing/2014/main" id="{C9437AEC-6D40-47C9-B4BE-B4C4FF7F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49">
            <a:extLst xmlns:a="http://schemas.openxmlformats.org/drawingml/2006/main">
              <a:ext uri="{FF2B5EF4-FFF2-40B4-BE49-F238E27FC236}">
                <a16:creationId xmlns:a16="http://schemas.microsoft.com/office/drawing/2014/main" id="{9D7D3B40-9F4F-4888-A270-917B3019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7~8회차 튜닝·운영</a:t>
            </a:r>
          </a:p>
        </p:txBody>
      </p:sp>
      <p:sp>
        <p:nvSpPr>
          <p:cNvPr id="26" name="s03-text-250">
            <a:extLst xmlns:a="http://schemas.openxmlformats.org/drawingml/2006/main">
              <a:ext uri="{FF2B5EF4-FFF2-40B4-BE49-F238E27FC236}">
                <a16:creationId xmlns:a16="http://schemas.microsoft.com/office/drawing/2014/main" id="{5FFE2EB9-448C-4B6B-B36B-92C12D38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7 rewrite_data_files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  파티션·쿼리 튜닝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8 Airflow·복구·최종 리뷰</a:t>
            </a:r>
          </a:p>
        </p:txBody>
      </p:sp>
      <p:sp>
        <p:nvSpPr>
          <p:cNvPr id="27" name="s03-panel-251">
            <a:extLst xmlns:a="http://schemas.openxmlformats.org/drawingml/2006/main">
              <a:ext uri="{FF2B5EF4-FFF2-40B4-BE49-F238E27FC236}">
                <a16:creationId xmlns:a16="http://schemas.microsoft.com/office/drawing/2014/main" id="{E4897AFD-01FB-4781-9F53-42A804D6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52">
            <a:extLst xmlns:a="http://schemas.openxmlformats.org/drawingml/2006/main">
              <a:ext uri="{FF2B5EF4-FFF2-40B4-BE49-F238E27FC236}">
                <a16:creationId xmlns:a16="http://schemas.microsoft.com/office/drawing/2014/main" id="{4262044C-76DC-41E0-9C6A-53DDD6AD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8회 모두 수업 · 프로젝트 발표는 별도 일정입니다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공식 근거와 공통 예제 자료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30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2B52F6-020C-4693-98A7-4BB8B04D0062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다시 확인할 자료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예제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flink/ingest.sql.template · labs/session01·02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자택 공통 전체 실행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제공 프로그램 · docs/self-study.md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설계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labs/session03 · 설계 학습지·학생 가이드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1.20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실행·checkpoint·Kafka·backpressure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 1.10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구조·JDBC·Flink 쓰기·유지 관리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53">
            <a:extLst xmlns:a="http://schemas.openxmlformats.org/drawingml/2006/main">
              <a:ext uri="{FF2B5EF4-FFF2-40B4-BE49-F238E27FC236}">
                <a16:creationId xmlns:a16="http://schemas.microsoft.com/office/drawing/2014/main" id="{89E904C9-3834-446D-9FE1-A093E3A2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54">
            <a:extLst xmlns:a="http://schemas.openxmlformats.org/drawingml/2006/main">
              <a:ext uri="{FF2B5EF4-FFF2-40B4-BE49-F238E27FC236}">
                <a16:creationId xmlns:a16="http://schemas.microsoft.com/office/drawing/2014/main" id="{E2BC874C-55D1-4FEF-8B55-55A3AF77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공식 링크 모음: labs/session03/references.md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2026-10-24T14:18:38.6990000Z</dcterms:created>
  <dcterms:modified xsi:type="dcterms:W3CDTF">2026-10-24T14:18:38.6990000Z</dcterms:modified>
</coreProperties>
</file>