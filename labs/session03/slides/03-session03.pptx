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90c41c8ac24c96" /><Relationship Type="http://schemas.openxmlformats.org/officeDocument/2006/relationships/extended-properties" Target="/docProps/app.xml" Id="Rb2cbcb8e6460497f" /><Relationship Type="http://schemas.openxmlformats.org/officeDocument/2006/relationships/officeDocument" Target="/ppt/presentation.xml" Id="R3cd96abbe6194e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f0f8acbd3248fb"/>
  </p:sldMasterIdLst>
  <p:notesMasterIdLst>
    <p:notesMasterId xmlns:r="http://schemas.openxmlformats.org/officeDocument/2006/relationships" r:id="R7a3e174903ef4ae1"/>
  </p:notesMasterIdLst>
  <p:sldIdLst>
    <p:sldId xmlns:r="http://schemas.openxmlformats.org/officeDocument/2006/relationships" id="256" r:id="R6bd97ee3b40b4fbe"/>
    <p:sldId xmlns:r="http://schemas.openxmlformats.org/officeDocument/2006/relationships" id="257" r:id="R3debc6f9e1b1484f"/>
    <p:sldId xmlns:r="http://schemas.openxmlformats.org/officeDocument/2006/relationships" id="258" r:id="R5256eecf878741a1"/>
    <p:sldId xmlns:r="http://schemas.openxmlformats.org/officeDocument/2006/relationships" id="259" r:id="R081f783edb994158"/>
    <p:sldId xmlns:r="http://schemas.openxmlformats.org/officeDocument/2006/relationships" id="260" r:id="R967208885da2418f"/>
    <p:sldId xmlns:r="http://schemas.openxmlformats.org/officeDocument/2006/relationships" id="261" r:id="R5ad6edf7a1b34d93"/>
    <p:sldId xmlns:r="http://schemas.openxmlformats.org/officeDocument/2006/relationships" id="262" r:id="R0ca6f9302e744ef9"/>
    <p:sldId xmlns:r="http://schemas.openxmlformats.org/officeDocument/2006/relationships" id="263" r:id="R748ae189ba7d46ec"/>
    <p:sldId xmlns:r="http://schemas.openxmlformats.org/officeDocument/2006/relationships" id="264" r:id="R4a944ca59d7d41af"/>
    <p:sldId xmlns:r="http://schemas.openxmlformats.org/officeDocument/2006/relationships" id="265" r:id="R6952ee11208a4242"/>
    <p:sldId xmlns:r="http://schemas.openxmlformats.org/officeDocument/2006/relationships" id="266" r:id="Ra0f97f0ace2d4cb2"/>
    <p:sldId xmlns:r="http://schemas.openxmlformats.org/officeDocument/2006/relationships" id="267" r:id="R7b5b59f77cb140c8"/>
    <p:sldId xmlns:r="http://schemas.openxmlformats.org/officeDocument/2006/relationships" id="268" r:id="R01408694377a4716"/>
    <p:sldId xmlns:r="http://schemas.openxmlformats.org/officeDocument/2006/relationships" id="269" r:id="Rf12df29f0f8b40cd"/>
    <p:sldId xmlns:r="http://schemas.openxmlformats.org/officeDocument/2006/relationships" id="270" r:id="R6f3cc951caf94b7e"/>
    <p:sldId xmlns:r="http://schemas.openxmlformats.org/officeDocument/2006/relationships" id="271" r:id="R7eaa136fbf86430b"/>
    <p:sldId xmlns:r="http://schemas.openxmlformats.org/officeDocument/2006/relationships" id="272" r:id="R987de623f9dc41a3"/>
    <p:sldId xmlns:r="http://schemas.openxmlformats.org/officeDocument/2006/relationships" id="273" r:id="Rbe72a0118f874712"/>
    <p:sldId xmlns:r="http://schemas.openxmlformats.org/officeDocument/2006/relationships" id="274" r:id="R26415dce34bb4204"/>
    <p:sldId xmlns:r="http://schemas.openxmlformats.org/officeDocument/2006/relationships" id="275" r:id="R22bb745611904e56"/>
    <p:sldId xmlns:r="http://schemas.openxmlformats.org/officeDocument/2006/relationships" id="276" r:id="R8b4584e5989b4603"/>
    <p:sldId xmlns:r="http://schemas.openxmlformats.org/officeDocument/2006/relationships" id="277" r:id="R0df2e4d6fe9f4751"/>
    <p:sldId xmlns:r="http://schemas.openxmlformats.org/officeDocument/2006/relationships" id="278" r:id="R00db5dceab214989"/>
    <p:sldId xmlns:r="http://schemas.openxmlformats.org/officeDocument/2006/relationships" id="279" r:id="R9640fbac4c244989"/>
    <p:sldId xmlns:r="http://schemas.openxmlformats.org/officeDocument/2006/relationships" id="280" r:id="R0207a5a9b6c64053"/>
    <p:sldId xmlns:r="http://schemas.openxmlformats.org/officeDocument/2006/relationships" id="281" r:id="R558cb663ac6b4a53"/>
    <p:sldId xmlns:r="http://schemas.openxmlformats.org/officeDocument/2006/relationships" id="282" r:id="R91a7de9ba02e455e"/>
    <p:sldId xmlns:r="http://schemas.openxmlformats.org/officeDocument/2006/relationships" id="283" r:id="Rd42f8ee4c36b4350"/>
    <p:sldId xmlns:r="http://schemas.openxmlformats.org/officeDocument/2006/relationships" id="284" r:id="R692cebf6981c417f"/>
    <p:sldId xmlns:r="http://schemas.openxmlformats.org/officeDocument/2006/relationships" id="285" r:id="Rf11d22bf930548f0"/>
    <p:sldId xmlns:r="http://schemas.openxmlformats.org/officeDocument/2006/relationships" id="286" r:id="R436c6592ecb741e8"/>
    <p:sldId xmlns:r="http://schemas.openxmlformats.org/officeDocument/2006/relationships" id="287" r:id="R752820d13139428f"/>
    <p:sldId xmlns:r="http://schemas.openxmlformats.org/officeDocument/2006/relationships" id="288" r:id="Rced3e1524556441d"/>
    <p:sldId xmlns:r="http://schemas.openxmlformats.org/officeDocument/2006/relationships" id="289" r:id="R8213074e7dc0461d"/>
    <p:sldId xmlns:r="http://schemas.openxmlformats.org/officeDocument/2006/relationships" id="290" r:id="Re65c55450c2342c7"/>
    <p:sldId xmlns:r="http://schemas.openxmlformats.org/officeDocument/2006/relationships" id="291" r:id="Rb8396341f9f6400d"/>
    <p:sldId xmlns:r="http://schemas.openxmlformats.org/officeDocument/2006/relationships" id="292" r:id="Rc3bd430f8898403f"/>
    <p:sldId xmlns:r="http://schemas.openxmlformats.org/officeDocument/2006/relationships" id="293" r:id="R7c1faf0026d04e34"/>
    <p:sldId xmlns:r="http://schemas.openxmlformats.org/officeDocument/2006/relationships" id="294" r:id="R604fe90898ff48d1"/>
    <p:sldId xmlns:r="http://schemas.openxmlformats.org/officeDocument/2006/relationships" id="295" r:id="R0d83245dba7848a8"/>
    <p:sldId xmlns:r="http://schemas.openxmlformats.org/officeDocument/2006/relationships" id="296" r:id="R1504e7bbdb3046a8"/>
    <p:sldId xmlns:r="http://schemas.openxmlformats.org/officeDocument/2006/relationships" id="297" r:id="R7285843e782a4c31"/>
    <p:sldId xmlns:r="http://schemas.openxmlformats.org/officeDocument/2006/relationships" id="298" r:id="R513a0986015e45e1"/>
    <p:sldId xmlns:r="http://schemas.openxmlformats.org/officeDocument/2006/relationships" id="299" r:id="R94bef0939b764dd2"/>
    <p:sldId xmlns:r="http://schemas.openxmlformats.org/officeDocument/2006/relationships" id="300" r:id="R704eddd355304adb"/>
    <p:sldId xmlns:r="http://schemas.openxmlformats.org/officeDocument/2006/relationships" id="301" r:id="R79bfda67c65a4e4c"/>
    <p:sldId xmlns:r="http://schemas.openxmlformats.org/officeDocument/2006/relationships" id="302" r:id="R6aa2d37301774660"/>
    <p:sldId xmlns:r="http://schemas.openxmlformats.org/officeDocument/2006/relationships" id="303" r:id="R5cfcab154b5b40a6"/>
    <p:sldId xmlns:r="http://schemas.openxmlformats.org/officeDocument/2006/relationships" id="304" r:id="R8bf014777a4447aa"/>
    <p:sldId xmlns:r="http://schemas.openxmlformats.org/officeDocument/2006/relationships" id="305" r:id="R5b50861089f74357"/>
    <p:sldId xmlns:r="http://schemas.openxmlformats.org/officeDocument/2006/relationships" id="306" r:id="R5689688a730248a2"/>
    <p:sldId xmlns:r="http://schemas.openxmlformats.org/officeDocument/2006/relationships" id="307" r:id="R823d35a51f0e469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27b896e10d4373" /><Relationship Type="http://schemas.openxmlformats.org/officeDocument/2006/relationships/slideMaster" Target="/ppt/slideMasters/slideMaster1.xml" Id="R41f0f8acbd3248fb" /><Relationship Type="http://schemas.openxmlformats.org/officeDocument/2006/relationships/notesMaster" Target="/ppt/notesMasters/notesMaster1.xml" Id="R7a3e174903ef4ae1" /><Relationship Type="http://schemas.openxmlformats.org/officeDocument/2006/relationships/presProps" Target="/ppt/presProps.xml" Id="R9ded4880aaa24c73" /><Relationship Type="http://schemas.openxmlformats.org/officeDocument/2006/relationships/tableStyles" Target="/ppt/tableStyles.xml" Id="Rc65f3a51f7334a89" /><Relationship Type="http://schemas.openxmlformats.org/officeDocument/2006/relationships/slide" Target="/ppt/slides/slide1.xml" Id="R6bd97ee3b40b4fbe" /><Relationship Type="http://schemas.openxmlformats.org/officeDocument/2006/relationships/slide" Target="/ppt/slides/slide2.xml" Id="R3debc6f9e1b1484f" /><Relationship Type="http://schemas.openxmlformats.org/officeDocument/2006/relationships/slide" Target="/ppt/slides/slide3.xml" Id="R5256eecf878741a1" /><Relationship Type="http://schemas.openxmlformats.org/officeDocument/2006/relationships/slide" Target="/ppt/slides/slide4.xml" Id="R081f783edb994158" /><Relationship Type="http://schemas.openxmlformats.org/officeDocument/2006/relationships/slide" Target="/ppt/slides/slide5.xml" Id="R967208885da2418f" /><Relationship Type="http://schemas.openxmlformats.org/officeDocument/2006/relationships/slide" Target="/ppt/slides/slide6.xml" Id="R5ad6edf7a1b34d93" /><Relationship Type="http://schemas.openxmlformats.org/officeDocument/2006/relationships/slide" Target="/ppt/slides/slide7.xml" Id="R0ca6f9302e744ef9" /><Relationship Type="http://schemas.openxmlformats.org/officeDocument/2006/relationships/slide" Target="/ppt/slides/slide8.xml" Id="R748ae189ba7d46ec" /><Relationship Type="http://schemas.openxmlformats.org/officeDocument/2006/relationships/slide" Target="/ppt/slides/slide9.xml" Id="R4a944ca59d7d41af" /><Relationship Type="http://schemas.openxmlformats.org/officeDocument/2006/relationships/slide" Target="/ppt/slides/slide10.xml" Id="R6952ee11208a4242" /><Relationship Type="http://schemas.openxmlformats.org/officeDocument/2006/relationships/slide" Target="/ppt/slides/slide11.xml" Id="Ra0f97f0ace2d4cb2" /><Relationship Type="http://schemas.openxmlformats.org/officeDocument/2006/relationships/slide" Target="/ppt/slides/slide12.xml" Id="R7b5b59f77cb140c8" /><Relationship Type="http://schemas.openxmlformats.org/officeDocument/2006/relationships/slide" Target="/ppt/slides/slide13.xml" Id="R01408694377a4716" /><Relationship Type="http://schemas.openxmlformats.org/officeDocument/2006/relationships/slide" Target="/ppt/slides/slide14.xml" Id="Rf12df29f0f8b40cd" /><Relationship Type="http://schemas.openxmlformats.org/officeDocument/2006/relationships/slide" Target="/ppt/slides/slide15.xml" Id="R6f3cc951caf94b7e" /><Relationship Type="http://schemas.openxmlformats.org/officeDocument/2006/relationships/slide" Target="/ppt/slides/slide16.xml" Id="R7eaa136fbf86430b" /><Relationship Type="http://schemas.openxmlformats.org/officeDocument/2006/relationships/slide" Target="/ppt/slides/slide17.xml" Id="R987de623f9dc41a3" /><Relationship Type="http://schemas.openxmlformats.org/officeDocument/2006/relationships/slide" Target="/ppt/slides/slide18.xml" Id="Rbe72a0118f874712" /><Relationship Type="http://schemas.openxmlformats.org/officeDocument/2006/relationships/slide" Target="/ppt/slides/slide19.xml" Id="R26415dce34bb4204" /><Relationship Type="http://schemas.openxmlformats.org/officeDocument/2006/relationships/slide" Target="/ppt/slides/slide20.xml" Id="R22bb745611904e56" /><Relationship Type="http://schemas.openxmlformats.org/officeDocument/2006/relationships/slide" Target="/ppt/slides/slide21.xml" Id="R8b4584e5989b4603" /><Relationship Type="http://schemas.openxmlformats.org/officeDocument/2006/relationships/slide" Target="/ppt/slides/slide22.xml" Id="R0df2e4d6fe9f4751" /><Relationship Type="http://schemas.openxmlformats.org/officeDocument/2006/relationships/slide" Target="/ppt/slides/slide23.xml" Id="R00db5dceab214989" /><Relationship Type="http://schemas.openxmlformats.org/officeDocument/2006/relationships/slide" Target="/ppt/slides/slide24.xml" Id="R9640fbac4c244989" /><Relationship Type="http://schemas.openxmlformats.org/officeDocument/2006/relationships/slide" Target="/ppt/slides/slide25.xml" Id="R0207a5a9b6c64053" /><Relationship Type="http://schemas.openxmlformats.org/officeDocument/2006/relationships/slide" Target="/ppt/slides/slide26.xml" Id="R558cb663ac6b4a53" /><Relationship Type="http://schemas.openxmlformats.org/officeDocument/2006/relationships/slide" Target="/ppt/slides/slide27.xml" Id="R91a7de9ba02e455e" /><Relationship Type="http://schemas.openxmlformats.org/officeDocument/2006/relationships/slide" Target="/ppt/slides/slide28.xml" Id="Rd42f8ee4c36b4350" /><Relationship Type="http://schemas.openxmlformats.org/officeDocument/2006/relationships/slide" Target="/ppt/slides/slide29.xml" Id="R692cebf6981c417f" /><Relationship Type="http://schemas.openxmlformats.org/officeDocument/2006/relationships/slide" Target="/ppt/slides/slide30.xml" Id="Rf11d22bf930548f0" /><Relationship Type="http://schemas.openxmlformats.org/officeDocument/2006/relationships/slide" Target="/ppt/slides/slide31.xml" Id="R436c6592ecb741e8" /><Relationship Type="http://schemas.openxmlformats.org/officeDocument/2006/relationships/slide" Target="/ppt/slides/slide32.xml" Id="R752820d13139428f" /><Relationship Type="http://schemas.openxmlformats.org/officeDocument/2006/relationships/slide" Target="/ppt/slides/slide33.xml" Id="Rced3e1524556441d" /><Relationship Type="http://schemas.openxmlformats.org/officeDocument/2006/relationships/slide" Target="/ppt/slides/slide34.xml" Id="R8213074e7dc0461d" /><Relationship Type="http://schemas.openxmlformats.org/officeDocument/2006/relationships/slide" Target="/ppt/slides/slide35.xml" Id="Re65c55450c2342c7" /><Relationship Type="http://schemas.openxmlformats.org/officeDocument/2006/relationships/slide" Target="/ppt/slides/slide36.xml" Id="Rb8396341f9f6400d" /><Relationship Type="http://schemas.openxmlformats.org/officeDocument/2006/relationships/slide" Target="/ppt/slides/slide37.xml" Id="Rc3bd430f8898403f" /><Relationship Type="http://schemas.openxmlformats.org/officeDocument/2006/relationships/slide" Target="/ppt/slides/slide38.xml" Id="R7c1faf0026d04e34" /><Relationship Type="http://schemas.openxmlformats.org/officeDocument/2006/relationships/slide" Target="/ppt/slides/slide39.xml" Id="R604fe90898ff48d1" /><Relationship Type="http://schemas.openxmlformats.org/officeDocument/2006/relationships/slide" Target="/ppt/slides/slide40.xml" Id="R0d83245dba7848a8" /><Relationship Type="http://schemas.openxmlformats.org/officeDocument/2006/relationships/slide" Target="/ppt/slides/slide41.xml" Id="R1504e7bbdb3046a8" /><Relationship Type="http://schemas.openxmlformats.org/officeDocument/2006/relationships/slide" Target="/ppt/slides/slide42.xml" Id="R7285843e782a4c31" /><Relationship Type="http://schemas.openxmlformats.org/officeDocument/2006/relationships/slide" Target="/ppt/slides/slide43.xml" Id="R513a0986015e45e1" /><Relationship Type="http://schemas.openxmlformats.org/officeDocument/2006/relationships/slide" Target="/ppt/slides/slide44.xml" Id="R94bef0939b764dd2" /><Relationship Type="http://schemas.openxmlformats.org/officeDocument/2006/relationships/slide" Target="/ppt/slides/slide45.xml" Id="R704eddd355304adb" /><Relationship Type="http://schemas.openxmlformats.org/officeDocument/2006/relationships/slide" Target="/ppt/slides/slide46.xml" Id="R79bfda67c65a4e4c" /><Relationship Type="http://schemas.openxmlformats.org/officeDocument/2006/relationships/slide" Target="/ppt/slides/slide47.xml" Id="R6aa2d37301774660" /><Relationship Type="http://schemas.openxmlformats.org/officeDocument/2006/relationships/slide" Target="/ppt/slides/slide48.xml" Id="R5cfcab154b5b40a6" /><Relationship Type="http://schemas.openxmlformats.org/officeDocument/2006/relationships/slide" Target="/ppt/slides/slide49.xml" Id="R8bf014777a4447aa" /><Relationship Type="http://schemas.openxmlformats.org/officeDocument/2006/relationships/slide" Target="/ppt/slides/slide50.xml" Id="R5b50861089f74357" /><Relationship Type="http://schemas.openxmlformats.org/officeDocument/2006/relationships/slide" Target="/ppt/slides/slide51.xml" Id="R5689688a730248a2" /><Relationship Type="http://schemas.openxmlformats.org/officeDocument/2006/relationships/slide" Target="/ppt/slides/slide52.xml" Id="R823d35a51f0e469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527cdb19ad4e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7d8b8c202e4ffb" /><Relationship Type="http://schemas.openxmlformats.org/officeDocument/2006/relationships/notesMaster" Target="/ppt/notesMasters/notesMaster1.xml" Id="R0c1e5c4e886847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0591907ae44a30" /><Relationship Type="http://schemas.openxmlformats.org/officeDocument/2006/relationships/notesMaster" Target="/ppt/notesMasters/notesMaster1.xml" Id="R654c9e3b3a5d48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c152e68da2459f" /><Relationship Type="http://schemas.openxmlformats.org/officeDocument/2006/relationships/notesMaster" Target="/ppt/notesMasters/notesMaster1.xml" Id="R8408c8bfef0445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38b1a488574d58" /><Relationship Type="http://schemas.openxmlformats.org/officeDocument/2006/relationships/notesMaster" Target="/ppt/notesMasters/notesMaster1.xml" Id="R84fd12f6b4d044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9d74994e424100" /><Relationship Type="http://schemas.openxmlformats.org/officeDocument/2006/relationships/notesMaster" Target="/ppt/notesMasters/notesMaster1.xml" Id="R312ec49a1a6f40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dcc0448b764720" /><Relationship Type="http://schemas.openxmlformats.org/officeDocument/2006/relationships/notesMaster" Target="/ppt/notesMasters/notesMaster1.xml" Id="Re3675742308548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4433af2a674407" /><Relationship Type="http://schemas.openxmlformats.org/officeDocument/2006/relationships/notesMaster" Target="/ppt/notesMasters/notesMaster1.xml" Id="R36400d8a1c7e4c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5d07f02e1c417c" /><Relationship Type="http://schemas.openxmlformats.org/officeDocument/2006/relationships/notesMaster" Target="/ppt/notesMasters/notesMaster1.xml" Id="R1c6ff65c5d794ef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21699eadcd4f6f" /><Relationship Type="http://schemas.openxmlformats.org/officeDocument/2006/relationships/notesMaster" Target="/ppt/notesMasters/notesMaster1.xml" Id="R7a494053aad6497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d76cb735f1648b0" /><Relationship Type="http://schemas.openxmlformats.org/officeDocument/2006/relationships/notesMaster" Target="/ppt/notesMasters/notesMaster1.xml" Id="R271190dfb9f64f1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be4a48ac8dc41b7" /><Relationship Type="http://schemas.openxmlformats.org/officeDocument/2006/relationships/notesMaster" Target="/ppt/notesMasters/notesMaster1.xml" Id="R42312045e32547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c9b3e4966de4e06" /><Relationship Type="http://schemas.openxmlformats.org/officeDocument/2006/relationships/notesMaster" Target="/ppt/notesMasters/notesMaster1.xml" Id="R896ec9a6d51940d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4f46687910f4ed2" /><Relationship Type="http://schemas.openxmlformats.org/officeDocument/2006/relationships/notesMaster" Target="/ppt/notesMasters/notesMaster1.xml" Id="Rae38210048704ef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8586cb7af794363" /><Relationship Type="http://schemas.openxmlformats.org/officeDocument/2006/relationships/notesMaster" Target="/ppt/notesMasters/notesMaster1.xml" Id="R4a08bfff7457405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d8d0135da1a4877" /><Relationship Type="http://schemas.openxmlformats.org/officeDocument/2006/relationships/notesMaster" Target="/ppt/notesMasters/notesMaster1.xml" Id="Re3d3441360ab476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586978cb02a4741" /><Relationship Type="http://schemas.openxmlformats.org/officeDocument/2006/relationships/notesMaster" Target="/ppt/notesMasters/notesMaster1.xml" Id="R327164b63dbe44b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e62788055134ce4" /><Relationship Type="http://schemas.openxmlformats.org/officeDocument/2006/relationships/notesMaster" Target="/ppt/notesMasters/notesMaster1.xml" Id="Rc46e111b8e1a4e2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5d24026a8c84d6b" /><Relationship Type="http://schemas.openxmlformats.org/officeDocument/2006/relationships/notesMaster" Target="/ppt/notesMasters/notesMaster1.xml" Id="R66c86b82e2884a5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a93625d729b40fa" /><Relationship Type="http://schemas.openxmlformats.org/officeDocument/2006/relationships/notesMaster" Target="/ppt/notesMasters/notesMaster1.xml" Id="Red09994b38f3498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0675c97231e4839" /><Relationship Type="http://schemas.openxmlformats.org/officeDocument/2006/relationships/notesMaster" Target="/ppt/notesMasters/notesMaster1.xml" Id="R01bd36faacf94a1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f3db6bd52224c6f" /><Relationship Type="http://schemas.openxmlformats.org/officeDocument/2006/relationships/notesMaster" Target="/ppt/notesMasters/notesMaster1.xml" Id="R948ed895f58c42d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ca5b67ab13146f2" /><Relationship Type="http://schemas.openxmlformats.org/officeDocument/2006/relationships/notesMaster" Target="/ppt/notesMasters/notesMaster1.xml" Id="Re6756be2fd8e434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e470ccc59db4aad" /><Relationship Type="http://schemas.openxmlformats.org/officeDocument/2006/relationships/notesMaster" Target="/ppt/notesMasters/notesMaster1.xml" Id="R92ed36ec7316439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fe561bf576a4bc0" /><Relationship Type="http://schemas.openxmlformats.org/officeDocument/2006/relationships/notesMaster" Target="/ppt/notesMasters/notesMaster1.xml" Id="R1e5f0f0238d447e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2c91ca12fe946ad" /><Relationship Type="http://schemas.openxmlformats.org/officeDocument/2006/relationships/notesMaster" Target="/ppt/notesMasters/notesMaster1.xml" Id="R847904d6ffa240f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22c5c00ad1941db" /><Relationship Type="http://schemas.openxmlformats.org/officeDocument/2006/relationships/notesMaster" Target="/ppt/notesMasters/notesMaster1.xml" Id="Re74a48adffa940a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cf4fdccab414238" /><Relationship Type="http://schemas.openxmlformats.org/officeDocument/2006/relationships/notesMaster" Target="/ppt/notesMasters/notesMaster1.xml" Id="R689a692129074ac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6cfcbf0dd5f48a6" /><Relationship Type="http://schemas.openxmlformats.org/officeDocument/2006/relationships/notesMaster" Target="/ppt/notesMasters/notesMaster1.xml" Id="R1177acad5d4d408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010ab3471794068" /><Relationship Type="http://schemas.openxmlformats.org/officeDocument/2006/relationships/notesMaster" Target="/ppt/notesMasters/notesMaster1.xml" Id="R7f78b81c7db3403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c4f722a3d5944c0" /><Relationship Type="http://schemas.openxmlformats.org/officeDocument/2006/relationships/notesMaster" Target="/ppt/notesMasters/notesMaster1.xml" Id="Rfddb4509cceb43c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3b369c757e24668" /><Relationship Type="http://schemas.openxmlformats.org/officeDocument/2006/relationships/notesMaster" Target="/ppt/notesMasters/notesMaster1.xml" Id="Rb2c4fc51312f464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0362774fe644372" /><Relationship Type="http://schemas.openxmlformats.org/officeDocument/2006/relationships/notesMaster" Target="/ppt/notesMasters/notesMaster1.xml" Id="R4d0348984e6f464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6c6164dae6a4ea5" /><Relationship Type="http://schemas.openxmlformats.org/officeDocument/2006/relationships/notesMaster" Target="/ppt/notesMasters/notesMaster1.xml" Id="Re6d6a170ab6e47a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3971a37de4b460c" /><Relationship Type="http://schemas.openxmlformats.org/officeDocument/2006/relationships/notesMaster" Target="/ppt/notesMasters/notesMaster1.xml" Id="R1c168188a61442f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78a50f9a0be457e" /><Relationship Type="http://schemas.openxmlformats.org/officeDocument/2006/relationships/notesMaster" Target="/ppt/notesMasters/notesMaster1.xml" Id="R4a2e32a4fda3480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986c68ff900444e" /><Relationship Type="http://schemas.openxmlformats.org/officeDocument/2006/relationships/notesMaster" Target="/ppt/notesMasters/notesMaster1.xml" Id="R64d744238f69418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bddc4cd44af462c" /><Relationship Type="http://schemas.openxmlformats.org/officeDocument/2006/relationships/notesMaster" Target="/ppt/notesMasters/notesMaster1.xml" Id="R0e71825dd76743a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5f16d5f8a2c4322" /><Relationship Type="http://schemas.openxmlformats.org/officeDocument/2006/relationships/notesMaster" Target="/ppt/notesMasters/notesMaster1.xml" Id="Rb17e70957b764c8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e12a53c45eae44ab" /><Relationship Type="http://schemas.openxmlformats.org/officeDocument/2006/relationships/notesMaster" Target="/ppt/notesMasters/notesMaster1.xml" Id="Refe4da16ec354ed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3c967ee64aa4c5a" /><Relationship Type="http://schemas.openxmlformats.org/officeDocument/2006/relationships/notesMaster" Target="/ppt/notesMasters/notesMaster1.xml" Id="R9085f77b0d554b24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f294996941044b8" /><Relationship Type="http://schemas.openxmlformats.org/officeDocument/2006/relationships/notesMaster" Target="/ppt/notesMasters/notesMaster1.xml" Id="Raab0955240ed445f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861474a1b424d0f" /><Relationship Type="http://schemas.openxmlformats.org/officeDocument/2006/relationships/notesMaster" Target="/ppt/notesMasters/notesMaster1.xml" Id="R03ce0e4dc5874fd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77cf983a00d4cbc" /><Relationship Type="http://schemas.openxmlformats.org/officeDocument/2006/relationships/notesMaster" Target="/ppt/notesMasters/notesMaster1.xml" Id="R9362a7b5d40b4cfa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cd5d52a2f864bce" /><Relationship Type="http://schemas.openxmlformats.org/officeDocument/2006/relationships/notesMaster" Target="/ppt/notesMasters/notesMaster1.xml" Id="R3a2cb959649b45c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9c5234d14bd4971" /><Relationship Type="http://schemas.openxmlformats.org/officeDocument/2006/relationships/notesMaster" Target="/ppt/notesMasters/notesMaster1.xml" Id="R3c562d5929604c8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ee629d887464472" /><Relationship Type="http://schemas.openxmlformats.org/officeDocument/2006/relationships/notesMaster" Target="/ppt/notesMasters/notesMaster1.xml" Id="R934947bf6f544c74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3324fe54d454fe2" /><Relationship Type="http://schemas.openxmlformats.org/officeDocument/2006/relationships/notesMaster" Target="/ppt/notesMasters/notesMaster1.xml" Id="Rf000f34750744095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ada34b4fd09c42cb" /><Relationship Type="http://schemas.openxmlformats.org/officeDocument/2006/relationships/notesMaster" Target="/ppt/notesMasters/notesMaster1.xml" Id="R54ad8d2ba52f49cf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112e0080cd6040dd" /><Relationship Type="http://schemas.openxmlformats.org/officeDocument/2006/relationships/notesMaster" Target="/ppt/notesMasters/notesMaster1.xml" Id="R003a4ab9406140c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778f473b8d9b4c63" /><Relationship Type="http://schemas.openxmlformats.org/officeDocument/2006/relationships/notesMaster" Target="/ppt/notesMasters/notesMaster1.xml" Id="R65a6a359949d4f3b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ebcd49a4ad654e17" /><Relationship Type="http://schemas.openxmlformats.org/officeDocument/2006/relationships/notesMaster" Target="/ppt/notesMasters/notesMaster1.xml" Id="R9e067ec767d14ee0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47c152fa15684051" /><Relationship Type="http://schemas.openxmlformats.org/officeDocument/2006/relationships/notesMaster" Target="/ppt/notesMasters/notesMaster1.xml" Id="Rff2824faa44846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17d6d14f7e413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697b17539f4e7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3a491d191841a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5e19c794e42e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b1416d1398410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3fcdf3b1fa45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094685-1EB5-4CBD-AC9A-C42C04D4B8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8A878AE-B2C1-4D2F-8A33-6B951F3807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998D0F7-4811-4D99-A7A6-31FBA3C755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8CF480-7062-46AB-A61D-E404E16C71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3599D4-BD08-42E0-8C02-7FF9561D1B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965D1B-EABA-44A1-8B0E-8C3C708F19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B952FA-5DA8-42A7-B253-30E7E1A589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C0EB4C4-18B4-4D3D-AD73-EE6C5433CE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789514-56B3-4A2F-9E70-B6F42C0DA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59AF48-E6F8-4073-BE7E-E1FE80E47B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ae44e151fe4289" /><Relationship Type="http://schemas.openxmlformats.org/officeDocument/2006/relationships/slideLayout" Target="/ppt/slideLayouts/slideLayout1.xml" Id="R13305b38669149e1" /><Relationship Type="http://schemas.openxmlformats.org/officeDocument/2006/relationships/slideLayout" Target="/ppt/slideLayouts/slideLayout2.xml" Id="R9d39ae0591cd4e6a" /><Relationship Type="http://schemas.openxmlformats.org/officeDocument/2006/relationships/slideLayout" Target="/ppt/slideLayouts/slideLayout3.xml" Id="R7a8fd3d92e804b55" /><Relationship Type="http://schemas.openxmlformats.org/officeDocument/2006/relationships/slideLayout" Target="/ppt/slideLayouts/slideLayout4.xml" Id="R9ccdb340c00b4908" /><Relationship Type="http://schemas.openxmlformats.org/officeDocument/2006/relationships/slideLayout" Target="/ppt/slideLayouts/slideLayout5.xml" Id="R40f05e3514c14a3c" /><Relationship Type="http://schemas.openxmlformats.org/officeDocument/2006/relationships/slideLayout" Target="/ppt/slideLayouts/slideLayout6.xml" Id="Re472075e2d984e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305b38669149e1"/>
    <p:sldLayoutId xmlns:r="http://schemas.openxmlformats.org/officeDocument/2006/relationships" id="2147483650" r:id="R9d39ae0591cd4e6a"/>
    <p:sldLayoutId xmlns:r="http://schemas.openxmlformats.org/officeDocument/2006/relationships" id="2147483651" r:id="R7a8fd3d92e804b55"/>
    <p:sldLayoutId xmlns:r="http://schemas.openxmlformats.org/officeDocument/2006/relationships" id="2147483652" r:id="R9ccdb340c00b4908"/>
    <p:sldLayoutId xmlns:r="http://schemas.openxmlformats.org/officeDocument/2006/relationships" id="2147483653" r:id="R40f05e3514c14a3c"/>
    <p:sldLayoutId xmlns:r="http://schemas.openxmlformats.org/officeDocument/2006/relationships" id="2147483654" r:id="Re472075e2d984e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3e58a6c3764c28" /><Relationship Type="http://schemas.openxmlformats.org/officeDocument/2006/relationships/notesSlide" Target="/ppt/notesSlides/notesSlide1.xml" Id="R5e48578ab359485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e56566debd4a45" /><Relationship Type="http://schemas.openxmlformats.org/officeDocument/2006/relationships/notesSlide" Target="/ppt/notesSlides/notesSlide2.xml" Id="Ra03211b1966c49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27145262e14c90" /><Relationship Type="http://schemas.openxmlformats.org/officeDocument/2006/relationships/notesSlide" Target="/ppt/notesSlides/notesSlide3.xml" Id="R6dbb679fb96f4e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7d90144a6149a1" /><Relationship Type="http://schemas.openxmlformats.org/officeDocument/2006/relationships/notesSlide" Target="/ppt/notesSlides/notesSlide4.xml" Id="Rf803bbc6e69c41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4b10ec94364bd1" /><Relationship Type="http://schemas.openxmlformats.org/officeDocument/2006/relationships/notesSlide" Target="/ppt/notesSlides/notesSlide5.xml" Id="R32e4e55450e641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65dc7cd099468f" /><Relationship Type="http://schemas.openxmlformats.org/officeDocument/2006/relationships/notesSlide" Target="/ppt/notesSlides/notesSlide6.xml" Id="Rd31e28b974e54ec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ca3590a94f48ec" /><Relationship Type="http://schemas.openxmlformats.org/officeDocument/2006/relationships/notesSlide" Target="/ppt/notesSlides/notesSlide7.xml" Id="R80f32d0b195d4c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726c044a4a4bdf" /><Relationship Type="http://schemas.openxmlformats.org/officeDocument/2006/relationships/notesSlide" Target="/ppt/notesSlides/notesSlide8.xml" Id="R0cf3c8cdfd7340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66bc2ee5604e2b" /><Relationship Type="http://schemas.openxmlformats.org/officeDocument/2006/relationships/notesSlide" Target="/ppt/notesSlides/notesSlide9.xml" Id="R64b5fb315394475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a2044084254942" /><Relationship Type="http://schemas.openxmlformats.org/officeDocument/2006/relationships/notesSlide" Target="/ppt/notesSlides/notesSlide10.xml" Id="Rffb00d27fd1c4f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fe82643076451d" /><Relationship Type="http://schemas.openxmlformats.org/officeDocument/2006/relationships/notesSlide" Target="/ppt/notesSlides/notesSlide11.xml" Id="R204014449bbd459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698392171a4e88" /><Relationship Type="http://schemas.openxmlformats.org/officeDocument/2006/relationships/notesSlide" Target="/ppt/notesSlides/notesSlide12.xml" Id="R3b53a6d3bb32434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0623685bf64633" /><Relationship Type="http://schemas.openxmlformats.org/officeDocument/2006/relationships/notesSlide" Target="/ppt/notesSlides/notesSlide13.xml" Id="R63826ae2f8ed4a9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1b921f66294447" /><Relationship Type="http://schemas.openxmlformats.org/officeDocument/2006/relationships/notesSlide" Target="/ppt/notesSlides/notesSlide14.xml" Id="Ra7e81d1bcc96429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9209044d0a4b71" /><Relationship Type="http://schemas.openxmlformats.org/officeDocument/2006/relationships/notesSlide" Target="/ppt/notesSlides/notesSlide15.xml" Id="Rd88e663ab0fd4a5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10d183ebad4fba" /><Relationship Type="http://schemas.openxmlformats.org/officeDocument/2006/relationships/notesSlide" Target="/ppt/notesSlides/notesSlide16.xml" Id="R91f772a782bf446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6c02d886ec4fa8" /><Relationship Type="http://schemas.openxmlformats.org/officeDocument/2006/relationships/notesSlide" Target="/ppt/notesSlides/notesSlide17.xml" Id="R023b7f8fc38e411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8ca720c62042bb" /><Relationship Type="http://schemas.openxmlformats.org/officeDocument/2006/relationships/notesSlide" Target="/ppt/notesSlides/notesSlide18.xml" Id="Reb6d9a0b65484d9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6eaeadbe264a68" /><Relationship Type="http://schemas.openxmlformats.org/officeDocument/2006/relationships/notesSlide" Target="/ppt/notesSlides/notesSlide19.xml" Id="R9b969e5c7392408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30e241e04144f2" /><Relationship Type="http://schemas.openxmlformats.org/officeDocument/2006/relationships/notesSlide" Target="/ppt/notesSlides/notesSlide20.xml" Id="R0e45a0a55df944f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78350b70bc4d38" /><Relationship Type="http://schemas.openxmlformats.org/officeDocument/2006/relationships/notesSlide" Target="/ppt/notesSlides/notesSlide21.xml" Id="R3d1fda76c32e42e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c5acd5a0194485" /><Relationship Type="http://schemas.openxmlformats.org/officeDocument/2006/relationships/notesSlide" Target="/ppt/notesSlides/notesSlide22.xml" Id="R484399e7e2ab4a9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1b427ca3814ae9" /><Relationship Type="http://schemas.openxmlformats.org/officeDocument/2006/relationships/notesSlide" Target="/ppt/notesSlides/notesSlide23.xml" Id="R4c67d6a063d9419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c59f3320d74a97" /><Relationship Type="http://schemas.openxmlformats.org/officeDocument/2006/relationships/notesSlide" Target="/ppt/notesSlides/notesSlide24.xml" Id="R9c93b8c0d84d4e3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64195e6edb4f61" /><Relationship Type="http://schemas.openxmlformats.org/officeDocument/2006/relationships/notesSlide" Target="/ppt/notesSlides/notesSlide25.xml" Id="Refc52f3a13d7434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9b53eca65f42eb" /><Relationship Type="http://schemas.openxmlformats.org/officeDocument/2006/relationships/notesSlide" Target="/ppt/notesSlides/notesSlide26.xml" Id="R86fdc81b3d0146d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019f3ecc0e4a30" /><Relationship Type="http://schemas.openxmlformats.org/officeDocument/2006/relationships/notesSlide" Target="/ppt/notesSlides/notesSlide27.xml" Id="Re89458e911a2469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a6684dc98d47f9" /><Relationship Type="http://schemas.openxmlformats.org/officeDocument/2006/relationships/notesSlide" Target="/ppt/notesSlides/notesSlide28.xml" Id="R6d16c866511841c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c3b20fa6984b12" /><Relationship Type="http://schemas.openxmlformats.org/officeDocument/2006/relationships/notesSlide" Target="/ppt/notesSlides/notesSlide29.xml" Id="R7582cb4761d7495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d1c0879de34145" /><Relationship Type="http://schemas.openxmlformats.org/officeDocument/2006/relationships/notesSlide" Target="/ppt/notesSlides/notesSlide30.xml" Id="Rec259339ac714aa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c3f2625a9d4528" /><Relationship Type="http://schemas.openxmlformats.org/officeDocument/2006/relationships/notesSlide" Target="/ppt/notesSlides/notesSlide31.xml" Id="Rb11a5ef98768430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d9efa050a4422f" /><Relationship Type="http://schemas.openxmlformats.org/officeDocument/2006/relationships/notesSlide" Target="/ppt/notesSlides/notesSlide32.xml" Id="Rf84c23a816364fc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3d6ea30cbf4dbf" /><Relationship Type="http://schemas.openxmlformats.org/officeDocument/2006/relationships/notesSlide" Target="/ppt/notesSlides/notesSlide33.xml" Id="R4dc68bbd21c44e9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a37763264646d4" /><Relationship Type="http://schemas.openxmlformats.org/officeDocument/2006/relationships/notesSlide" Target="/ppt/notesSlides/notesSlide34.xml" Id="R469f131bdf4b46e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a3a35fa0e6491e" /><Relationship Type="http://schemas.openxmlformats.org/officeDocument/2006/relationships/notesSlide" Target="/ppt/notesSlides/notesSlide35.xml" Id="Rc7605ba9fec3447a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abe5ac894b4174" /><Relationship Type="http://schemas.openxmlformats.org/officeDocument/2006/relationships/notesSlide" Target="/ppt/notesSlides/notesSlide36.xml" Id="Ra3da11f847954d7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f090ac27854694" /><Relationship Type="http://schemas.openxmlformats.org/officeDocument/2006/relationships/notesSlide" Target="/ppt/notesSlides/notesSlide37.xml" Id="R5a0c58b35946426c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05f0d3e41c441f" /><Relationship Type="http://schemas.openxmlformats.org/officeDocument/2006/relationships/notesSlide" Target="/ppt/notesSlides/notesSlide38.xml" Id="R209947e85387452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ec4ddc1d3d4aab" /><Relationship Type="http://schemas.openxmlformats.org/officeDocument/2006/relationships/notesSlide" Target="/ppt/notesSlides/notesSlide39.xml" Id="R94c27a342ed3408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4aea988a1a406f" /><Relationship Type="http://schemas.openxmlformats.org/officeDocument/2006/relationships/notesSlide" Target="/ppt/notesSlides/notesSlide40.xml" Id="R379253f5fd0a4a7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3eb93c97314059" /><Relationship Type="http://schemas.openxmlformats.org/officeDocument/2006/relationships/notesSlide" Target="/ppt/notesSlides/notesSlide41.xml" Id="R84835a538969466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c595695f2548ae" /><Relationship Type="http://schemas.openxmlformats.org/officeDocument/2006/relationships/notesSlide" Target="/ppt/notesSlides/notesSlide42.xml" Id="R5e35f5bbf0fc4ce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67d4aff6fb45ac" /><Relationship Type="http://schemas.openxmlformats.org/officeDocument/2006/relationships/notesSlide" Target="/ppt/notesSlides/notesSlide43.xml" Id="R1b8cdfe1c9de4d2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8711a5672a4e7a" /><Relationship Type="http://schemas.openxmlformats.org/officeDocument/2006/relationships/notesSlide" Target="/ppt/notesSlides/notesSlide44.xml" Id="R8edc18fcda87412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0931614ebd403a" /><Relationship Type="http://schemas.openxmlformats.org/officeDocument/2006/relationships/notesSlide" Target="/ppt/notesSlides/notesSlide45.xml" Id="R02d351c320ae400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5cb38269784a4d" /><Relationship Type="http://schemas.openxmlformats.org/officeDocument/2006/relationships/notesSlide" Target="/ppt/notesSlides/notesSlide46.xml" Id="R0c0b9938f7c346dc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779d59d7b14a13" /><Relationship Type="http://schemas.openxmlformats.org/officeDocument/2006/relationships/notesSlide" Target="/ppt/notesSlides/notesSlide47.xml" Id="R37bb1950f5544777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6240928e7f4e4d" /><Relationship Type="http://schemas.openxmlformats.org/officeDocument/2006/relationships/notesSlide" Target="/ppt/notesSlides/notesSlide48.xml" Id="Rd0e3e05f4f744bd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311f19214f48ed" /><Relationship Type="http://schemas.openxmlformats.org/officeDocument/2006/relationships/notesSlide" Target="/ppt/notesSlides/notesSlide49.xml" Id="Re23b07802291476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bdd3576988414a" /><Relationship Type="http://schemas.openxmlformats.org/officeDocument/2006/relationships/notesSlide" Target="/ppt/notesSlides/notesSlide50.xml" Id="R40adcd155f524f1b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b93b15adf9456f" /><Relationship Type="http://schemas.openxmlformats.org/officeDocument/2006/relationships/notesSlide" Target="/ppt/notesSlides/notesSlide51.xml" Id="R9d5920f05d644ee4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fe835c04c54b35" /><Relationship Type="http://schemas.openxmlformats.org/officeDocument/2006/relationships/notesSlide" Target="/ppt/notesSlides/notesSlide52.xml" Id="R57d6983319eb403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DE6B6716-0B0E-47BB-96F7-1297EBBC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CDC / Iceberg 프로젝트 스터디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6E7E411-999A-4CDA-8864-5F55F5C8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58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Flink에서 Iceberg로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데이터를 저장하는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D2B3F-196B-4441-ACAE-1D00FF4B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67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</a:ln>
        </p:spPr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4D45B2-6D0C-4A5E-8FCD-D8CBF8D2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Flink → Bronze 적재 심화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개인 도메인·테이블 설계 확정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09413CA0-7499-4E3E-9D3E-2F9ADD43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도입 이유 · 내부 동작 · 운영 판단 · 개인 프로젝트 설계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CBE9BC-103F-4273-BC74-39A86266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3BB9D8AC-43EF-41E0-887C-CB7CB258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F2AF13BD-9796-4D64-874F-0DA80CD2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959603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303D1E2-1AF0-4B46-A7C1-6D4067E2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7">
            <a:extLst xmlns:a="http://schemas.openxmlformats.org/drawingml/2006/main">
              <a:ext uri="{FF2B5EF4-FFF2-40B4-BE49-F238E27FC236}">
                <a16:creationId xmlns:a16="http://schemas.microsoft.com/office/drawing/2014/main" id="{72310973-32F7-4712-B6A7-C2D3237A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오늘의 진행 · 권장 215분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A661B-6EE5-4E02-A3E3-B7C06A07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8">
            <a:extLst xmlns:a="http://schemas.openxmlformats.org/drawingml/2006/main">
              <a:ext uri="{FF2B5EF4-FFF2-40B4-BE49-F238E27FC236}">
                <a16:creationId xmlns:a16="http://schemas.microsoft.com/office/drawing/2014/main" id="{57626F3E-5D52-45AD-93C3-959C59F8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6" name="text-9">
            <a:extLst xmlns:a="http://schemas.openxmlformats.org/drawingml/2006/main">
              <a:ext uri="{FF2B5EF4-FFF2-40B4-BE49-F238E27FC236}">
                <a16:creationId xmlns:a16="http://schemas.microsoft.com/office/drawing/2014/main" id="{412D6900-421C-43A0-8BDA-F5E72FEB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BAC9A4-E049-4959-970D-BE6D0CA4284A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838200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진행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남길 결과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00:00–00:50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문제·정의·대안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필요한 구성 판단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00:50–01:25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 SQL·복구·휴식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입력 계약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01:25–02:20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내부 저장·실제 관찰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파일과 commit 구분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02:20–03:35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운영·휴식·개인 설계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테이블·검증 조건 확정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4853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복습에서 확인한 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8" name="s03-panel-0">
            <a:extLst xmlns:a="http://schemas.openxmlformats.org/drawingml/2006/main">
              <a:ext uri="{FF2B5EF4-FFF2-40B4-BE49-F238E27FC236}">
                <a16:creationId xmlns:a16="http://schemas.microsoft.com/office/drawing/2014/main" id="{2E2FACD2-385D-429F-A228-39F91532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">
            <a:extLst xmlns:a="http://schemas.openxmlformats.org/drawingml/2006/main">
              <a:ext uri="{FF2B5EF4-FFF2-40B4-BE49-F238E27FC236}">
                <a16:creationId xmlns:a16="http://schemas.microsoft.com/office/drawing/2014/main" id="{18F412E8-B91B-45C6-B3BB-E68A7795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해본 것</a:t>
            </a:r>
          </a:p>
        </p:txBody>
      </p:sp>
      <p:sp>
        <p:nvSpPr>
          <p:cNvPr id="20" name="s03-text-2">
            <a:extLst xmlns:a="http://schemas.openxmlformats.org/drawingml/2006/main">
              <a:ext uri="{FF2B5EF4-FFF2-40B4-BE49-F238E27FC236}">
                <a16:creationId xmlns:a16="http://schemas.microsoft.com/office/drawing/2014/main" id="{241B8984-4CA3-4C21-B5F9-7F190F5B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어디까지 실행하거나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읽어보았나요?</a:t>
            </a:r>
          </a:p>
        </p:txBody>
      </p:sp>
      <p:sp>
        <p:nvSpPr>
          <p:cNvPr id="21" name="s03-panel-3">
            <a:extLst xmlns:a="http://schemas.openxmlformats.org/drawingml/2006/main">
              <a:ext uri="{FF2B5EF4-FFF2-40B4-BE49-F238E27FC236}">
                <a16:creationId xmlns:a16="http://schemas.microsoft.com/office/drawing/2014/main" id="{94D91116-C6C0-4D5F-8C8C-58A2E55C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4">
            <a:extLst xmlns:a="http://schemas.openxmlformats.org/drawingml/2006/main">
              <a:ext uri="{FF2B5EF4-FFF2-40B4-BE49-F238E27FC236}">
                <a16:creationId xmlns:a16="http://schemas.microsoft.com/office/drawing/2014/main" id="{192EF76C-8A8B-490C-AA7E-AB59AFF2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확인한 근거</a:t>
            </a:r>
          </a:p>
        </p:txBody>
      </p:sp>
      <p:sp>
        <p:nvSpPr>
          <p:cNvPr id="23" name="s03-text-5">
            <a:extLst xmlns:a="http://schemas.openxmlformats.org/drawingml/2006/main">
              <a:ext uri="{FF2B5EF4-FFF2-40B4-BE49-F238E27FC236}">
                <a16:creationId xmlns:a16="http://schemas.microsoft.com/office/drawing/2014/main" id="{C91C94BC-C0AA-4729-BC24-078E193E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어떤 키·SQL·결과로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확인했나요?</a:t>
            </a:r>
          </a:p>
        </p:txBody>
      </p:sp>
      <p:sp>
        <p:nvSpPr>
          <p:cNvPr id="24" name="s03-panel-6">
            <a:extLst xmlns:a="http://schemas.openxmlformats.org/drawingml/2006/main">
              <a:ext uri="{FF2B5EF4-FFF2-40B4-BE49-F238E27FC236}">
                <a16:creationId xmlns:a16="http://schemas.microsoft.com/office/drawing/2014/main" id="{0A9C2EB1-5BF6-4D85-B909-995DCB43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7">
            <a:extLst xmlns:a="http://schemas.openxmlformats.org/drawingml/2006/main">
              <a:ext uri="{FF2B5EF4-FFF2-40B4-BE49-F238E27FC236}">
                <a16:creationId xmlns:a16="http://schemas.microsoft.com/office/drawing/2014/main" id="{AB7B1596-7211-4338-97A2-5E241392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남은 질문</a:t>
            </a:r>
          </a:p>
        </p:txBody>
      </p:sp>
      <p:sp>
        <p:nvSpPr>
          <p:cNvPr id="26" name="s03-text-8">
            <a:extLst xmlns:a="http://schemas.openxmlformats.org/drawingml/2006/main">
              <a:ext uri="{FF2B5EF4-FFF2-40B4-BE49-F238E27FC236}">
                <a16:creationId xmlns:a16="http://schemas.microsoft.com/office/drawing/2014/main" id="{2BB3DED9-7098-4A55-91A6-9F0AA117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어느 구간이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아직 설명되지 않나요?</a:t>
            </a:r>
          </a:p>
        </p:txBody>
      </p:sp>
      <p:sp>
        <p:nvSpPr>
          <p:cNvPr id="27" name="s03-panel-9">
            <a:extLst xmlns:a="http://schemas.openxmlformats.org/drawingml/2006/main">
              <a:ext uri="{FF2B5EF4-FFF2-40B4-BE49-F238E27FC236}">
                <a16:creationId xmlns:a16="http://schemas.microsoft.com/office/drawing/2014/main" id="{CD3A1EB3-07BD-4DD9-A480-7490FFE9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10">
            <a:extLst xmlns:a="http://schemas.openxmlformats.org/drawingml/2006/main">
              <a:ext uri="{FF2B5EF4-FFF2-40B4-BE49-F238E27FC236}">
                <a16:creationId xmlns:a16="http://schemas.microsoft.com/office/drawing/2014/main" id="{12B6FA20-D8D6-4997-BC8B-DE5D6E52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실행 여부와 결과를 확인한 근거를 함께 이야기합니다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0B09BBF-3EE0-43F9-8800-B9C495E1A51A}"/>
              </a:ext>
            </a:extLst>
          </p:cNvPr>
          <p:cNvCxnSpPr>
            <a:stCxn xmlns:a="http://schemas.openxmlformats.org/drawingml/2006/main" id="30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87058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B503500-CEC9-4053-ACDB-D47038604D21}"/>
              </a:ext>
            </a:extLst>
          </p:cNvPr>
          <p:cNvCxnSpPr>
            <a:stCxn xmlns:a="http://schemas.openxmlformats.org/drawingml/2006/main" id="27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582930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44C348-BD1F-4897-B0F2-D36F67ABAAA1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29527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23" name="text-76">
            <a:extLst xmlns:a="http://schemas.openxmlformats.org/drawingml/2006/main">
              <a:ext uri="{FF2B5EF4-FFF2-40B4-BE49-F238E27FC236}">
                <a16:creationId xmlns:a16="http://schemas.microsoft.com/office/drawing/2014/main" id="{91536528-62A7-4107-B6A2-DDB403BF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77">
            <a:extLst xmlns:a="http://schemas.openxmlformats.org/drawingml/2006/main">
              <a:ext uri="{FF2B5EF4-FFF2-40B4-BE49-F238E27FC236}">
                <a16:creationId xmlns:a16="http://schemas.microsoft.com/office/drawing/2014/main" id="{6505C4E4-AE9A-4C26-A981-8608D4DF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예약이 정정되고 취소된다면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2A9F35-E5B1-46A9-89EF-AF5D98A5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1" name="text-92">
            <a:extLst xmlns:a="http://schemas.openxmlformats.org/drawingml/2006/main">
              <a:ext uri="{FF2B5EF4-FFF2-40B4-BE49-F238E27FC236}">
                <a16:creationId xmlns:a16="http://schemas.microsoft.com/office/drawing/2014/main" id="{F7B8EDF4-CD72-47DB-9C0C-938091F1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22" name="text-93">
            <a:extLst xmlns:a="http://schemas.openxmlformats.org/drawingml/2006/main">
              <a:ext uri="{FF2B5EF4-FFF2-40B4-BE49-F238E27FC236}">
                <a16:creationId xmlns:a16="http://schemas.microsoft.com/office/drawing/2014/main" id="{531F8511-5779-478F-86F9-8D123816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4" name="s03-panel-11">
            <a:extLst xmlns:a="http://schemas.openxmlformats.org/drawingml/2006/main">
              <a:ext uri="{FF2B5EF4-FFF2-40B4-BE49-F238E27FC236}">
                <a16:creationId xmlns:a16="http://schemas.microsoft.com/office/drawing/2014/main" id="{2FB8AD5F-309C-44BC-B6FE-5D239968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5" name="s03-text-12">
            <a:extLst xmlns:a="http://schemas.openxmlformats.org/drawingml/2006/main">
              <a:ext uri="{FF2B5EF4-FFF2-40B4-BE49-F238E27FC236}">
                <a16:creationId xmlns:a16="http://schemas.microsoft.com/office/drawing/2014/main" id="{663AA14D-D4B4-45D2-8EB4-EA1B4218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예약 생성</a:t>
            </a:r>
          </a:p>
        </p:txBody>
      </p:sp>
      <p:sp>
        <p:nvSpPr>
          <p:cNvPr id="26" name="s03-text-13">
            <a:extLst xmlns:a="http://schemas.openxmlformats.org/drawingml/2006/main">
              <a:ext uri="{FF2B5EF4-FFF2-40B4-BE49-F238E27FC236}">
                <a16:creationId xmlns:a16="http://schemas.microsoft.com/office/drawing/2014/main" id="{4F20B245-590F-4307-8DA3-0D0F117C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예약 키 · 2명</a:t>
            </a:r>
          </a:p>
        </p:txBody>
      </p:sp>
      <p:sp>
        <p:nvSpPr>
          <p:cNvPr id="27" name="s03-panel-14">
            <a:extLst xmlns:a="http://schemas.openxmlformats.org/drawingml/2006/main">
              <a:ext uri="{FF2B5EF4-FFF2-40B4-BE49-F238E27FC236}">
                <a16:creationId xmlns:a16="http://schemas.microsoft.com/office/drawing/2014/main" id="{FE926975-1EBD-4452-9E34-96B61251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28" name="s03-text-15">
            <a:extLst xmlns:a="http://schemas.openxmlformats.org/drawingml/2006/main">
              <a:ext uri="{FF2B5EF4-FFF2-40B4-BE49-F238E27FC236}">
                <a16:creationId xmlns:a16="http://schemas.microsoft.com/office/drawing/2014/main" id="{F04AAFFA-EBFA-4897-8D22-30B4FA15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인원 정정</a:t>
            </a:r>
          </a:p>
        </p:txBody>
      </p:sp>
      <p:sp>
        <p:nvSpPr>
          <p:cNvPr id="29" name="s03-text-16">
            <a:extLst xmlns:a="http://schemas.openxmlformats.org/drawingml/2006/main">
              <a:ext uri="{FF2B5EF4-FFF2-40B4-BE49-F238E27FC236}">
                <a16:creationId xmlns:a16="http://schemas.microsoft.com/office/drawing/2014/main" id="{538AED7A-C17A-49F6-8AE6-793FD1695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예약 키 · 3명</a:t>
            </a:r>
          </a:p>
        </p:txBody>
      </p:sp>
      <p:sp>
        <p:nvSpPr>
          <p:cNvPr id="30" name="s03-panel-17">
            <a:extLst xmlns:a="http://schemas.openxmlformats.org/drawingml/2006/main">
              <a:ext uri="{FF2B5EF4-FFF2-40B4-BE49-F238E27FC236}">
                <a16:creationId xmlns:a16="http://schemas.microsoft.com/office/drawing/2014/main" id="{C9417BBD-9518-4F35-B94D-96A75BA0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31" name="s03-text-18">
            <a:extLst xmlns:a="http://schemas.openxmlformats.org/drawingml/2006/main">
              <a:ext uri="{FF2B5EF4-FFF2-40B4-BE49-F238E27FC236}">
                <a16:creationId xmlns:a16="http://schemas.microsoft.com/office/drawing/2014/main" id="{C053D8EE-1EE1-4947-B9A2-2A78BF25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예약 취소</a:t>
            </a:r>
          </a:p>
        </p:txBody>
      </p:sp>
      <p:sp>
        <p:nvSpPr>
          <p:cNvPr id="32" name="s03-text-19">
            <a:extLst xmlns:a="http://schemas.openxmlformats.org/drawingml/2006/main">
              <a:ext uri="{FF2B5EF4-FFF2-40B4-BE49-F238E27FC236}">
                <a16:creationId xmlns:a16="http://schemas.microsoft.com/office/drawing/2014/main" id="{A197F3B3-5925-4357-89C1-4F8A848E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업무상 취소 의미</a:t>
            </a:r>
          </a:p>
        </p:txBody>
      </p:sp>
      <p:sp>
        <p:nvSpPr>
          <p:cNvPr id="33" name="s03-panel-20">
            <a:extLst xmlns:a="http://schemas.openxmlformats.org/drawingml/2006/main">
              <a:ext uri="{FF2B5EF4-FFF2-40B4-BE49-F238E27FC236}">
                <a16:creationId xmlns:a16="http://schemas.microsoft.com/office/drawing/2014/main" id="{DFB76819-C318-4326-91A6-C4371940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4" name="s03-text-21">
            <a:extLst xmlns:a="http://schemas.openxmlformats.org/drawingml/2006/main">
              <a:ext uri="{FF2B5EF4-FFF2-40B4-BE49-F238E27FC236}">
                <a16:creationId xmlns:a16="http://schemas.microsoft.com/office/drawing/2014/main" id="{F6633B13-3BBC-4C86-AEEE-ED58DAC0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필요한 정보</a:t>
            </a:r>
          </a:p>
        </p:txBody>
      </p:sp>
      <p:sp>
        <p:nvSpPr>
          <p:cNvPr id="35" name="s03-text-22">
            <a:extLst xmlns:a="http://schemas.openxmlformats.org/drawingml/2006/main">
              <a:ext uri="{FF2B5EF4-FFF2-40B4-BE49-F238E27FC236}">
                <a16:creationId xmlns:a16="http://schemas.microsoft.com/office/drawing/2014/main" id="{283A90DB-1DB9-4263-B3E4-3FF7145C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상태</a:t>
            </a:r>
          </a:p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이력</a:t>
            </a:r>
          </a:p>
        </p:txBody>
      </p:sp>
      <p:sp>
        <p:nvSpPr>
          <p:cNvPr id="39" name="s03-panel-23">
            <a:extLst xmlns:a="http://schemas.openxmlformats.org/drawingml/2006/main">
              <a:ext uri="{FF2B5EF4-FFF2-40B4-BE49-F238E27FC236}">
                <a16:creationId xmlns:a16="http://schemas.microsoft.com/office/drawing/2014/main" id="{860AC3EC-3CF8-404F-AD7E-B240D019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40" name="s03-text-24">
            <a:extLst xmlns:a="http://schemas.openxmlformats.org/drawingml/2006/main">
              <a:ext uri="{FF2B5EF4-FFF2-40B4-BE49-F238E27FC236}">
                <a16:creationId xmlns:a16="http://schemas.microsoft.com/office/drawing/2014/main" id="{417EACF7-D077-4B2D-8E76-395F5402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가상 업무 사례 · 현재 상태만 필요한지, 중간 이력도 필요한지 구분합니다</a:t>
            </a:r>
          </a:p>
        </p:txBody>
      </p:sp>
    </p:spTree>
    <p:extLst>
      <p:ext uri="{BB962C8B-B14F-4D97-AF65-F5344CB8AC3E}">
        <p14:creationId xmlns:p14="http://schemas.microsoft.com/office/powerpoint/2010/main" val="12624184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수집 지연과 지표 지연은 다릅니다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DCE615-79DD-4DDE-AFBC-495BC40C3789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1158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범위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끝을 확인할 증거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115887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변경부터 Bronze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키의 변경 이력이 읽힘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115887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 변경부터 최종 지표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변경을 반영한 기대 집계가 읽힘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5">
            <a:extLst xmlns:a="http://schemas.openxmlformats.org/drawingml/2006/main">
              <a:ext uri="{FF2B5EF4-FFF2-40B4-BE49-F238E27FC236}">
                <a16:creationId xmlns:a16="http://schemas.microsoft.com/office/drawing/2014/main" id="{B84868C3-762D-4604-806A-1848EF7D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6">
            <a:extLst xmlns:a="http://schemas.openxmlformats.org/drawingml/2006/main">
              <a:ext uri="{FF2B5EF4-FFF2-40B4-BE49-F238E27FC236}">
                <a16:creationId xmlns:a16="http://schemas.microsoft.com/office/drawing/2014/main" id="{64CDAB1C-CE4E-491F-B4B0-A295571F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Bronze가 새로워져도 Silver·Gold는 별도 갱신이 필요합니다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왜 CDC와 Kafka를 연결할까요?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5" name="s03-panel-27">
            <a:extLst xmlns:a="http://schemas.openxmlformats.org/drawingml/2006/main">
              <a:ext uri="{FF2B5EF4-FFF2-40B4-BE49-F238E27FC236}">
                <a16:creationId xmlns:a16="http://schemas.microsoft.com/office/drawing/2014/main" id="{C2FD44B0-5A01-4CB6-BBFE-27DC1276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28">
            <a:extLst xmlns:a="http://schemas.openxmlformats.org/drawingml/2006/main">
              <a:ext uri="{FF2B5EF4-FFF2-40B4-BE49-F238E27FC236}">
                <a16:creationId xmlns:a16="http://schemas.microsoft.com/office/drawing/2014/main" id="{957C4EAF-70AA-4168-A9FD-25870520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CDC</a:t>
            </a:r>
          </a:p>
        </p:txBody>
      </p:sp>
      <p:sp>
        <p:nvSpPr>
          <p:cNvPr id="17" name="s03-text-29">
            <a:extLst xmlns:a="http://schemas.openxmlformats.org/drawingml/2006/main">
              <a:ext uri="{FF2B5EF4-FFF2-40B4-BE49-F238E27FC236}">
                <a16:creationId xmlns:a16="http://schemas.microsoft.com/office/drawing/2014/main" id="{4C718680-561D-48C0-89E9-EC8D8A8D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전체 재조회 대신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이력을 전달</a:t>
            </a:r>
          </a:p>
        </p:txBody>
      </p:sp>
      <p:sp>
        <p:nvSpPr>
          <p:cNvPr id="18" name="s03-panel-30">
            <a:extLst xmlns:a="http://schemas.openxmlformats.org/drawingml/2006/main">
              <a:ext uri="{FF2B5EF4-FFF2-40B4-BE49-F238E27FC236}">
                <a16:creationId xmlns:a16="http://schemas.microsoft.com/office/drawing/2014/main" id="{9E56191C-A5AB-4E3E-9210-60BC2F67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1">
            <a:extLst xmlns:a="http://schemas.openxmlformats.org/drawingml/2006/main">
              <a:ext uri="{FF2B5EF4-FFF2-40B4-BE49-F238E27FC236}">
                <a16:creationId xmlns:a16="http://schemas.microsoft.com/office/drawing/2014/main" id="{062E1058-3E62-47F9-8979-61015D75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Kafka</a:t>
            </a:r>
          </a:p>
        </p:txBody>
      </p:sp>
      <p:sp>
        <p:nvSpPr>
          <p:cNvPr id="20" name="s03-text-32">
            <a:extLst xmlns:a="http://schemas.openxmlformats.org/drawingml/2006/main">
              <a:ext uri="{FF2B5EF4-FFF2-40B4-BE49-F238E27FC236}">
                <a16:creationId xmlns:a16="http://schemas.microsoft.com/office/drawing/2014/main" id="{27287663-437E-4FF7-82A9-BB0F737D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입력을 보관하고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소비 속도를 분리</a:t>
            </a:r>
          </a:p>
        </p:txBody>
      </p:sp>
      <p:sp>
        <p:nvSpPr>
          <p:cNvPr id="21" name="s03-panel-33">
            <a:extLst xmlns:a="http://schemas.openxmlformats.org/drawingml/2006/main">
              <a:ext uri="{FF2B5EF4-FFF2-40B4-BE49-F238E27FC236}">
                <a16:creationId xmlns:a16="http://schemas.microsoft.com/office/drawing/2014/main" id="{8785FBBF-BCD8-451B-B6EF-72277A99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34">
            <a:extLst xmlns:a="http://schemas.openxmlformats.org/drawingml/2006/main">
              <a:ext uri="{FF2B5EF4-FFF2-40B4-BE49-F238E27FC236}">
                <a16:creationId xmlns:a16="http://schemas.microsoft.com/office/drawing/2014/main" id="{67837C3C-D914-40C2-962D-FDD0C67F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원천 부하·WAL·브로커 보관 비용도 함께 설계합니다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Flink는 무엇을 실행하나요?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8" name="s03-panel-35">
            <a:extLst xmlns:a="http://schemas.openxmlformats.org/drawingml/2006/main">
              <a:ext uri="{FF2B5EF4-FFF2-40B4-BE49-F238E27FC236}">
                <a16:creationId xmlns:a16="http://schemas.microsoft.com/office/drawing/2014/main" id="{8E2C2AD7-377C-4D73-BDAC-257FFD56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6">
            <a:extLst xmlns:a="http://schemas.openxmlformats.org/drawingml/2006/main">
              <a:ext uri="{FF2B5EF4-FFF2-40B4-BE49-F238E27FC236}">
                <a16:creationId xmlns:a16="http://schemas.microsoft.com/office/drawing/2014/main" id="{062BCBDD-2D13-4D56-8C2E-5BE633A3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계속 처리</a:t>
            </a:r>
          </a:p>
        </p:txBody>
      </p:sp>
      <p:sp>
        <p:nvSpPr>
          <p:cNvPr id="20" name="s03-text-37">
            <a:extLst xmlns:a="http://schemas.openxmlformats.org/drawingml/2006/main">
              <a:ext uri="{FF2B5EF4-FFF2-40B4-BE49-F238E27FC236}">
                <a16:creationId xmlns:a16="http://schemas.microsoft.com/office/drawing/2014/main" id="{6CDDB835-9420-4D94-AE90-5C8B3FAF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source에서 읽고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연산 후 sink로 전달</a:t>
            </a:r>
          </a:p>
        </p:txBody>
      </p:sp>
      <p:sp>
        <p:nvSpPr>
          <p:cNvPr id="21" name="s03-panel-38">
            <a:extLst xmlns:a="http://schemas.openxmlformats.org/drawingml/2006/main">
              <a:ext uri="{FF2B5EF4-FFF2-40B4-BE49-F238E27FC236}">
                <a16:creationId xmlns:a16="http://schemas.microsoft.com/office/drawing/2014/main" id="{A48A1924-8559-4956-8A5A-8CD26CCC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39">
            <a:extLst xmlns:a="http://schemas.openxmlformats.org/drawingml/2006/main">
              <a:ext uri="{FF2B5EF4-FFF2-40B4-BE49-F238E27FC236}">
                <a16:creationId xmlns:a16="http://schemas.microsoft.com/office/drawing/2014/main" id="{F58DAFCD-584E-4B16-846A-23D12CF6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복구 상태</a:t>
            </a:r>
          </a:p>
        </p:txBody>
      </p:sp>
      <p:sp>
        <p:nvSpPr>
          <p:cNvPr id="23" name="s03-text-40">
            <a:extLst xmlns:a="http://schemas.openxmlformats.org/drawingml/2006/main">
              <a:ext uri="{FF2B5EF4-FFF2-40B4-BE49-F238E27FC236}">
                <a16:creationId xmlns:a16="http://schemas.microsoft.com/office/drawing/2014/main" id="{87711214-E06D-4F62-BD2E-6F71647D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 위치와 처리 상태를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checkpoint로 보존</a:t>
            </a:r>
          </a:p>
        </p:txBody>
      </p:sp>
      <p:sp>
        <p:nvSpPr>
          <p:cNvPr id="24" name="s03-panel-41">
            <a:extLst xmlns:a="http://schemas.openxmlformats.org/drawingml/2006/main">
              <a:ext uri="{FF2B5EF4-FFF2-40B4-BE49-F238E27FC236}">
                <a16:creationId xmlns:a16="http://schemas.microsoft.com/office/drawing/2014/main" id="{F60B7695-6395-41D5-95DC-97ED41DD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42">
            <a:extLst xmlns:a="http://schemas.openxmlformats.org/drawingml/2006/main">
              <a:ext uri="{FF2B5EF4-FFF2-40B4-BE49-F238E27FC236}">
                <a16:creationId xmlns:a16="http://schemas.microsoft.com/office/drawing/2014/main" id="{A386C718-F4D3-44C4-916D-89886E73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현재 수업</a:t>
            </a:r>
          </a:p>
        </p:txBody>
      </p:sp>
      <p:sp>
        <p:nvSpPr>
          <p:cNvPr id="26" name="s03-text-43">
            <a:extLst xmlns:a="http://schemas.openxmlformats.org/drawingml/2006/main">
              <a:ext uri="{FF2B5EF4-FFF2-40B4-BE49-F238E27FC236}">
                <a16:creationId xmlns:a16="http://schemas.microsoft.com/office/drawing/2014/main" id="{A4B585D2-AE7C-41C5-A728-177EAC67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원문을 읽어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Bronze에 append</a:t>
            </a:r>
          </a:p>
        </p:txBody>
      </p:sp>
      <p:sp>
        <p:nvSpPr>
          <p:cNvPr id="27" name="s03-panel-44">
            <a:extLst xmlns:a="http://schemas.openxmlformats.org/drawingml/2006/main">
              <a:ext uri="{FF2B5EF4-FFF2-40B4-BE49-F238E27FC236}">
                <a16:creationId xmlns:a16="http://schemas.microsoft.com/office/drawing/2014/main" id="{2257C7DB-529B-400A-874F-949DBB7E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45">
            <a:extLst xmlns:a="http://schemas.openxmlformats.org/drawingml/2006/main">
              <a:ext uri="{FF2B5EF4-FFF2-40B4-BE49-F238E27FC236}">
                <a16:creationId xmlns:a16="http://schemas.microsoft.com/office/drawing/2014/main" id="{B36D2FA0-D786-4A69-920B-3AEF61AF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Flink는 실행 엔진이며, 영속 테이블의 파일 목록은 Iceberg가 관리합니다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A501A6-6E14-4ECF-9740-33C9C071AD14}"/>
              </a:ext>
            </a:extLst>
          </p:cNvPr>
          <p:cNvCxnSpPr>
            <a:stCxn xmlns:a="http://schemas.openxmlformats.org/drawingml/2006/main" id="27" idx="0"/>
            <a:endCxn xmlns:a="http://schemas.openxmlformats.org/drawingml/2006/main" id="16" idx="2"/>
          </p:cNvCxnSpPr>
          <p:nvPr/>
        </p:nvCxnSpPr>
        <p:spPr>
          <a:xfrm xmlns:a="http://schemas.openxmlformats.org/drawingml/2006/main" flipV="1">
            <a:off x="9429750" y="2943225"/>
            <a:ext cx="20955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ABDE73-1FFB-4E43-ABF4-0F63E1915E19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6943725" y="4438650"/>
            <a:ext cx="5429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4DFC1A-6942-437C-8A76-2D6D45C3331D}"/>
              </a:ext>
            </a:extLst>
          </p:cNvPr>
          <p:cNvCxnSpPr>
            <a:stCxn xmlns:a="http://schemas.openxmlformats.org/drawingml/2006/main" id="21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3600450" y="4438650"/>
            <a:ext cx="5429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3C932A-64DD-4098-8953-EE71F129FE9B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5486400" y="2943225"/>
            <a:ext cx="60960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dash"/>
            <a:tailEnd type="triangle" w="med" len="med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5BF44A-91D8-4510-839A-BAD1B420DE1B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1943100" y="2943225"/>
            <a:ext cx="257175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Flink의 실행과 상태는 어디에 있나요?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10" name="s03-panel-46">
            <a:extLst xmlns:a="http://schemas.openxmlformats.org/drawingml/2006/main">
              <a:ext uri="{FF2B5EF4-FFF2-40B4-BE49-F238E27FC236}">
                <a16:creationId xmlns:a16="http://schemas.microsoft.com/office/drawing/2014/main" id="{1C8F0541-F11D-40B2-A073-865239E6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2667000" cy="1162050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s03-text-47">
            <a:extLst xmlns:a="http://schemas.openxmlformats.org/drawingml/2006/main">
              <a:ext uri="{FF2B5EF4-FFF2-40B4-BE49-F238E27FC236}">
                <a16:creationId xmlns:a16="http://schemas.microsoft.com/office/drawing/2014/main" id="{A5F0A78A-03E6-4DF6-91BC-E530D4CE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14525"/>
            <a:ext cx="2362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</a:t>
            </a:r>
          </a:p>
        </p:txBody>
      </p:sp>
      <p:sp>
        <p:nvSpPr>
          <p:cNvPr id="12" name="s03-text-48">
            <a:extLst xmlns:a="http://schemas.openxmlformats.org/drawingml/2006/main">
              <a:ext uri="{FF2B5EF4-FFF2-40B4-BE49-F238E27FC236}">
                <a16:creationId xmlns:a16="http://schemas.microsoft.com/office/drawing/2014/main" id="{DD2A41CC-C371-44D9-803E-CAD67092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보관된 입력 · topic/partition</a:t>
            </a:r>
          </a:p>
        </p:txBody>
      </p:sp>
      <p:sp>
        <p:nvSpPr>
          <p:cNvPr id="13" name="s03-panel-49">
            <a:extLst xmlns:a="http://schemas.openxmlformats.org/drawingml/2006/main">
              <a:ext uri="{FF2B5EF4-FFF2-40B4-BE49-F238E27FC236}">
                <a16:creationId xmlns:a16="http://schemas.microsoft.com/office/drawing/2014/main" id="{233DDAD7-FBDD-4491-8A56-398FDCCF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81175"/>
            <a:ext cx="3524250" cy="1162050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50">
            <a:extLst xmlns:a="http://schemas.openxmlformats.org/drawingml/2006/main">
              <a:ext uri="{FF2B5EF4-FFF2-40B4-BE49-F238E27FC236}">
                <a16:creationId xmlns:a16="http://schemas.microsoft.com/office/drawing/2014/main" id="{FA7A4842-D028-4093-B54F-706FEEC1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914525"/>
            <a:ext cx="3219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JobManager</a:t>
            </a:r>
          </a:p>
        </p:txBody>
      </p:sp>
      <p:sp>
        <p:nvSpPr>
          <p:cNvPr id="15" name="s03-text-51">
            <a:extLst xmlns:a="http://schemas.openxmlformats.org/drawingml/2006/main">
              <a:ext uri="{FF2B5EF4-FFF2-40B4-BE49-F238E27FC236}">
                <a16:creationId xmlns:a16="http://schemas.microsoft.com/office/drawing/2014/main" id="{58F8288F-49AA-4D64-A8D1-D377BD68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333625"/>
            <a:ext cx="321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job 조정 · checkpoint 시작</a:t>
            </a:r>
          </a:p>
        </p:txBody>
      </p:sp>
      <p:sp>
        <p:nvSpPr>
          <p:cNvPr id="16" name="s03-panel-52">
            <a:extLst xmlns:a="http://schemas.openxmlformats.org/drawingml/2006/main">
              <a:ext uri="{FF2B5EF4-FFF2-40B4-BE49-F238E27FC236}">
                <a16:creationId xmlns:a16="http://schemas.microsoft.com/office/drawing/2014/main" id="{EEECCA1C-F52C-4207-9184-E19B521D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81175"/>
            <a:ext cx="3886200" cy="1162050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17" name="s03-text-53">
            <a:extLst xmlns:a="http://schemas.openxmlformats.org/drawingml/2006/main">
              <a:ext uri="{FF2B5EF4-FFF2-40B4-BE49-F238E27FC236}">
                <a16:creationId xmlns:a16="http://schemas.microsoft.com/office/drawing/2014/main" id="{4345D8FC-DAB6-4618-99CC-818A600D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14525"/>
            <a:ext cx="3581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Checkpoint 상태</a:t>
            </a:r>
          </a:p>
        </p:txBody>
      </p:sp>
      <p:sp>
        <p:nvSpPr>
          <p:cNvPr id="18" name="s03-text-54">
            <a:extLst xmlns:a="http://schemas.openxmlformats.org/drawingml/2006/main">
              <a:ext uri="{FF2B5EF4-FFF2-40B4-BE49-F238E27FC236}">
                <a16:creationId xmlns:a16="http://schemas.microsoft.com/office/drawing/2014/main" id="{3D3D5D95-39DC-4238-B675-20BF320ED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33625"/>
            <a:ext cx="3581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 위치·pending 파일 참조</a:t>
            </a:r>
          </a:p>
        </p:txBody>
      </p:sp>
      <p:sp>
        <p:nvSpPr>
          <p:cNvPr id="19" name="s03-panel-55">
            <a:extLst xmlns:a="http://schemas.openxmlformats.org/drawingml/2006/main">
              <a:ext uri="{FF2B5EF4-FFF2-40B4-BE49-F238E27FC236}">
                <a16:creationId xmlns:a16="http://schemas.microsoft.com/office/drawing/2014/main" id="{56991032-AB06-41D7-AB7A-203E1E12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19475"/>
            <a:ext cx="10972800" cy="1933575"/>
          </a:xfrm>
          <a:prstGeom xmlns:a="http://schemas.openxmlformats.org/drawingml/2006/main" prst="roundRect">
            <a:avLst>
              <a:gd name="adj" fmla="val 4433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0" name="s03-text-56">
            <a:extLst xmlns:a="http://schemas.openxmlformats.org/drawingml/2006/main">
              <a:ext uri="{FF2B5EF4-FFF2-40B4-BE49-F238E27FC236}">
                <a16:creationId xmlns:a16="http://schemas.microsoft.com/office/drawing/2014/main" id="{993B5181-4B7B-47E8-82B9-94231A50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57775"/>
            <a:ext cx="10191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TaskManager에서 실행하는 연산자</a:t>
            </a:r>
          </a:p>
        </p:txBody>
      </p:sp>
      <p:sp>
        <p:nvSpPr>
          <p:cNvPr id="21" name="s03-panel-57">
            <a:extLst xmlns:a="http://schemas.openxmlformats.org/drawingml/2006/main">
              <a:ext uri="{FF2B5EF4-FFF2-40B4-BE49-F238E27FC236}">
                <a16:creationId xmlns:a16="http://schemas.microsoft.com/office/drawing/2014/main" id="{1AD7D32D-3CBB-4156-A407-341DDB23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2800350" cy="9906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58">
            <a:extLst xmlns:a="http://schemas.openxmlformats.org/drawingml/2006/main">
              <a:ext uri="{FF2B5EF4-FFF2-40B4-BE49-F238E27FC236}">
                <a16:creationId xmlns:a16="http://schemas.microsoft.com/office/drawing/2014/main" id="{9D7E3CC2-0D45-4D7B-BBC1-8ABE6CAB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2495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 source</a:t>
            </a:r>
          </a:p>
        </p:txBody>
      </p:sp>
      <p:sp>
        <p:nvSpPr>
          <p:cNvPr id="23" name="s03-text-59">
            <a:extLst xmlns:a="http://schemas.openxmlformats.org/drawingml/2006/main">
              <a:ext uri="{FF2B5EF4-FFF2-40B4-BE49-F238E27FC236}">
                <a16:creationId xmlns:a16="http://schemas.microsoft.com/office/drawing/2014/main" id="{D2752938-8F0F-4C42-AD6F-2C425B140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249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레코드·전달 정보 읽기</a:t>
            </a:r>
          </a:p>
        </p:txBody>
      </p:sp>
      <p:sp>
        <p:nvSpPr>
          <p:cNvPr id="24" name="s03-panel-60">
            <a:extLst xmlns:a="http://schemas.openxmlformats.org/drawingml/2006/main">
              <a:ext uri="{FF2B5EF4-FFF2-40B4-BE49-F238E27FC236}">
                <a16:creationId xmlns:a16="http://schemas.microsoft.com/office/drawing/2014/main" id="{038A488F-8CD8-468E-BDD2-AB8B33C8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943350"/>
            <a:ext cx="2800350" cy="9906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5" name="s03-text-61">
            <a:extLst xmlns:a="http://schemas.openxmlformats.org/drawingml/2006/main">
              <a:ext uri="{FF2B5EF4-FFF2-40B4-BE49-F238E27FC236}">
                <a16:creationId xmlns:a16="http://schemas.microsoft.com/office/drawing/2014/main" id="{CE385FAE-FFDD-467F-9440-CE70B594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076700"/>
            <a:ext cx="2495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Filter / SELECT</a:t>
            </a:r>
          </a:p>
        </p:txBody>
      </p:sp>
      <p:sp>
        <p:nvSpPr>
          <p:cNvPr id="26" name="s03-text-62">
            <a:extLst xmlns:a="http://schemas.openxmlformats.org/drawingml/2006/main">
              <a:ext uri="{FF2B5EF4-FFF2-40B4-BE49-F238E27FC236}">
                <a16:creationId xmlns:a16="http://schemas.microsoft.com/office/drawing/2014/main" id="{F2AA3A85-8347-4741-A114-BEF8A263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495800"/>
            <a:ext cx="249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null 제외 · 컬럼 선택</a:t>
            </a:r>
          </a:p>
        </p:txBody>
      </p:sp>
      <p:sp>
        <p:nvSpPr>
          <p:cNvPr id="27" name="s03-panel-63">
            <a:extLst xmlns:a="http://schemas.openxmlformats.org/drawingml/2006/main">
              <a:ext uri="{FF2B5EF4-FFF2-40B4-BE49-F238E27FC236}">
                <a16:creationId xmlns:a16="http://schemas.microsoft.com/office/drawing/2014/main" id="{BCDC5F44-E31E-4EDD-8495-D679B53B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943350"/>
            <a:ext cx="3886200" cy="9906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64">
            <a:extLst xmlns:a="http://schemas.openxmlformats.org/drawingml/2006/main">
              <a:ext uri="{FF2B5EF4-FFF2-40B4-BE49-F238E27FC236}">
                <a16:creationId xmlns:a16="http://schemas.microsoft.com/office/drawing/2014/main" id="{0B18AE12-BEE2-4399-818F-3A1E49A8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76700"/>
            <a:ext cx="3581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Iceberg writer</a:t>
            </a:r>
          </a:p>
        </p:txBody>
      </p:sp>
      <p:sp>
        <p:nvSpPr>
          <p:cNvPr id="29" name="s03-text-65">
            <a:extLst xmlns:a="http://schemas.openxmlformats.org/drawingml/2006/main">
              <a:ext uri="{FF2B5EF4-FFF2-40B4-BE49-F238E27FC236}">
                <a16:creationId xmlns:a16="http://schemas.microsoft.com/office/drawing/2014/main" id="{E476DA87-6B06-471F-8751-E006534E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95800"/>
            <a:ext cx="358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레코드 처리 · 파일 준비</a:t>
            </a:r>
          </a:p>
        </p:txBody>
      </p:sp>
      <p:sp>
        <p:nvSpPr>
          <p:cNvPr id="35" name="s03-panel-66">
            <a:extLst xmlns:a="http://schemas.openxmlformats.org/drawingml/2006/main">
              <a:ext uri="{FF2B5EF4-FFF2-40B4-BE49-F238E27FC236}">
                <a16:creationId xmlns:a16="http://schemas.microsoft.com/office/drawing/2014/main" id="{991C4E6E-8FEA-44E8-A0E8-C3457831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6" name="s03-text-67">
            <a:extLst xmlns:a="http://schemas.openxmlformats.org/drawingml/2006/main">
              <a:ext uri="{FF2B5EF4-FFF2-40B4-BE49-F238E27FC236}">
                <a16:creationId xmlns:a16="http://schemas.microsoft.com/office/drawing/2014/main" id="{73BE01F8-A9D6-495B-B9EE-711AC7F8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랩: JM 1 · TM 1 · 병렬도 1 · 상태는 별도 flink-state 볼륨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Iceberg는 무엇을 관리하나요?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15" name="s03-panel-68">
            <a:extLst xmlns:a="http://schemas.openxmlformats.org/drawingml/2006/main">
              <a:ext uri="{FF2B5EF4-FFF2-40B4-BE49-F238E27FC236}">
                <a16:creationId xmlns:a16="http://schemas.microsoft.com/office/drawing/2014/main" id="{ECDC781F-F8F9-4161-8F53-BD931151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69">
            <a:extLst xmlns:a="http://schemas.openxmlformats.org/drawingml/2006/main">
              <a:ext uri="{FF2B5EF4-FFF2-40B4-BE49-F238E27FC236}">
                <a16:creationId xmlns:a16="http://schemas.microsoft.com/office/drawing/2014/main" id="{15CCCA3B-1978-4E7F-B98B-1AF9D56C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테이블 상태</a:t>
            </a:r>
          </a:p>
        </p:txBody>
      </p:sp>
      <p:sp>
        <p:nvSpPr>
          <p:cNvPr id="17" name="s03-text-70">
            <a:extLst xmlns:a="http://schemas.openxmlformats.org/drawingml/2006/main">
              <a:ext uri="{FF2B5EF4-FFF2-40B4-BE49-F238E27FC236}">
                <a16:creationId xmlns:a16="http://schemas.microsoft.com/office/drawing/2014/main" id="{2FC6EAB9-C34B-4A64-94A8-0782A5B4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스키마와 snapshot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유효한 파일 목록</a:t>
            </a:r>
          </a:p>
        </p:txBody>
      </p:sp>
      <p:sp>
        <p:nvSpPr>
          <p:cNvPr id="18" name="s03-panel-71">
            <a:extLst xmlns:a="http://schemas.openxmlformats.org/drawingml/2006/main">
              <a:ext uri="{FF2B5EF4-FFF2-40B4-BE49-F238E27FC236}">
                <a16:creationId xmlns:a16="http://schemas.microsoft.com/office/drawing/2014/main" id="{D4641318-6BC8-4BDF-96CB-EFC4D06E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72">
            <a:extLst xmlns:a="http://schemas.openxmlformats.org/drawingml/2006/main">
              <a:ext uri="{FF2B5EF4-FFF2-40B4-BE49-F238E27FC236}">
                <a16:creationId xmlns:a16="http://schemas.microsoft.com/office/drawing/2014/main" id="{AE1F9769-9640-4A68-A489-27D824A5D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쓰기와 읽기</a:t>
            </a:r>
          </a:p>
        </p:txBody>
      </p:sp>
      <p:sp>
        <p:nvSpPr>
          <p:cNvPr id="20" name="s03-text-73">
            <a:extLst xmlns:a="http://schemas.openxmlformats.org/drawingml/2006/main">
              <a:ext uri="{FF2B5EF4-FFF2-40B4-BE49-F238E27FC236}">
                <a16:creationId xmlns:a16="http://schemas.microsoft.com/office/drawing/2014/main" id="{DDFB3D4A-4144-46E2-BBCF-EAEEE8AB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여러 엔진이 같은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테이블 규칙을 사용</a:t>
            </a:r>
          </a:p>
        </p:txBody>
      </p:sp>
      <p:sp>
        <p:nvSpPr>
          <p:cNvPr id="21" name="s03-panel-74">
            <a:extLst xmlns:a="http://schemas.openxmlformats.org/drawingml/2006/main">
              <a:ext uri="{FF2B5EF4-FFF2-40B4-BE49-F238E27FC236}">
                <a16:creationId xmlns:a16="http://schemas.microsoft.com/office/drawing/2014/main" id="{6DF49D5B-BF16-47D0-82B3-978242E5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75">
            <a:extLst xmlns:a="http://schemas.openxmlformats.org/drawingml/2006/main">
              <a:ext uri="{FF2B5EF4-FFF2-40B4-BE49-F238E27FC236}">
                <a16:creationId xmlns:a16="http://schemas.microsoft.com/office/drawing/2014/main" id="{278664E8-418C-4D2F-9857-994BD6A7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저장소·쿼리 엔진·테이블 형식의 역할을 나눠 봅니다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3A4028-4602-4F7E-87FB-267078EB6F0E}"/>
              </a:ext>
            </a:extLst>
          </p:cNvPr>
          <p:cNvCxnSpPr>
            <a:stCxn xmlns:a="http://schemas.openxmlformats.org/drawingml/2006/main" id="19" idx="2"/>
            <a:endCxn xmlns:a="http://schemas.openxmlformats.org/drawingml/2006/main" id="28" idx="0"/>
          </p:cNvCxnSpPr>
          <p:nvPr/>
        </p:nvCxnSpPr>
        <p:spPr>
          <a:xfrm xmlns:a="http://schemas.openxmlformats.org/drawingml/2006/main" flipH="1">
            <a:off x="9258300" y="3038475"/>
            <a:ext cx="1252538" cy="7810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4D399"/>
            </a:solidFill>
            <a:prstDash val="solid"/>
            <a:tailEnd type="triangle" w="med" len="med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9420FE-DDBF-4779-B68F-28157C904432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4538663" y="3038475"/>
            <a:ext cx="2395538" cy="1381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4D399"/>
            </a:solidFill>
            <a:prstDash val="dash"/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D4C16C-0B50-4F3E-9400-67CAD392961D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 flipH="1">
            <a:off x="3629025" y="3038475"/>
            <a:ext cx="909638" cy="7810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6F5258-6BB2-40EE-B996-975D863C0C26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724900" y="24384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D06E62-B9A1-468E-863C-5635BF85D1DF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610225" y="24384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520FEE-25E7-48B1-8731-E235DC7B3560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752725" y="24384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엔진·저장소·Catalog의 역할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10" name="s03-panel-76">
            <a:extLst xmlns:a="http://schemas.openxmlformats.org/drawingml/2006/main">
              <a:ext uri="{FF2B5EF4-FFF2-40B4-BE49-F238E27FC236}">
                <a16:creationId xmlns:a16="http://schemas.microsoft.com/office/drawing/2014/main" id="{D7802EE2-12FB-4B91-9B19-8757B0FA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2143125" cy="120015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s03-text-77">
            <a:extLst xmlns:a="http://schemas.openxmlformats.org/drawingml/2006/main">
              <a:ext uri="{FF2B5EF4-FFF2-40B4-BE49-F238E27FC236}">
                <a16:creationId xmlns:a16="http://schemas.microsoft.com/office/drawing/2014/main" id="{D8643A5F-5F66-45E1-B085-708356F2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71675"/>
            <a:ext cx="18383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</a:t>
            </a:r>
          </a:p>
        </p:txBody>
      </p:sp>
      <p:sp>
        <p:nvSpPr>
          <p:cNvPr id="12" name="s03-text-78">
            <a:extLst xmlns:a="http://schemas.openxmlformats.org/drawingml/2006/main">
              <a:ext uri="{FF2B5EF4-FFF2-40B4-BE49-F238E27FC236}">
                <a16:creationId xmlns:a16="http://schemas.microsoft.com/office/drawing/2014/main" id="{C17A5624-46C9-4085-ACC2-0F2C05AD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90775"/>
            <a:ext cx="18383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로그 보관</a:t>
            </a:r>
          </a:p>
        </p:txBody>
      </p:sp>
      <p:sp>
        <p:nvSpPr>
          <p:cNvPr id="13" name="s03-panel-79">
            <a:extLst xmlns:a="http://schemas.openxmlformats.org/drawingml/2006/main">
              <a:ext uri="{FF2B5EF4-FFF2-40B4-BE49-F238E27FC236}">
                <a16:creationId xmlns:a16="http://schemas.microsoft.com/office/drawing/2014/main" id="{31E5EF81-E3DE-4785-A78E-06E2DC6E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838325"/>
            <a:ext cx="2143125" cy="120015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80">
            <a:extLst xmlns:a="http://schemas.openxmlformats.org/drawingml/2006/main">
              <a:ext uri="{FF2B5EF4-FFF2-40B4-BE49-F238E27FC236}">
                <a16:creationId xmlns:a16="http://schemas.microsoft.com/office/drawing/2014/main" id="{FB8768F6-DB4C-42D8-954B-6F04221E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71675"/>
            <a:ext cx="18383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Flink</a:t>
            </a:r>
          </a:p>
        </p:txBody>
      </p:sp>
      <p:sp>
        <p:nvSpPr>
          <p:cNvPr id="15" name="s03-text-81">
            <a:extLst xmlns:a="http://schemas.openxmlformats.org/drawingml/2006/main">
              <a:ext uri="{FF2B5EF4-FFF2-40B4-BE49-F238E27FC236}">
                <a16:creationId xmlns:a16="http://schemas.microsoft.com/office/drawing/2014/main" id="{66FBB3FB-2003-4733-8233-FA752219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90775"/>
            <a:ext cx="18383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지속 처리 · 쓰기</a:t>
            </a:r>
          </a:p>
        </p:txBody>
      </p:sp>
      <p:sp>
        <p:nvSpPr>
          <p:cNvPr id="16" name="s03-panel-82">
            <a:extLst xmlns:a="http://schemas.openxmlformats.org/drawingml/2006/main">
              <a:ext uri="{FF2B5EF4-FFF2-40B4-BE49-F238E27FC236}">
                <a16:creationId xmlns:a16="http://schemas.microsoft.com/office/drawing/2014/main" id="{A721A68C-1D62-4689-B5C2-18EDB215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38325"/>
            <a:ext cx="2400300" cy="120015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7" name="s03-text-83">
            <a:extLst xmlns:a="http://schemas.openxmlformats.org/drawingml/2006/main">
              <a:ext uri="{FF2B5EF4-FFF2-40B4-BE49-F238E27FC236}">
                <a16:creationId xmlns:a16="http://schemas.microsoft.com/office/drawing/2014/main" id="{EB2CAF4A-159C-4F8A-8059-C16BCECE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71675"/>
            <a:ext cx="2095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MinIO / S3</a:t>
            </a:r>
          </a:p>
        </p:txBody>
      </p:sp>
      <p:sp>
        <p:nvSpPr>
          <p:cNvPr id="18" name="s03-text-84">
            <a:extLst xmlns:a="http://schemas.openxmlformats.org/drawingml/2006/main">
              <a:ext uri="{FF2B5EF4-FFF2-40B4-BE49-F238E27FC236}">
                <a16:creationId xmlns:a16="http://schemas.microsoft.com/office/drawing/2014/main" id="{4B9EB10A-0307-4330-AA5E-0E5D3C6C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90775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Parquet + metadata</a:t>
            </a:r>
          </a:p>
        </p:txBody>
      </p:sp>
      <p:sp>
        <p:nvSpPr>
          <p:cNvPr id="19" name="s03-panel-85">
            <a:extLst xmlns:a="http://schemas.openxmlformats.org/drawingml/2006/main">
              <a:ext uri="{FF2B5EF4-FFF2-40B4-BE49-F238E27FC236}">
                <a16:creationId xmlns:a16="http://schemas.microsoft.com/office/drawing/2014/main" id="{0342D2B4-B491-4E4E-A34A-D461B4D8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1838325"/>
            <a:ext cx="2143125" cy="120015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s03-text-86">
            <a:extLst xmlns:a="http://schemas.openxmlformats.org/drawingml/2006/main">
              <a:ext uri="{FF2B5EF4-FFF2-40B4-BE49-F238E27FC236}">
                <a16:creationId xmlns:a16="http://schemas.microsoft.com/office/drawing/2014/main" id="{EC25E5AC-D7D6-49AD-9371-E007011D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1971675"/>
            <a:ext cx="18383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Spark SQL</a:t>
            </a:r>
          </a:p>
        </p:txBody>
      </p:sp>
      <p:sp>
        <p:nvSpPr>
          <p:cNvPr id="21" name="s03-text-87">
            <a:extLst xmlns:a="http://schemas.openxmlformats.org/drawingml/2006/main">
              <a:ext uri="{FF2B5EF4-FFF2-40B4-BE49-F238E27FC236}">
                <a16:creationId xmlns:a16="http://schemas.microsoft.com/office/drawing/2014/main" id="{E7157E5B-0B0B-40B6-9218-C5B6E14B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390775"/>
            <a:ext cx="18383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테이블 조회</a:t>
            </a:r>
          </a:p>
        </p:txBody>
      </p:sp>
      <p:sp>
        <p:nvSpPr>
          <p:cNvPr id="25" name="s03-panel-88">
            <a:extLst xmlns:a="http://schemas.openxmlformats.org/drawingml/2006/main">
              <a:ext uri="{FF2B5EF4-FFF2-40B4-BE49-F238E27FC236}">
                <a16:creationId xmlns:a16="http://schemas.microsoft.com/office/drawing/2014/main" id="{06AB9FEC-E3E2-4B50-B26B-21370422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819525"/>
            <a:ext cx="3905250" cy="120015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26" name="s03-text-89">
            <a:extLst xmlns:a="http://schemas.openxmlformats.org/drawingml/2006/main">
              <a:ext uri="{FF2B5EF4-FFF2-40B4-BE49-F238E27FC236}">
                <a16:creationId xmlns:a16="http://schemas.microsoft.com/office/drawing/2014/main" id="{87B80984-8EC1-45C4-A5B9-BF3F3A36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52875"/>
            <a:ext cx="3600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Flink state 볼륨</a:t>
            </a:r>
          </a:p>
        </p:txBody>
      </p:sp>
      <p:sp>
        <p:nvSpPr>
          <p:cNvPr id="27" name="s03-text-90">
            <a:extLst xmlns:a="http://schemas.openxmlformats.org/drawingml/2006/main">
              <a:ext uri="{FF2B5EF4-FFF2-40B4-BE49-F238E27FC236}">
                <a16:creationId xmlns:a16="http://schemas.microsoft.com/office/drawing/2014/main" id="{E9EA1AFF-555A-41D0-ADEA-F6B0B105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71975"/>
            <a:ext cx="3600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 상태 · warehouse와 별도</a:t>
            </a:r>
          </a:p>
        </p:txBody>
      </p:sp>
      <p:sp>
        <p:nvSpPr>
          <p:cNvPr id="28" name="s03-panel-91">
            <a:extLst xmlns:a="http://schemas.openxmlformats.org/drawingml/2006/main">
              <a:ext uri="{FF2B5EF4-FFF2-40B4-BE49-F238E27FC236}">
                <a16:creationId xmlns:a16="http://schemas.microsoft.com/office/drawing/2014/main" id="{AF1B9357-3E52-4920-B983-4B868C5E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19525"/>
            <a:ext cx="4648200" cy="120015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29" name="s03-text-92">
            <a:extLst xmlns:a="http://schemas.openxmlformats.org/drawingml/2006/main">
              <a:ext uri="{FF2B5EF4-FFF2-40B4-BE49-F238E27FC236}">
                <a16:creationId xmlns:a16="http://schemas.microsoft.com/office/drawing/2014/main" id="{17A1314D-C7F1-4DAE-B877-26C801C4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52875"/>
            <a:ext cx="4343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JDBC Catalog · PostgreSQL</a:t>
            </a:r>
          </a:p>
        </p:txBody>
      </p:sp>
      <p:sp>
        <p:nvSpPr>
          <p:cNvPr id="30" name="s03-text-93">
            <a:extLst xmlns:a="http://schemas.openxmlformats.org/drawingml/2006/main">
              <a:ext uri="{FF2B5EF4-FFF2-40B4-BE49-F238E27FC236}">
                <a16:creationId xmlns:a16="http://schemas.microsoft.com/office/drawing/2014/main" id="{434BC72D-0434-43BD-9CD7-98518E34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71975"/>
            <a:ext cx="4343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metadata 위치 관리</a:t>
            </a:r>
          </a:p>
        </p:txBody>
      </p:sp>
      <p:sp>
        <p:nvSpPr>
          <p:cNvPr id="34" name="s03-text-94">
            <a:extLst xmlns:a="http://schemas.openxmlformats.org/drawingml/2006/main">
              <a:ext uri="{FF2B5EF4-FFF2-40B4-BE49-F238E27FC236}">
                <a16:creationId xmlns:a16="http://schemas.microsoft.com/office/drawing/2014/main" id="{4BBC2AAB-9098-4425-9A96-AA214905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908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현재 참조 조회</a:t>
            </a:r>
          </a:p>
        </p:txBody>
      </p:sp>
      <p:sp>
        <p:nvSpPr>
          <p:cNvPr id="35" name="s03-text-95">
            <a:extLst xmlns:a="http://schemas.openxmlformats.org/drawingml/2006/main">
              <a:ext uri="{FF2B5EF4-FFF2-40B4-BE49-F238E27FC236}">
                <a16:creationId xmlns:a16="http://schemas.microsoft.com/office/drawing/2014/main" id="{48965128-C963-4745-A14F-92E4FD9E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4327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참조 갱신</a:t>
            </a:r>
          </a:p>
        </p:txBody>
      </p:sp>
      <p:sp>
        <p:nvSpPr>
          <p:cNvPr id="36" name="s03-text-96">
            <a:extLst xmlns:a="http://schemas.openxmlformats.org/drawingml/2006/main">
              <a:ext uri="{FF2B5EF4-FFF2-40B4-BE49-F238E27FC236}">
                <a16:creationId xmlns:a16="http://schemas.microsoft.com/office/drawing/2014/main" id="{0707DC60-4667-4A23-8B53-1DE83FF0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10972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Iceberg: 이 파일·스키마·snapshot을 테이블로 관리하는 규칙</a:t>
            </a:r>
          </a:p>
        </p:txBody>
      </p:sp>
      <p:sp>
        <p:nvSpPr>
          <p:cNvPr id="37" name="s03-panel-97">
            <a:extLst xmlns:a="http://schemas.openxmlformats.org/drawingml/2006/main">
              <a:ext uri="{FF2B5EF4-FFF2-40B4-BE49-F238E27FC236}">
                <a16:creationId xmlns:a16="http://schemas.microsoft.com/office/drawing/2014/main" id="{AA91A9BB-B02A-4E72-B8C3-53501700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8" name="s03-text-98">
            <a:extLst xmlns:a="http://schemas.openxmlformats.org/drawingml/2006/main">
              <a:ext uri="{FF2B5EF4-FFF2-40B4-BE49-F238E27FC236}">
                <a16:creationId xmlns:a16="http://schemas.microsoft.com/office/drawing/2014/main" id="{1F355B7D-1F5E-4129-BE7F-40FBF118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Bronze는 지속 적재 · Silver·Gold는 실행 시 갱신 · Airflow는 선택 구성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Parquet 파일과 Iceberg 테이블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8208B0-7003-498A-A6C2-ABB5CB8814B8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86915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Parquet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Iceberg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관리 단위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컬럼 데이터 파일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파일들을 묶은 테이블 상태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저장 내용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행·컬럼 통계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스키마·snapshot·파일 참조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읽기 범위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지정한 파일의 데이터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선택한 snapshot의 유효 파일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99">
            <a:extLst xmlns:a="http://schemas.openxmlformats.org/drawingml/2006/main">
              <a:ext uri="{FF2B5EF4-FFF2-40B4-BE49-F238E27FC236}">
                <a16:creationId xmlns:a16="http://schemas.microsoft.com/office/drawing/2014/main" id="{8ED6A282-EBB4-4897-BD3C-36BDF039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00">
            <a:extLst xmlns:a="http://schemas.openxmlformats.org/drawingml/2006/main">
              <a:ext uri="{FF2B5EF4-FFF2-40B4-BE49-F238E27FC236}">
                <a16:creationId xmlns:a16="http://schemas.microsoft.com/office/drawing/2014/main" id="{2C5222CF-E3A3-4C7E-8F3A-95109FE6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랩은 Parquet를 데이터 파일로 사용하는 Iceberg 테이블입니다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수집·현재 상태·지표의 책임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  <p:sp>
        <p:nvSpPr>
          <p:cNvPr id="18" name="s03-panel-101">
            <a:extLst xmlns:a="http://schemas.openxmlformats.org/drawingml/2006/main">
              <a:ext uri="{FF2B5EF4-FFF2-40B4-BE49-F238E27FC236}">
                <a16:creationId xmlns:a16="http://schemas.microsoft.com/office/drawing/2014/main" id="{1977F730-2420-4D7F-B749-ED2B2A97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02">
            <a:extLst xmlns:a="http://schemas.openxmlformats.org/drawingml/2006/main">
              <a:ext uri="{FF2B5EF4-FFF2-40B4-BE49-F238E27FC236}">
                <a16:creationId xmlns:a16="http://schemas.microsoft.com/office/drawing/2014/main" id="{E8276D23-A486-4825-A203-2F032271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</a:t>
            </a:r>
          </a:p>
        </p:txBody>
      </p:sp>
      <p:sp>
        <p:nvSpPr>
          <p:cNvPr id="20" name="s03-text-103">
            <a:extLst xmlns:a="http://schemas.openxmlformats.org/drawingml/2006/main">
              <a:ext uri="{FF2B5EF4-FFF2-40B4-BE49-F238E27FC236}">
                <a16:creationId xmlns:a16="http://schemas.microsoft.com/office/drawing/2014/main" id="{95013E12-5F6B-488A-BDB9-5FBFD4AB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원문·전달 위치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이력 보존</a:t>
            </a:r>
          </a:p>
        </p:txBody>
      </p:sp>
      <p:sp>
        <p:nvSpPr>
          <p:cNvPr id="21" name="s03-panel-104">
            <a:extLst xmlns:a="http://schemas.openxmlformats.org/drawingml/2006/main">
              <a:ext uri="{FF2B5EF4-FFF2-40B4-BE49-F238E27FC236}">
                <a16:creationId xmlns:a16="http://schemas.microsoft.com/office/drawing/2014/main" id="{5F84ED10-E1AB-42FE-9845-E8BCCD6C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105">
            <a:extLst xmlns:a="http://schemas.openxmlformats.org/drawingml/2006/main">
              <a:ext uri="{FF2B5EF4-FFF2-40B4-BE49-F238E27FC236}">
                <a16:creationId xmlns:a16="http://schemas.microsoft.com/office/drawing/2014/main" id="{BF0156DE-17F0-4AA4-8A26-FB670E38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Silver</a:t>
            </a:r>
          </a:p>
        </p:txBody>
      </p:sp>
      <p:sp>
        <p:nvSpPr>
          <p:cNvPr id="23" name="s03-text-106">
            <a:extLst xmlns:a="http://schemas.openxmlformats.org/drawingml/2006/main">
              <a:ext uri="{FF2B5EF4-FFF2-40B4-BE49-F238E27FC236}">
                <a16:creationId xmlns:a16="http://schemas.microsoft.com/office/drawing/2014/main" id="{2579E2F5-E2A9-4F6F-8AE3-BE2244D1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키·최신 판단·삭제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상태 구성</a:t>
            </a:r>
          </a:p>
        </p:txBody>
      </p:sp>
      <p:sp>
        <p:nvSpPr>
          <p:cNvPr id="24" name="s03-panel-107">
            <a:extLst xmlns:a="http://schemas.openxmlformats.org/drawingml/2006/main">
              <a:ext uri="{FF2B5EF4-FFF2-40B4-BE49-F238E27FC236}">
                <a16:creationId xmlns:a16="http://schemas.microsoft.com/office/drawing/2014/main" id="{7A514EB5-EDF7-4149-8C5D-9401181B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108">
            <a:extLst xmlns:a="http://schemas.openxmlformats.org/drawingml/2006/main">
              <a:ext uri="{FF2B5EF4-FFF2-40B4-BE49-F238E27FC236}">
                <a16:creationId xmlns:a16="http://schemas.microsoft.com/office/drawing/2014/main" id="{5BE37B81-8187-4FB7-8222-0A91DEC4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Gold</a:t>
            </a:r>
          </a:p>
        </p:txBody>
      </p:sp>
      <p:sp>
        <p:nvSpPr>
          <p:cNvPr id="26" name="s03-text-109">
            <a:extLst xmlns:a="http://schemas.openxmlformats.org/drawingml/2006/main">
              <a:ext uri="{FF2B5EF4-FFF2-40B4-BE49-F238E27FC236}">
                <a16:creationId xmlns:a16="http://schemas.microsoft.com/office/drawing/2014/main" id="{2F515277-9867-4D29-8EA5-A87199D1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업무 정의에 따른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집계와 검증</a:t>
            </a:r>
          </a:p>
        </p:txBody>
      </p:sp>
      <p:sp>
        <p:nvSpPr>
          <p:cNvPr id="27" name="s03-panel-110">
            <a:extLst xmlns:a="http://schemas.openxmlformats.org/drawingml/2006/main">
              <a:ext uri="{FF2B5EF4-FFF2-40B4-BE49-F238E27FC236}">
                <a16:creationId xmlns:a16="http://schemas.microsoft.com/office/drawing/2014/main" id="{9BCAF706-855A-40AA-9BB5-528DBE31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111">
            <a:extLst xmlns:a="http://schemas.openxmlformats.org/drawingml/2006/main">
              <a:ext uri="{FF2B5EF4-FFF2-40B4-BE49-F238E27FC236}">
                <a16:creationId xmlns:a16="http://schemas.microsoft.com/office/drawing/2014/main" id="{C66E9D50-1F20-4996-AAF0-4668C4C4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같은 업무 키의 이력 수와 현재 건수를 구분합니다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요구를 다른 구성으로 풀 수 있습니다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01633-9332-4ACD-9F86-7B851094BDA1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선택지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검토할 조건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함께 드는 비용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Airflow + Spark 배치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시간·일 단위 갱신이면 충분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 발견·재조회 범위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Spark Structured Streaming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Spark 기반 마이크로배치 활용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trigger·상태·파일 관리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Connect Iceberg Sink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전달·routing 기능이 요구에 맞음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connector·commit 설정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+ Iceberg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연속 처리·상태·복구가 필요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상시 엔진과 상태 운영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12">
            <a:extLst xmlns:a="http://schemas.openxmlformats.org/drawingml/2006/main">
              <a:ext uri="{FF2B5EF4-FFF2-40B4-BE49-F238E27FC236}">
                <a16:creationId xmlns:a16="http://schemas.microsoft.com/office/drawing/2014/main" id="{9C95708A-C420-45F2-98C5-2895BADE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13">
            <a:extLst xmlns:a="http://schemas.openxmlformats.org/drawingml/2006/main">
              <a:ext uri="{FF2B5EF4-FFF2-40B4-BE49-F238E27FC236}">
                <a16:creationId xmlns:a16="http://schemas.microsoft.com/office/drawing/2014/main" id="{AAD1136D-5A06-4840-A067-74EFFF2B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필요한 지연과 처리 규칙으로 비교합니다 · 이 수업의 벤치마크 결과는 아닙니다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내 요구에서 필요한 구성을 고르기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15" name="s03-panel-114">
            <a:extLst xmlns:a="http://schemas.openxmlformats.org/drawingml/2006/main">
              <a:ext uri="{FF2B5EF4-FFF2-40B4-BE49-F238E27FC236}">
                <a16:creationId xmlns:a16="http://schemas.microsoft.com/office/drawing/2014/main" id="{C196D2CE-B30F-4B19-B020-AF6E690D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115">
            <a:extLst xmlns:a="http://schemas.openxmlformats.org/drawingml/2006/main">
              <a:ext uri="{FF2B5EF4-FFF2-40B4-BE49-F238E27FC236}">
                <a16:creationId xmlns:a16="http://schemas.microsoft.com/office/drawing/2014/main" id="{13BE685C-0AB5-4FE7-87F7-F59485BA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업무 조건</a:t>
            </a:r>
          </a:p>
        </p:txBody>
      </p:sp>
      <p:sp>
        <p:nvSpPr>
          <p:cNvPr id="17" name="s03-text-116">
            <a:extLst xmlns:a="http://schemas.openxmlformats.org/drawingml/2006/main">
              <a:ext uri="{FF2B5EF4-FFF2-40B4-BE49-F238E27FC236}">
                <a16:creationId xmlns:a16="http://schemas.microsoft.com/office/drawing/2014/main" id="{EE66A3FF-24A5-44FC-9201-89C06D2A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값·중간 이력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허용 지연·보존 기간</a:t>
            </a:r>
          </a:p>
        </p:txBody>
      </p:sp>
      <p:sp>
        <p:nvSpPr>
          <p:cNvPr id="18" name="s03-panel-117">
            <a:extLst xmlns:a="http://schemas.openxmlformats.org/drawingml/2006/main">
              <a:ext uri="{FF2B5EF4-FFF2-40B4-BE49-F238E27FC236}">
                <a16:creationId xmlns:a16="http://schemas.microsoft.com/office/drawing/2014/main" id="{75ACE8C2-2ACF-4335-BE10-8CCF1739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18">
            <a:extLst xmlns:a="http://schemas.openxmlformats.org/drawingml/2006/main">
              <a:ext uri="{FF2B5EF4-FFF2-40B4-BE49-F238E27FC236}">
                <a16:creationId xmlns:a16="http://schemas.microsoft.com/office/drawing/2014/main" id="{EE81DB55-0A9D-47C9-B429-928733EB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구성 선택</a:t>
            </a:r>
          </a:p>
        </p:txBody>
      </p:sp>
      <p:sp>
        <p:nvSpPr>
          <p:cNvPr id="20" name="s03-text-119">
            <a:extLst xmlns:a="http://schemas.openxmlformats.org/drawingml/2006/main">
              <a:ext uri="{FF2B5EF4-FFF2-40B4-BE49-F238E27FC236}">
                <a16:creationId xmlns:a16="http://schemas.microsoft.com/office/drawing/2014/main" id="{FC45F959-B572-4CA8-B397-0E5D9FA8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선택한 경로와 이유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비교할 대안 하나</a:t>
            </a:r>
          </a:p>
        </p:txBody>
      </p:sp>
      <p:sp>
        <p:nvSpPr>
          <p:cNvPr id="21" name="s03-panel-120">
            <a:extLst xmlns:a="http://schemas.openxmlformats.org/drawingml/2006/main">
              <a:ext uri="{FF2B5EF4-FFF2-40B4-BE49-F238E27FC236}">
                <a16:creationId xmlns:a16="http://schemas.microsoft.com/office/drawing/2014/main" id="{306B3A0C-A433-4562-82C0-9F954115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121">
            <a:extLst xmlns:a="http://schemas.openxmlformats.org/drawingml/2006/main">
              <a:ext uri="{FF2B5EF4-FFF2-40B4-BE49-F238E27FC236}">
                <a16:creationId xmlns:a16="http://schemas.microsoft.com/office/drawing/2014/main" id="{4E896F01-236C-401D-A6E3-16E60059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학습지: 업무 질문·두 지연 목표·선택 이유를 잠정 기록합니다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Flink는 Kafka value를 원문으로 읽습니다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8911E-DB71-4AFB-9F64-17E64AC5691A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선언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payload STRING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value를 받을 한 컬럼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format = raw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업무 JSON을 해석하지 않음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topic-pattern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orders·payments·refunds 입력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INSERT SELECT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원문과 전달 정보를 Bronze에 저장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22">
            <a:extLst xmlns:a="http://schemas.openxmlformats.org/drawingml/2006/main">
              <a:ext uri="{FF2B5EF4-FFF2-40B4-BE49-F238E27FC236}">
                <a16:creationId xmlns:a16="http://schemas.microsoft.com/office/drawing/2014/main" id="{837D738F-6D3E-41BB-B111-809425FD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23">
            <a:extLst xmlns:a="http://schemas.openxmlformats.org/drawingml/2006/main">
              <a:ext uri="{FF2B5EF4-FFF2-40B4-BE49-F238E27FC236}">
                <a16:creationId xmlns:a16="http://schemas.microsoft.com/office/drawing/2014/main" id="{0A992DE8-E91B-4613-A416-66DE0D8F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원문 보존과 JSON 유효성 검증은 별도 책임입니다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전달 위치도 함께 저장합니다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6F8C55-CB67-4710-A9EB-81C4E069D5DF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3429000"/>
                <a:gridCol w="40195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 정보·계산식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Bronze 컬럼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읽을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topic / partition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topic / partition_id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어느 입력 구간인가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offset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kafka_offset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그 파티션의 전달 위치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timestamp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kafka_ts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Kafka 레코드 시각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CURRENT_TIMESTAMP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ingested_at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처리 시각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124">
            <a:extLst xmlns:a="http://schemas.openxmlformats.org/drawingml/2006/main">
              <a:ext uri="{FF2B5EF4-FFF2-40B4-BE49-F238E27FC236}">
                <a16:creationId xmlns:a16="http://schemas.microsoft.com/office/drawing/2014/main" id="{FA2C05CA-7BCC-497E-A749-5EFDFFCB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125">
            <a:extLst xmlns:a="http://schemas.openxmlformats.org/drawingml/2006/main">
              <a:ext uri="{FF2B5EF4-FFF2-40B4-BE49-F238E27FC236}">
                <a16:creationId xmlns:a16="http://schemas.microsoft.com/office/drawing/2014/main" id="{B07FAF66-530B-45AB-AB80-18520037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VIRTUAL로 읽은 값도 SELECT로 투영하면 Bronze에 저장됩니다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삭제 JSON과 tombstone은 어떻게 남나요?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17</a:t>
            </a:r>
          </a:p>
        </p:txBody>
      </p:sp>
      <p:sp>
        <p:nvSpPr>
          <p:cNvPr id="18" name="s03-panel-126">
            <a:extLst xmlns:a="http://schemas.openxmlformats.org/drawingml/2006/main">
              <a:ext uri="{FF2B5EF4-FFF2-40B4-BE49-F238E27FC236}">
                <a16:creationId xmlns:a16="http://schemas.microsoft.com/office/drawing/2014/main" id="{36318078-2F9D-4F85-93A4-C801E97B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27">
            <a:extLst xmlns:a="http://schemas.openxmlformats.org/drawingml/2006/main">
              <a:ext uri="{FF2B5EF4-FFF2-40B4-BE49-F238E27FC236}">
                <a16:creationId xmlns:a16="http://schemas.microsoft.com/office/drawing/2014/main" id="{2C93C2F0-AB70-407C-A466-748FA2C6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op=d JSON</a:t>
            </a:r>
          </a:p>
        </p:txBody>
      </p:sp>
      <p:sp>
        <p:nvSpPr>
          <p:cNvPr id="20" name="s03-text-128">
            <a:extLst xmlns:a="http://schemas.openxmlformats.org/drawingml/2006/main">
              <a:ext uri="{FF2B5EF4-FFF2-40B4-BE49-F238E27FC236}">
                <a16:creationId xmlns:a16="http://schemas.microsoft.com/office/drawing/2014/main" id="{AE47263A-7772-45F7-BC9C-C7C50FAE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본문이 있는 삭제 이력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Bronze에 append</a:t>
            </a:r>
          </a:p>
        </p:txBody>
      </p:sp>
      <p:sp>
        <p:nvSpPr>
          <p:cNvPr id="21" name="s03-panel-129">
            <a:extLst xmlns:a="http://schemas.openxmlformats.org/drawingml/2006/main">
              <a:ext uri="{FF2B5EF4-FFF2-40B4-BE49-F238E27FC236}">
                <a16:creationId xmlns:a16="http://schemas.microsoft.com/office/drawing/2014/main" id="{F60C9CD7-4EB7-4171-B0AE-4F7C42B3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130">
            <a:extLst xmlns:a="http://schemas.openxmlformats.org/drawingml/2006/main">
              <a:ext uri="{FF2B5EF4-FFF2-40B4-BE49-F238E27FC236}">
                <a16:creationId xmlns:a16="http://schemas.microsoft.com/office/drawing/2014/main" id="{3EE5C85C-3F66-4FE4-9D19-DBAE955D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wire-null tombstone</a:t>
            </a:r>
          </a:p>
        </p:txBody>
      </p:sp>
      <p:sp>
        <p:nvSpPr>
          <p:cNvPr id="23" name="s03-text-131">
            <a:extLst xmlns:a="http://schemas.openxmlformats.org/drawingml/2006/main">
              <a:ext uri="{FF2B5EF4-FFF2-40B4-BE49-F238E27FC236}">
                <a16:creationId xmlns:a16="http://schemas.microsoft.com/office/drawing/2014/main" id="{E7A0DD0E-AE7A-4557-90A7-0F687A7B0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키의 null value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필터에서 제외</a:t>
            </a:r>
          </a:p>
        </p:txBody>
      </p:sp>
      <p:sp>
        <p:nvSpPr>
          <p:cNvPr id="24" name="s03-panel-132">
            <a:extLst xmlns:a="http://schemas.openxmlformats.org/drawingml/2006/main">
              <a:ext uri="{FF2B5EF4-FFF2-40B4-BE49-F238E27FC236}">
                <a16:creationId xmlns:a16="http://schemas.microsoft.com/office/drawing/2014/main" id="{88FD8402-2AB7-44F4-AB81-90DA2824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133">
            <a:extLst xmlns:a="http://schemas.openxmlformats.org/drawingml/2006/main">
              <a:ext uri="{FF2B5EF4-FFF2-40B4-BE49-F238E27FC236}">
                <a16:creationId xmlns:a16="http://schemas.microsoft.com/office/drawing/2014/main" id="{13F5A481-CBE1-4839-A60E-441FF34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payload IS NOT NULL</a:t>
            </a:r>
          </a:p>
        </p:txBody>
      </p:sp>
      <p:sp>
        <p:nvSpPr>
          <p:cNvPr id="26" name="s03-text-134">
            <a:extLst xmlns:a="http://schemas.openxmlformats.org/drawingml/2006/main">
              <a:ext uri="{FF2B5EF4-FFF2-40B4-BE49-F238E27FC236}">
                <a16:creationId xmlns:a16="http://schemas.microsoft.com/office/drawing/2014/main" id="{4730C2A1-DFF8-4617-B0DD-54D7D7B2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본문 존재 여부 필터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업무 삭제와 구분</a:t>
            </a:r>
          </a:p>
        </p:txBody>
      </p:sp>
      <p:sp>
        <p:nvSpPr>
          <p:cNvPr id="27" name="s03-panel-135">
            <a:extLst xmlns:a="http://schemas.openxmlformats.org/drawingml/2006/main">
              <a:ext uri="{FF2B5EF4-FFF2-40B4-BE49-F238E27FC236}">
                <a16:creationId xmlns:a16="http://schemas.microsoft.com/office/drawing/2014/main" id="{FF68058D-1B66-48BF-9E5C-BCB1BC62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136">
            <a:extLst xmlns:a="http://schemas.openxmlformats.org/drawingml/2006/main">
              <a:ext uri="{FF2B5EF4-FFF2-40B4-BE49-F238E27FC236}">
                <a16:creationId xmlns:a16="http://schemas.microsoft.com/office/drawing/2014/main" id="{7E3A2A3A-1538-4B65-8435-899DE23F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Bronze의 op=d 행은 Iceberg DeleteFile이 아닙니다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append 이력에서 현재 상태를 읽으려면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18</a:t>
            </a:r>
          </a:p>
        </p:txBody>
      </p:sp>
      <p:sp>
        <p:nvSpPr>
          <p:cNvPr id="15" name="s03-panel-137">
            <a:extLst xmlns:a="http://schemas.openxmlformats.org/drawingml/2006/main">
              <a:ext uri="{FF2B5EF4-FFF2-40B4-BE49-F238E27FC236}">
                <a16:creationId xmlns:a16="http://schemas.microsoft.com/office/drawing/2014/main" id="{43A597D3-8BB0-43CE-B5E4-40FB3410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138">
            <a:extLst xmlns:a="http://schemas.openxmlformats.org/drawingml/2006/main">
              <a:ext uri="{FF2B5EF4-FFF2-40B4-BE49-F238E27FC236}">
                <a16:creationId xmlns:a16="http://schemas.microsoft.com/office/drawing/2014/main" id="{31F5D444-1C64-4957-A560-EF4B02D3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Bronze append</a:t>
            </a:r>
          </a:p>
        </p:txBody>
      </p:sp>
      <p:sp>
        <p:nvSpPr>
          <p:cNvPr id="17" name="s03-text-139">
            <a:extLst xmlns:a="http://schemas.openxmlformats.org/drawingml/2006/main">
              <a:ext uri="{FF2B5EF4-FFF2-40B4-BE49-F238E27FC236}">
                <a16:creationId xmlns:a16="http://schemas.microsoft.com/office/drawing/2014/main" id="{AA4236A5-EAE4-40EB-B79F-CF334F71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생성·정정·삭제를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각각의 행으로 보존</a:t>
            </a:r>
          </a:p>
        </p:txBody>
      </p:sp>
      <p:sp>
        <p:nvSpPr>
          <p:cNvPr id="18" name="s03-panel-140">
            <a:extLst xmlns:a="http://schemas.openxmlformats.org/drawingml/2006/main">
              <a:ext uri="{FF2B5EF4-FFF2-40B4-BE49-F238E27FC236}">
                <a16:creationId xmlns:a16="http://schemas.microsoft.com/office/drawing/2014/main" id="{FA809F23-5041-4F8A-B95F-A1920671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41">
            <a:extLst xmlns:a="http://schemas.openxmlformats.org/drawingml/2006/main">
              <a:ext uri="{FF2B5EF4-FFF2-40B4-BE49-F238E27FC236}">
                <a16:creationId xmlns:a16="http://schemas.microsoft.com/office/drawing/2014/main" id="{BFA1EBCC-4F79-4E3D-82BB-FB027B1E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현재 상태 해석</a:t>
            </a:r>
          </a:p>
        </p:txBody>
      </p:sp>
      <p:sp>
        <p:nvSpPr>
          <p:cNvPr id="20" name="s03-text-142">
            <a:extLst xmlns:a="http://schemas.openxmlformats.org/drawingml/2006/main">
              <a:ext uri="{FF2B5EF4-FFF2-40B4-BE49-F238E27FC236}">
                <a16:creationId xmlns:a16="http://schemas.microsoft.com/office/drawing/2014/main" id="{B2F2FD8B-76B9-4B76-A21E-5AB92798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키의 최신 판단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삭제·반복 전달 규칙 적용</a:t>
            </a:r>
          </a:p>
        </p:txBody>
      </p:sp>
      <p:sp>
        <p:nvSpPr>
          <p:cNvPr id="21" name="s03-panel-143">
            <a:extLst xmlns:a="http://schemas.openxmlformats.org/drawingml/2006/main">
              <a:ext uri="{FF2B5EF4-FFF2-40B4-BE49-F238E27FC236}">
                <a16:creationId xmlns:a16="http://schemas.microsoft.com/office/drawing/2014/main" id="{EF440B10-10CE-4F83-B240-EF6837F2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144">
            <a:extLst xmlns:a="http://schemas.openxmlformats.org/drawingml/2006/main">
              <a:ext uri="{FF2B5EF4-FFF2-40B4-BE49-F238E27FC236}">
                <a16:creationId xmlns:a16="http://schemas.microsoft.com/office/drawing/2014/main" id="{3C0C5B4A-D84D-4AA5-9C51-9EE36D1F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이력 세 행이 현재 환불 세 건을 의미하지는 않습니다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checkpoint는 무엇을 남기나요?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19</a:t>
            </a:r>
          </a:p>
        </p:txBody>
      </p:sp>
      <p:sp>
        <p:nvSpPr>
          <p:cNvPr id="18" name="s03-panel-145">
            <a:extLst xmlns:a="http://schemas.openxmlformats.org/drawingml/2006/main">
              <a:ext uri="{FF2B5EF4-FFF2-40B4-BE49-F238E27FC236}">
                <a16:creationId xmlns:a16="http://schemas.microsoft.com/office/drawing/2014/main" id="{04F8455C-84F7-48D5-890E-9D2F8B26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46">
            <a:extLst xmlns:a="http://schemas.openxmlformats.org/drawingml/2006/main">
              <a:ext uri="{FF2B5EF4-FFF2-40B4-BE49-F238E27FC236}">
                <a16:creationId xmlns:a16="http://schemas.microsoft.com/office/drawing/2014/main" id="{E1A4A3DC-0601-46D1-B68B-422357FA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복구 지점</a:t>
            </a:r>
          </a:p>
        </p:txBody>
      </p:sp>
      <p:sp>
        <p:nvSpPr>
          <p:cNvPr id="20" name="s03-text-147">
            <a:extLst xmlns:a="http://schemas.openxmlformats.org/drawingml/2006/main">
              <a:ext uri="{FF2B5EF4-FFF2-40B4-BE49-F238E27FC236}">
                <a16:creationId xmlns:a16="http://schemas.microsoft.com/office/drawing/2014/main" id="{877658DD-1E7E-4377-B25A-F6683E6D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 위치와 연산 상태를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일관되게 보존</a:t>
            </a:r>
          </a:p>
        </p:txBody>
      </p:sp>
      <p:sp>
        <p:nvSpPr>
          <p:cNvPr id="21" name="s03-panel-148">
            <a:extLst xmlns:a="http://schemas.openxmlformats.org/drawingml/2006/main">
              <a:ext uri="{FF2B5EF4-FFF2-40B4-BE49-F238E27FC236}">
                <a16:creationId xmlns:a16="http://schemas.microsoft.com/office/drawing/2014/main" id="{2790FB80-2CBD-4F23-9A5D-2DF0EF4E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149">
            <a:extLst xmlns:a="http://schemas.openxmlformats.org/drawingml/2006/main">
              <a:ext uri="{FF2B5EF4-FFF2-40B4-BE49-F238E27FC236}">
                <a16:creationId xmlns:a16="http://schemas.microsoft.com/office/drawing/2014/main" id="{437F951C-6E52-4E80-AB39-A378D765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현재 경로</a:t>
            </a:r>
          </a:p>
        </p:txBody>
      </p:sp>
      <p:sp>
        <p:nvSpPr>
          <p:cNvPr id="23" name="s03-text-150">
            <a:extLst xmlns:a="http://schemas.openxmlformats.org/drawingml/2006/main">
              <a:ext uri="{FF2B5EF4-FFF2-40B4-BE49-F238E27FC236}">
                <a16:creationId xmlns:a16="http://schemas.microsoft.com/office/drawing/2014/main" id="{116188CB-E079-4E7D-AF85-E1F22568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flink-state 볼륨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checkpoint·savepoint</a:t>
            </a:r>
          </a:p>
        </p:txBody>
      </p:sp>
      <p:sp>
        <p:nvSpPr>
          <p:cNvPr id="24" name="s03-panel-151">
            <a:extLst xmlns:a="http://schemas.openxmlformats.org/drawingml/2006/main">
              <a:ext uri="{FF2B5EF4-FFF2-40B4-BE49-F238E27FC236}">
                <a16:creationId xmlns:a16="http://schemas.microsoft.com/office/drawing/2014/main" id="{6D1380B1-9384-4B16-B2B7-85D77452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152">
            <a:extLst xmlns:a="http://schemas.openxmlformats.org/drawingml/2006/main">
              <a:ext uri="{FF2B5EF4-FFF2-40B4-BE49-F238E27FC236}">
                <a16:creationId xmlns:a16="http://schemas.microsoft.com/office/drawing/2014/main" id="{8DC1CA46-1B85-4785-91DC-01B9B7E9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10초 간격</a:t>
            </a:r>
          </a:p>
        </p:txBody>
      </p:sp>
      <p:sp>
        <p:nvSpPr>
          <p:cNvPr id="26" name="s03-text-153">
            <a:extLst xmlns:a="http://schemas.openxmlformats.org/drawingml/2006/main">
              <a:ext uri="{FF2B5EF4-FFF2-40B4-BE49-F238E27FC236}">
                <a16:creationId xmlns:a16="http://schemas.microsoft.com/office/drawing/2014/main" id="{C23012A0-E9C4-4654-928E-FD90C123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주기 설정이며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조회 지연 상한은 아님</a:t>
            </a:r>
          </a:p>
        </p:txBody>
      </p:sp>
      <p:sp>
        <p:nvSpPr>
          <p:cNvPr id="27" name="s03-panel-154">
            <a:extLst xmlns:a="http://schemas.openxmlformats.org/drawingml/2006/main">
              <a:ext uri="{FF2B5EF4-FFF2-40B4-BE49-F238E27FC236}">
                <a16:creationId xmlns:a16="http://schemas.microsoft.com/office/drawing/2014/main" id="{2B4DCD31-CC9B-40E4-A34E-0B536643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155">
            <a:extLst xmlns:a="http://schemas.openxmlformats.org/drawingml/2006/main">
              <a:ext uri="{FF2B5EF4-FFF2-40B4-BE49-F238E27FC236}">
                <a16:creationId xmlns:a16="http://schemas.microsoft.com/office/drawing/2014/main" id="{C63F8614-C0BC-4AD9-B7B6-130B6FFF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Flink 상태 저장과 Iceberg 테이블 확정을 나누어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earliest 시작과 저장 상태 복원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20</a:t>
            </a:r>
          </a:p>
        </p:txBody>
      </p:sp>
      <p:sp>
        <p:nvSpPr>
          <p:cNvPr id="15" name="s03-panel-156">
            <a:extLst xmlns:a="http://schemas.openxmlformats.org/drawingml/2006/main">
              <a:ext uri="{FF2B5EF4-FFF2-40B4-BE49-F238E27FC236}">
                <a16:creationId xmlns:a16="http://schemas.microsoft.com/office/drawing/2014/main" id="{2DBF72C1-0C42-4881-BD0D-36B544663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157">
            <a:extLst xmlns:a="http://schemas.openxmlformats.org/drawingml/2006/main">
              <a:ext uri="{FF2B5EF4-FFF2-40B4-BE49-F238E27FC236}">
                <a16:creationId xmlns:a16="http://schemas.microsoft.com/office/drawing/2014/main" id="{FCAC2F48-8541-49BA-802F-8B9FCEF0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새 시작</a:t>
            </a:r>
          </a:p>
        </p:txBody>
      </p:sp>
      <p:sp>
        <p:nvSpPr>
          <p:cNvPr id="17" name="s03-text-158">
            <a:extLst xmlns:a="http://schemas.openxmlformats.org/drawingml/2006/main">
              <a:ext uri="{FF2B5EF4-FFF2-40B4-BE49-F238E27FC236}">
                <a16:creationId xmlns:a16="http://schemas.microsoft.com/office/drawing/2014/main" id="{A974D19B-7F0B-4DB3-BEC9-A46CCF8C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저장 상태가 없으면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startup 설정을 적용</a:t>
            </a:r>
          </a:p>
        </p:txBody>
      </p:sp>
      <p:sp>
        <p:nvSpPr>
          <p:cNvPr id="18" name="s03-panel-159">
            <a:extLst xmlns:a="http://schemas.openxmlformats.org/drawingml/2006/main">
              <a:ext uri="{FF2B5EF4-FFF2-40B4-BE49-F238E27FC236}">
                <a16:creationId xmlns:a16="http://schemas.microsoft.com/office/drawing/2014/main" id="{037364B4-A2E4-47AE-A1A2-96FEDF66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60">
            <a:extLst xmlns:a="http://schemas.openxmlformats.org/drawingml/2006/main">
              <a:ext uri="{FF2B5EF4-FFF2-40B4-BE49-F238E27FC236}">
                <a16:creationId xmlns:a16="http://schemas.microsoft.com/office/drawing/2014/main" id="{8F124843-8074-4D23-AA50-8BD58C65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상태 복원</a:t>
            </a:r>
          </a:p>
        </p:txBody>
      </p:sp>
      <p:sp>
        <p:nvSpPr>
          <p:cNvPr id="20" name="s03-text-161">
            <a:extLst xmlns:a="http://schemas.openxmlformats.org/drawingml/2006/main">
              <a:ext uri="{FF2B5EF4-FFF2-40B4-BE49-F238E27FC236}">
                <a16:creationId xmlns:a16="http://schemas.microsoft.com/office/drawing/2014/main" id="{EB8AB143-278D-4C34-BEE5-DDFA4173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저장된 입력 위치와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pending 작업을 이어감</a:t>
            </a:r>
          </a:p>
        </p:txBody>
      </p:sp>
      <p:sp>
        <p:nvSpPr>
          <p:cNvPr id="21" name="s03-panel-162">
            <a:extLst xmlns:a="http://schemas.openxmlformats.org/drawingml/2006/main">
              <a:ext uri="{FF2B5EF4-FFF2-40B4-BE49-F238E27FC236}">
                <a16:creationId xmlns:a16="http://schemas.microsoft.com/office/drawing/2014/main" id="{454E3C24-416C-434E-86EC-41CB60C3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163">
            <a:extLst xmlns:a="http://schemas.openxmlformats.org/drawingml/2006/main">
              <a:ext uri="{FF2B5EF4-FFF2-40B4-BE49-F238E27FC236}">
                <a16:creationId xmlns:a16="http://schemas.microsoft.com/office/drawing/2014/main" id="{1889BFA5-2345-4C5A-8AA1-478E9ECA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상태 없이 재제출하는 것과 복구하는 것을 구분합니다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60">
            <a:extLst xmlns:a="http://schemas.openxmlformats.org/drawingml/2006/main">
              <a:ext uri="{FF2B5EF4-FFF2-40B4-BE49-F238E27FC236}">
                <a16:creationId xmlns:a16="http://schemas.microsoft.com/office/drawing/2014/main" id="{B1BDA8A5-6773-410F-8448-B5E36E64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휴식</a:t>
            </a:r>
          </a:p>
        </p:txBody>
      </p:sp>
      <p:sp>
        <p:nvSpPr>
          <p:cNvPr id="2" name="text-161">
            <a:extLst xmlns:a="http://schemas.openxmlformats.org/drawingml/2006/main">
              <a:ext uri="{FF2B5EF4-FFF2-40B4-BE49-F238E27FC236}">
                <a16:creationId xmlns:a16="http://schemas.microsoft.com/office/drawing/2014/main" id="{0E6E3B85-6DA0-4AAA-A142-63F90EED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10분 쉬고 이어가겠습니다</a:t>
            </a:r>
          </a:p>
        </p:txBody>
      </p:sp>
      <p:sp>
        <p:nvSpPr>
          <p:cNvPr id="3" name="text-162">
            <a:extLst xmlns:a="http://schemas.openxmlformats.org/drawingml/2006/main">
              <a:ext uri="{FF2B5EF4-FFF2-40B4-BE49-F238E27FC236}">
                <a16:creationId xmlns:a16="http://schemas.microsoft.com/office/drawing/2014/main" id="{8FA2393D-F3D7-475B-912A-CCF9563E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돌아오면 파일 준비부터 테이블 commit까지 따라갑니다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40ACDD-11C3-4F8B-916E-94A51C03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163">
            <a:extLst xmlns:a="http://schemas.openxmlformats.org/drawingml/2006/main">
              <a:ext uri="{FF2B5EF4-FFF2-40B4-BE49-F238E27FC236}">
                <a16:creationId xmlns:a16="http://schemas.microsoft.com/office/drawing/2014/main" id="{CE105055-FFDE-483A-9064-06940394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6" name="text-164">
            <a:extLst xmlns:a="http://schemas.openxmlformats.org/drawingml/2006/main">
              <a:ext uri="{FF2B5EF4-FFF2-40B4-BE49-F238E27FC236}">
                <a16:creationId xmlns:a16="http://schemas.microsoft.com/office/drawing/2014/main" id="{1C123AE8-6FC1-49D6-B9B8-F210BE01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20754875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2E9C47-48EA-4238-B01C-22FD938B2A2A}"/>
              </a:ext>
            </a:extLst>
          </p:cNvPr>
          <p:cNvCxnSpPr>
            <a:stCxn xmlns:a="http://schemas.openxmlformats.org/drawingml/2006/main" id="22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3848100" y="43529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A38D8D-FD2A-4CA4-BB4C-80C75F1AFB0F}"/>
              </a:ext>
            </a:extLst>
          </p:cNvPr>
          <p:cNvCxnSpPr>
            <a:stCxn xmlns:a="http://schemas.openxmlformats.org/drawingml/2006/main" id="19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7715250" y="43529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4092FC-9AE7-4DBA-B135-AB5B174551BF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9963150" y="3019425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2FE058-4FB9-453F-A6BA-CC790C3D49D9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15250" y="24003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2672FA-AC47-4550-BF61-A1400AC8DECE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848100" y="24003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Iceberg reader가 파일을 찾는 순서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22</a:t>
            </a:r>
          </a:p>
        </p:txBody>
      </p:sp>
      <p:sp>
        <p:nvSpPr>
          <p:cNvPr id="10" name="s03-panel-164">
            <a:extLst xmlns:a="http://schemas.openxmlformats.org/drawingml/2006/main">
              <a:ext uri="{FF2B5EF4-FFF2-40B4-BE49-F238E27FC236}">
                <a16:creationId xmlns:a16="http://schemas.microsoft.com/office/drawing/2014/main" id="{1994BE69-EF2C-43CC-B553-4B35CBE3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11" name="s03-text-165">
            <a:extLst xmlns:a="http://schemas.openxmlformats.org/drawingml/2006/main">
              <a:ext uri="{FF2B5EF4-FFF2-40B4-BE49-F238E27FC236}">
                <a16:creationId xmlns:a16="http://schemas.microsoft.com/office/drawing/2014/main" id="{ED5D3527-4759-4569-A755-352268E1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14525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① Catalog PostgreSQL</a:t>
            </a:r>
          </a:p>
        </p:txBody>
      </p:sp>
      <p:sp>
        <p:nvSpPr>
          <p:cNvPr id="12" name="s03-text-166">
            <a:extLst xmlns:a="http://schemas.openxmlformats.org/drawingml/2006/main">
              <a:ext uri="{FF2B5EF4-FFF2-40B4-BE49-F238E27FC236}">
                <a16:creationId xmlns:a16="http://schemas.microsoft.com/office/drawing/2014/main" id="{7A91F654-963D-4DAF-B3B2-2C09A834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metadata_location</a:t>
            </a:r>
          </a:p>
        </p:txBody>
      </p:sp>
      <p:sp>
        <p:nvSpPr>
          <p:cNvPr id="13" name="s03-panel-167">
            <a:extLst xmlns:a="http://schemas.openxmlformats.org/drawingml/2006/main">
              <a:ext uri="{FF2B5EF4-FFF2-40B4-BE49-F238E27FC236}">
                <a16:creationId xmlns:a16="http://schemas.microsoft.com/office/drawing/2014/main" id="{A889BBE0-08AD-4B9B-9861-20170C7E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81175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168">
            <a:extLst xmlns:a="http://schemas.openxmlformats.org/drawingml/2006/main">
              <a:ext uri="{FF2B5EF4-FFF2-40B4-BE49-F238E27FC236}">
                <a16:creationId xmlns:a16="http://schemas.microsoft.com/office/drawing/2014/main" id="{46FCB6E7-C92B-4942-9656-810C23FF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14525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② metadata.json</a:t>
            </a:r>
          </a:p>
        </p:txBody>
      </p:sp>
      <p:sp>
        <p:nvSpPr>
          <p:cNvPr id="15" name="s03-text-169">
            <a:extLst xmlns:a="http://schemas.openxmlformats.org/drawingml/2006/main">
              <a:ext uri="{FF2B5EF4-FFF2-40B4-BE49-F238E27FC236}">
                <a16:creationId xmlns:a16="http://schemas.microsoft.com/office/drawing/2014/main" id="{61763A58-BD3E-4580-926A-1A45C98D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33625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스키마 · 현재 snapshot ID</a:t>
            </a:r>
          </a:p>
        </p:txBody>
      </p:sp>
      <p:sp>
        <p:nvSpPr>
          <p:cNvPr id="16" name="s03-panel-170">
            <a:extLst xmlns:a="http://schemas.openxmlformats.org/drawingml/2006/main">
              <a:ext uri="{FF2B5EF4-FFF2-40B4-BE49-F238E27FC236}">
                <a16:creationId xmlns:a16="http://schemas.microsoft.com/office/drawing/2014/main" id="{8A8348DD-18E0-4869-A175-B8BFC5296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81175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7" name="s03-text-171">
            <a:extLst xmlns:a="http://schemas.openxmlformats.org/drawingml/2006/main">
              <a:ext uri="{FF2B5EF4-FFF2-40B4-BE49-F238E27FC236}">
                <a16:creationId xmlns:a16="http://schemas.microsoft.com/office/drawing/2014/main" id="{20042E57-69E4-41B9-8047-6F039D0E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14525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③ Snapshot</a:t>
            </a:r>
          </a:p>
        </p:txBody>
      </p:sp>
      <p:sp>
        <p:nvSpPr>
          <p:cNvPr id="18" name="s03-text-172">
            <a:extLst xmlns:a="http://schemas.openxmlformats.org/drawingml/2006/main">
              <a:ext uri="{FF2B5EF4-FFF2-40B4-BE49-F238E27FC236}">
                <a16:creationId xmlns:a16="http://schemas.microsoft.com/office/drawing/2014/main" id="{A8C576F1-2B45-4673-B245-C1EFBD36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33625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manifest list 위치</a:t>
            </a:r>
          </a:p>
        </p:txBody>
      </p:sp>
      <p:sp>
        <p:nvSpPr>
          <p:cNvPr id="19" name="s03-panel-173">
            <a:extLst xmlns:a="http://schemas.openxmlformats.org/drawingml/2006/main">
              <a:ext uri="{FF2B5EF4-FFF2-40B4-BE49-F238E27FC236}">
                <a16:creationId xmlns:a16="http://schemas.microsoft.com/office/drawing/2014/main" id="{3D669628-22A2-48AC-9503-14A682DF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33800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0" name="s03-text-174">
            <a:extLst xmlns:a="http://schemas.openxmlformats.org/drawingml/2006/main">
              <a:ext uri="{FF2B5EF4-FFF2-40B4-BE49-F238E27FC236}">
                <a16:creationId xmlns:a16="http://schemas.microsoft.com/office/drawing/2014/main" id="{A7A42676-D37C-4A2E-A58C-C973D4DB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6715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④ Manifest list</a:t>
            </a:r>
          </a:p>
        </p:txBody>
      </p:sp>
      <p:sp>
        <p:nvSpPr>
          <p:cNvPr id="21" name="s03-text-175">
            <a:extLst xmlns:a="http://schemas.openxmlformats.org/drawingml/2006/main">
              <a:ext uri="{FF2B5EF4-FFF2-40B4-BE49-F238E27FC236}">
                <a16:creationId xmlns:a16="http://schemas.microsoft.com/office/drawing/2014/main" id="{43D35961-46AA-4561-B8D3-A63E5851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86250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manifest 파일 목록 · Avro</a:t>
            </a:r>
          </a:p>
        </p:txBody>
      </p:sp>
      <p:sp>
        <p:nvSpPr>
          <p:cNvPr id="22" name="s03-panel-176">
            <a:extLst xmlns:a="http://schemas.openxmlformats.org/drawingml/2006/main">
              <a:ext uri="{FF2B5EF4-FFF2-40B4-BE49-F238E27FC236}">
                <a16:creationId xmlns:a16="http://schemas.microsoft.com/office/drawing/2014/main" id="{4505A635-F8E6-457A-A1D3-2814AB44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33800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3" name="s03-text-177">
            <a:extLst xmlns:a="http://schemas.openxmlformats.org/drawingml/2006/main">
              <a:ext uri="{FF2B5EF4-FFF2-40B4-BE49-F238E27FC236}">
                <a16:creationId xmlns:a16="http://schemas.microsoft.com/office/drawing/2014/main" id="{397DC4DD-5321-4B4B-8B86-7EA33C21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86715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⑤ Manifest</a:t>
            </a:r>
          </a:p>
        </p:txBody>
      </p:sp>
      <p:sp>
        <p:nvSpPr>
          <p:cNvPr id="24" name="s03-text-178">
            <a:extLst xmlns:a="http://schemas.openxmlformats.org/drawingml/2006/main">
              <a:ext uri="{FF2B5EF4-FFF2-40B4-BE49-F238E27FC236}">
                <a16:creationId xmlns:a16="http://schemas.microsoft.com/office/drawing/2014/main" id="{B451FBC2-8B9E-4ED3-BD63-8F58E45F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86250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data file 항목 · Avro</a:t>
            </a:r>
          </a:p>
        </p:txBody>
      </p:sp>
      <p:sp>
        <p:nvSpPr>
          <p:cNvPr id="25" name="s03-panel-179">
            <a:extLst xmlns:a="http://schemas.openxmlformats.org/drawingml/2006/main">
              <a:ext uri="{FF2B5EF4-FFF2-40B4-BE49-F238E27FC236}">
                <a16:creationId xmlns:a16="http://schemas.microsoft.com/office/drawing/2014/main" id="{D116312F-B652-4B54-9AB2-C6872525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2385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6" name="s03-text-180">
            <a:extLst xmlns:a="http://schemas.openxmlformats.org/drawingml/2006/main">
              <a:ext uri="{FF2B5EF4-FFF2-40B4-BE49-F238E27FC236}">
                <a16:creationId xmlns:a16="http://schemas.microsoft.com/office/drawing/2014/main" id="{B0E79679-9D23-4F12-84BB-A6E258CE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⑥ Parquet</a:t>
            </a:r>
          </a:p>
        </p:txBody>
      </p:sp>
      <p:sp>
        <p:nvSpPr>
          <p:cNvPr id="27" name="s03-text-181">
            <a:extLst xmlns:a="http://schemas.openxmlformats.org/drawingml/2006/main">
              <a:ext uri="{FF2B5EF4-FFF2-40B4-BE49-F238E27FC236}">
                <a16:creationId xmlns:a16="http://schemas.microsoft.com/office/drawing/2014/main" id="{6B14187E-8BD8-428C-BBF4-8A3C2F5F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2933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실제 Bronze 행</a:t>
            </a:r>
          </a:p>
        </p:txBody>
      </p:sp>
      <p:sp>
        <p:nvSpPr>
          <p:cNvPr id="33" name="s03-text-182">
            <a:extLst xmlns:a="http://schemas.openxmlformats.org/drawingml/2006/main">
              <a:ext uri="{FF2B5EF4-FFF2-40B4-BE49-F238E27FC236}">
                <a16:creationId xmlns:a16="http://schemas.microsoft.com/office/drawing/2014/main" id="{189AFED8-BDA4-4A8D-B219-84CAE39E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metadata.json · manifest list · manifest · Parquet는 MinIO / S3에 저장</a:t>
            </a:r>
          </a:p>
        </p:txBody>
      </p:sp>
      <p:sp>
        <p:nvSpPr>
          <p:cNvPr id="34" name="s03-panel-183">
            <a:extLst xmlns:a="http://schemas.openxmlformats.org/drawingml/2006/main">
              <a:ext uri="{FF2B5EF4-FFF2-40B4-BE49-F238E27FC236}">
                <a16:creationId xmlns:a16="http://schemas.microsoft.com/office/drawing/2014/main" id="{52B4A78E-0544-4E1B-9F25-34D237D0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5" name="s03-text-184">
            <a:extLst xmlns:a="http://schemas.openxmlformats.org/drawingml/2006/main">
              <a:ext uri="{FF2B5EF4-FFF2-40B4-BE49-F238E27FC236}">
                <a16:creationId xmlns:a16="http://schemas.microsoft.com/office/drawing/2014/main" id="{61759D51-BC8A-42E0-B58E-57199CF0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Catalog의 현재 참조가 읽을 metadata와 snapshot을 결정합니다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snapshot은 테이블 전체 복사일까요?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  <p:sp>
        <p:nvSpPr>
          <p:cNvPr id="15" name="s03-panel-185">
            <a:extLst xmlns:a="http://schemas.openxmlformats.org/drawingml/2006/main">
              <a:ext uri="{FF2B5EF4-FFF2-40B4-BE49-F238E27FC236}">
                <a16:creationId xmlns:a16="http://schemas.microsoft.com/office/drawing/2014/main" id="{366BBFAE-B102-45AB-AAC6-7AA95D18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186">
            <a:extLst xmlns:a="http://schemas.openxmlformats.org/drawingml/2006/main">
              <a:ext uri="{FF2B5EF4-FFF2-40B4-BE49-F238E27FC236}">
                <a16:creationId xmlns:a16="http://schemas.microsoft.com/office/drawing/2014/main" id="{1D580F7C-DE7D-4693-A0CA-B4204D59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새 테이블 상태</a:t>
            </a:r>
          </a:p>
        </p:txBody>
      </p:sp>
      <p:sp>
        <p:nvSpPr>
          <p:cNvPr id="17" name="s03-text-187">
            <a:extLst xmlns:a="http://schemas.openxmlformats.org/drawingml/2006/main">
              <a:ext uri="{FF2B5EF4-FFF2-40B4-BE49-F238E27FC236}">
                <a16:creationId xmlns:a16="http://schemas.microsoft.com/office/drawing/2014/main" id="{B0B5C537-DCB6-4B78-A8DD-CD260D5A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snapshot과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 참조를 확정</a:t>
            </a:r>
          </a:p>
        </p:txBody>
      </p:sp>
      <p:sp>
        <p:nvSpPr>
          <p:cNvPr id="18" name="s03-panel-188">
            <a:extLst xmlns:a="http://schemas.openxmlformats.org/drawingml/2006/main">
              <a:ext uri="{FF2B5EF4-FFF2-40B4-BE49-F238E27FC236}">
                <a16:creationId xmlns:a16="http://schemas.microsoft.com/office/drawing/2014/main" id="{E33A1188-CC5A-49BF-97A7-ECDCD811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189">
            <a:extLst xmlns:a="http://schemas.openxmlformats.org/drawingml/2006/main">
              <a:ext uri="{FF2B5EF4-FFF2-40B4-BE49-F238E27FC236}">
                <a16:creationId xmlns:a16="http://schemas.microsoft.com/office/drawing/2014/main" id="{400535BB-B97E-41DF-93B2-FE29174A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기존 파일 재사용</a:t>
            </a:r>
          </a:p>
        </p:txBody>
      </p:sp>
      <p:sp>
        <p:nvSpPr>
          <p:cNvPr id="20" name="s03-text-190">
            <a:extLst xmlns:a="http://schemas.openxmlformats.org/drawingml/2006/main">
              <a:ext uri="{FF2B5EF4-FFF2-40B4-BE49-F238E27FC236}">
                <a16:creationId xmlns:a16="http://schemas.microsoft.com/office/drawing/2014/main" id="{50118CD1-299D-45E8-AE47-C8897ED8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바뀌지 않은 데이터는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여러 snapshot에서 공유</a:t>
            </a:r>
          </a:p>
        </p:txBody>
      </p:sp>
      <p:sp>
        <p:nvSpPr>
          <p:cNvPr id="21" name="s03-panel-191">
            <a:extLst xmlns:a="http://schemas.openxmlformats.org/drawingml/2006/main">
              <a:ext uri="{FF2B5EF4-FFF2-40B4-BE49-F238E27FC236}">
                <a16:creationId xmlns:a16="http://schemas.microsoft.com/office/drawing/2014/main" id="{0F61C346-806D-4FDA-9283-D82D0707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192">
            <a:extLst xmlns:a="http://schemas.openxmlformats.org/drawingml/2006/main">
              <a:ext uri="{FF2B5EF4-FFF2-40B4-BE49-F238E27FC236}">
                <a16:creationId xmlns:a16="http://schemas.microsoft.com/office/drawing/2014/main" id="{D8834CC6-C3DF-4D0A-8603-DA1EB000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snapshot 수와 데이터 전체 복사본 수는 같지 않습니다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6E5C52-EA10-46E3-B8D6-FFC3EAD01DC3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21" idx="3"/>
          </p:cNvCxnSpPr>
          <p:nvPr/>
        </p:nvCxnSpPr>
        <p:spPr>
          <a:xfrm xmlns:a="http://schemas.openxmlformats.org/drawingml/2006/main" flipH="1">
            <a:off x="9677400" y="3095625"/>
            <a:ext cx="285750" cy="13668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14CF0C-B49A-4683-86F1-CCCE938DDD87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34300" y="2452688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27F03F-83C1-41D2-B9E0-7FD18EBC6F2F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867150" y="2452688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레코드가 오면 writer는 파일을 작성합니다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</a:p>
        </p:txBody>
      </p:sp>
      <p:sp>
        <p:nvSpPr>
          <p:cNvPr id="10" name="s03-panel-193">
            <a:extLst xmlns:a="http://schemas.openxmlformats.org/drawingml/2006/main">
              <a:ext uri="{FF2B5EF4-FFF2-40B4-BE49-F238E27FC236}">
                <a16:creationId xmlns:a16="http://schemas.microsoft.com/office/drawing/2014/main" id="{37F9C258-FCF3-4CFC-9645-3B03D17B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25755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s03-text-194">
            <a:extLst xmlns:a="http://schemas.openxmlformats.org/drawingml/2006/main">
              <a:ext uri="{FF2B5EF4-FFF2-40B4-BE49-F238E27FC236}">
                <a16:creationId xmlns:a16="http://schemas.microsoft.com/office/drawing/2014/main" id="{D19C3261-85EE-4D87-8929-0BC1DB38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2952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계속 들어오는 행</a:t>
            </a:r>
          </a:p>
        </p:txBody>
      </p:sp>
      <p:sp>
        <p:nvSpPr>
          <p:cNvPr id="12" name="s03-text-195">
            <a:extLst xmlns:a="http://schemas.openxmlformats.org/drawingml/2006/main">
              <a:ext uri="{FF2B5EF4-FFF2-40B4-BE49-F238E27FC236}">
                <a16:creationId xmlns:a16="http://schemas.microsoft.com/office/drawing/2014/main" id="{77F11AA4-E30B-412C-8BFD-43DD066E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9527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→ filter → writer</a:t>
            </a:r>
          </a:p>
        </p:txBody>
      </p:sp>
      <p:sp>
        <p:nvSpPr>
          <p:cNvPr id="13" name="s03-panel-196">
            <a:extLst xmlns:a="http://schemas.openxmlformats.org/drawingml/2006/main">
              <a:ext uri="{FF2B5EF4-FFF2-40B4-BE49-F238E27FC236}">
                <a16:creationId xmlns:a16="http://schemas.microsoft.com/office/drawing/2014/main" id="{9CE5A2CD-1552-45FF-BE10-37D31769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25755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197">
            <a:extLst xmlns:a="http://schemas.openxmlformats.org/drawingml/2006/main">
              <a:ext uri="{FF2B5EF4-FFF2-40B4-BE49-F238E27FC236}">
                <a16:creationId xmlns:a16="http://schemas.microsoft.com/office/drawing/2014/main" id="{19CD8DC7-20E9-4782-9AE6-EE4FD3AD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43100"/>
            <a:ext cx="2952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Writer의 파일 준비</a:t>
            </a:r>
          </a:p>
        </p:txBody>
      </p:sp>
      <p:sp>
        <p:nvSpPr>
          <p:cNvPr id="15" name="s03-text-198">
            <a:extLst xmlns:a="http://schemas.openxmlformats.org/drawingml/2006/main">
              <a:ext uri="{FF2B5EF4-FFF2-40B4-BE49-F238E27FC236}">
                <a16:creationId xmlns:a16="http://schemas.microsoft.com/office/drawing/2014/main" id="{9FF0A873-F496-4659-8BBF-02B3D078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62200"/>
            <a:ext cx="29527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버퍼·파일 쓰기는 계속 진행</a:t>
            </a:r>
          </a:p>
        </p:txBody>
      </p:sp>
      <p:sp>
        <p:nvSpPr>
          <p:cNvPr id="16" name="s03-panel-199">
            <a:extLst xmlns:a="http://schemas.openxmlformats.org/drawingml/2006/main">
              <a:ext uri="{FF2B5EF4-FFF2-40B4-BE49-F238E27FC236}">
                <a16:creationId xmlns:a16="http://schemas.microsoft.com/office/drawing/2014/main" id="{B559E4DF-F2E7-4646-A544-3AAE792E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23850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17" name="s03-text-200">
            <a:extLst xmlns:a="http://schemas.openxmlformats.org/drawingml/2006/main">
              <a:ext uri="{FF2B5EF4-FFF2-40B4-BE49-F238E27FC236}">
                <a16:creationId xmlns:a16="http://schemas.microsoft.com/office/drawing/2014/main" id="{96F6104C-0E73-4410-BF41-9A297BFC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4310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Checkpoint barrier</a:t>
            </a:r>
          </a:p>
        </p:txBody>
      </p:sp>
      <p:sp>
        <p:nvSpPr>
          <p:cNvPr id="18" name="s03-text-201">
            <a:extLst xmlns:a="http://schemas.openxmlformats.org/drawingml/2006/main">
              <a:ext uri="{FF2B5EF4-FFF2-40B4-BE49-F238E27FC236}">
                <a16:creationId xmlns:a16="http://schemas.microsoft.com/office/drawing/2014/main" id="{4BD7B0DE-FB00-4AC4-BF18-DCC89BAD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62200"/>
            <a:ext cx="29337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열린 파일 마무리 · WriteResult</a:t>
            </a:r>
          </a:p>
        </p:txBody>
      </p:sp>
      <p:sp>
        <p:nvSpPr>
          <p:cNvPr id="21" name="s03-panel-202">
            <a:extLst xmlns:a="http://schemas.openxmlformats.org/drawingml/2006/main">
              <a:ext uri="{FF2B5EF4-FFF2-40B4-BE49-F238E27FC236}">
                <a16:creationId xmlns:a16="http://schemas.microsoft.com/office/drawing/2014/main" id="{70868173-C434-4F1C-8417-2DFF5C15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38575"/>
            <a:ext cx="7162800" cy="1247775"/>
          </a:xfrm>
          <a:prstGeom xmlns:a="http://schemas.openxmlformats.org/drawingml/2006/main" prst="roundRect">
            <a:avLst>
              <a:gd name="adj" fmla="val 6870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22" name="s03-text-203">
            <a:extLst xmlns:a="http://schemas.openxmlformats.org/drawingml/2006/main">
              <a:ext uri="{FF2B5EF4-FFF2-40B4-BE49-F238E27FC236}">
                <a16:creationId xmlns:a16="http://schemas.microsoft.com/office/drawing/2014/main" id="{F8A30BCC-C316-4C80-AE5C-767D44D8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971925"/>
            <a:ext cx="685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Pending 파일 참조를 checkpoint 상태에 보관</a:t>
            </a:r>
          </a:p>
        </p:txBody>
      </p:sp>
      <p:sp>
        <p:nvSpPr>
          <p:cNvPr id="23" name="s03-text-204">
            <a:extLst xmlns:a="http://schemas.openxmlformats.org/drawingml/2006/main">
              <a:ext uri="{FF2B5EF4-FFF2-40B4-BE49-F238E27FC236}">
                <a16:creationId xmlns:a16="http://schemas.microsoft.com/office/drawing/2014/main" id="{1C0B5FD2-202E-4AB6-8C1E-1A47CEBF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391025"/>
            <a:ext cx="685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아직 테이블에 commit되지 않은 준비 파일일 수 있습니다</a:t>
            </a:r>
          </a:p>
        </p:txBody>
      </p:sp>
      <p:sp>
        <p:nvSpPr>
          <p:cNvPr id="25" name="s03-text-205">
            <a:extLst xmlns:a="http://schemas.openxmlformats.org/drawingml/2006/main">
              <a:ext uri="{FF2B5EF4-FFF2-40B4-BE49-F238E27FC236}">
                <a16:creationId xmlns:a16="http://schemas.microsoft.com/office/drawing/2014/main" id="{3ED93A29-7832-41ED-A7DF-A68C3A4C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checkpoint 간격 전체를 메모리에만 모았다가 처음 쓰는 구조가 아닙니다</a:t>
            </a:r>
          </a:p>
        </p:txBody>
      </p:sp>
      <p:sp>
        <p:nvSpPr>
          <p:cNvPr id="26" name="s03-panel-206">
            <a:extLst xmlns:a="http://schemas.openxmlformats.org/drawingml/2006/main">
              <a:ext uri="{FF2B5EF4-FFF2-40B4-BE49-F238E27FC236}">
                <a16:creationId xmlns:a16="http://schemas.microsoft.com/office/drawing/2014/main" id="{6A80DBA1-341F-4483-BD0B-F99600DA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7" name="s03-text-207">
            <a:extLst xmlns:a="http://schemas.openxmlformats.org/drawingml/2006/main">
              <a:ext uri="{FF2B5EF4-FFF2-40B4-BE49-F238E27FC236}">
                <a16:creationId xmlns:a16="http://schemas.microsoft.com/office/drawing/2014/main" id="{29C87D16-F3D1-4F1C-969F-5BC0FA59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연속 파일 작성 → barrier 전 파일 마감 → pending 결과를 복구 상태에 보존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5B7F39-EB76-4027-BC24-01381893313F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21" idx="3"/>
          </p:cNvCxnSpPr>
          <p:nvPr/>
        </p:nvCxnSpPr>
        <p:spPr>
          <a:xfrm xmlns:a="http://schemas.openxmlformats.org/drawingml/2006/main" flipH="1">
            <a:off x="9677400" y="3095625"/>
            <a:ext cx="285750" cy="1381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4D399"/>
            </a:solidFill>
            <a:prstDash val="solid"/>
            <a:tailEnd type="triangle" w="med" len="med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31B15F-0E21-46ED-80B2-707F95866335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715250" y="2452688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1AF49-0F90-41F3-B70C-AA28C19333F6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848100" y="2452688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B923C"/>
            </a:solidFill>
            <a:prstDash val="solid"/>
            <a:tailEnd type="triangle" w="med" len="med"/>
          </a:ln>
        </p:spPr>
      </p:cxnSp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 완료 뒤 테이블을 commit합니다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  <p:sp>
        <p:nvSpPr>
          <p:cNvPr id="10" name="s03-panel-208">
            <a:extLst xmlns:a="http://schemas.openxmlformats.org/drawingml/2006/main">
              <a:ext uri="{FF2B5EF4-FFF2-40B4-BE49-F238E27FC236}">
                <a16:creationId xmlns:a16="http://schemas.microsoft.com/office/drawing/2014/main" id="{2A0510D2-5BB5-4989-B00F-A677C214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23850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11" name="s03-text-209">
            <a:extLst xmlns:a="http://schemas.openxmlformats.org/drawingml/2006/main">
              <a:ext uri="{FF2B5EF4-FFF2-40B4-BE49-F238E27FC236}">
                <a16:creationId xmlns:a16="http://schemas.microsoft.com/office/drawing/2014/main" id="{25CAB68D-0A56-478E-B37D-630E9BAD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① Checkpoint 완료 통지</a:t>
            </a:r>
          </a:p>
        </p:txBody>
      </p:sp>
      <p:sp>
        <p:nvSpPr>
          <p:cNvPr id="12" name="s03-text-210">
            <a:extLst xmlns:a="http://schemas.openxmlformats.org/drawingml/2006/main">
              <a:ext uri="{FF2B5EF4-FFF2-40B4-BE49-F238E27FC236}">
                <a16:creationId xmlns:a16="http://schemas.microsoft.com/office/drawing/2014/main" id="{C0BFEC7C-A528-4115-92B8-7A46B45E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9337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 상태가 저장됨</a:t>
            </a:r>
          </a:p>
        </p:txBody>
      </p:sp>
      <p:sp>
        <p:nvSpPr>
          <p:cNvPr id="13" name="s03-panel-211">
            <a:extLst xmlns:a="http://schemas.openxmlformats.org/drawingml/2006/main">
              <a:ext uri="{FF2B5EF4-FFF2-40B4-BE49-F238E27FC236}">
                <a16:creationId xmlns:a16="http://schemas.microsoft.com/office/drawing/2014/main" id="{E2B7B7F0-F729-4743-9DB5-C3FDD85A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23850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s03-text-212">
            <a:extLst xmlns:a="http://schemas.openxmlformats.org/drawingml/2006/main">
              <a:ext uri="{FF2B5EF4-FFF2-40B4-BE49-F238E27FC236}">
                <a16:creationId xmlns:a16="http://schemas.microsoft.com/office/drawing/2014/main" id="{004C222C-0B97-4A11-AF4E-4B18C1A6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4310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② Iceberg committer</a:t>
            </a:r>
          </a:p>
        </p:txBody>
      </p:sp>
      <p:sp>
        <p:nvSpPr>
          <p:cNvPr id="15" name="s03-text-213">
            <a:extLst xmlns:a="http://schemas.openxmlformats.org/drawingml/2006/main">
              <a:ext uri="{FF2B5EF4-FFF2-40B4-BE49-F238E27FC236}">
                <a16:creationId xmlns:a16="http://schemas.microsoft.com/office/drawing/2014/main" id="{BE21BDC5-1116-4705-AFBC-3F1B6F5E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62200"/>
            <a:ext cx="29337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준비된 파일·metadata commit</a:t>
            </a:r>
          </a:p>
        </p:txBody>
      </p:sp>
      <p:sp>
        <p:nvSpPr>
          <p:cNvPr id="16" name="s03-panel-214">
            <a:extLst xmlns:a="http://schemas.openxmlformats.org/drawingml/2006/main">
              <a:ext uri="{FF2B5EF4-FFF2-40B4-BE49-F238E27FC236}">
                <a16:creationId xmlns:a16="http://schemas.microsoft.com/office/drawing/2014/main" id="{1B77EAF6-C84F-40E2-9C36-79037518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238500" cy="1285875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17" name="s03-text-215">
            <a:extLst xmlns:a="http://schemas.openxmlformats.org/drawingml/2006/main">
              <a:ext uri="{FF2B5EF4-FFF2-40B4-BE49-F238E27FC236}">
                <a16:creationId xmlns:a16="http://schemas.microsoft.com/office/drawing/2014/main" id="{75E88867-E203-406F-A1E6-29B89ECA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43100"/>
            <a:ext cx="293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③ Catalog 참조 갱신</a:t>
            </a:r>
          </a:p>
        </p:txBody>
      </p:sp>
      <p:sp>
        <p:nvSpPr>
          <p:cNvPr id="18" name="s03-text-216">
            <a:extLst xmlns:a="http://schemas.openxmlformats.org/drawingml/2006/main">
              <a:ext uri="{FF2B5EF4-FFF2-40B4-BE49-F238E27FC236}">
                <a16:creationId xmlns:a16="http://schemas.microsoft.com/office/drawing/2014/main" id="{573D2BF8-47F8-4DBB-B0F8-E37B0A9E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62200"/>
            <a:ext cx="29337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metadata 위치 원자적 변경</a:t>
            </a:r>
          </a:p>
        </p:txBody>
      </p:sp>
      <p:sp>
        <p:nvSpPr>
          <p:cNvPr id="21" name="s03-panel-217">
            <a:extLst xmlns:a="http://schemas.openxmlformats.org/drawingml/2006/main">
              <a:ext uri="{FF2B5EF4-FFF2-40B4-BE49-F238E27FC236}">
                <a16:creationId xmlns:a16="http://schemas.microsoft.com/office/drawing/2014/main" id="{3198E278-A43E-41A2-A4DD-C682F7B5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57625"/>
            <a:ext cx="7162800" cy="1238250"/>
          </a:xfrm>
          <a:prstGeom xmlns:a="http://schemas.openxmlformats.org/drawingml/2006/main" prst="roundRect">
            <a:avLst>
              <a:gd name="adj" fmla="val 6923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22" name="s03-text-218">
            <a:extLst xmlns:a="http://schemas.openxmlformats.org/drawingml/2006/main">
              <a:ext uri="{FF2B5EF4-FFF2-40B4-BE49-F238E27FC236}">
                <a16:creationId xmlns:a16="http://schemas.microsoft.com/office/drawing/2014/main" id="{1CD3F763-2B8B-4867-B030-D131A4BE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990975"/>
            <a:ext cx="685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④ 새로 실행한 Spark SQL 조회</a:t>
            </a:r>
          </a:p>
        </p:txBody>
      </p:sp>
      <p:sp>
        <p:nvSpPr>
          <p:cNvPr id="23" name="s03-text-219">
            <a:extLst xmlns:a="http://schemas.openxmlformats.org/drawingml/2006/main">
              <a:ext uri="{FF2B5EF4-FFF2-40B4-BE49-F238E27FC236}">
                <a16:creationId xmlns:a16="http://schemas.microsoft.com/office/drawing/2014/main" id="{E5AB5358-39F9-4CCC-AAD5-72B787CF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0075"/>
            <a:ext cx="685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snapshot의 manifest를 따라 포함된 파일을 읽습니다</a:t>
            </a:r>
          </a:p>
        </p:txBody>
      </p:sp>
      <p:sp>
        <p:nvSpPr>
          <p:cNvPr id="25" name="s03-text-220">
            <a:extLst xmlns:a="http://schemas.openxmlformats.org/drawingml/2006/main">
              <a:ext uri="{FF2B5EF4-FFF2-40B4-BE49-F238E27FC236}">
                <a16:creationId xmlns:a16="http://schemas.microsoft.com/office/drawing/2014/main" id="{F9B054EB-EC2C-4CB1-AE88-972C2FAA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파일 준비와 테이블 공개는 다른 단계 · 파일 전체가 한꺼번에 업로드되는 트랜잭션이 아닙니다</a:t>
            </a:r>
          </a:p>
        </p:txBody>
      </p:sp>
      <p:sp>
        <p:nvSpPr>
          <p:cNvPr id="26" name="s03-panel-221">
            <a:extLst xmlns:a="http://schemas.openxmlformats.org/drawingml/2006/main">
              <a:ext uri="{FF2B5EF4-FFF2-40B4-BE49-F238E27FC236}">
                <a16:creationId xmlns:a16="http://schemas.microsoft.com/office/drawing/2014/main" id="{F9146464-37C2-421C-ABD0-E1D149A3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7" name="s03-text-222">
            <a:extLst xmlns:a="http://schemas.openxmlformats.org/drawingml/2006/main">
              <a:ext uri="{FF2B5EF4-FFF2-40B4-BE49-F238E27FC236}">
                <a16:creationId xmlns:a16="http://schemas.microsoft.com/office/drawing/2014/main" id="{6D6C43ED-1752-46CD-A24F-493737F2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파일과 metadata 준비 후, 한 테이블의 현재 metadata 참조를 원자적으로 갱신합니다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checkpoint가 성공해도 commit은 따로 봅니다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26</a:t>
            </a:r>
          </a:p>
        </p:txBody>
      </p:sp>
      <p:sp>
        <p:nvSpPr>
          <p:cNvPr id="18" name="s03-panel-223">
            <a:extLst xmlns:a="http://schemas.openxmlformats.org/drawingml/2006/main">
              <a:ext uri="{FF2B5EF4-FFF2-40B4-BE49-F238E27FC236}">
                <a16:creationId xmlns:a16="http://schemas.microsoft.com/office/drawing/2014/main" id="{5C59E9C5-88AE-4FAA-8F5F-28BD06CCD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24">
            <a:extLst xmlns:a="http://schemas.openxmlformats.org/drawingml/2006/main">
              <a:ext uri="{FF2B5EF4-FFF2-40B4-BE49-F238E27FC236}">
                <a16:creationId xmlns:a16="http://schemas.microsoft.com/office/drawing/2014/main" id="{A951EF4A-7622-43FA-858A-BF0597E3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Flink checkpoint</a:t>
            </a:r>
          </a:p>
        </p:txBody>
      </p:sp>
      <p:sp>
        <p:nvSpPr>
          <p:cNvPr id="20" name="s03-text-225">
            <a:extLst xmlns:a="http://schemas.openxmlformats.org/drawingml/2006/main">
              <a:ext uri="{FF2B5EF4-FFF2-40B4-BE49-F238E27FC236}">
                <a16:creationId xmlns:a16="http://schemas.microsoft.com/office/drawing/2014/main" id="{E2A5042C-0742-4568-811E-4FBC7CBD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입력과 처리 상태의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 지점이 완료</a:t>
            </a:r>
          </a:p>
        </p:txBody>
      </p:sp>
      <p:sp>
        <p:nvSpPr>
          <p:cNvPr id="21" name="s03-panel-226">
            <a:extLst xmlns:a="http://schemas.openxmlformats.org/drawingml/2006/main">
              <a:ext uri="{FF2B5EF4-FFF2-40B4-BE49-F238E27FC236}">
                <a16:creationId xmlns:a16="http://schemas.microsoft.com/office/drawing/2014/main" id="{FB46239A-A6A9-4B4E-AF77-EA275DAA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27">
            <a:extLst xmlns:a="http://schemas.openxmlformats.org/drawingml/2006/main">
              <a:ext uri="{FF2B5EF4-FFF2-40B4-BE49-F238E27FC236}">
                <a16:creationId xmlns:a16="http://schemas.microsoft.com/office/drawing/2014/main" id="{84E1C60E-CAC6-4610-A37F-309C5A04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Iceberg commit</a:t>
            </a:r>
          </a:p>
        </p:txBody>
      </p:sp>
      <p:sp>
        <p:nvSpPr>
          <p:cNvPr id="23" name="s03-text-228">
            <a:extLst xmlns:a="http://schemas.openxmlformats.org/drawingml/2006/main">
              <a:ext uri="{FF2B5EF4-FFF2-40B4-BE49-F238E27FC236}">
                <a16:creationId xmlns:a16="http://schemas.microsoft.com/office/drawing/2014/main" id="{16F5EECC-9679-43D5-977F-91D03EF6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파일을 포함한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테이블 상태가 확정</a:t>
            </a:r>
          </a:p>
        </p:txBody>
      </p:sp>
      <p:sp>
        <p:nvSpPr>
          <p:cNvPr id="24" name="s03-panel-229">
            <a:extLst xmlns:a="http://schemas.openxmlformats.org/drawingml/2006/main">
              <a:ext uri="{FF2B5EF4-FFF2-40B4-BE49-F238E27FC236}">
                <a16:creationId xmlns:a16="http://schemas.microsoft.com/office/drawing/2014/main" id="{F42B9F93-4610-40BF-9087-002F27A0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30">
            <a:extLst xmlns:a="http://schemas.openxmlformats.org/drawingml/2006/main">
              <a:ext uri="{FF2B5EF4-FFF2-40B4-BE49-F238E27FC236}">
                <a16:creationId xmlns:a16="http://schemas.microsoft.com/office/drawing/2014/main" id="{18C7A341-7810-454C-A793-2EC8CDA0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키별 SELECT</a:t>
            </a:r>
          </a:p>
        </p:txBody>
      </p:sp>
      <p:sp>
        <p:nvSpPr>
          <p:cNvPr id="26" name="s03-text-231">
            <a:extLst xmlns:a="http://schemas.openxmlformats.org/drawingml/2006/main">
              <a:ext uri="{FF2B5EF4-FFF2-40B4-BE49-F238E27FC236}">
                <a16:creationId xmlns:a16="http://schemas.microsoft.com/office/drawing/2014/main" id="{F53AB06B-5517-43EE-8A85-A90A5913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내가 찾는 변경이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지금 조회되는지 확인</a:t>
            </a:r>
          </a:p>
        </p:txBody>
      </p:sp>
      <p:sp>
        <p:nvSpPr>
          <p:cNvPr id="27" name="s03-panel-232">
            <a:extLst xmlns:a="http://schemas.openxmlformats.org/drawingml/2006/main">
              <a:ext uri="{FF2B5EF4-FFF2-40B4-BE49-F238E27FC236}">
                <a16:creationId xmlns:a16="http://schemas.microsoft.com/office/drawing/2014/main" id="{37E08BC2-099F-4E51-B073-451BEF99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33">
            <a:extLst xmlns:a="http://schemas.openxmlformats.org/drawingml/2006/main">
              <a:ext uri="{FF2B5EF4-FFF2-40B4-BE49-F238E27FC236}">
                <a16:creationId xmlns:a16="http://schemas.microsoft.com/office/drawing/2014/main" id="{AA60772F-2EEC-4D81-8015-7D3DA075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completed checkpoint · 성공 commit · 업무 키 조회를 별도로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exactly-once의 경계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27</a:t>
            </a:r>
          </a:p>
        </p:txBody>
      </p:sp>
      <p:sp>
        <p:nvSpPr>
          <p:cNvPr id="15" name="s03-panel-234">
            <a:extLst xmlns:a="http://schemas.openxmlformats.org/drawingml/2006/main">
              <a:ext uri="{FF2B5EF4-FFF2-40B4-BE49-F238E27FC236}">
                <a16:creationId xmlns:a16="http://schemas.microsoft.com/office/drawing/2014/main" id="{C495A261-2699-4DE1-8B24-C699270C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235">
            <a:extLst xmlns:a="http://schemas.openxmlformats.org/drawingml/2006/main">
              <a:ext uri="{FF2B5EF4-FFF2-40B4-BE49-F238E27FC236}">
                <a16:creationId xmlns:a16="http://schemas.microsoft.com/office/drawing/2014/main" id="{5BDDDBC6-CC3B-4A24-99FF-D5C5273E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sink 복구</a:t>
            </a:r>
          </a:p>
        </p:txBody>
      </p:sp>
      <p:sp>
        <p:nvSpPr>
          <p:cNvPr id="17" name="s03-text-236">
            <a:extLst xmlns:a="http://schemas.openxmlformats.org/drawingml/2006/main">
              <a:ext uri="{FF2B5EF4-FFF2-40B4-BE49-F238E27FC236}">
                <a16:creationId xmlns:a16="http://schemas.microsoft.com/office/drawing/2014/main" id="{2BE9961F-F8F3-40D2-B8A6-802102A1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복원 상태와 commit 기록으로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결과의 재commit을 판단</a:t>
            </a:r>
          </a:p>
        </p:txBody>
      </p:sp>
      <p:sp>
        <p:nvSpPr>
          <p:cNvPr id="18" name="s03-panel-237">
            <a:extLst xmlns:a="http://schemas.openxmlformats.org/drawingml/2006/main">
              <a:ext uri="{FF2B5EF4-FFF2-40B4-BE49-F238E27FC236}">
                <a16:creationId xmlns:a16="http://schemas.microsoft.com/office/drawing/2014/main" id="{92ED83DF-963E-4756-A876-3DA28509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38">
            <a:extLst xmlns:a="http://schemas.openxmlformats.org/drawingml/2006/main">
              <a:ext uri="{FF2B5EF4-FFF2-40B4-BE49-F238E27FC236}">
                <a16:creationId xmlns:a16="http://schemas.microsoft.com/office/drawing/2014/main" id="{56EA817F-162D-4428-8151-37BBBDE4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업무 중복</a:t>
            </a:r>
          </a:p>
        </p:txBody>
      </p:sp>
      <p:sp>
        <p:nvSpPr>
          <p:cNvPr id="20" name="s03-text-239">
            <a:extLst xmlns:a="http://schemas.openxmlformats.org/drawingml/2006/main">
              <a:ext uri="{FF2B5EF4-FFF2-40B4-BE49-F238E27FC236}">
                <a16:creationId xmlns:a16="http://schemas.microsoft.com/office/drawing/2014/main" id="{E15DF3ED-B2E8-44DB-A880-2D9C8D67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다른 전달 위치의 반복은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별도 키·버전 규칙이 필요</a:t>
            </a:r>
          </a:p>
        </p:txBody>
      </p:sp>
      <p:sp>
        <p:nvSpPr>
          <p:cNvPr id="21" name="s03-panel-240">
            <a:extLst xmlns:a="http://schemas.openxmlformats.org/drawingml/2006/main">
              <a:ext uri="{FF2B5EF4-FFF2-40B4-BE49-F238E27FC236}">
                <a16:creationId xmlns:a16="http://schemas.microsoft.com/office/drawing/2014/main" id="{4E2A04DC-1F94-4270-A4AF-12D7679E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241">
            <a:extLst xmlns:a="http://schemas.openxmlformats.org/drawingml/2006/main">
              <a:ext uri="{FF2B5EF4-FFF2-40B4-BE49-F238E27FC236}">
                <a16:creationId xmlns:a16="http://schemas.microsoft.com/office/drawing/2014/main" id="{695EDC23-CA2D-4A58-86A7-39E3CB89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EXACTLY_ONCE 설정과 전체 업무 중복 제거를 같은 보장으로 읽지 않습니다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관찰 A · 원천 0행과 Bronze 3이력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28</a:t>
            </a:r>
          </a:p>
        </p:txBody>
      </p:sp>
      <p:sp>
        <p:nvSpPr>
          <p:cNvPr id="15" name="s03-panel-242">
            <a:extLst xmlns:a="http://schemas.openxmlformats.org/drawingml/2006/main">
              <a:ext uri="{FF2B5EF4-FFF2-40B4-BE49-F238E27FC236}">
                <a16:creationId xmlns:a16="http://schemas.microsoft.com/office/drawing/2014/main" id="{91F15663-017C-43A4-92AB-FA84B825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243">
            <a:extLst xmlns:a="http://schemas.openxmlformats.org/drawingml/2006/main">
              <a:ext uri="{FF2B5EF4-FFF2-40B4-BE49-F238E27FC236}">
                <a16:creationId xmlns:a16="http://schemas.microsoft.com/office/drawing/2014/main" id="{05600ED7-DC24-4C1E-8151-17207A33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원천 현재</a:t>
            </a:r>
          </a:p>
        </p:txBody>
      </p:sp>
      <p:sp>
        <p:nvSpPr>
          <p:cNvPr id="17" name="s03-text-244">
            <a:extLst xmlns:a="http://schemas.openxmlformats.org/drawingml/2006/main">
              <a:ext uri="{FF2B5EF4-FFF2-40B4-BE49-F238E27FC236}">
                <a16:creationId xmlns:a16="http://schemas.microsoft.com/office/drawing/2014/main" id="{9F304B4D-381C-4A32-8208-ECDFF513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환불 행 0개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삭제된 현재 상태</a:t>
            </a:r>
          </a:p>
        </p:txBody>
      </p:sp>
      <p:sp>
        <p:nvSpPr>
          <p:cNvPr id="18" name="s03-panel-245">
            <a:extLst xmlns:a="http://schemas.openxmlformats.org/drawingml/2006/main">
              <a:ext uri="{FF2B5EF4-FFF2-40B4-BE49-F238E27FC236}">
                <a16:creationId xmlns:a16="http://schemas.microsoft.com/office/drawing/2014/main" id="{F59ED0E9-4816-4710-A48A-E2C3AAD4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46">
            <a:extLst xmlns:a="http://schemas.openxmlformats.org/drawingml/2006/main">
              <a:ext uri="{FF2B5EF4-FFF2-40B4-BE49-F238E27FC236}">
                <a16:creationId xmlns:a16="http://schemas.microsoft.com/office/drawing/2014/main" id="{7491DD85-57A7-4947-A2E2-0BA1BE42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Bronze 이력</a:t>
            </a:r>
          </a:p>
        </p:txBody>
      </p:sp>
      <p:sp>
        <p:nvSpPr>
          <p:cNvPr id="20" name="s03-text-247">
            <a:extLst xmlns:a="http://schemas.openxmlformats.org/drawingml/2006/main">
              <a:ext uri="{FF2B5EF4-FFF2-40B4-BE49-F238E27FC236}">
                <a16:creationId xmlns:a16="http://schemas.microsoft.com/office/drawing/2014/main" id="{2FA3A7F9-359F-4FFD-B4E3-EC27CA4B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 → u → d, 총 3개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순서와 전후 값</a:t>
            </a:r>
          </a:p>
        </p:txBody>
      </p:sp>
      <p:sp>
        <p:nvSpPr>
          <p:cNvPr id="21" name="s03-panel-248">
            <a:extLst xmlns:a="http://schemas.openxmlformats.org/drawingml/2006/main">
              <a:ext uri="{FF2B5EF4-FFF2-40B4-BE49-F238E27FC236}">
                <a16:creationId xmlns:a16="http://schemas.microsoft.com/office/drawing/2014/main" id="{0514DC12-FF8B-407E-BD99-C293AC3D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249">
            <a:extLst xmlns:a="http://schemas.openxmlformats.org/drawingml/2006/main">
              <a:ext uri="{FF2B5EF4-FFF2-40B4-BE49-F238E27FC236}">
                <a16:creationId xmlns:a16="http://schemas.microsoft.com/office/drawing/2014/main" id="{F457A08D-5372-4536-8A7D-DBC6D9B7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기존 완료 키 읽기 전용 · 선택한 키와 실제 조회 결과를 대조합니다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관찰 B · MinIO 콘솔에서 확인하기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29</a:t>
            </a:r>
          </a:p>
        </p:txBody>
      </p:sp>
      <p:sp>
        <p:nvSpPr>
          <p:cNvPr id="18" name="s03-panel-250">
            <a:extLst xmlns:a="http://schemas.openxmlformats.org/drawingml/2006/main">
              <a:ext uri="{FF2B5EF4-FFF2-40B4-BE49-F238E27FC236}">
                <a16:creationId xmlns:a16="http://schemas.microsoft.com/office/drawing/2014/main" id="{9DEE584C-C89E-478E-9BEF-609B6DA9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51">
            <a:extLst xmlns:a="http://schemas.openxmlformats.org/drawingml/2006/main">
              <a:ext uri="{FF2B5EF4-FFF2-40B4-BE49-F238E27FC236}">
                <a16:creationId xmlns:a16="http://schemas.microsoft.com/office/drawing/2014/main" id="{84024963-CDDC-4824-97F3-B82478E8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Catalog 참조</a:t>
            </a:r>
          </a:p>
        </p:txBody>
      </p:sp>
      <p:sp>
        <p:nvSpPr>
          <p:cNvPr id="20" name="s03-text-252">
            <a:extLst xmlns:a="http://schemas.openxmlformats.org/drawingml/2006/main">
              <a:ext uri="{FF2B5EF4-FFF2-40B4-BE49-F238E27FC236}">
                <a16:creationId xmlns:a16="http://schemas.microsoft.com/office/drawing/2014/main" id="{63244169-7F25-4333-AAE4-2DDB690E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JSON 위치 확인</a:t>
            </a:r>
          </a:p>
        </p:txBody>
      </p:sp>
      <p:sp>
        <p:nvSpPr>
          <p:cNvPr id="21" name="s03-panel-253">
            <a:extLst xmlns:a="http://schemas.openxmlformats.org/drawingml/2006/main">
              <a:ext uri="{FF2B5EF4-FFF2-40B4-BE49-F238E27FC236}">
                <a16:creationId xmlns:a16="http://schemas.microsoft.com/office/drawing/2014/main" id="{1E5DB7F9-7261-47A2-AE9B-30483335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254">
            <a:extLst xmlns:a="http://schemas.openxmlformats.org/drawingml/2006/main">
              <a:ext uri="{FF2B5EF4-FFF2-40B4-BE49-F238E27FC236}">
                <a16:creationId xmlns:a16="http://schemas.microsoft.com/office/drawing/2014/main" id="{BEF230BF-32D1-4DDC-91ED-5E6FE776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버킷·prefix</a:t>
            </a:r>
          </a:p>
        </p:txBody>
      </p:sp>
      <p:sp>
        <p:nvSpPr>
          <p:cNvPr id="23" name="s03-text-255">
            <a:extLst xmlns:a="http://schemas.openxmlformats.org/drawingml/2006/main">
              <a:ext uri="{FF2B5EF4-FFF2-40B4-BE49-F238E27FC236}">
                <a16:creationId xmlns:a16="http://schemas.microsoft.com/office/drawing/2014/main" id="{528D6650-4C7A-49AF-84D3-3876EE4E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warehouse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bronze/cdc_events/</a:t>
            </a:r>
          </a:p>
        </p:txBody>
      </p:sp>
      <p:sp>
        <p:nvSpPr>
          <p:cNvPr id="24" name="s03-panel-256">
            <a:extLst xmlns:a="http://schemas.openxmlformats.org/drawingml/2006/main">
              <a:ext uri="{FF2B5EF4-FFF2-40B4-BE49-F238E27FC236}">
                <a16:creationId xmlns:a16="http://schemas.microsoft.com/office/drawing/2014/main" id="{5A5E7579-8B89-4C2A-9E9C-CFA6743C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257">
            <a:extLst xmlns:a="http://schemas.openxmlformats.org/drawingml/2006/main">
              <a:ext uri="{FF2B5EF4-FFF2-40B4-BE49-F238E27FC236}">
                <a16:creationId xmlns:a16="http://schemas.microsoft.com/office/drawing/2014/main" id="{706BFAB4-5887-4962-B152-8117A07D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파일 관계</a:t>
            </a:r>
          </a:p>
        </p:txBody>
      </p:sp>
      <p:sp>
        <p:nvSpPr>
          <p:cNvPr id="26" name="s03-text-258">
            <a:extLst xmlns:a="http://schemas.openxmlformats.org/drawingml/2006/main">
              <a:ext uri="{FF2B5EF4-FFF2-40B4-BE49-F238E27FC236}">
                <a16:creationId xmlns:a16="http://schemas.microsoft.com/office/drawing/2014/main" id="{A6912EFD-03E8-4D67-B918-C81370F2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JSON · Avro · Parquet</a:t>
            </a:r>
          </a:p>
        </p:txBody>
      </p:sp>
      <p:sp>
        <p:nvSpPr>
          <p:cNvPr id="27" name="s03-panel-259">
            <a:extLst xmlns:a="http://schemas.openxmlformats.org/drawingml/2006/main">
              <a:ext uri="{FF2B5EF4-FFF2-40B4-BE49-F238E27FC236}">
                <a16:creationId xmlns:a16="http://schemas.microsoft.com/office/drawing/2014/main" id="{450E9E6E-6FE3-4D00-BD53-C5AB816D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260">
            <a:extLst xmlns:a="http://schemas.openxmlformats.org/drawingml/2006/main">
              <a:ext uri="{FF2B5EF4-FFF2-40B4-BE49-F238E27FC236}">
                <a16:creationId xmlns:a16="http://schemas.microsoft.com/office/drawing/2014/main" id="{5986D608-615E-40B3-AEE2-827CBED8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기대 기본 경로와 실제 catalog 참조를 구분해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data 파일과 .files 결과를 연결합니다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30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2248AE-41FA-47A1-822F-189EAA9B9C66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표시 항목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file_path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snapshot에 포함된 파일 경로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file_format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 파일의 데이터 형식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record_count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 전체 행 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file_size_in_bytes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파일 크기 · byte 단위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61">
            <a:extLst xmlns:a="http://schemas.openxmlformats.org/drawingml/2006/main">
              <a:ext uri="{FF2B5EF4-FFF2-40B4-BE49-F238E27FC236}">
                <a16:creationId xmlns:a16="http://schemas.microsoft.com/office/drawing/2014/main" id="{D0734FC3-847F-4C7F-BBA0-09B87867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62">
            <a:extLst xmlns:a="http://schemas.openxmlformats.org/drawingml/2006/main">
              <a:ext uri="{FF2B5EF4-FFF2-40B4-BE49-F238E27FC236}">
                <a16:creationId xmlns:a16="http://schemas.microsoft.com/office/drawing/2014/main" id="{EECE30F0-6EDE-44EE-B398-095953EC4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.files는 metadata 조회 · 물리 파일 디코드와 특정 키 행 수는 별도 확인합니다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metadata JSON은 어떻게 고를까요?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31</a:t>
            </a:r>
          </a:p>
        </p:txBody>
      </p:sp>
      <p:sp>
        <p:nvSpPr>
          <p:cNvPr id="15" name="s03-panel-263">
            <a:extLst xmlns:a="http://schemas.openxmlformats.org/drawingml/2006/main">
              <a:ext uri="{FF2B5EF4-FFF2-40B4-BE49-F238E27FC236}">
                <a16:creationId xmlns:a16="http://schemas.microsoft.com/office/drawing/2014/main" id="{9D05E2FD-9C2E-49E7-BCD0-1075E93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264">
            <a:extLst xmlns:a="http://schemas.openxmlformats.org/drawingml/2006/main">
              <a:ext uri="{FF2B5EF4-FFF2-40B4-BE49-F238E27FC236}">
                <a16:creationId xmlns:a16="http://schemas.microsoft.com/office/drawing/2014/main" id="{DADAA357-CF06-4B32-A776-CFE6B7BA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참조</a:t>
            </a:r>
          </a:p>
        </p:txBody>
      </p:sp>
      <p:sp>
        <p:nvSpPr>
          <p:cNvPr id="17" name="s03-text-265">
            <a:extLst xmlns:a="http://schemas.openxmlformats.org/drawingml/2006/main">
              <a:ext uri="{FF2B5EF4-FFF2-40B4-BE49-F238E27FC236}">
                <a16:creationId xmlns:a16="http://schemas.microsoft.com/office/drawing/2014/main" id="{9248DCF1-4AC8-4E75-BFA8-F947DD12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catalog-db의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metadata_location</a:t>
            </a:r>
          </a:p>
        </p:txBody>
      </p:sp>
      <p:sp>
        <p:nvSpPr>
          <p:cNvPr id="18" name="s03-panel-266">
            <a:extLst xmlns:a="http://schemas.openxmlformats.org/drawingml/2006/main">
              <a:ext uri="{FF2B5EF4-FFF2-40B4-BE49-F238E27FC236}">
                <a16:creationId xmlns:a16="http://schemas.microsoft.com/office/drawing/2014/main" id="{A76E832D-4E4D-4BBC-A5EE-D8F61377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67">
            <a:extLst xmlns:a="http://schemas.openxmlformats.org/drawingml/2006/main">
              <a:ext uri="{FF2B5EF4-FFF2-40B4-BE49-F238E27FC236}">
                <a16:creationId xmlns:a16="http://schemas.microsoft.com/office/drawing/2014/main" id="{D6787419-CFC0-42DD-B38E-ADD8FE1E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SQL에서 대조</a:t>
            </a:r>
          </a:p>
        </p:txBody>
      </p:sp>
      <p:sp>
        <p:nvSpPr>
          <p:cNvPr id="20" name="s03-text-268">
            <a:extLst xmlns:a="http://schemas.openxmlformats.org/drawingml/2006/main">
              <a:ext uri="{FF2B5EF4-FFF2-40B4-BE49-F238E27FC236}">
                <a16:creationId xmlns:a16="http://schemas.microsoft.com/office/drawing/2014/main" id="{EEF06A5A-32D4-407F-9674-0D8DF6D3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metadata 변경 이력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snapshot ID·시각·operation</a:t>
            </a:r>
          </a:p>
        </p:txBody>
      </p:sp>
      <p:sp>
        <p:nvSpPr>
          <p:cNvPr id="21" name="s03-panel-269">
            <a:extLst xmlns:a="http://schemas.openxmlformats.org/drawingml/2006/main">
              <a:ext uri="{FF2B5EF4-FFF2-40B4-BE49-F238E27FC236}">
                <a16:creationId xmlns:a16="http://schemas.microsoft.com/office/drawing/2014/main" id="{B81E0677-BAE1-4EBB-95C4-525BECD7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270">
            <a:extLst xmlns:a="http://schemas.openxmlformats.org/drawingml/2006/main">
              <a:ext uri="{FF2B5EF4-FFF2-40B4-BE49-F238E27FC236}">
                <a16:creationId xmlns:a16="http://schemas.microsoft.com/office/drawing/2014/main" id="{CC9461A3-C1B0-4578-A3CE-CBA0B764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버킷의 최신 파일과 Catalog의 현재 참조는 같은 판단 기준이 아닙니다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키의 행과 Parquet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32</a:t>
            </a:r>
          </a:p>
        </p:txBody>
      </p:sp>
      <p:sp>
        <p:nvSpPr>
          <p:cNvPr id="15" name="s03-panel-271">
            <a:extLst xmlns:a="http://schemas.openxmlformats.org/drawingml/2006/main">
              <a:ext uri="{FF2B5EF4-FFF2-40B4-BE49-F238E27FC236}">
                <a16:creationId xmlns:a16="http://schemas.microsoft.com/office/drawing/2014/main" id="{8D98F746-DD14-40A1-9886-DDC85830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272">
            <a:extLst xmlns:a="http://schemas.openxmlformats.org/drawingml/2006/main">
              <a:ext uri="{FF2B5EF4-FFF2-40B4-BE49-F238E27FC236}">
                <a16:creationId xmlns:a16="http://schemas.microsoft.com/office/drawing/2014/main" id="{52F204B0-53B4-44FA-8A40-A0472CDE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키 조건</a:t>
            </a:r>
          </a:p>
        </p:txBody>
      </p:sp>
      <p:sp>
        <p:nvSpPr>
          <p:cNvPr id="17" name="s03-text-273">
            <a:extLst xmlns:a="http://schemas.openxmlformats.org/drawingml/2006/main">
              <a:ext uri="{FF2B5EF4-FFF2-40B4-BE49-F238E27FC236}">
                <a16:creationId xmlns:a16="http://schemas.microsoft.com/office/drawing/2014/main" id="{EDC0B776-4B91-4196-A340-2EAF84A3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payload JSON의 before·after에서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업무 키 추출·검색</a:t>
            </a:r>
          </a:p>
        </p:txBody>
      </p:sp>
      <p:sp>
        <p:nvSpPr>
          <p:cNvPr id="18" name="s03-panel-274">
            <a:extLst xmlns:a="http://schemas.openxmlformats.org/drawingml/2006/main">
              <a:ext uri="{FF2B5EF4-FFF2-40B4-BE49-F238E27FC236}">
                <a16:creationId xmlns:a16="http://schemas.microsoft.com/office/drawing/2014/main" id="{26C1BEF8-2242-4F2A-B11F-02A8FFC4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75">
            <a:extLst xmlns:a="http://schemas.openxmlformats.org/drawingml/2006/main">
              <a:ext uri="{FF2B5EF4-FFF2-40B4-BE49-F238E27FC236}">
                <a16:creationId xmlns:a16="http://schemas.microsoft.com/office/drawing/2014/main" id="{0B3F0010-1F2C-4DCE-80B2-5BC7D1E7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파일 연결</a:t>
            </a:r>
          </a:p>
        </p:txBody>
      </p:sp>
      <p:sp>
        <p:nvSpPr>
          <p:cNvPr id="20" name="s03-text-276">
            <a:extLst xmlns:a="http://schemas.openxmlformats.org/drawingml/2006/main">
              <a:ext uri="{FF2B5EF4-FFF2-40B4-BE49-F238E27FC236}">
                <a16:creationId xmlns:a16="http://schemas.microsoft.com/office/drawing/2014/main" id="{168CFEE1-49F7-4AFB-86DB-AA5C97A9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_file AS parquet_file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.files와 경로 대조</a:t>
            </a:r>
          </a:p>
        </p:txBody>
      </p:sp>
      <p:sp>
        <p:nvSpPr>
          <p:cNvPr id="21" name="s03-panel-277">
            <a:extLst xmlns:a="http://schemas.openxmlformats.org/drawingml/2006/main">
              <a:ext uri="{FF2B5EF4-FFF2-40B4-BE49-F238E27FC236}">
                <a16:creationId xmlns:a16="http://schemas.microsoft.com/office/drawing/2014/main" id="{050F0EFF-97D0-4273-B652-960A0743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278">
            <a:extLst xmlns:a="http://schemas.openxmlformats.org/drawingml/2006/main">
              <a:ext uri="{FF2B5EF4-FFF2-40B4-BE49-F238E27FC236}">
                <a16:creationId xmlns:a16="http://schemas.microsoft.com/office/drawing/2014/main" id="{A4436FFD-5C42-4244-85C8-64A5E9D6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DELETE는 before의 키도 확인합니다 · _file 경로가 bytes 디코드를 대신하지는 않습니다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105883F-0590-4348-8B6C-933038912E5A}"/>
              </a:ext>
            </a:extLst>
          </p:cNvPr>
          <p:cNvCxnSpPr>
            <a:stCxn xmlns:a="http://schemas.openxmlformats.org/drawingml/2006/main" id="30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87058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1727EC-A30A-4850-A4DD-2478980AFCAE}"/>
              </a:ext>
            </a:extLst>
          </p:cNvPr>
          <p:cNvCxnSpPr>
            <a:stCxn xmlns:a="http://schemas.openxmlformats.org/drawingml/2006/main" id="27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582930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EA9D2F-3807-4612-88D1-A7B0D8B81831}"/>
              </a:ext>
            </a:extLst>
          </p:cNvPr>
          <p:cNvCxnSpPr>
            <a:stCxn xmlns:a="http://schemas.openxmlformats.org/drawingml/2006/main" id="24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2952750" y="338137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D3EE"/>
            </a:solidFill>
            <a:prstDash val="solid"/>
            <a:tailEnd type="triangle" w="med" len="med"/>
          </a:ln>
        </p:spPr>
      </p:cxnSp>
      <p:sp>
        <p:nvSpPr>
          <p:cNvPr id="23" name="text-76">
            <a:extLst xmlns:a="http://schemas.openxmlformats.org/drawingml/2006/main">
              <a:ext uri="{FF2B5EF4-FFF2-40B4-BE49-F238E27FC236}">
                <a16:creationId xmlns:a16="http://schemas.microsoft.com/office/drawing/2014/main" id="{91536528-62A7-4107-B6A2-DDB403BF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77">
            <a:extLst xmlns:a="http://schemas.openxmlformats.org/drawingml/2006/main">
              <a:ext uri="{FF2B5EF4-FFF2-40B4-BE49-F238E27FC236}">
                <a16:creationId xmlns:a16="http://schemas.microsoft.com/office/drawing/2014/main" id="{6505C4E4-AE9A-4C26-A981-8608D4DF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관찰 C · 새 변경 한 건의 가시성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2A9F35-E5B1-46A9-89EF-AF5D98A5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21" name="text-92">
            <a:extLst xmlns:a="http://schemas.openxmlformats.org/drawingml/2006/main">
              <a:ext uri="{FF2B5EF4-FFF2-40B4-BE49-F238E27FC236}">
                <a16:creationId xmlns:a16="http://schemas.microsoft.com/office/drawing/2014/main" id="{F7B8EDF4-CD72-47DB-9C0C-938091F1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22" name="text-93">
            <a:extLst xmlns:a="http://schemas.openxmlformats.org/drawingml/2006/main">
              <a:ext uri="{FF2B5EF4-FFF2-40B4-BE49-F238E27FC236}">
                <a16:creationId xmlns:a16="http://schemas.microsoft.com/office/drawing/2014/main" id="{531F8511-5779-478F-86F9-8D123816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33</a:t>
            </a:r>
          </a:p>
        </p:txBody>
      </p:sp>
      <p:sp>
        <p:nvSpPr>
          <p:cNvPr id="24" name="s03-panel-279">
            <a:extLst xmlns:a="http://schemas.openxmlformats.org/drawingml/2006/main">
              <a:ext uri="{FF2B5EF4-FFF2-40B4-BE49-F238E27FC236}">
                <a16:creationId xmlns:a16="http://schemas.microsoft.com/office/drawing/2014/main" id="{DF867D9D-E577-4055-9A02-0B9D31A2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5" name="s03-text-280">
            <a:extLst xmlns:a="http://schemas.openxmlformats.org/drawingml/2006/main">
              <a:ext uri="{FF2B5EF4-FFF2-40B4-BE49-F238E27FC236}">
                <a16:creationId xmlns:a16="http://schemas.microsoft.com/office/drawing/2014/main" id="{6985E4A2-44F3-45E3-AE17-1628A209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환불 한 건</a:t>
            </a:r>
          </a:p>
        </p:txBody>
      </p:sp>
      <p:sp>
        <p:nvSpPr>
          <p:cNvPr id="26" name="s03-text-281">
            <a:extLst xmlns:a="http://schemas.openxmlformats.org/drawingml/2006/main">
              <a:ext uri="{FF2B5EF4-FFF2-40B4-BE49-F238E27FC236}">
                <a16:creationId xmlns:a16="http://schemas.microsoft.com/office/drawing/2014/main" id="{2FBC3BB5-0CAF-440D-AC6C-76261259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준비된 새 결제 키</a:t>
            </a:r>
          </a:p>
        </p:txBody>
      </p:sp>
      <p:sp>
        <p:nvSpPr>
          <p:cNvPr id="27" name="s03-panel-282">
            <a:extLst xmlns:a="http://schemas.openxmlformats.org/drawingml/2006/main">
              <a:ext uri="{FF2B5EF4-FFF2-40B4-BE49-F238E27FC236}">
                <a16:creationId xmlns:a16="http://schemas.microsoft.com/office/drawing/2014/main" id="{19DADB0B-5DEC-4B18-8181-811FB9BE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FB923C"/>
            </a:solidFill>
          </a:ln>
        </p:spPr>
      </p:sp>
      <p:sp>
        <p:nvSpPr>
          <p:cNvPr id="28" name="s03-text-283">
            <a:extLst xmlns:a="http://schemas.openxmlformats.org/drawingml/2006/main">
              <a:ext uri="{FF2B5EF4-FFF2-40B4-BE49-F238E27FC236}">
                <a16:creationId xmlns:a16="http://schemas.microsoft.com/office/drawing/2014/main" id="{13307337-DDB8-45A1-B603-3C8F26CD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Kafka 관측</a:t>
            </a:r>
          </a:p>
        </p:txBody>
      </p:sp>
      <p:sp>
        <p:nvSpPr>
          <p:cNvPr id="29" name="s03-text-284">
            <a:extLst xmlns:a="http://schemas.openxmlformats.org/drawingml/2006/main">
              <a:ext uri="{FF2B5EF4-FFF2-40B4-BE49-F238E27FC236}">
                <a16:creationId xmlns:a16="http://schemas.microsoft.com/office/drawing/2014/main" id="{7CE7B993-5094-47FF-82DA-BE664FF3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키·전달 위치</a:t>
            </a:r>
          </a:p>
        </p:txBody>
      </p:sp>
      <p:sp>
        <p:nvSpPr>
          <p:cNvPr id="30" name="s03-panel-285">
            <a:extLst xmlns:a="http://schemas.openxmlformats.org/drawingml/2006/main">
              <a:ext uri="{FF2B5EF4-FFF2-40B4-BE49-F238E27FC236}">
                <a16:creationId xmlns:a16="http://schemas.microsoft.com/office/drawing/2014/main" id="{F648ECF1-22EE-43B4-8134-563EDE6A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4D399"/>
            </a:solidFill>
          </a:ln>
        </p:spPr>
      </p:sp>
      <p:sp>
        <p:nvSpPr>
          <p:cNvPr id="31" name="s03-text-286">
            <a:extLst xmlns:a="http://schemas.openxmlformats.org/drawingml/2006/main">
              <a:ext uri="{FF2B5EF4-FFF2-40B4-BE49-F238E27FC236}">
                <a16:creationId xmlns:a16="http://schemas.microsoft.com/office/drawing/2014/main" id="{3730B836-135F-4C96-BAAF-EDD50332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Bronze 조회</a:t>
            </a:r>
          </a:p>
        </p:txBody>
      </p:sp>
      <p:sp>
        <p:nvSpPr>
          <p:cNvPr id="32" name="s03-text-287">
            <a:extLst xmlns:a="http://schemas.openxmlformats.org/drawingml/2006/main">
              <a:ext uri="{FF2B5EF4-FFF2-40B4-BE49-F238E27FC236}">
                <a16:creationId xmlns:a16="http://schemas.microsoft.com/office/drawing/2014/main" id="{D2FA20B2-9124-4441-AF36-54DAE626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그 변경의 실제 행</a:t>
            </a:r>
          </a:p>
        </p:txBody>
      </p:sp>
      <p:sp>
        <p:nvSpPr>
          <p:cNvPr id="33" name="s03-panel-288">
            <a:extLst xmlns:a="http://schemas.openxmlformats.org/drawingml/2006/main">
              <a:ext uri="{FF2B5EF4-FFF2-40B4-BE49-F238E27FC236}">
                <a16:creationId xmlns:a16="http://schemas.microsoft.com/office/drawing/2014/main" id="{448D1AE1-9793-4B7A-92E7-54B76F26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90750"/>
            <a:ext cx="2343150" cy="238125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4" name="s03-text-289">
            <a:extLst xmlns:a="http://schemas.openxmlformats.org/drawingml/2006/main">
              <a:ext uri="{FF2B5EF4-FFF2-40B4-BE49-F238E27FC236}">
                <a16:creationId xmlns:a16="http://schemas.microsoft.com/office/drawing/2014/main" id="{A034271F-6556-4741-87AE-3CF2A84F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324100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기록</a:t>
            </a:r>
          </a:p>
        </p:txBody>
      </p:sp>
      <p:sp>
        <p:nvSpPr>
          <p:cNvPr id="35" name="s03-text-290">
            <a:extLst xmlns:a="http://schemas.openxmlformats.org/drawingml/2006/main">
              <a:ext uri="{FF2B5EF4-FFF2-40B4-BE49-F238E27FC236}">
                <a16:creationId xmlns:a16="http://schemas.microsoft.com/office/drawing/2014/main" id="{5768E1DB-E094-4658-8F15-913FA1B4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43200"/>
            <a:ext cx="20383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시각·결과·미확인 범위</a:t>
            </a:r>
          </a:p>
        </p:txBody>
      </p:sp>
      <p:sp>
        <p:nvSpPr>
          <p:cNvPr id="39" name="s03-panel-291">
            <a:extLst xmlns:a="http://schemas.openxmlformats.org/drawingml/2006/main">
              <a:ext uri="{FF2B5EF4-FFF2-40B4-BE49-F238E27FC236}">
                <a16:creationId xmlns:a16="http://schemas.microsoft.com/office/drawing/2014/main" id="{3F453F70-28B8-43DF-B682-82670CEF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40" name="s03-text-292">
            <a:extLst xmlns:a="http://schemas.openxmlformats.org/drawingml/2006/main">
              <a:ext uri="{FF2B5EF4-FFF2-40B4-BE49-F238E27FC236}">
                <a16:creationId xmlns:a16="http://schemas.microsoft.com/office/drawing/2014/main" id="{E31511F1-87E2-4B25-A996-9745C265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관찰하지 못한 중간 상태는 추정해 채우지 않습니다</a:t>
            </a:r>
          </a:p>
        </p:txBody>
      </p:sp>
    </p:spTree>
    <p:extLst>
      <p:ext uri="{BB962C8B-B14F-4D97-AF65-F5344CB8AC3E}">
        <p14:creationId xmlns:p14="http://schemas.microsoft.com/office/powerpoint/2010/main" val="126241847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지연을 잴 때 시작과 끝을 정합니다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34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2D6C5E-A59E-4F3B-8F97-44BF4D2457B9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86915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측정 이름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시작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끝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원천부터 Bronze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확보한 원천 commit 기준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변경이 읽힌 시점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wait 관찰 시간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wait 명령 시작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첫 Bronze 관측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원천부터 지표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원천 commit 기준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집계 기대값이 읽힌 시점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293">
            <a:extLst xmlns:a="http://schemas.openxmlformats.org/drawingml/2006/main">
              <a:ext uri="{FF2B5EF4-FFF2-40B4-BE49-F238E27FC236}">
                <a16:creationId xmlns:a16="http://schemas.microsoft.com/office/drawing/2014/main" id="{1026C8FB-1822-4737-9798-ECB69FE2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294">
            <a:extLst xmlns:a="http://schemas.openxmlformats.org/drawingml/2006/main">
              <a:ext uri="{FF2B5EF4-FFF2-40B4-BE49-F238E27FC236}">
                <a16:creationId xmlns:a16="http://schemas.microsoft.com/office/drawing/2014/main" id="{E303F2A5-36F6-4EBD-B580-F68004DA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목표 지연·실측 지연·관찰 시작부터의 시간을 나누어 적습니다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짧은 checkpoint와 작은 파일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35</a:t>
            </a:r>
          </a:p>
        </p:txBody>
      </p:sp>
      <p:sp>
        <p:nvSpPr>
          <p:cNvPr id="15" name="s03-panel-295">
            <a:extLst xmlns:a="http://schemas.openxmlformats.org/drawingml/2006/main">
              <a:ext uri="{FF2B5EF4-FFF2-40B4-BE49-F238E27FC236}">
                <a16:creationId xmlns:a16="http://schemas.microsoft.com/office/drawing/2014/main" id="{EC112360-504C-4AF2-BACD-5B0CA5F6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296">
            <a:extLst xmlns:a="http://schemas.openxmlformats.org/drawingml/2006/main">
              <a:ext uri="{FF2B5EF4-FFF2-40B4-BE49-F238E27FC236}">
                <a16:creationId xmlns:a16="http://schemas.microsoft.com/office/drawing/2014/main" id="{1C0354B5-5397-42FC-9B83-DBCFE0B4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짧은 간격</a:t>
            </a:r>
          </a:p>
        </p:txBody>
      </p:sp>
      <p:sp>
        <p:nvSpPr>
          <p:cNvPr id="17" name="s03-text-297">
            <a:extLst xmlns:a="http://schemas.openxmlformats.org/drawingml/2006/main">
              <a:ext uri="{FF2B5EF4-FFF2-40B4-BE49-F238E27FC236}">
                <a16:creationId xmlns:a16="http://schemas.microsoft.com/office/drawing/2014/main" id="{B8520CEA-D28F-4210-8FAD-24BA7CFA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잦은 commit 기회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flush·metadata 비용 증가 가능</a:t>
            </a:r>
          </a:p>
        </p:txBody>
      </p:sp>
      <p:sp>
        <p:nvSpPr>
          <p:cNvPr id="18" name="s03-panel-298">
            <a:extLst xmlns:a="http://schemas.openxmlformats.org/drawingml/2006/main">
              <a:ext uri="{FF2B5EF4-FFF2-40B4-BE49-F238E27FC236}">
                <a16:creationId xmlns:a16="http://schemas.microsoft.com/office/drawing/2014/main" id="{795C1990-AEE8-4619-B65D-C615FE9A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299">
            <a:extLst xmlns:a="http://schemas.openxmlformats.org/drawingml/2006/main">
              <a:ext uri="{FF2B5EF4-FFF2-40B4-BE49-F238E27FC236}">
                <a16:creationId xmlns:a16="http://schemas.microsoft.com/office/drawing/2014/main" id="{D8CA2AB3-7077-46B9-86A0-C1B3541A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긴 간격</a:t>
            </a:r>
          </a:p>
        </p:txBody>
      </p:sp>
      <p:sp>
        <p:nvSpPr>
          <p:cNvPr id="20" name="s03-text-300">
            <a:extLst xmlns:a="http://schemas.openxmlformats.org/drawingml/2006/main">
              <a:ext uri="{FF2B5EF4-FFF2-40B4-BE49-F238E27FC236}">
                <a16:creationId xmlns:a16="http://schemas.microsoft.com/office/drawing/2014/main" id="{FDBAE973-23F6-4339-93FD-9C604260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빈도 비용을 줄일 여지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가시성 대기·복구 범위 증가 가능</a:t>
            </a:r>
          </a:p>
        </p:txBody>
      </p:sp>
      <p:sp>
        <p:nvSpPr>
          <p:cNvPr id="21" name="s03-panel-301">
            <a:extLst xmlns:a="http://schemas.openxmlformats.org/drawingml/2006/main">
              <a:ext uri="{FF2B5EF4-FFF2-40B4-BE49-F238E27FC236}">
                <a16:creationId xmlns:a16="http://schemas.microsoft.com/office/drawing/2014/main" id="{45BD72BA-4DB2-437D-A16D-497DA910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302">
            <a:extLst xmlns:a="http://schemas.openxmlformats.org/drawingml/2006/main">
              <a:ext uri="{FF2B5EF4-FFF2-40B4-BE49-F238E27FC236}">
                <a16:creationId xmlns:a16="http://schemas.microsoft.com/office/drawing/2014/main" id="{0009B779-A7C7-4CFE-A898-3B754632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checkpoint 주기·유입량·writer 수·실제 파일 크기를 함께 봅니다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파일 정리 작업도 목적이 다릅니다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36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AFE207-A926-480A-900F-F5C702DC94FC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86915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작업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목적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주의할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Compaction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작은 data 파일 재작성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쓰기·연산 비용과 동시 작업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 expiration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과거 table 버전 보존 종료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조회·복구에 필요한 버전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86915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Orphan 정리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참조되지 않는 객체 정리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미커밋 파일·안전 보존 시간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303">
            <a:extLst xmlns:a="http://schemas.openxmlformats.org/drawingml/2006/main">
              <a:ext uri="{FF2B5EF4-FFF2-40B4-BE49-F238E27FC236}">
                <a16:creationId xmlns:a16="http://schemas.microsoft.com/office/drawing/2014/main" id="{7438363F-3ADD-4FBD-85E8-233B496E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304">
            <a:extLst xmlns:a="http://schemas.openxmlformats.org/drawingml/2006/main">
              <a:ext uri="{FF2B5EF4-FFF2-40B4-BE49-F238E27FC236}">
                <a16:creationId xmlns:a16="http://schemas.microsoft.com/office/drawing/2014/main" id="{A1F27A71-99BC-4A59-90FE-3D874449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버킷에서 오래된 파일부터 직접 지우는 방식으로 대체하지 않습니다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운영에서 볼 최소 증거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37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F7049-9F13-47DC-97F7-C8A613AEB6DC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범위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볼 증거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답하는 질문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rate · pending / lag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읽지 못한 입력이 쌓이나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checkpoint 성공·실패·시간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복구 지점이 진행하나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commit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마지막 성공 경과·소요 시간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table 확정이 진행하나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결과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snapshot · 같은 키 SELECT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필요한 변경이 읽히나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305">
            <a:extLst xmlns:a="http://schemas.openxmlformats.org/drawingml/2006/main">
              <a:ext uri="{FF2B5EF4-FFF2-40B4-BE49-F238E27FC236}">
                <a16:creationId xmlns:a16="http://schemas.microsoft.com/office/drawing/2014/main" id="{7AE88967-4E05-4250-AFF9-7AA2EC7E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306">
            <a:extLst xmlns:a="http://schemas.openxmlformats.org/drawingml/2006/main">
              <a:ext uri="{FF2B5EF4-FFF2-40B4-BE49-F238E27FC236}">
                <a16:creationId xmlns:a16="http://schemas.microsoft.com/office/drawing/2014/main" id="{25637192-96D4-458B-B040-CC52470E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RUNNING 상태에 입력·commit·결과 증거를 더합니다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Backpressure는 어디서 시작됐을까요?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38</a:t>
            </a:r>
          </a:p>
        </p:txBody>
      </p:sp>
      <p:sp>
        <p:nvSpPr>
          <p:cNvPr id="15" name="s03-panel-307">
            <a:extLst xmlns:a="http://schemas.openxmlformats.org/drawingml/2006/main">
              <a:ext uri="{FF2B5EF4-FFF2-40B4-BE49-F238E27FC236}">
                <a16:creationId xmlns:a16="http://schemas.microsoft.com/office/drawing/2014/main" id="{E2FDE0C9-D88C-4202-9876-230ED995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308">
            <a:extLst xmlns:a="http://schemas.openxmlformats.org/drawingml/2006/main">
              <a:ext uri="{FF2B5EF4-FFF2-40B4-BE49-F238E27FC236}">
                <a16:creationId xmlns:a16="http://schemas.microsoft.com/office/drawing/2014/main" id="{772F8894-9A5B-4F7D-8CD6-523C6F3A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처리 경로</a:t>
            </a:r>
          </a:p>
        </p:txBody>
      </p:sp>
      <p:sp>
        <p:nvSpPr>
          <p:cNvPr id="17" name="s03-text-309">
            <a:extLst xmlns:a="http://schemas.openxmlformats.org/drawingml/2006/main">
              <a:ext uri="{FF2B5EF4-FFF2-40B4-BE49-F238E27FC236}">
                <a16:creationId xmlns:a16="http://schemas.microsoft.com/office/drawing/2014/main" id="{B0499A43-39D4-41FB-BD80-949BF622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느린 하류가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상류 전송을 막을 수 있음</a:t>
            </a:r>
          </a:p>
        </p:txBody>
      </p:sp>
      <p:sp>
        <p:nvSpPr>
          <p:cNvPr id="18" name="s03-panel-310">
            <a:extLst xmlns:a="http://schemas.openxmlformats.org/drawingml/2006/main">
              <a:ext uri="{FF2B5EF4-FFF2-40B4-BE49-F238E27FC236}">
                <a16:creationId xmlns:a16="http://schemas.microsoft.com/office/drawing/2014/main" id="{A53B91EC-7D83-43CB-AB68-60FADA50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11">
            <a:extLst xmlns:a="http://schemas.openxmlformats.org/drawingml/2006/main">
              <a:ext uri="{FF2B5EF4-FFF2-40B4-BE49-F238E27FC236}">
                <a16:creationId xmlns:a16="http://schemas.microsoft.com/office/drawing/2014/main" id="{8524E1B5-E311-4E6D-BF99-B2D8F4BB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조사 순서</a:t>
            </a:r>
          </a:p>
        </p:txBody>
      </p:sp>
      <p:sp>
        <p:nvSpPr>
          <p:cNvPr id="20" name="s03-text-312">
            <a:extLst xmlns:a="http://schemas.openxmlformats.org/drawingml/2006/main">
              <a:ext uri="{FF2B5EF4-FFF2-40B4-BE49-F238E27FC236}">
                <a16:creationId xmlns:a16="http://schemas.microsoft.com/office/drawing/2014/main" id="{2AD0C8EA-674F-42B3-8E31-F69F5A55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subtask 시간·I/O·barrier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지연이 시작된 경계 확인</a:t>
            </a:r>
          </a:p>
        </p:txBody>
      </p:sp>
      <p:sp>
        <p:nvSpPr>
          <p:cNvPr id="21" name="s03-panel-313">
            <a:extLst xmlns:a="http://schemas.openxmlformats.org/drawingml/2006/main">
              <a:ext uri="{FF2B5EF4-FFF2-40B4-BE49-F238E27FC236}">
                <a16:creationId xmlns:a16="http://schemas.microsoft.com/office/drawing/2014/main" id="{AF29A633-991D-4FBF-A553-7ED6B8FA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314">
            <a:extLst xmlns:a="http://schemas.openxmlformats.org/drawingml/2006/main">
              <a:ext uri="{FF2B5EF4-FFF2-40B4-BE49-F238E27FC236}">
                <a16:creationId xmlns:a16="http://schemas.microsoft.com/office/drawing/2014/main" id="{45AD7F44-0166-4F4E-929D-E9DEE0D1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원인을 확인한 뒤 병렬도·저장소·상태 비용을 판단합니다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사례 · RUNNING인데 데이터가 오래됐습니다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39</a:t>
            </a:r>
          </a:p>
        </p:txBody>
      </p:sp>
      <p:sp>
        <p:nvSpPr>
          <p:cNvPr id="15" name="s03-panel-315">
            <a:extLst xmlns:a="http://schemas.openxmlformats.org/drawingml/2006/main">
              <a:ext uri="{FF2B5EF4-FFF2-40B4-BE49-F238E27FC236}">
                <a16:creationId xmlns:a16="http://schemas.microsoft.com/office/drawing/2014/main" id="{CF95EE44-22FE-4BF0-9CA6-E1C8759A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316">
            <a:extLst xmlns:a="http://schemas.openxmlformats.org/drawingml/2006/main">
              <a:ext uri="{FF2B5EF4-FFF2-40B4-BE49-F238E27FC236}">
                <a16:creationId xmlns:a16="http://schemas.microsoft.com/office/drawing/2014/main" id="{C4826069-0C71-4BD2-AAFF-2C5AD03C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먼저</a:t>
            </a:r>
          </a:p>
        </p:txBody>
      </p:sp>
      <p:sp>
        <p:nvSpPr>
          <p:cNvPr id="17" name="s03-text-317">
            <a:extLst xmlns:a="http://schemas.openxmlformats.org/drawingml/2006/main">
              <a:ext uri="{FF2B5EF4-FFF2-40B4-BE49-F238E27FC236}">
                <a16:creationId xmlns:a16="http://schemas.microsoft.com/office/drawing/2014/main" id="{8554AE88-9561-4E7F-8A78-10B297E2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새 변경·대상 키·조회 조건</a:t>
            </a:r>
          </a:p>
        </p:txBody>
      </p:sp>
      <p:sp>
        <p:nvSpPr>
          <p:cNvPr id="18" name="s03-panel-318">
            <a:extLst xmlns:a="http://schemas.openxmlformats.org/drawingml/2006/main">
              <a:ext uri="{FF2B5EF4-FFF2-40B4-BE49-F238E27FC236}">
                <a16:creationId xmlns:a16="http://schemas.microsoft.com/office/drawing/2014/main" id="{411C1DEC-57E3-4E37-917D-081090E2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19">
            <a:extLst xmlns:a="http://schemas.openxmlformats.org/drawingml/2006/main">
              <a:ext uri="{FF2B5EF4-FFF2-40B4-BE49-F238E27FC236}">
                <a16:creationId xmlns:a16="http://schemas.microsoft.com/office/drawing/2014/main" id="{35682452-E707-47CC-93E7-84A40A26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다음</a:t>
            </a:r>
          </a:p>
        </p:txBody>
      </p:sp>
      <p:sp>
        <p:nvSpPr>
          <p:cNvPr id="20" name="s03-text-320">
            <a:extLst xmlns:a="http://schemas.openxmlformats.org/drawingml/2006/main">
              <a:ext uri="{FF2B5EF4-FFF2-40B4-BE49-F238E27FC236}">
                <a16:creationId xmlns:a16="http://schemas.microsoft.com/office/drawing/2014/main" id="{AACBD139-2554-4ADC-8206-F7AFF4D7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Kafka · 처리 · commit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 SELECT</a:t>
            </a:r>
          </a:p>
        </p:txBody>
      </p:sp>
      <p:sp>
        <p:nvSpPr>
          <p:cNvPr id="21" name="s03-panel-321">
            <a:extLst xmlns:a="http://schemas.openxmlformats.org/drawingml/2006/main">
              <a:ext uri="{FF2B5EF4-FFF2-40B4-BE49-F238E27FC236}">
                <a16:creationId xmlns:a16="http://schemas.microsoft.com/office/drawing/2014/main" id="{1DDD7172-61D9-457D-817C-E0D64A55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322">
            <a:extLst xmlns:a="http://schemas.openxmlformats.org/drawingml/2006/main">
              <a:ext uri="{FF2B5EF4-FFF2-40B4-BE49-F238E27FC236}">
                <a16:creationId xmlns:a16="http://schemas.microsoft.com/office/drawing/2014/main" id="{B41C7358-0116-4C8E-91D2-ACF62A06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마지막으로 확인된 경계와 아직 모르는 경계를 구분합니다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사례 · checkpoint는 성공, commit은 오래됐습니다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40</a:t>
            </a:r>
          </a:p>
        </p:txBody>
      </p:sp>
      <p:sp>
        <p:nvSpPr>
          <p:cNvPr id="15" name="s03-panel-323">
            <a:extLst xmlns:a="http://schemas.openxmlformats.org/drawingml/2006/main">
              <a:ext uri="{FF2B5EF4-FFF2-40B4-BE49-F238E27FC236}">
                <a16:creationId xmlns:a16="http://schemas.microsoft.com/office/drawing/2014/main" id="{EFCE9EC6-E7BA-4E91-A226-D416EAA7D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324">
            <a:extLst xmlns:a="http://schemas.openxmlformats.org/drawingml/2006/main">
              <a:ext uri="{FF2B5EF4-FFF2-40B4-BE49-F238E27FC236}">
                <a16:creationId xmlns:a16="http://schemas.microsoft.com/office/drawing/2014/main" id="{68D4540E-34F6-4EBB-80F0-6D8ED602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관측</a:t>
            </a:r>
          </a:p>
        </p:txBody>
      </p:sp>
      <p:sp>
        <p:nvSpPr>
          <p:cNvPr id="17" name="s03-text-325">
            <a:extLst xmlns:a="http://schemas.openxmlformats.org/drawingml/2006/main">
              <a:ext uri="{FF2B5EF4-FFF2-40B4-BE49-F238E27FC236}">
                <a16:creationId xmlns:a16="http://schemas.microsoft.com/office/drawing/2014/main" id="{19E42B52-0246-48E5-AFA7-2EF67838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입력·checkpoint 진행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마지막 commit은 오래됨</a:t>
            </a:r>
          </a:p>
        </p:txBody>
      </p:sp>
      <p:sp>
        <p:nvSpPr>
          <p:cNvPr id="18" name="s03-panel-326">
            <a:extLst xmlns:a="http://schemas.openxmlformats.org/drawingml/2006/main">
              <a:ext uri="{FF2B5EF4-FFF2-40B4-BE49-F238E27FC236}">
                <a16:creationId xmlns:a16="http://schemas.microsoft.com/office/drawing/2014/main" id="{6BBEE985-9D47-41B6-B9B5-F00039D7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27">
            <a:extLst xmlns:a="http://schemas.openxmlformats.org/drawingml/2006/main">
              <a:ext uri="{FF2B5EF4-FFF2-40B4-BE49-F238E27FC236}">
                <a16:creationId xmlns:a16="http://schemas.microsoft.com/office/drawing/2014/main" id="{9284A1E8-6528-4785-BB78-28A40603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가설 확인</a:t>
            </a:r>
          </a:p>
        </p:txBody>
      </p:sp>
      <p:sp>
        <p:nvSpPr>
          <p:cNvPr id="20" name="s03-text-328">
            <a:extLst xmlns:a="http://schemas.openxmlformats.org/drawingml/2006/main">
              <a:ext uri="{FF2B5EF4-FFF2-40B4-BE49-F238E27FC236}">
                <a16:creationId xmlns:a16="http://schemas.microsoft.com/office/drawing/2014/main" id="{5F73A3BD-0A1A-4D97-963D-D45E84CD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committer 로그·Catalog·저장소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snapshot·같은 키 SELECT</a:t>
            </a:r>
          </a:p>
        </p:txBody>
      </p:sp>
      <p:sp>
        <p:nvSpPr>
          <p:cNvPr id="21" name="s03-panel-329">
            <a:extLst xmlns:a="http://schemas.openxmlformats.org/drawingml/2006/main">
              <a:ext uri="{FF2B5EF4-FFF2-40B4-BE49-F238E27FC236}">
                <a16:creationId xmlns:a16="http://schemas.microsoft.com/office/drawing/2014/main" id="{75342273-D174-4755-B8E2-0FC65F80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330">
            <a:extLst xmlns:a="http://schemas.openxmlformats.org/drawingml/2006/main">
              <a:ext uri="{FF2B5EF4-FFF2-40B4-BE49-F238E27FC236}">
                <a16:creationId xmlns:a16="http://schemas.microsoft.com/office/drawing/2014/main" id="{1293159F-0DE5-44B5-986E-002CC5A6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commit 경로를 조사할 근거이며, 원인을 확정한 결과는 아닙니다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복구 시간만큼 입력도 남아 있어야 합니다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41</a:t>
            </a:r>
          </a:p>
        </p:txBody>
      </p:sp>
      <p:sp>
        <p:nvSpPr>
          <p:cNvPr id="15" name="s03-panel-331">
            <a:extLst xmlns:a="http://schemas.openxmlformats.org/drawingml/2006/main">
              <a:ext uri="{FF2B5EF4-FFF2-40B4-BE49-F238E27FC236}">
                <a16:creationId xmlns:a16="http://schemas.microsoft.com/office/drawing/2014/main" id="{7EC55639-2377-4170-874F-5DE20D9F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332">
            <a:extLst xmlns:a="http://schemas.openxmlformats.org/drawingml/2006/main">
              <a:ext uri="{FF2B5EF4-FFF2-40B4-BE49-F238E27FC236}">
                <a16:creationId xmlns:a16="http://schemas.microsoft.com/office/drawing/2014/main" id="{653E1BCB-5CD9-4EE3-9B90-CB17F156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Kafka와 상태</a:t>
            </a:r>
          </a:p>
        </p:txBody>
      </p:sp>
      <p:sp>
        <p:nvSpPr>
          <p:cNvPr id="17" name="s03-text-333">
            <a:extLst xmlns:a="http://schemas.openxmlformats.org/drawingml/2006/main">
              <a:ext uri="{FF2B5EF4-FFF2-40B4-BE49-F238E27FC236}">
                <a16:creationId xmlns:a16="http://schemas.microsoft.com/office/drawing/2014/main" id="{84F206E4-AA37-4D0B-B02C-17571A56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복원할 입력 범위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checkpoint·savepoint 보존</a:t>
            </a:r>
          </a:p>
        </p:txBody>
      </p:sp>
      <p:sp>
        <p:nvSpPr>
          <p:cNvPr id="18" name="s03-panel-334">
            <a:extLst xmlns:a="http://schemas.openxmlformats.org/drawingml/2006/main">
              <a:ext uri="{FF2B5EF4-FFF2-40B4-BE49-F238E27FC236}">
                <a16:creationId xmlns:a16="http://schemas.microsoft.com/office/drawing/2014/main" id="{9DD200DD-3031-49AE-9F3F-95DC0488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35">
            <a:extLst xmlns:a="http://schemas.openxmlformats.org/drawingml/2006/main">
              <a:ext uri="{FF2B5EF4-FFF2-40B4-BE49-F238E27FC236}">
                <a16:creationId xmlns:a16="http://schemas.microsoft.com/office/drawing/2014/main" id="{52D9E336-8667-4F37-90E9-CAFF1FB9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원천과 CDC</a:t>
            </a:r>
          </a:p>
        </p:txBody>
      </p:sp>
      <p:sp>
        <p:nvSpPr>
          <p:cNvPr id="20" name="s03-text-336">
            <a:extLst xmlns:a="http://schemas.openxmlformats.org/drawingml/2006/main">
              <a:ext uri="{FF2B5EF4-FFF2-40B4-BE49-F238E27FC236}">
                <a16:creationId xmlns:a16="http://schemas.microsoft.com/office/drawing/2014/main" id="{BCBF2AB4-92A7-4B15-B671-B04B4B29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slot·WAL의 진행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디스크 보호</a:t>
            </a:r>
          </a:p>
        </p:txBody>
      </p:sp>
      <p:sp>
        <p:nvSpPr>
          <p:cNvPr id="21" name="s03-panel-337">
            <a:extLst xmlns:a="http://schemas.openxmlformats.org/drawingml/2006/main">
              <a:ext uri="{FF2B5EF4-FFF2-40B4-BE49-F238E27FC236}">
                <a16:creationId xmlns:a16="http://schemas.microsoft.com/office/drawing/2014/main" id="{48F493DF-2DBB-4DCD-A903-64EC8B41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338">
            <a:extLst xmlns:a="http://schemas.openxmlformats.org/drawingml/2006/main">
              <a:ext uri="{FF2B5EF4-FFF2-40B4-BE49-F238E27FC236}">
                <a16:creationId xmlns:a16="http://schemas.microsoft.com/office/drawing/2014/main" id="{FB1DA400-705E-4B2F-8DCF-690E24DF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입력·상태·테이블 파일 중 하나가 사라지면 복구 조건이 달라집니다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현재 랩에서 검증한 범위를 구분합니다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42</a:t>
            </a:r>
          </a:p>
        </p:txBody>
      </p:sp>
      <p:sp>
        <p:nvSpPr>
          <p:cNvPr id="18" name="s03-panel-339">
            <a:extLst xmlns:a="http://schemas.openxmlformats.org/drawingml/2006/main">
              <a:ext uri="{FF2B5EF4-FFF2-40B4-BE49-F238E27FC236}">
                <a16:creationId xmlns:a16="http://schemas.microsoft.com/office/drawing/2014/main" id="{C40F15E6-5C0B-48BC-B39A-19415E2A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40">
            <a:extLst xmlns:a="http://schemas.openxmlformats.org/drawingml/2006/main">
              <a:ext uri="{FF2B5EF4-FFF2-40B4-BE49-F238E27FC236}">
                <a16:creationId xmlns:a16="http://schemas.microsoft.com/office/drawing/2014/main" id="{A0C351BE-D74D-4900-B1CE-C4CCC7B1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현재 구성</a:t>
            </a:r>
          </a:p>
        </p:txBody>
      </p:sp>
      <p:sp>
        <p:nvSpPr>
          <p:cNvPr id="20" name="s03-text-341">
            <a:extLst xmlns:a="http://schemas.openxmlformats.org/drawingml/2006/main">
              <a:ext uri="{FF2B5EF4-FFF2-40B4-BE49-F238E27FC236}">
                <a16:creationId xmlns:a16="http://schemas.microsoft.com/office/drawing/2014/main" id="{98AC9252-73C3-4C69-B920-8F03EB9F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단일 노드·병렬도 1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로컬 영속 상태</a:t>
            </a:r>
          </a:p>
        </p:txBody>
      </p:sp>
      <p:sp>
        <p:nvSpPr>
          <p:cNvPr id="21" name="s03-panel-342">
            <a:extLst xmlns:a="http://schemas.openxmlformats.org/drawingml/2006/main">
              <a:ext uri="{FF2B5EF4-FFF2-40B4-BE49-F238E27FC236}">
                <a16:creationId xmlns:a16="http://schemas.microsoft.com/office/drawing/2014/main" id="{E479D2A2-98A6-4A3C-9578-56E65F3F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343">
            <a:extLst xmlns:a="http://schemas.openxmlformats.org/drawingml/2006/main">
              <a:ext uri="{FF2B5EF4-FFF2-40B4-BE49-F238E27FC236}">
                <a16:creationId xmlns:a16="http://schemas.microsoft.com/office/drawing/2014/main" id="{3DC2DE2D-0BC1-44D4-AA7B-BA6E6437F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현재 관측</a:t>
            </a:r>
          </a:p>
        </p:txBody>
      </p:sp>
      <p:sp>
        <p:nvSpPr>
          <p:cNvPr id="23" name="s03-text-344">
            <a:extLst xmlns:a="http://schemas.openxmlformats.org/drawingml/2006/main">
              <a:ext uri="{FF2B5EF4-FFF2-40B4-BE49-F238E27FC236}">
                <a16:creationId xmlns:a16="http://schemas.microsoft.com/office/drawing/2014/main" id="{518772D3-BC56-4209-B12B-DF39F03F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키별 결과와 순차 조회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전체 운영 보장과 구분</a:t>
            </a:r>
          </a:p>
        </p:txBody>
      </p:sp>
      <p:sp>
        <p:nvSpPr>
          <p:cNvPr id="24" name="s03-panel-345">
            <a:extLst xmlns:a="http://schemas.openxmlformats.org/drawingml/2006/main">
              <a:ext uri="{FF2B5EF4-FFF2-40B4-BE49-F238E27FC236}">
                <a16:creationId xmlns:a16="http://schemas.microsoft.com/office/drawing/2014/main" id="{4F935715-30E0-4EA9-81E8-C860C8F2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346">
            <a:extLst xmlns:a="http://schemas.openxmlformats.org/drawingml/2006/main">
              <a:ext uri="{FF2B5EF4-FFF2-40B4-BE49-F238E27FC236}">
                <a16:creationId xmlns:a16="http://schemas.microsoft.com/office/drawing/2014/main" id="{C228DE8D-C115-45F9-B53B-217DD5B2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후속 갱신</a:t>
            </a:r>
          </a:p>
        </p:txBody>
      </p:sp>
      <p:sp>
        <p:nvSpPr>
          <p:cNvPr id="26" name="s03-text-347">
            <a:extLst xmlns:a="http://schemas.openxmlformats.org/drawingml/2006/main">
              <a:ext uri="{FF2B5EF4-FFF2-40B4-BE49-F238E27FC236}">
                <a16:creationId xmlns:a16="http://schemas.microsoft.com/office/drawing/2014/main" id="{9FA0336E-1F3D-4A55-9F03-A25AEEE5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Silver·Gold 실행 시 반영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자동 스케줄은 선택</a:t>
            </a:r>
          </a:p>
        </p:txBody>
      </p:sp>
      <p:sp>
        <p:nvSpPr>
          <p:cNvPr id="27" name="s03-panel-348">
            <a:extLst xmlns:a="http://schemas.openxmlformats.org/drawingml/2006/main">
              <a:ext uri="{FF2B5EF4-FFF2-40B4-BE49-F238E27FC236}">
                <a16:creationId xmlns:a16="http://schemas.microsoft.com/office/drawing/2014/main" id="{AB62B83B-6544-4B3E-958E-0F6928D9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349">
            <a:extLst xmlns:a="http://schemas.openxmlformats.org/drawingml/2006/main">
              <a:ext uri="{FF2B5EF4-FFF2-40B4-BE49-F238E27FC236}">
                <a16:creationId xmlns:a16="http://schemas.microsoft.com/office/drawing/2014/main" id="{6CE46D49-7573-47F7-9C11-3F2DF0B2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랩의 성공 결과를 운영 규모·HA·지연 보장으로 확대하지 않습니다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60">
            <a:extLst xmlns:a="http://schemas.openxmlformats.org/drawingml/2006/main">
              <a:ext uri="{FF2B5EF4-FFF2-40B4-BE49-F238E27FC236}">
                <a16:creationId xmlns:a16="http://schemas.microsoft.com/office/drawing/2014/main" id="{B1BDA8A5-6773-410F-8448-B5E36E64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휴식</a:t>
            </a:r>
          </a:p>
        </p:txBody>
      </p:sp>
      <p:sp>
        <p:nvSpPr>
          <p:cNvPr id="2" name="text-161">
            <a:extLst xmlns:a="http://schemas.openxmlformats.org/drawingml/2006/main">
              <a:ext uri="{FF2B5EF4-FFF2-40B4-BE49-F238E27FC236}">
                <a16:creationId xmlns:a16="http://schemas.microsoft.com/office/drawing/2014/main" id="{0E6E3B85-6DA0-4AAA-A142-63F90EED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35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5분 쉬고 개인 설계를 이어갑니다</a:t>
            </a:r>
          </a:p>
        </p:txBody>
      </p:sp>
      <p:sp>
        <p:nvSpPr>
          <p:cNvPr id="3" name="text-162">
            <a:extLst xmlns:a="http://schemas.openxmlformats.org/drawingml/2006/main">
              <a:ext uri="{FF2B5EF4-FFF2-40B4-BE49-F238E27FC236}">
                <a16:creationId xmlns:a16="http://schemas.microsoft.com/office/drawing/2014/main" id="{8FA2393D-F3D7-475B-912A-CCF9563E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원천 테이블·입력 계약·검증 조건을 확정합니다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40ACDD-11C3-4F8B-916E-94A51C03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5" name="text-163">
            <a:extLst xmlns:a="http://schemas.openxmlformats.org/drawingml/2006/main">
              <a:ext uri="{FF2B5EF4-FFF2-40B4-BE49-F238E27FC236}">
                <a16:creationId xmlns:a16="http://schemas.microsoft.com/office/drawing/2014/main" id="{CE105055-FFDE-483A-9064-06940394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6" name="text-164">
            <a:extLst xmlns:a="http://schemas.openxmlformats.org/drawingml/2006/main">
              <a:ext uri="{FF2B5EF4-FFF2-40B4-BE49-F238E27FC236}">
                <a16:creationId xmlns:a16="http://schemas.microsoft.com/office/drawing/2014/main" id="{1C123AE8-6FC1-49D6-B9B8-F210BE01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20754875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원천 테이블과 변경 의미 확정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44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B19478-E69D-461A-911D-3A95AC365746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정할 것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설계에 남길 내용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테이블·관계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2~3개 · 한 행 의미 · PK/FK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시간·순서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변경 시각·버전의 기준과 한계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발생 변경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INSERT / UPDATE / DELETE 사례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삭제·후속 활용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물리·소프트 삭제 · 조인·집계 한 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350">
            <a:extLst xmlns:a="http://schemas.openxmlformats.org/drawingml/2006/main">
              <a:ext uri="{FF2B5EF4-FFF2-40B4-BE49-F238E27FC236}">
                <a16:creationId xmlns:a16="http://schemas.microsoft.com/office/drawing/2014/main" id="{0CB063B0-3E37-48F1-A676-CE480DFA8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351">
            <a:extLst xmlns:a="http://schemas.openxmlformats.org/drawingml/2006/main">
              <a:ext uri="{FF2B5EF4-FFF2-40B4-BE49-F238E27FC236}">
                <a16:creationId xmlns:a16="http://schemas.microsoft.com/office/drawing/2014/main" id="{77DD5C52-B49D-4CE0-AA22-D4A277EA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이름만 적지 말고 한 행·키·변경 사례를 함께 정합니다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내 Bronze 입력 계약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45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095ED-A24F-41DD-B842-9E29A599EA80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계약 항목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내 설계에서 정할 것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입력과 식별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토픽 · 업무 키(PK) · 전달 위치 식별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보존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payload · 전달 위치 · 시각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제외와 해석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tombstone · 삭제 · 잘못된 입력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복구와 접근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상태·입력 보관 · 원문 접근 범위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352">
            <a:extLst xmlns:a="http://schemas.openxmlformats.org/drawingml/2006/main">
              <a:ext uri="{FF2B5EF4-FFF2-40B4-BE49-F238E27FC236}">
                <a16:creationId xmlns:a16="http://schemas.microsoft.com/office/drawing/2014/main" id="{96536449-FD23-411D-BE23-F2FE3CF3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353">
            <a:extLst xmlns:a="http://schemas.openxmlformats.org/drawingml/2006/main">
              <a:ext uri="{FF2B5EF4-FFF2-40B4-BE49-F238E27FC236}">
                <a16:creationId xmlns:a16="http://schemas.microsoft.com/office/drawing/2014/main" id="{5FE549A3-EE6F-4EAB-AE96-6E4B69BC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raw 보존을 선택한 이유와 후속 해석의 책임을 적습니다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같은 키로 결과를 검증하기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46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EA9A7A-A885-4298-92B9-6EB2F58061A9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10000"/>
                <a:gridCol w="487680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사례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예상할 결과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근거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생성·수정·삭제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이력과 현재 상태를 각각 정의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같은 키·전후 값·op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반복 전달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값·지표의 유지 조건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업무 키·버전 규칙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실패 후 복구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어디부터 이어갈지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남아 있는 입력·상태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지연 목표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시작과 종료의 의미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기준 시각·같은 키 SELECT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354">
            <a:extLst xmlns:a="http://schemas.openxmlformats.org/drawingml/2006/main">
              <a:ext uri="{FF2B5EF4-FFF2-40B4-BE49-F238E27FC236}">
                <a16:creationId xmlns:a16="http://schemas.microsoft.com/office/drawing/2014/main" id="{33C4A9B7-DA65-4183-B42F-2A763951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355">
            <a:extLst xmlns:a="http://schemas.openxmlformats.org/drawingml/2006/main">
              <a:ext uri="{FF2B5EF4-FFF2-40B4-BE49-F238E27FC236}">
                <a16:creationId xmlns:a16="http://schemas.microsoft.com/office/drawing/2014/main" id="{D8F41438-5EEF-48AB-AAF5-BEA41329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입력 사례 하나에 기대값과 조회 조건을 붙입니다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동료의 설계에 한 가지 질문하기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47</a:t>
            </a:r>
          </a:p>
        </p:txBody>
      </p:sp>
      <p:sp>
        <p:nvSpPr>
          <p:cNvPr id="15" name="s03-panel-356">
            <a:extLst xmlns:a="http://schemas.openxmlformats.org/drawingml/2006/main">
              <a:ext uri="{FF2B5EF4-FFF2-40B4-BE49-F238E27FC236}">
                <a16:creationId xmlns:a16="http://schemas.microsoft.com/office/drawing/2014/main" id="{5340E382-1A54-4358-870B-7F1AE4EF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357">
            <a:extLst xmlns:a="http://schemas.openxmlformats.org/drawingml/2006/main">
              <a:ext uri="{FF2B5EF4-FFF2-40B4-BE49-F238E27FC236}">
                <a16:creationId xmlns:a16="http://schemas.microsoft.com/office/drawing/2014/main" id="{16505F80-6F95-4A88-9CD5-51D9F877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대표 설계 2개</a:t>
            </a:r>
          </a:p>
        </p:txBody>
      </p:sp>
      <p:sp>
        <p:nvSpPr>
          <p:cNvPr id="17" name="s03-text-358">
            <a:extLst xmlns:a="http://schemas.openxmlformats.org/drawingml/2006/main">
              <a:ext uri="{FF2B5EF4-FFF2-40B4-BE49-F238E27FC236}">
                <a16:creationId xmlns:a16="http://schemas.microsoft.com/office/drawing/2014/main" id="{771AA6EF-9580-42D3-8ED5-63E8DDC1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8분 · 유형이 다른 사례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키·삭제·복구를 질문</a:t>
            </a:r>
          </a:p>
        </p:txBody>
      </p:sp>
      <p:sp>
        <p:nvSpPr>
          <p:cNvPr id="18" name="s03-panel-359">
            <a:extLst xmlns:a="http://schemas.openxmlformats.org/drawingml/2006/main">
              <a:ext uri="{FF2B5EF4-FFF2-40B4-BE49-F238E27FC236}">
                <a16:creationId xmlns:a16="http://schemas.microsoft.com/office/drawing/2014/main" id="{863CF69E-1FB8-4517-80A7-DB06834D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60">
            <a:extLst xmlns:a="http://schemas.openxmlformats.org/drawingml/2006/main">
              <a:ext uri="{FF2B5EF4-FFF2-40B4-BE49-F238E27FC236}">
                <a16:creationId xmlns:a16="http://schemas.microsoft.com/office/drawing/2014/main" id="{ECB6BBE4-1E01-47C7-A2A3-5E7C98EA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전원 자가 점검</a:t>
            </a:r>
          </a:p>
        </p:txBody>
      </p:sp>
      <p:sp>
        <p:nvSpPr>
          <p:cNvPr id="20" name="s03-text-361">
            <a:extLst xmlns:a="http://schemas.openxmlformats.org/drawingml/2006/main">
              <a:ext uri="{FF2B5EF4-FFF2-40B4-BE49-F238E27FC236}">
                <a16:creationId xmlns:a16="http://schemas.microsoft.com/office/drawing/2014/main" id="{7D7FFCCE-CB57-421F-9E5B-4959D0A5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4분 · 체크리스트 대조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결정 또는 보류 질문 반영</a:t>
            </a:r>
          </a:p>
        </p:txBody>
      </p:sp>
      <p:sp>
        <p:nvSpPr>
          <p:cNvPr id="21" name="s03-panel-362">
            <a:extLst xmlns:a="http://schemas.openxmlformats.org/drawingml/2006/main">
              <a:ext uri="{FF2B5EF4-FFF2-40B4-BE49-F238E27FC236}">
                <a16:creationId xmlns:a16="http://schemas.microsoft.com/office/drawing/2014/main" id="{D2EC3B73-9765-489E-A76D-A9549DE9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363">
            <a:extLst xmlns:a="http://schemas.openxmlformats.org/drawingml/2006/main">
              <a:ext uri="{FF2B5EF4-FFF2-40B4-BE49-F238E27FC236}">
                <a16:creationId xmlns:a16="http://schemas.microsoft.com/office/drawing/2014/main" id="{A4ED7B01-BA61-4554-B1CC-B200F1B4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대표 2개 공개 리뷰 8분 + 전원 자가 점검 4분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">
            <a:extLst xmlns:a="http://schemas.openxmlformats.org/drawingml/2006/main">
              <a:ext uri="{FF2B5EF4-FFF2-40B4-BE49-F238E27FC236}">
                <a16:creationId xmlns:a16="http://schemas.microsoft.com/office/drawing/2014/main" id="{B6B0015B-B8EA-4B4C-905F-B3F6BAFE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11">
            <a:extLst xmlns:a="http://schemas.openxmlformats.org/drawingml/2006/main">
              <a:ext uri="{FF2B5EF4-FFF2-40B4-BE49-F238E27FC236}">
                <a16:creationId xmlns:a16="http://schemas.microsoft.com/office/drawing/2014/main" id="{082AB1B7-5E48-4855-A593-12FC0DA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오늘 확정한 설계와 다음 Silver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22405-4B2B-43CC-AB28-99A98CA4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5" name="text-23">
            <a:extLst xmlns:a="http://schemas.openxmlformats.org/drawingml/2006/main">
              <a:ext uri="{FF2B5EF4-FFF2-40B4-BE49-F238E27FC236}">
                <a16:creationId xmlns:a16="http://schemas.microsoft.com/office/drawing/2014/main" id="{A77E9DDC-7EBD-4AD6-B74C-6335425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6" name="text-24">
            <a:extLst xmlns:a="http://schemas.openxmlformats.org/drawingml/2006/main">
              <a:ext uri="{FF2B5EF4-FFF2-40B4-BE49-F238E27FC236}">
                <a16:creationId xmlns:a16="http://schemas.microsoft.com/office/drawing/2014/main" id="{B46FCE60-13B5-482E-B7C5-B432A800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48</a:t>
            </a:r>
          </a:p>
        </p:txBody>
      </p:sp>
      <p:sp>
        <p:nvSpPr>
          <p:cNvPr id="18" name="s03-panel-364">
            <a:extLst xmlns:a="http://schemas.openxmlformats.org/drawingml/2006/main">
              <a:ext uri="{FF2B5EF4-FFF2-40B4-BE49-F238E27FC236}">
                <a16:creationId xmlns:a16="http://schemas.microsoft.com/office/drawing/2014/main" id="{87E4BFEC-DA82-432C-AB16-0FA10E9D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65">
            <a:extLst xmlns:a="http://schemas.openxmlformats.org/drawingml/2006/main">
              <a:ext uri="{FF2B5EF4-FFF2-40B4-BE49-F238E27FC236}">
                <a16:creationId xmlns:a16="http://schemas.microsoft.com/office/drawing/2014/main" id="{7315BE9A-49CB-425B-82EF-B70FC0DB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오늘 확정</a:t>
            </a:r>
          </a:p>
        </p:txBody>
      </p:sp>
      <p:sp>
        <p:nvSpPr>
          <p:cNvPr id="20" name="s03-text-366">
            <a:extLst xmlns:a="http://schemas.openxmlformats.org/drawingml/2006/main">
              <a:ext uri="{FF2B5EF4-FFF2-40B4-BE49-F238E27FC236}">
                <a16:creationId xmlns:a16="http://schemas.microsoft.com/office/drawing/2014/main" id="{8B29F707-3BD7-4B05-B82D-096273B2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도메인·테이블·변경 의미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Bronze 입력과 검증 조건</a:t>
            </a:r>
          </a:p>
        </p:txBody>
      </p:sp>
      <p:sp>
        <p:nvSpPr>
          <p:cNvPr id="21" name="s03-panel-367">
            <a:extLst xmlns:a="http://schemas.openxmlformats.org/drawingml/2006/main">
              <a:ext uri="{FF2B5EF4-FFF2-40B4-BE49-F238E27FC236}">
                <a16:creationId xmlns:a16="http://schemas.microsoft.com/office/drawing/2014/main" id="{CFD8F4AA-96B3-42AE-A83A-464FACD1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2" name="s03-text-368">
            <a:extLst xmlns:a="http://schemas.openxmlformats.org/drawingml/2006/main">
              <a:ext uri="{FF2B5EF4-FFF2-40B4-BE49-F238E27FC236}">
                <a16:creationId xmlns:a16="http://schemas.microsoft.com/office/drawing/2014/main" id="{DC07E608-4C1F-46F0-B374-CF405FA8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다음 구현</a:t>
            </a:r>
          </a:p>
        </p:txBody>
      </p:sp>
      <p:sp>
        <p:nvSpPr>
          <p:cNvPr id="23" name="s03-text-369">
            <a:extLst xmlns:a="http://schemas.openxmlformats.org/drawingml/2006/main">
              <a:ext uri="{FF2B5EF4-FFF2-40B4-BE49-F238E27FC236}">
                <a16:creationId xmlns:a16="http://schemas.microsoft.com/office/drawing/2014/main" id="{8D754577-AC0F-45B5-99DC-9F6C3D37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키·순서·삭제를 해석해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Silver 현재 상태 구성</a:t>
            </a:r>
          </a:p>
        </p:txBody>
      </p:sp>
      <p:sp>
        <p:nvSpPr>
          <p:cNvPr id="24" name="s03-panel-370">
            <a:extLst xmlns:a="http://schemas.openxmlformats.org/drawingml/2006/main">
              <a:ext uri="{FF2B5EF4-FFF2-40B4-BE49-F238E27FC236}">
                <a16:creationId xmlns:a16="http://schemas.microsoft.com/office/drawing/2014/main" id="{6EF2F164-EAD8-4E97-9717-CE05242F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809750"/>
            <a:ext cx="347980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25" name="s03-text-371">
            <a:extLst xmlns:a="http://schemas.openxmlformats.org/drawingml/2006/main">
              <a:ext uri="{FF2B5EF4-FFF2-40B4-BE49-F238E27FC236}">
                <a16:creationId xmlns:a16="http://schemas.microsoft.com/office/drawing/2014/main" id="{4F653EFB-BF26-4C97-8EB9-CDE1A97B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028825"/>
            <a:ext cx="306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34D399"/>
                </a:solidFill>
                <a:latin typeface="Apple SD Gothic Neo"/>
                <a:ea typeface="Apple SD Gothic Neo"/>
                <a:cs typeface="Apple SD Gothic Neo"/>
              </a:rPr>
              <a:t>개인 실행</a:t>
            </a:r>
          </a:p>
        </p:txBody>
      </p:sp>
      <p:sp>
        <p:nvSpPr>
          <p:cNvPr id="26" name="s03-text-372">
            <a:extLst xmlns:a="http://schemas.openxmlformats.org/drawingml/2006/main">
              <a:ext uri="{FF2B5EF4-FFF2-40B4-BE49-F238E27FC236}">
                <a16:creationId xmlns:a16="http://schemas.microsoft.com/office/drawing/2014/main" id="{2CE855F2-AF04-470C-A8E1-11DCAF05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847975"/>
            <a:ext cx="30607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공통 실행 안내에서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내 환경과 범위를 선택</a:t>
            </a:r>
          </a:p>
        </p:txBody>
      </p:sp>
      <p:sp>
        <p:nvSpPr>
          <p:cNvPr id="27" name="s03-panel-373">
            <a:extLst xmlns:a="http://schemas.openxmlformats.org/drawingml/2006/main">
              <a:ext uri="{FF2B5EF4-FFF2-40B4-BE49-F238E27FC236}">
                <a16:creationId xmlns:a16="http://schemas.microsoft.com/office/drawing/2014/main" id="{C800B9D7-280A-422D-A04B-A6F5DF4F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8" name="s03-text-374">
            <a:extLst xmlns:a="http://schemas.openxmlformats.org/drawingml/2006/main">
              <a:ext uri="{FF2B5EF4-FFF2-40B4-BE49-F238E27FC236}">
                <a16:creationId xmlns:a16="http://schemas.microsoft.com/office/drawing/2014/main" id="{F402E7E9-7841-471E-926A-91469434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8회 모두 수업 · 프로젝트 발표는 별도 일정입니다</a:t>
            </a:r>
          </a:p>
        </p:txBody>
      </p:sp>
    </p:spTree>
    <p:extLst>
      <p:ext uri="{BB962C8B-B14F-4D97-AF65-F5344CB8AC3E}">
        <p14:creationId xmlns:p14="http://schemas.microsoft.com/office/powerpoint/2010/main" val="60272503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선택 부록 · 행 변경의 CoW와 MoR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49</a:t>
            </a:r>
          </a:p>
        </p:txBody>
      </p:sp>
      <p:sp>
        <p:nvSpPr>
          <p:cNvPr id="15" name="s03-panel-375">
            <a:extLst xmlns:a="http://schemas.openxmlformats.org/drawingml/2006/main">
              <a:ext uri="{FF2B5EF4-FFF2-40B4-BE49-F238E27FC236}">
                <a16:creationId xmlns:a16="http://schemas.microsoft.com/office/drawing/2014/main" id="{4187EF7B-0483-4391-8497-031E275B0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376">
            <a:extLst xmlns:a="http://schemas.openxmlformats.org/drawingml/2006/main">
              <a:ext uri="{FF2B5EF4-FFF2-40B4-BE49-F238E27FC236}">
                <a16:creationId xmlns:a16="http://schemas.microsoft.com/office/drawing/2014/main" id="{18AEC7D1-DE85-49C9-B170-BC9E11EE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Copy-on-Write</a:t>
            </a:r>
          </a:p>
        </p:txBody>
      </p:sp>
      <p:sp>
        <p:nvSpPr>
          <p:cNvPr id="17" name="s03-text-377">
            <a:extLst xmlns:a="http://schemas.openxmlformats.org/drawingml/2006/main">
              <a:ext uri="{FF2B5EF4-FFF2-40B4-BE49-F238E27FC236}">
                <a16:creationId xmlns:a16="http://schemas.microsoft.com/office/drawing/2014/main" id="{E2F73827-138B-47DB-A3D0-65CBE0EC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변경 대상 data file을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다시 작성</a:t>
            </a:r>
          </a:p>
        </p:txBody>
      </p:sp>
      <p:sp>
        <p:nvSpPr>
          <p:cNvPr id="18" name="s03-panel-378">
            <a:extLst xmlns:a="http://schemas.openxmlformats.org/drawingml/2006/main">
              <a:ext uri="{FF2B5EF4-FFF2-40B4-BE49-F238E27FC236}">
                <a16:creationId xmlns:a16="http://schemas.microsoft.com/office/drawing/2014/main" id="{4EF09F29-3223-4290-BAAB-D6ACFA48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79">
            <a:extLst xmlns:a="http://schemas.openxmlformats.org/drawingml/2006/main">
              <a:ext uri="{FF2B5EF4-FFF2-40B4-BE49-F238E27FC236}">
                <a16:creationId xmlns:a16="http://schemas.microsoft.com/office/drawing/2014/main" id="{10088073-ED07-477C-8DF6-8462A76A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Merge-on-Read</a:t>
            </a:r>
          </a:p>
        </p:txBody>
      </p:sp>
      <p:sp>
        <p:nvSpPr>
          <p:cNvPr id="20" name="s03-text-380">
            <a:extLst xmlns:a="http://schemas.openxmlformats.org/drawingml/2006/main">
              <a:ext uri="{FF2B5EF4-FFF2-40B4-BE49-F238E27FC236}">
                <a16:creationId xmlns:a16="http://schemas.microsoft.com/office/drawing/2014/main" id="{FD9E9ECD-1B45-4AB0-928D-5D0C1F4B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추가 변경 정보를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읽을 때 함께 반영</a:t>
            </a:r>
          </a:p>
        </p:txBody>
      </p:sp>
      <p:sp>
        <p:nvSpPr>
          <p:cNvPr id="21" name="s03-panel-381">
            <a:extLst xmlns:a="http://schemas.openxmlformats.org/drawingml/2006/main">
              <a:ext uri="{FF2B5EF4-FFF2-40B4-BE49-F238E27FC236}">
                <a16:creationId xmlns:a16="http://schemas.microsoft.com/office/drawing/2014/main" id="{6EEED4CE-4739-4EAA-B5BC-8EA122C3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382">
            <a:extLst xmlns:a="http://schemas.openxmlformats.org/drawingml/2006/main">
              <a:ext uri="{FF2B5EF4-FFF2-40B4-BE49-F238E27FC236}">
                <a16:creationId xmlns:a16="http://schemas.microsoft.com/office/drawing/2014/main" id="{982E426B-8389-422C-9528-E113714E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엔진·연산별 지원을 확인합니다 · 현재 Bronze raw append와 구분합니다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16">
            <a:extLst xmlns:a="http://schemas.openxmlformats.org/drawingml/2006/main">
              <a:ext uri="{FF2B5EF4-FFF2-40B4-BE49-F238E27FC236}">
                <a16:creationId xmlns:a16="http://schemas.microsoft.com/office/drawing/2014/main" id="{BEE36A36-A18A-4175-B90F-37ED9885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217">
            <a:extLst xmlns:a="http://schemas.openxmlformats.org/drawingml/2006/main">
              <a:ext uri="{FF2B5EF4-FFF2-40B4-BE49-F238E27FC236}">
                <a16:creationId xmlns:a16="http://schemas.microsoft.com/office/drawing/2014/main" id="{F3CD2C1D-EAD3-44CA-8960-841AE32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선택 부록 · 스키마와 파티션의 변화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C1DA7D-6D24-4705-BECF-C29B84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12" name="text-226">
            <a:extLst xmlns:a="http://schemas.openxmlformats.org/drawingml/2006/main">
              <a:ext uri="{FF2B5EF4-FFF2-40B4-BE49-F238E27FC236}">
                <a16:creationId xmlns:a16="http://schemas.microsoft.com/office/drawing/2014/main" id="{1EA9EA9E-1811-4C89-B375-2587843F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13" name="text-227">
            <a:extLst xmlns:a="http://schemas.openxmlformats.org/drawingml/2006/main">
              <a:ext uri="{FF2B5EF4-FFF2-40B4-BE49-F238E27FC236}">
                <a16:creationId xmlns:a16="http://schemas.microsoft.com/office/drawing/2014/main" id="{5A673288-7123-404B-B360-F8FBE9EF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50</a:t>
            </a:r>
          </a:p>
        </p:txBody>
      </p:sp>
      <p:sp>
        <p:nvSpPr>
          <p:cNvPr id="15" name="s03-panel-383">
            <a:extLst xmlns:a="http://schemas.openxmlformats.org/drawingml/2006/main">
              <a:ext uri="{FF2B5EF4-FFF2-40B4-BE49-F238E27FC236}">
                <a16:creationId xmlns:a16="http://schemas.microsoft.com/office/drawing/2014/main" id="{2EC55C32-C03F-4E00-8821-C02602CB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6" name="s03-text-384">
            <a:extLst xmlns:a="http://schemas.openxmlformats.org/drawingml/2006/main">
              <a:ext uri="{FF2B5EF4-FFF2-40B4-BE49-F238E27FC236}">
                <a16:creationId xmlns:a16="http://schemas.microsoft.com/office/drawing/2014/main" id="{9403AAA3-FDC8-4CB7-85A1-272FDD17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Schema evolution</a:t>
            </a:r>
          </a:p>
        </p:txBody>
      </p:sp>
      <p:sp>
        <p:nvSpPr>
          <p:cNvPr id="17" name="s03-text-385">
            <a:extLst xmlns:a="http://schemas.openxmlformats.org/drawingml/2006/main">
              <a:ext uri="{FF2B5EF4-FFF2-40B4-BE49-F238E27FC236}">
                <a16:creationId xmlns:a16="http://schemas.microsoft.com/office/drawing/2014/main" id="{C30258CC-4F00-4A52-BF76-7980537F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컬럼의 field ID로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테이블 스키마 변경 관리</a:t>
            </a:r>
          </a:p>
        </p:txBody>
      </p:sp>
      <p:sp>
        <p:nvSpPr>
          <p:cNvPr id="18" name="s03-panel-386">
            <a:extLst xmlns:a="http://schemas.openxmlformats.org/drawingml/2006/main">
              <a:ext uri="{FF2B5EF4-FFF2-40B4-BE49-F238E27FC236}">
                <a16:creationId xmlns:a16="http://schemas.microsoft.com/office/drawing/2014/main" id="{C466D5FD-2692-43AE-99B5-BFD1AE2C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09750"/>
            <a:ext cx="5353050" cy="33147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1E293B"/>
          </a:solidFill>
          <a:ln xmlns:a="http://schemas.openxmlformats.org/drawingml/2006/main" w="9525">
            <a:solidFill>
              <a:srgbClr val="334155"/>
            </a:solidFill>
          </a:ln>
        </p:spPr>
      </p:sp>
      <p:sp>
        <p:nvSpPr>
          <p:cNvPr id="19" name="s03-text-387">
            <a:extLst xmlns:a="http://schemas.openxmlformats.org/drawingml/2006/main">
              <a:ext uri="{FF2B5EF4-FFF2-40B4-BE49-F238E27FC236}">
                <a16:creationId xmlns:a16="http://schemas.microsoft.com/office/drawing/2014/main" id="{41517D16-D264-41A0-94F1-D38D4748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28825"/>
            <a:ext cx="4933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B923C"/>
                </a:solidFill>
                <a:latin typeface="Apple SD Gothic Neo"/>
                <a:ea typeface="Apple SD Gothic Neo"/>
                <a:cs typeface="Apple SD Gothic Neo"/>
              </a:rPr>
              <a:t>Partition evolution</a:t>
            </a:r>
          </a:p>
        </p:txBody>
      </p:sp>
      <p:sp>
        <p:nvSpPr>
          <p:cNvPr id="20" name="s03-text-388">
            <a:extLst xmlns:a="http://schemas.openxmlformats.org/drawingml/2006/main">
              <a:ext uri="{FF2B5EF4-FFF2-40B4-BE49-F238E27FC236}">
                <a16:creationId xmlns:a16="http://schemas.microsoft.com/office/drawing/2014/main" id="{105CF6D8-B8BE-4C54-9DAC-31515ED4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47975"/>
            <a:ext cx="49339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이후 쓰기의 분할 규칙 변경</a:t>
            </a:r>
          </a:p>
          <a:p xmlns:a="http://schemas.openxmlformats.org/drawingml/2006/main">
            <a:pPr algn="l">
              <a:def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기존 파일과 함께 조회</a:t>
            </a:r>
          </a:p>
        </p:txBody>
      </p:sp>
      <p:sp>
        <p:nvSpPr>
          <p:cNvPr id="21" name="s03-panel-389">
            <a:extLst xmlns:a="http://schemas.openxmlformats.org/drawingml/2006/main">
              <a:ext uri="{FF2B5EF4-FFF2-40B4-BE49-F238E27FC236}">
                <a16:creationId xmlns:a16="http://schemas.microsoft.com/office/drawing/2014/main" id="{E91E78FF-B8D5-473D-91BC-C147D470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22" name="s03-text-390">
            <a:extLst xmlns:a="http://schemas.openxmlformats.org/drawingml/2006/main">
              <a:ext uri="{FF2B5EF4-FFF2-40B4-BE49-F238E27FC236}">
                <a16:creationId xmlns:a16="http://schemas.microsoft.com/office/drawing/2014/main" id="{A928EE80-ACDE-4B24-9465-3EFDB657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원천 JSON 변경 · Bronze 컬럼 변경 · 후속 파싱 변경을 나눠 봅니다</a:t>
            </a:r>
          </a:p>
        </p:txBody>
      </p:sp>
    </p:spTree>
    <p:extLst>
      <p:ext uri="{BB962C8B-B14F-4D97-AF65-F5344CB8AC3E}">
        <p14:creationId xmlns:p14="http://schemas.microsoft.com/office/powerpoint/2010/main" val="132892555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선택 부록 · 이 버전의 sink와 commit 지표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51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6633ED-431D-4DE2-BF39-7EC9A5E9F96A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구현·지표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확인할 역할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IcebergStreamWriter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레코드 작성·barrier 전 파일 마감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IcebergFilesCommitter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pending 상태·완료 통지 후 commit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elapsedSecondsSince</a:t>
                      </a:r>
                    </a:p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LastSuccessfulCommit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마지막 성공 commit 이후 경과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lastCommitDurationMs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최근 commit 소요 시간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391">
            <a:extLst xmlns:a="http://schemas.openxmlformats.org/drawingml/2006/main">
              <a:ext uri="{FF2B5EF4-FFF2-40B4-BE49-F238E27FC236}">
                <a16:creationId xmlns:a16="http://schemas.microsoft.com/office/drawing/2014/main" id="{59DC075C-2F8C-48B7-95DA-0209AC1A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392">
            <a:extLst xmlns:a="http://schemas.openxmlformats.org/drawingml/2006/main">
              <a:ext uri="{FF2B5EF4-FFF2-40B4-BE49-F238E27FC236}">
                <a16:creationId xmlns:a16="http://schemas.microsoft.com/office/drawing/2014/main" id="{468AE188-6DAB-4357-86CE-154D507A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Flink 1.20 / Iceberg 1.10.0 기본 legacy sink 기준 · 실제 유효 설정은 별도 확인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46">
            <a:extLst xmlns:a="http://schemas.openxmlformats.org/drawingml/2006/main">
              <a:ext uri="{FF2B5EF4-FFF2-40B4-BE49-F238E27FC236}">
                <a16:creationId xmlns:a16="http://schemas.microsoft.com/office/drawing/2014/main" id="{D3F65DCF-B16A-4121-9FC0-34B29F1A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3회차 · 파이프라인 설계</a:t>
            </a:r>
          </a:p>
        </p:txBody>
      </p:sp>
      <p:sp>
        <p:nvSpPr>
          <p:cNvPr id="2" name="text-47">
            <a:extLst xmlns:a="http://schemas.openxmlformats.org/drawingml/2006/main">
              <a:ext uri="{FF2B5EF4-FFF2-40B4-BE49-F238E27FC236}">
                <a16:creationId xmlns:a16="http://schemas.microsoft.com/office/drawing/2014/main" id="{A4AF2A9B-4790-4685-AB60-7E92F760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247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F8FAFC"/>
                </a:solidFill>
                <a:latin typeface="Apple SD Gothic Neo"/>
                <a:ea typeface="Apple SD Gothic Neo"/>
                <a:cs typeface="Apple SD Gothic Neo"/>
              </a:rPr>
              <a:t>공식 근거와 수업 자료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62537-090E-4F5A-BEB0-31A70ACC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</a:ln>
        </p:spPr>
      </p:sp>
      <p:sp>
        <p:nvSpPr>
          <p:cNvPr id="7" name="text-50">
            <a:extLst xmlns:a="http://schemas.openxmlformats.org/drawingml/2006/main">
              <a:ext uri="{FF2B5EF4-FFF2-40B4-BE49-F238E27FC236}">
                <a16:creationId xmlns:a16="http://schemas.microsoft.com/office/drawing/2014/main" id="{00D05031-C79D-4FF1-8B64-E29E0D6C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CDC · Iceberg 스터디  |  3회차</a:t>
            </a:r>
          </a:p>
        </p:txBody>
      </p:sp>
      <p:sp>
        <p:nvSpPr>
          <p:cNvPr id="8" name="text-51">
            <a:extLst xmlns:a="http://schemas.openxmlformats.org/drawingml/2006/main">
              <a:ext uri="{FF2B5EF4-FFF2-40B4-BE49-F238E27FC236}">
                <a16:creationId xmlns:a16="http://schemas.microsoft.com/office/drawing/2014/main" id="{1D8B1809-7B23-47C6-A634-91FE429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7B5CA"/>
                </a:solidFill>
                <a:latin typeface="Apple SD Gothic Neo"/>
                <a:ea typeface="Apple SD Gothic Neo"/>
                <a:cs typeface="Apple SD Gothic Neo"/>
              </a:rPr>
              <a:t>52</a:t>
            </a: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071B29-A8F3-49E8-870B-007526650182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579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분류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2D3EE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근거·확인할 내용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T w="9525">
                      <a:solidFill>
                        <a:srgbClr val="334155"/>
                      </a:solidFill>
                      <a:prstDash val="solid"/>
                    </a:lnT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33444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Flink 1.20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실행·checkpoint·Kafka·backpressure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Iceberg 1.10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테이블 구조·JDBC·Flink 쓰기·유지관리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고정 릴리스 소스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writer·committer·Catalog 갱신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CDC와 전달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PostgreSQL 17·Debezium 3.2·Kafka 3.9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5794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학생 자료</a:t>
                      </a:r>
                    </a:p>
                  </a:txBody>
                  <a:tcPr marL="152400" marR="152400" marT="95250" marB="95250">
                    <a:lnL w="9525">
                      <a:solidFill>
                        <a:srgbClr val="334155"/>
                      </a:solidFill>
                      <a:prstDash val="solid"/>
                    </a:lnL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F8FAFC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labs/session03 · docs/self-study.md</a:t>
                      </a:r>
                    </a:p>
                  </a:txBody>
                  <a:tcPr marL="152400" marR="152400" marT="95250" marB="95250">
                    <a:lnR w="9525">
                      <a:solidFill>
                        <a:srgbClr val="334155"/>
                      </a:solidFill>
                      <a:prstDash val="solid"/>
                    </a:lnR>
                    <a:lnB w="9525">
                      <a:solidFill>
                        <a:srgbClr val="334155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1" name="s03-panel-393">
            <a:extLst xmlns:a="http://schemas.openxmlformats.org/drawingml/2006/main">
              <a:ext uri="{FF2B5EF4-FFF2-40B4-BE49-F238E27FC236}">
                <a16:creationId xmlns:a16="http://schemas.microsoft.com/office/drawing/2014/main" id="{625AA08C-A66C-415D-8775-E3713805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704850"/>
          </a:xfrm>
          <a:prstGeom xmlns:a="http://schemas.openxmlformats.org/drawingml/2006/main" prst="roundRect">
            <a:avLst>
              <a:gd name="adj" fmla="val 12162"/>
            </a:avLst>
          </a:prstGeom>
          <a:solidFill xmlns:a="http://schemas.openxmlformats.org/drawingml/2006/main">
            <a:srgbClr val="182235"/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s03-text-394">
            <a:extLst xmlns:a="http://schemas.openxmlformats.org/drawingml/2006/main">
              <a:ext uri="{FF2B5EF4-FFF2-40B4-BE49-F238E27FC236}">
                <a16:creationId xmlns:a16="http://schemas.microsoft.com/office/drawing/2014/main" id="{DEB6F305-54B8-4293-A7E7-009F8D50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62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2D3EE"/>
                </a:solidFill>
                <a:latin typeface="Apple SD Gothic Neo"/>
                <a:ea typeface="Apple SD Gothic Neo"/>
                <a:cs typeface="Apple SD Gothic Neo"/>
              </a:rPr>
              <a:t>공식 문서 링크 모음: labs/session03/references.md</a:t>
            </a:r>
          </a:p>
        </p:txBody>
      </p:sp>
    </p:spTree>
    <p:extLst>
      <p:ext uri="{BB962C8B-B14F-4D97-AF65-F5344CB8AC3E}">
        <p14:creationId xmlns:p14="http://schemas.microsoft.com/office/powerpoint/2010/main" val="18992612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2026-10-24T13:40:35.6700000Z</dcterms:created>
  <dcterms:modified xsi:type="dcterms:W3CDTF">2026-10-24T13:40:35.6700000Z</dcterms:modified>
</coreProperties>
</file>