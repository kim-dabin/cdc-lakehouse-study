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ac1bf71a74660" /><Relationship Type="http://schemas.openxmlformats.org/officeDocument/2006/relationships/extended-properties" Target="/docProps/app.xml" Id="R07656593379243dc" /><Relationship Type="http://schemas.openxmlformats.org/officeDocument/2006/relationships/officeDocument" Target="/ppt/presentation.xml" Id="R94b7fe14f3dc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48e763b9f4419"/>
  </p:sldMasterIdLst>
  <p:notesMasterIdLst>
    <p:notesMasterId xmlns:r="http://schemas.openxmlformats.org/officeDocument/2006/relationships" r:id="R1f51776619684d0d"/>
  </p:notesMasterIdLst>
  <p:sldIdLst>
    <p:sldId xmlns:r="http://schemas.openxmlformats.org/officeDocument/2006/relationships" id="256" r:id="R4726fc0cee394f7b"/>
    <p:sldId xmlns:r="http://schemas.openxmlformats.org/officeDocument/2006/relationships" id="257" r:id="Rebb2a40204c648ec"/>
    <p:sldId xmlns:r="http://schemas.openxmlformats.org/officeDocument/2006/relationships" id="258" r:id="R55af6b1cfa934194"/>
    <p:sldId xmlns:r="http://schemas.openxmlformats.org/officeDocument/2006/relationships" id="259" r:id="R162bcdd3d72544c4"/>
    <p:sldId xmlns:r="http://schemas.openxmlformats.org/officeDocument/2006/relationships" id="260" r:id="R1d7ddc1bc9f1435f"/>
    <p:sldId xmlns:r="http://schemas.openxmlformats.org/officeDocument/2006/relationships" id="261" r:id="R91cc0c31da9743be"/>
    <p:sldId xmlns:r="http://schemas.openxmlformats.org/officeDocument/2006/relationships" id="262" r:id="R44642b56e87d4b8e"/>
    <p:sldId xmlns:r="http://schemas.openxmlformats.org/officeDocument/2006/relationships" id="263" r:id="Ref08b28a349a4b3c"/>
    <p:sldId xmlns:r="http://schemas.openxmlformats.org/officeDocument/2006/relationships" id="264" r:id="R5ab301715fe242e5"/>
    <p:sldId xmlns:r="http://schemas.openxmlformats.org/officeDocument/2006/relationships" id="265" r:id="R2e28e158196c46b7"/>
    <p:sldId xmlns:r="http://schemas.openxmlformats.org/officeDocument/2006/relationships" id="266" r:id="Rd7e1596e675840a1"/>
    <p:sldId xmlns:r="http://schemas.openxmlformats.org/officeDocument/2006/relationships" id="267" r:id="Rc1c4d22b2f6f40cc"/>
    <p:sldId xmlns:r="http://schemas.openxmlformats.org/officeDocument/2006/relationships" id="268" r:id="R7b66ca3dce234495"/>
    <p:sldId xmlns:r="http://schemas.openxmlformats.org/officeDocument/2006/relationships" id="269" r:id="R1e0073cee5764cce"/>
    <p:sldId xmlns:r="http://schemas.openxmlformats.org/officeDocument/2006/relationships" id="270" r:id="Raa6184025fe34aff"/>
    <p:sldId xmlns:r="http://schemas.openxmlformats.org/officeDocument/2006/relationships" id="271" r:id="Rc39c68c1630e4866"/>
    <p:sldId xmlns:r="http://schemas.openxmlformats.org/officeDocument/2006/relationships" id="272" r:id="R40ac7bbc6cc249cf"/>
    <p:sldId xmlns:r="http://schemas.openxmlformats.org/officeDocument/2006/relationships" id="273" r:id="R6e4e4879440543fd"/>
    <p:sldId xmlns:r="http://schemas.openxmlformats.org/officeDocument/2006/relationships" id="274" r:id="R87ff175dc1944568"/>
    <p:sldId xmlns:r="http://schemas.openxmlformats.org/officeDocument/2006/relationships" id="275" r:id="R2275eb3f58d346b8"/>
    <p:sldId xmlns:r="http://schemas.openxmlformats.org/officeDocument/2006/relationships" id="276" r:id="R2d11e821beff495e"/>
    <p:sldId xmlns:r="http://schemas.openxmlformats.org/officeDocument/2006/relationships" id="277" r:id="Reba1c2779f014dcd"/>
    <p:sldId xmlns:r="http://schemas.openxmlformats.org/officeDocument/2006/relationships" id="278" r:id="Rb6eb138ff120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bc3c1c92c46e4" /><Relationship Type="http://schemas.openxmlformats.org/officeDocument/2006/relationships/slideMaster" Target="/ppt/slideMasters/slideMaster1.xml" Id="R9d948e763b9f4419" /><Relationship Type="http://schemas.openxmlformats.org/officeDocument/2006/relationships/notesMaster" Target="/ppt/notesMasters/notesMaster1.xml" Id="R1f51776619684d0d" /><Relationship Type="http://schemas.openxmlformats.org/officeDocument/2006/relationships/presProps" Target="/ppt/presProps.xml" Id="Rb07550d384704566" /><Relationship Type="http://schemas.openxmlformats.org/officeDocument/2006/relationships/tableStyles" Target="/ppt/tableStyles.xml" Id="R7979f3d2825641b3" /><Relationship Type="http://schemas.openxmlformats.org/officeDocument/2006/relationships/slide" Target="/ppt/slides/slide1.xml" Id="R4726fc0cee394f7b" /><Relationship Type="http://schemas.openxmlformats.org/officeDocument/2006/relationships/slide" Target="/ppt/slides/slide2.xml" Id="Rebb2a40204c648ec" /><Relationship Type="http://schemas.openxmlformats.org/officeDocument/2006/relationships/slide" Target="/ppt/slides/slide3.xml" Id="R55af6b1cfa934194" /><Relationship Type="http://schemas.openxmlformats.org/officeDocument/2006/relationships/slide" Target="/ppt/slides/slide4.xml" Id="R162bcdd3d72544c4" /><Relationship Type="http://schemas.openxmlformats.org/officeDocument/2006/relationships/slide" Target="/ppt/slides/slide5.xml" Id="R1d7ddc1bc9f1435f" /><Relationship Type="http://schemas.openxmlformats.org/officeDocument/2006/relationships/slide" Target="/ppt/slides/slide6.xml" Id="R91cc0c31da9743be" /><Relationship Type="http://schemas.openxmlformats.org/officeDocument/2006/relationships/slide" Target="/ppt/slides/slide7.xml" Id="R44642b56e87d4b8e" /><Relationship Type="http://schemas.openxmlformats.org/officeDocument/2006/relationships/slide" Target="/ppt/slides/slide8.xml" Id="Ref08b28a349a4b3c" /><Relationship Type="http://schemas.openxmlformats.org/officeDocument/2006/relationships/slide" Target="/ppt/slides/slide9.xml" Id="R5ab301715fe242e5" /><Relationship Type="http://schemas.openxmlformats.org/officeDocument/2006/relationships/slide" Target="/ppt/slides/slide10.xml" Id="R2e28e158196c46b7" /><Relationship Type="http://schemas.openxmlformats.org/officeDocument/2006/relationships/slide" Target="/ppt/slides/slide11.xml" Id="Rd7e1596e675840a1" /><Relationship Type="http://schemas.openxmlformats.org/officeDocument/2006/relationships/slide" Target="/ppt/slides/slide12.xml" Id="Rc1c4d22b2f6f40cc" /><Relationship Type="http://schemas.openxmlformats.org/officeDocument/2006/relationships/slide" Target="/ppt/slides/slide13.xml" Id="R7b66ca3dce234495" /><Relationship Type="http://schemas.openxmlformats.org/officeDocument/2006/relationships/slide" Target="/ppt/slides/slide14.xml" Id="R1e0073cee5764cce" /><Relationship Type="http://schemas.openxmlformats.org/officeDocument/2006/relationships/slide" Target="/ppt/slides/slide15.xml" Id="Raa6184025fe34aff" /><Relationship Type="http://schemas.openxmlformats.org/officeDocument/2006/relationships/slide" Target="/ppt/slides/slide16.xml" Id="Rc39c68c1630e4866" /><Relationship Type="http://schemas.openxmlformats.org/officeDocument/2006/relationships/slide" Target="/ppt/slides/slide17.xml" Id="R40ac7bbc6cc249cf" /><Relationship Type="http://schemas.openxmlformats.org/officeDocument/2006/relationships/slide" Target="/ppt/slides/slide18.xml" Id="R6e4e4879440543fd" /><Relationship Type="http://schemas.openxmlformats.org/officeDocument/2006/relationships/slide" Target="/ppt/slides/slide19.xml" Id="R87ff175dc1944568" /><Relationship Type="http://schemas.openxmlformats.org/officeDocument/2006/relationships/slide" Target="/ppt/slides/slide20.xml" Id="R2275eb3f58d346b8" /><Relationship Type="http://schemas.openxmlformats.org/officeDocument/2006/relationships/slide" Target="/ppt/slides/slide21.xml" Id="R2d11e821beff495e" /><Relationship Type="http://schemas.openxmlformats.org/officeDocument/2006/relationships/slide" Target="/ppt/slides/slide22.xml" Id="Reba1c2779f014dcd" /><Relationship Type="http://schemas.openxmlformats.org/officeDocument/2006/relationships/slide" Target="/ppt/slides/slide23.xml" Id="Rb6eb138ff120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ced9727d2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36c62ebd94049" /><Relationship Type="http://schemas.openxmlformats.org/officeDocument/2006/relationships/notesMaster" Target="/ppt/notesMasters/notesMaster1.xml" Id="R00d35d3b2d3f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84653de6684104" /><Relationship Type="http://schemas.openxmlformats.org/officeDocument/2006/relationships/notesMaster" Target="/ppt/notesMasters/notesMaster1.xml" Id="R96cc13c4f061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1d6997e45431d" /><Relationship Type="http://schemas.openxmlformats.org/officeDocument/2006/relationships/notesMaster" Target="/ppt/notesMasters/notesMaster1.xml" Id="R4fa85aaa947b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408667a89b4d1b" /><Relationship Type="http://schemas.openxmlformats.org/officeDocument/2006/relationships/notesMaster" Target="/ppt/notesMasters/notesMaster1.xml" Id="R9e19fbd3aef3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ce570000a4503" /><Relationship Type="http://schemas.openxmlformats.org/officeDocument/2006/relationships/notesMaster" Target="/ppt/notesMasters/notesMaster1.xml" Id="R7f44ab6693f9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f12e7346941f9" /><Relationship Type="http://schemas.openxmlformats.org/officeDocument/2006/relationships/notesMaster" Target="/ppt/notesMasters/notesMaster1.xml" Id="Rc08f1c7bb6694d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222ccfbaf429d" /><Relationship Type="http://schemas.openxmlformats.org/officeDocument/2006/relationships/notesMaster" Target="/ppt/notesMasters/notesMaster1.xml" Id="Rdebf65ddf60d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b5b960f5fa44e3" /><Relationship Type="http://schemas.openxmlformats.org/officeDocument/2006/relationships/notesMaster" Target="/ppt/notesMasters/notesMaster1.xml" Id="Rc26dec7ad3374f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a3cebe2a3b4782" /><Relationship Type="http://schemas.openxmlformats.org/officeDocument/2006/relationships/notesMaster" Target="/ppt/notesMasters/notesMaster1.xml" Id="R103a3cfc3f3c49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da80bc25164437" /><Relationship Type="http://schemas.openxmlformats.org/officeDocument/2006/relationships/notesMaster" Target="/ppt/notesMasters/notesMaster1.xml" Id="R1e06c9c9e63e41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a718ea0dfa41dd" /><Relationship Type="http://schemas.openxmlformats.org/officeDocument/2006/relationships/notesMaster" Target="/ppt/notesMasters/notesMaster1.xml" Id="Rb7d40aaa4e574d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c1a1888e7d4933" /><Relationship Type="http://schemas.openxmlformats.org/officeDocument/2006/relationships/notesMaster" Target="/ppt/notesMasters/notesMaster1.xml" Id="R70c9d8e3693341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37d8fedd0047b2" /><Relationship Type="http://schemas.openxmlformats.org/officeDocument/2006/relationships/notesMaster" Target="/ppt/notesMasters/notesMaster1.xml" Id="Rd9ab62a98de846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2856a6001d441e" /><Relationship Type="http://schemas.openxmlformats.org/officeDocument/2006/relationships/notesMaster" Target="/ppt/notesMasters/notesMaster1.xml" Id="R82398638eae440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eeaa46295c47f1" /><Relationship Type="http://schemas.openxmlformats.org/officeDocument/2006/relationships/notesMaster" Target="/ppt/notesMasters/notesMaster1.xml" Id="R84118282a76e49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2ce541e2b644d6" /><Relationship Type="http://schemas.openxmlformats.org/officeDocument/2006/relationships/notesMaster" Target="/ppt/notesMasters/notesMaster1.xml" Id="Rbe5dd82dc35a42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a4d11386304e3e" /><Relationship Type="http://schemas.openxmlformats.org/officeDocument/2006/relationships/notesMaster" Target="/ppt/notesMasters/notesMaster1.xml" Id="R15401f3d60624a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10bfe6a2ec4877" /><Relationship Type="http://schemas.openxmlformats.org/officeDocument/2006/relationships/notesMaster" Target="/ppt/notesMasters/notesMaster1.xml" Id="R1e095e9d4c0a41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a7a1680ab641ad" /><Relationship Type="http://schemas.openxmlformats.org/officeDocument/2006/relationships/notesMaster" Target="/ppt/notesMasters/notesMaster1.xml" Id="R3b8df567db8c46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09e3b18f9f4d0b" /><Relationship Type="http://schemas.openxmlformats.org/officeDocument/2006/relationships/notesMaster" Target="/ppt/notesMasters/notesMaster1.xml" Id="R9005cb168f104d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f9af07f9114288" /><Relationship Type="http://schemas.openxmlformats.org/officeDocument/2006/relationships/notesMaster" Target="/ppt/notesMasters/notesMaster1.xml" Id="Raa4c5b120bb04b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28f572ccb24863" /><Relationship Type="http://schemas.openxmlformats.org/officeDocument/2006/relationships/notesMaster" Target="/ppt/notesMasters/notesMaster1.xml" Id="R57d27ae23e7446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dd95db7ddd400b" /><Relationship Type="http://schemas.openxmlformats.org/officeDocument/2006/relationships/notesMaster" Target="/ppt/notesMasters/notesMaster1.xml" Id="Rd35661a0a332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88bd5583b4a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a7b74065842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971f49e8445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51b6fd73646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6ceae3e454e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501bcccab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094685-1EB5-4CBD-AC9A-C42C04D4B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A878AE-B2C1-4D2F-8A33-6B951F3807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98D0F7-4811-4D99-A7A6-31FBA3C75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8CF480-7062-46AB-A61D-E404E16C7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3599D4-BD08-42E0-8C02-7FF9561D1B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965D1B-EABA-44A1-8B0E-8C3C708F1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B952FA-5DA8-42A7-B253-30E7E1A589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0EB4C4-18B4-4D3D-AD73-EE6C5433CE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89514-56B3-4A2F-9E70-B6F42C0DA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59AF48-E6F8-4073-BE7E-E1FE80E47B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ecfd99eda4fec" /><Relationship Type="http://schemas.openxmlformats.org/officeDocument/2006/relationships/slideLayout" Target="/ppt/slideLayouts/slideLayout1.xml" Id="Rf3c7486bedbb4b9e" /><Relationship Type="http://schemas.openxmlformats.org/officeDocument/2006/relationships/slideLayout" Target="/ppt/slideLayouts/slideLayout2.xml" Id="R13b18b0ec5cc4aa3" /><Relationship Type="http://schemas.openxmlformats.org/officeDocument/2006/relationships/slideLayout" Target="/ppt/slideLayouts/slideLayout3.xml" Id="Rbdfa62d5aae84224" /><Relationship Type="http://schemas.openxmlformats.org/officeDocument/2006/relationships/slideLayout" Target="/ppt/slideLayouts/slideLayout4.xml" Id="R529dafd057e34949" /><Relationship Type="http://schemas.openxmlformats.org/officeDocument/2006/relationships/slideLayout" Target="/ppt/slideLayouts/slideLayout5.xml" Id="Rbd77eb5925644439" /><Relationship Type="http://schemas.openxmlformats.org/officeDocument/2006/relationships/slideLayout" Target="/ppt/slideLayouts/slideLayout6.xml" Id="Rd663b1a93270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c7486bedbb4b9e"/>
    <p:sldLayoutId xmlns:r="http://schemas.openxmlformats.org/officeDocument/2006/relationships" id="2147483650" r:id="R13b18b0ec5cc4aa3"/>
    <p:sldLayoutId xmlns:r="http://schemas.openxmlformats.org/officeDocument/2006/relationships" id="2147483651" r:id="Rbdfa62d5aae84224"/>
    <p:sldLayoutId xmlns:r="http://schemas.openxmlformats.org/officeDocument/2006/relationships" id="2147483652" r:id="R529dafd057e34949"/>
    <p:sldLayoutId xmlns:r="http://schemas.openxmlformats.org/officeDocument/2006/relationships" id="2147483653" r:id="Rbd77eb5925644439"/>
    <p:sldLayoutId xmlns:r="http://schemas.openxmlformats.org/officeDocument/2006/relationships" id="2147483654" r:id="Rd663b1a93270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278b546254998" /><Relationship Type="http://schemas.openxmlformats.org/officeDocument/2006/relationships/notesSlide" Target="/ppt/notesSlides/notesSlide1.xml" Id="R57e11f8b663f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bf44e783d4dac" /><Relationship Type="http://schemas.openxmlformats.org/officeDocument/2006/relationships/notesSlide" Target="/ppt/notesSlides/notesSlide2.xml" Id="R10fd5ff74f3f44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5bd0e1bb44868" /><Relationship Type="http://schemas.openxmlformats.org/officeDocument/2006/relationships/notesSlide" Target="/ppt/notesSlides/notesSlide3.xml" Id="R076cab22b6ed49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df163be164d08" /><Relationship Type="http://schemas.openxmlformats.org/officeDocument/2006/relationships/notesSlide" Target="/ppt/notesSlides/notesSlide4.xml" Id="Rab5666dd72d2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4f07efc44eb9" /><Relationship Type="http://schemas.openxmlformats.org/officeDocument/2006/relationships/notesSlide" Target="/ppt/notesSlides/notesSlide5.xml" Id="R2346ca495b454f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4eb112aa7430d" /><Relationship Type="http://schemas.openxmlformats.org/officeDocument/2006/relationships/notesSlide" Target="/ppt/notesSlides/notesSlide6.xml" Id="Rd380df41500442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23d1e9be84a92" /><Relationship Type="http://schemas.openxmlformats.org/officeDocument/2006/relationships/notesSlide" Target="/ppt/notesSlides/notesSlide7.xml" Id="R1e4e389729fb4c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7bb5f8b534bdb" /><Relationship Type="http://schemas.openxmlformats.org/officeDocument/2006/relationships/notesSlide" Target="/ppt/notesSlides/notesSlide8.xml" Id="R6e08f34d935c47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aa25f171d4a93" /><Relationship Type="http://schemas.openxmlformats.org/officeDocument/2006/relationships/notesSlide" Target="/ppt/notesSlides/notesSlide9.xml" Id="R0d5c3c7001c041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51c182b6043e3" /><Relationship Type="http://schemas.openxmlformats.org/officeDocument/2006/relationships/notesSlide" Target="/ppt/notesSlides/notesSlide10.xml" Id="R56f1af01d8c647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c0dc0b32b4c73" /><Relationship Type="http://schemas.openxmlformats.org/officeDocument/2006/relationships/notesSlide" Target="/ppt/notesSlides/notesSlide11.xml" Id="R79656455725b4b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9caaddc2341de" /><Relationship Type="http://schemas.openxmlformats.org/officeDocument/2006/relationships/notesSlide" Target="/ppt/notesSlides/notesSlide12.xml" Id="R64c7effbea414c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c4a9010f84995" /><Relationship Type="http://schemas.openxmlformats.org/officeDocument/2006/relationships/notesSlide" Target="/ppt/notesSlides/notesSlide13.xml" Id="R60c0697f20d04a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b5b28f73a4ff8" /><Relationship Type="http://schemas.openxmlformats.org/officeDocument/2006/relationships/notesSlide" Target="/ppt/notesSlides/notesSlide14.xml" Id="R24e41699908645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befb6e01d474a" /><Relationship Type="http://schemas.openxmlformats.org/officeDocument/2006/relationships/notesSlide" Target="/ppt/notesSlides/notesSlide15.xml" Id="R2ff06be8c03246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242f399a849f4" /><Relationship Type="http://schemas.openxmlformats.org/officeDocument/2006/relationships/notesSlide" Target="/ppt/notesSlides/notesSlide16.xml" Id="R0f8a3c8b052346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b2e7cdd7d41e0" /><Relationship Type="http://schemas.openxmlformats.org/officeDocument/2006/relationships/notesSlide" Target="/ppt/notesSlides/notesSlide17.xml" Id="R1d0d93d017c141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599292ece43b6" /><Relationship Type="http://schemas.openxmlformats.org/officeDocument/2006/relationships/notesSlide" Target="/ppt/notesSlides/notesSlide18.xml" Id="Rda32a62d1b0540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cde1d0901447d" /><Relationship Type="http://schemas.openxmlformats.org/officeDocument/2006/relationships/notesSlide" Target="/ppt/notesSlides/notesSlide19.xml" Id="Reb55e681a67342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42e0435664463" /><Relationship Type="http://schemas.openxmlformats.org/officeDocument/2006/relationships/notesSlide" Target="/ppt/notesSlides/notesSlide20.xml" Id="R0710bcb15b9f4d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09f4297a84c4a" /><Relationship Type="http://schemas.openxmlformats.org/officeDocument/2006/relationships/notesSlide" Target="/ppt/notesSlides/notesSlide21.xml" Id="R38467de2527c43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c60a75e3f4685" /><Relationship Type="http://schemas.openxmlformats.org/officeDocument/2006/relationships/notesSlide" Target="/ppt/notesSlides/notesSlide22.xml" Id="Rcbfe7c2c035e4a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6520da6b14038" /><Relationship Type="http://schemas.openxmlformats.org/officeDocument/2006/relationships/notesSlide" Target="/ppt/notesSlides/notesSlide23.xml" Id="Rbe5c716d31ab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E6B6716-0B0E-47BB-96F7-1297EBB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CDC · Iceberg 프로젝트 스터디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E7E411-999A-4CDA-8864-5F55F5C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 → Bronze 적재 심화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개인 도메인·테이블 설계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2B3F-196B-4441-ACAE-1D00FF4B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44D45B2-6D0C-4A5E-8FCD-D8CBF8D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적재 SQL과 조회 결과를 연결하고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내 도메인·테이블 설계를 확정합니다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9413CA0-7499-4E3E-9D3E-2F9ADD43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4D399"/>
                </a:solidFill>
                <a:latin typeface="Apple SD Gothic Neo"/>
                <a:ea typeface="Apple SD Gothic Neo"/>
                <a:cs typeface="Apple SD Gothic Neo"/>
              </a:rPr>
              <a:t>Flink 적재 설계 · Iceberg 구조와 커밋 · 개인 도메인·테이블 확정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BE9BC-103F-4273-BC74-39A8626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3BB9D8AC-43EF-41E0-887C-CB7CB258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F2AF13BD-9796-4D64-874F-0DA80CD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5960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03D1E2-1AF0-4B46-A7C1-6D4067E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72310973-32F7-4712-B6A7-C2D3237A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오늘의 120분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661B-6EE5-4E02-A3E3-B7C06A0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57626F3E-5D52-45AD-93C3-959C59F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412D6900-421C-43A0-8BDA-F5E72FEB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F4E32-3B9D-4D0F-8076-C7B08930A6AC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4391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3667125"/>
                <a:gridCol w="5095875"/>
              </a:tblGrid>
              <a:tr h="4878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활동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00:00–00:10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목표와 복습 진행 공유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도메인 한 줄 선택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00:10–00:25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요구사항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변경·삭제·두 지연 목표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00:25–00:40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 적재·Iceberg 구조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원문·메타데이터·append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00:40–00:50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 커밋과 휴식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파일 저장·조회 시점 구분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00:50–01:10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짧은 강사 실험 두 가지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예상·증거·설계 판단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01:10–01:40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도메인·테이블 확정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테이블·키·변경·적재 책임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01:40–01:52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 리뷰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서로의 가정 질문하기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01:52–02:00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정리와 다음 확인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결정·보류·다음 구현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85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복습에서 확인한 것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해본 것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어디까지 실행하거나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읽어보았나요?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값·SQL·화면으로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결과를 확인했나요?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다음 질문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어느 구간이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아직 설명되지 않나요?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선택한 도메인은 설계 학습지 첫 줄에 적어둡니다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변경이 늦게 반영되면 생기는 일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이용자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누가 결과를 보나요?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업무 판단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결정을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내려야 하나요?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틀어지는 상황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수정·삭제가 늦으면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무엇이 달라지나요?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1번: 내 프로젝트의 업무 질문 한 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원천에서 Bronze까지, 지표까지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84647-446F-4EC4-826B-6F1E3AEE754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210175"/>
              </a:tblGrid>
              <a:tr h="1111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범위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내가 정할 것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늦어지면 생기는 일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변경부터 Bronze 조회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이력이 보일 때까지의 목표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수집·재처리 판단에 미치는 영향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변경부터 최종 지표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업무에 쓸 값이 바뀔 때까지의 목표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이용자의 결정에 미치는 영향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0">
            <a:extLst xmlns:a="http://schemas.openxmlformats.org/drawingml/2006/main">
              <a:ext uri="{FF2B5EF4-FFF2-40B4-BE49-F238E27FC236}">
                <a16:creationId xmlns:a16="http://schemas.microsoft.com/office/drawing/2014/main" id="{C084FFAF-44A9-4353-B429-04259BA4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1">
            <a:extLst xmlns:a="http://schemas.openxmlformats.org/drawingml/2006/main">
              <a:ext uri="{FF2B5EF4-FFF2-40B4-BE49-F238E27FC236}">
                <a16:creationId xmlns:a16="http://schemas.microsoft.com/office/drawing/2014/main" id="{FCE0249D-B9B7-495E-802D-20CECDB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2번: 두 허용 지연과 이유를 따로 적습니다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한 건의 키와 변경 의미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72AFA-0B8C-40D7-983D-4CF3F18C800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학습지에 남길 내용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키가 한 건인가요?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테이블과 PK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무엇이 바뀌나요?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수정할 컬럼과 전후 값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삭제는 어떤 의미인가요?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물리 삭제·상태 변경·취소 규칙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다시 받으면 무엇이 같아야 하나요?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재전달 뒤 현재 상태의 기대값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2">
            <a:extLst xmlns:a="http://schemas.openxmlformats.org/drawingml/2006/main">
              <a:ext uri="{FF2B5EF4-FFF2-40B4-BE49-F238E27FC236}">
                <a16:creationId xmlns:a16="http://schemas.microsoft.com/office/drawing/2014/main" id="{7A861DEC-9981-409A-8947-81133F3E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3">
            <a:extLst xmlns:a="http://schemas.openxmlformats.org/drawingml/2006/main">
              <a:ext uri="{FF2B5EF4-FFF2-40B4-BE49-F238E27FC236}">
                <a16:creationId xmlns:a16="http://schemas.microsoft.com/office/drawing/2014/main" id="{C4122BCC-4B3F-48DB-9A7D-291D50B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3번: 변경과 삭제를 내 도메인 말로 설명합니다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Flink가 Kafka에서 읽는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B543-E795-4E98-8075-FE934A72CD3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21017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설계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예제의 설정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책임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 형식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format='raw' · payload STRING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Debezium JSON을 원문으로 보존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전달 정보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METADATA · topic/partition/offset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어느 메시지를 받았는지 추적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위치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earliest-offset · 복원된 처리 상태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시작과 checkpoint 복구를 구분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4">
            <a:extLst xmlns:a="http://schemas.openxmlformats.org/drawingml/2006/main">
              <a:ext uri="{FF2B5EF4-FFF2-40B4-BE49-F238E27FC236}">
                <a16:creationId xmlns:a16="http://schemas.microsoft.com/office/drawing/2014/main" id="{5888AFD4-02C9-4A5E-9D5F-F99C2ABF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5">
            <a:extLst xmlns:a="http://schemas.openxmlformats.org/drawingml/2006/main">
              <a:ext uri="{FF2B5EF4-FFF2-40B4-BE49-F238E27FC236}">
                <a16:creationId xmlns:a16="http://schemas.microsoft.com/office/drawing/2014/main" id="{E09564A1-986A-4C16-9AE9-AC333DE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Kafka 보관 → Flink 소비·적재 → Iceberg 커밋의 책임을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Flink는 변경 이력을 추가합니다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남길 이벤트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payload IS NOT NULL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op=d 보존 · tombstone 제외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적재 방식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INSERT INTO … SELECT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Bronze에 원문·전달 정보 append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후속 책임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상태는 Silver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업무 지표는 Gold에서 구성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Bronze의 op=d는 삭제 이력 행입니다 · 업무 키의 최신 값 덮어쓰기가 아닙니다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Iceberg의 기본 구조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Catalog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이름 → 메타데이터 위치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별도 PostgreSQL catalog-db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스키마·스냅샷·파일 목록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테이블을 읽는 기준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실제 행이 담긴 Parquet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S3 호환 객체 저장소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Flink와 Spark가 같은 Catalog를 통해 같은 테이블을 찾습니다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파일 저장과 테이블 커밋은 다릅니다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3B270-5F0A-44CC-AFB0-C56718C4156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테이블에서 읽는 상태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파일 준비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Parquet·메타데이터 작성 · 커밋 전 참조는 그대로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commit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Catalog의 현재 메타데이터 참조를 원자적으로 갱신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조회로 확인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조회의 같은 키 SELECT로 해당 변경 확인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6">
            <a:extLst xmlns:a="http://schemas.openxmlformats.org/drawingml/2006/main">
              <a:ext uri="{FF2B5EF4-FFF2-40B4-BE49-F238E27FC236}">
                <a16:creationId xmlns:a16="http://schemas.microsoft.com/office/drawing/2014/main" id="{47021209-A98D-4659-A9A0-98AB3E11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7">
            <a:extLst xmlns:a="http://schemas.openxmlformats.org/drawingml/2006/main">
              <a:ext uri="{FF2B5EF4-FFF2-40B4-BE49-F238E27FC236}">
                <a16:creationId xmlns:a16="http://schemas.microsoft.com/office/drawing/2014/main" id="{B076B490-E74D-4866-9C6E-6531160D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checkpoint는 복구 지점 · commit은 테이블 상태 갱신 · ID는 다릅니다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B1BDA8A5-6773-410F-8448-B5E36E6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휴식</a:t>
            </a:r>
          </a:p>
        </p:txBody>
      </p:sp>
      <p:sp>
        <p:nvSpPr>
          <p:cNvPr id="2" name="text-161">
            <a:extLst xmlns:a="http://schemas.openxmlformats.org/drawingml/2006/main">
              <a:ext uri="{FF2B5EF4-FFF2-40B4-BE49-F238E27FC236}">
                <a16:creationId xmlns:a16="http://schemas.microsoft.com/office/drawing/2014/main" id="{0E6E3B85-6DA0-4AAA-A142-63F90EED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5분 쉬고 이어가겠습니다</a:t>
            </a:r>
          </a:p>
        </p:txBody>
      </p:sp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8FA2393D-F3D7-475B-912A-CCF9563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돌아오면 이력과 조회 시점을 설계 판단에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ACDD-11C3-4F8B-916E-94A51C0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CE105055-FFDE-483A-9064-0694039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1C123AE8-6FC1-49D6-B9B8-F210BE0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7548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BEE36A36-A18A-4175-B90F-37ED988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217">
            <a:extLst xmlns:a="http://schemas.openxmlformats.org/drawingml/2006/main">
              <a:ext uri="{FF2B5EF4-FFF2-40B4-BE49-F238E27FC236}">
                <a16:creationId xmlns:a16="http://schemas.microsoft.com/office/drawing/2014/main" id="{F3CD2C1D-EAD3-44CA-8960-841AE32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1 · 현재 건수를 어디서 셀까요?</a:t>
            </a:r>
          </a:p>
        </p:txBody>
      </p:sp>
      <p:sp>
        <p:nvSpPr>
          <p:cNvPr id="3" name="panel-218">
            <a:extLst xmlns:a="http://schemas.openxmlformats.org/drawingml/2006/main">
              <a:ext uri="{FF2B5EF4-FFF2-40B4-BE49-F238E27FC236}">
                <a16:creationId xmlns:a16="http://schemas.microsoft.com/office/drawing/2014/main" id="{92AFC05E-155A-45CE-B050-17FE09F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19">
            <a:extLst xmlns:a="http://schemas.openxmlformats.org/drawingml/2006/main">
              <a:ext uri="{FF2B5EF4-FFF2-40B4-BE49-F238E27FC236}">
                <a16:creationId xmlns:a16="http://schemas.microsoft.com/office/drawing/2014/main" id="{985E4EF8-558C-431B-910C-5092ED3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예상</a:t>
            </a:r>
          </a:p>
        </p:txBody>
      </p:sp>
      <p:sp>
        <p:nvSpPr>
          <p:cNvPr id="5" name="text-220">
            <a:extLst xmlns:a="http://schemas.openxmlformats.org/drawingml/2006/main">
              <a:ext uri="{FF2B5EF4-FFF2-40B4-BE49-F238E27FC236}">
                <a16:creationId xmlns:a16="http://schemas.microsoft.com/office/drawing/2014/main" id="{8773025D-9C9E-4EAC-9EB7-5890984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원천의 현재 환불은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결과일까요?</a:t>
            </a:r>
          </a:p>
        </p:txBody>
      </p:sp>
      <p:sp>
        <p:nvSpPr>
          <p:cNvPr id="6" name="panel-221">
            <a:extLst xmlns:a="http://schemas.openxmlformats.org/drawingml/2006/main">
              <a:ext uri="{FF2B5EF4-FFF2-40B4-BE49-F238E27FC236}">
                <a16:creationId xmlns:a16="http://schemas.microsoft.com/office/drawing/2014/main" id="{F483F0AD-5C28-46A0-B994-1438A4A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22">
            <a:extLst xmlns:a="http://schemas.openxmlformats.org/drawingml/2006/main">
              <a:ext uri="{FF2B5EF4-FFF2-40B4-BE49-F238E27FC236}">
                <a16:creationId xmlns:a16="http://schemas.microsoft.com/office/drawing/2014/main" id="{86678BB0-2080-461B-924F-192F0E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8" name="text-223">
            <a:extLst xmlns:a="http://schemas.openxmlformats.org/drawingml/2006/main">
              <a:ext uri="{FF2B5EF4-FFF2-40B4-BE49-F238E27FC236}">
                <a16:creationId xmlns:a16="http://schemas.microsoft.com/office/drawing/2014/main" id="{49A57845-9433-45CE-A87D-7070ED3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 행 수로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환불을 셀 수 있나요?</a:t>
            </a:r>
          </a:p>
        </p:txBody>
      </p:sp>
      <p:sp>
        <p:nvSpPr>
          <p:cNvPr id="9" name="panel-224">
            <a:extLst xmlns:a="http://schemas.openxmlformats.org/drawingml/2006/main">
              <a:ext uri="{FF2B5EF4-FFF2-40B4-BE49-F238E27FC236}">
                <a16:creationId xmlns:a16="http://schemas.microsoft.com/office/drawing/2014/main" id="{D231E374-ED7E-40A1-90F3-3A865AA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0" name="text-225">
            <a:extLst xmlns:a="http://schemas.openxmlformats.org/drawingml/2006/main">
              <a:ext uri="{FF2B5EF4-FFF2-40B4-BE49-F238E27FC236}">
                <a16:creationId xmlns:a16="http://schemas.microsoft.com/office/drawing/2014/main" id="{EBB6F536-5F18-4F02-B003-16A0A3C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먼저 예상하고, 숫자가 답하는 질문을 구분합니다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DA7D-6D24-4705-BECF-C29B84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1EA9EA9E-1811-4C89-B375-2587843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5A673288-7123-404B-B360-F8FBE9E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892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1 · 같은 키의 증거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F0EB0-E1A4-46FA-9CB2-53E0414A44A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볼 곳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읽을 질문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source_refund_rows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원천에 남아 있나요?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case_bronze의 op·전후 금액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변경이 보존됐나요?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환불 키와 조회 조건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대상을 비교하고 있나요?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8">
            <a:extLst xmlns:a="http://schemas.openxmlformats.org/drawingml/2006/main">
              <a:ext uri="{FF2B5EF4-FFF2-40B4-BE49-F238E27FC236}">
                <a16:creationId xmlns:a16="http://schemas.microsoft.com/office/drawing/2014/main" id="{C0C850A0-16F3-4A65-BDF7-BAE76E26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9">
            <a:extLst xmlns:a="http://schemas.openxmlformats.org/drawingml/2006/main">
              <a:ext uri="{FF2B5EF4-FFF2-40B4-BE49-F238E27FC236}">
                <a16:creationId xmlns:a16="http://schemas.microsoft.com/office/drawing/2014/main" id="{C992FABF-3534-4E68-B374-E77FD33A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증거의 범위를 먼저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1 · Silver로 넘길 규칙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한 건의 키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상태를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키로 묶나요?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삭제 처리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없어진 상태를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어떻게 남기나요?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최신 판단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늦거나 반복된 변경을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무엇으로 구분하나요?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6번: 다음 회차에 구현할 현재 상태 규칙 초안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BEE36A36-A18A-4175-B90F-37ED988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217">
            <a:extLst xmlns:a="http://schemas.openxmlformats.org/drawingml/2006/main">
              <a:ext uri="{FF2B5EF4-FFF2-40B4-BE49-F238E27FC236}">
                <a16:creationId xmlns:a16="http://schemas.microsoft.com/office/drawing/2014/main" id="{F3CD2C1D-EAD3-44CA-8960-841AE32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2 · Kafka에 있으면 조회될까요?</a:t>
            </a:r>
          </a:p>
        </p:txBody>
      </p:sp>
      <p:sp>
        <p:nvSpPr>
          <p:cNvPr id="3" name="panel-218">
            <a:extLst xmlns:a="http://schemas.openxmlformats.org/drawingml/2006/main">
              <a:ext uri="{FF2B5EF4-FFF2-40B4-BE49-F238E27FC236}">
                <a16:creationId xmlns:a16="http://schemas.microsoft.com/office/drawing/2014/main" id="{92AFC05E-155A-45CE-B050-17FE09F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19">
            <a:extLst xmlns:a="http://schemas.openxmlformats.org/drawingml/2006/main">
              <a:ext uri="{FF2B5EF4-FFF2-40B4-BE49-F238E27FC236}">
                <a16:creationId xmlns:a16="http://schemas.microsoft.com/office/drawing/2014/main" id="{985E4EF8-558C-431B-910C-5092ED3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예상</a:t>
            </a:r>
          </a:p>
        </p:txBody>
      </p:sp>
      <p:sp>
        <p:nvSpPr>
          <p:cNvPr id="5" name="text-220">
            <a:extLst xmlns:a="http://schemas.openxmlformats.org/drawingml/2006/main">
              <a:ext uri="{FF2B5EF4-FFF2-40B4-BE49-F238E27FC236}">
                <a16:creationId xmlns:a16="http://schemas.microsoft.com/office/drawing/2014/main" id="{8773025D-9C9E-4EAC-9EB7-5890984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Kafka에서 보인 변경이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Bronze에도 이미 있을까요?</a:t>
            </a:r>
          </a:p>
        </p:txBody>
      </p:sp>
      <p:sp>
        <p:nvSpPr>
          <p:cNvPr id="6" name="panel-221">
            <a:extLst xmlns:a="http://schemas.openxmlformats.org/drawingml/2006/main">
              <a:ext uri="{FF2B5EF4-FFF2-40B4-BE49-F238E27FC236}">
                <a16:creationId xmlns:a16="http://schemas.microsoft.com/office/drawing/2014/main" id="{F483F0AD-5C28-46A0-B994-1438A4A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22">
            <a:extLst xmlns:a="http://schemas.openxmlformats.org/drawingml/2006/main">
              <a:ext uri="{FF2B5EF4-FFF2-40B4-BE49-F238E27FC236}">
                <a16:creationId xmlns:a16="http://schemas.microsoft.com/office/drawing/2014/main" id="{86678BB0-2080-461B-924F-192F0E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판단 근거</a:t>
            </a:r>
          </a:p>
        </p:txBody>
      </p:sp>
      <p:sp>
        <p:nvSpPr>
          <p:cNvPr id="8" name="text-223">
            <a:extLst xmlns:a="http://schemas.openxmlformats.org/drawingml/2006/main">
              <a:ext uri="{FF2B5EF4-FFF2-40B4-BE49-F238E27FC236}">
                <a16:creationId xmlns:a16="http://schemas.microsoft.com/office/drawing/2014/main" id="{49A57845-9433-45CE-A87D-7070ED3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키·어떤 조회로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확인해야 할까요?</a:t>
            </a:r>
          </a:p>
        </p:txBody>
      </p:sp>
      <p:sp>
        <p:nvSpPr>
          <p:cNvPr id="9" name="panel-224">
            <a:extLst xmlns:a="http://schemas.openxmlformats.org/drawingml/2006/main">
              <a:ext uri="{FF2B5EF4-FFF2-40B4-BE49-F238E27FC236}">
                <a16:creationId xmlns:a16="http://schemas.microsoft.com/office/drawing/2014/main" id="{D231E374-ED7E-40A1-90F3-3A865AA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0" name="text-225">
            <a:extLst xmlns:a="http://schemas.openxmlformats.org/drawingml/2006/main">
              <a:ext uri="{FF2B5EF4-FFF2-40B4-BE49-F238E27FC236}">
                <a16:creationId xmlns:a16="http://schemas.microsoft.com/office/drawing/2014/main" id="{EBB6F536-5F18-4F02-B003-16A0A3C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컨테이너 상태 대신 해당 변경의 결과를 확인합니다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DA7D-6D24-4705-BECF-C29B84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1EA9EA9E-1811-4C89-B375-2587843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5A673288-7123-404B-B360-F8FBE9E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2892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76">
            <a:extLst xmlns:a="http://schemas.openxmlformats.org/drawingml/2006/main">
              <a:ext uri="{FF2B5EF4-FFF2-40B4-BE49-F238E27FC236}">
                <a16:creationId xmlns:a16="http://schemas.microsoft.com/office/drawing/2014/main" id="{91536528-62A7-4107-B6A2-DDB403BF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6505C4E4-AE9A-4C26-A981-8608D4D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2 · 변경 한 건의 가시성</a:t>
            </a:r>
          </a:p>
        </p:txBody>
      </p:sp>
      <p:sp>
        <p:nvSpPr>
          <p:cNvPr id="3" name="panel-78">
            <a:extLst xmlns:a="http://schemas.openxmlformats.org/drawingml/2006/main">
              <a:ext uri="{FF2B5EF4-FFF2-40B4-BE49-F238E27FC236}">
                <a16:creationId xmlns:a16="http://schemas.microsoft.com/office/drawing/2014/main" id="{DEC3DCB3-E969-4E0A-826F-7C21B15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87A25B43-6470-4CBD-9A40-BEBF94C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 변경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E5EC01D9-BDDE-4EB0-BB2E-0BA0369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강사 입력 한 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F61E2-3FF5-4037-866A-3FD984EA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31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7" name="panel-81">
            <a:extLst xmlns:a="http://schemas.openxmlformats.org/drawingml/2006/main">
              <a:ext uri="{FF2B5EF4-FFF2-40B4-BE49-F238E27FC236}">
                <a16:creationId xmlns:a16="http://schemas.microsoft.com/office/drawing/2014/main" id="{FA7316FF-C1B8-4180-93A3-8B20AC2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56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text-82">
            <a:extLst xmlns:a="http://schemas.openxmlformats.org/drawingml/2006/main">
              <a:ext uri="{FF2B5EF4-FFF2-40B4-BE49-F238E27FC236}">
                <a16:creationId xmlns:a16="http://schemas.microsoft.com/office/drawing/2014/main" id="{3C3D5A1B-CA1D-4146-A045-0C990C5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731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Kafka 관측</a:t>
            </a:r>
          </a:p>
        </p:txBody>
      </p:sp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600C2AC9-5F30-4415-97CF-39523D8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같은 키·전달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98F7-91BE-48EB-9E60-5084FB7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panel-84">
            <a:extLst xmlns:a="http://schemas.openxmlformats.org/drawingml/2006/main">
              <a:ext uri="{FF2B5EF4-FFF2-40B4-BE49-F238E27FC236}">
                <a16:creationId xmlns:a16="http://schemas.microsoft.com/office/drawing/2014/main" id="{77906194-B714-42BA-AA5E-FB91F9F9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2" name="text-85">
            <a:extLst xmlns:a="http://schemas.openxmlformats.org/drawingml/2006/main">
              <a:ext uri="{FF2B5EF4-FFF2-40B4-BE49-F238E27FC236}">
                <a16:creationId xmlns:a16="http://schemas.microsoft.com/office/drawing/2014/main" id="{2143A368-DB83-4776-BA6A-CDA1D05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Bronze 조회</a:t>
            </a:r>
          </a:p>
        </p:txBody>
      </p:sp>
      <p:sp>
        <p:nvSpPr>
          <p:cNvPr id="13" name="text-86">
            <a:extLst xmlns:a="http://schemas.openxmlformats.org/drawingml/2006/main">
              <a:ext uri="{FF2B5EF4-FFF2-40B4-BE49-F238E27FC236}">
                <a16:creationId xmlns:a16="http://schemas.microsoft.com/office/drawing/2014/main" id="{23261558-F1F8-4BD2-9CBA-6A1786B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해당 변경의 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031F0-636E-454F-B0E0-8131C10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244" y="312420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5" name="panel-87">
            <a:extLst xmlns:a="http://schemas.openxmlformats.org/drawingml/2006/main">
              <a:ext uri="{FF2B5EF4-FFF2-40B4-BE49-F238E27FC236}">
                <a16:creationId xmlns:a16="http://schemas.microsoft.com/office/drawing/2014/main" id="{ABE87957-D254-4D83-8A36-3609B36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369" y="2362200"/>
            <a:ext cx="2536031" cy="17716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6" name="text-88">
            <a:extLst xmlns:a="http://schemas.openxmlformats.org/drawingml/2006/main">
              <a:ext uri="{FF2B5EF4-FFF2-40B4-BE49-F238E27FC236}">
                <a16:creationId xmlns:a16="http://schemas.microsoft.com/office/drawing/2014/main" id="{E02030BF-3E61-4D12-9FAA-E97F5C86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2638425"/>
            <a:ext cx="22502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17" name="text-89">
            <a:extLst xmlns:a="http://schemas.openxmlformats.org/drawingml/2006/main">
              <a:ext uri="{FF2B5EF4-FFF2-40B4-BE49-F238E27FC236}">
                <a16:creationId xmlns:a16="http://schemas.microsoft.com/office/drawing/2014/main" id="{364AD4DE-32A3-4E91-8C39-C6AD8B2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3457575"/>
            <a:ext cx="226933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관찰 시점과 범위</a:t>
            </a:r>
          </a:p>
        </p:txBody>
      </p:sp>
      <p:sp>
        <p:nvSpPr>
          <p:cNvPr id="18" name="panel-90">
            <a:extLst xmlns:a="http://schemas.openxmlformats.org/drawingml/2006/main">
              <a:ext uri="{FF2B5EF4-FFF2-40B4-BE49-F238E27FC236}">
                <a16:creationId xmlns:a16="http://schemas.microsoft.com/office/drawing/2014/main" id="{875AC341-6457-4925-BECC-851136F7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498554F4-F39B-4A55-93F1-0A8AD77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중간 상태를 놓쳤다면 놓친 사실까지 기록합니다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A9F35-E5B1-46A9-89EF-AF5D98A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21" name="text-92">
            <a:extLst xmlns:a="http://schemas.openxmlformats.org/drawingml/2006/main">
              <a:ext uri="{FF2B5EF4-FFF2-40B4-BE49-F238E27FC236}">
                <a16:creationId xmlns:a16="http://schemas.microsoft.com/office/drawing/2014/main" id="{F7B8EDF4-CD72-47DB-9C0C-938091F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22" name="text-93">
            <a:extLst xmlns:a="http://schemas.openxmlformats.org/drawingml/2006/main">
              <a:ext uri="{FF2B5EF4-FFF2-40B4-BE49-F238E27FC236}">
                <a16:creationId xmlns:a16="http://schemas.microsoft.com/office/drawing/2014/main" id="{531F8511-5779-478F-86F9-8D12381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624184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실험 2 · 내 목표를 검증할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AA05E-CDB6-43CC-8A06-AACD7B527C3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210175"/>
              </a:tblGrid>
              <a:tr h="1111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기준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끝의 증거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원천부터 Bronze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커밋 기준 시각을 확보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키의 변경이 읽히는 SELECT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원천부터 지표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원천 커밋 기준 시각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해당 집계의 기대값이 읽히는 SELECT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10">
            <a:extLst xmlns:a="http://schemas.openxmlformats.org/drawingml/2006/main">
              <a:ext uri="{FF2B5EF4-FFF2-40B4-BE49-F238E27FC236}">
                <a16:creationId xmlns:a16="http://schemas.microsoft.com/office/drawing/2014/main" id="{4AB5192F-13FA-49BC-B40C-A7CC66B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11">
            <a:extLst xmlns:a="http://schemas.openxmlformats.org/drawingml/2006/main">
              <a:ext uri="{FF2B5EF4-FFF2-40B4-BE49-F238E27FC236}">
                <a16:creationId xmlns:a16="http://schemas.microsoft.com/office/drawing/2014/main" id="{26C0273D-F1C1-4A1D-9165-C500A22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관찰 시작부터 잰 시간은 원천 커밋부터의 지연과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BEE36A36-A18A-4175-B90F-37ED988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217">
            <a:extLst xmlns:a="http://schemas.openxmlformats.org/drawingml/2006/main">
              <a:ext uri="{FF2B5EF4-FFF2-40B4-BE49-F238E27FC236}">
                <a16:creationId xmlns:a16="http://schemas.microsoft.com/office/drawing/2014/main" id="{F3CD2C1D-EAD3-44CA-8960-841AE32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개인 도메인·테이블 설계 확정</a:t>
            </a:r>
          </a:p>
        </p:txBody>
      </p:sp>
      <p:sp>
        <p:nvSpPr>
          <p:cNvPr id="3" name="panel-218">
            <a:extLst xmlns:a="http://schemas.openxmlformats.org/drawingml/2006/main">
              <a:ext uri="{FF2B5EF4-FFF2-40B4-BE49-F238E27FC236}">
                <a16:creationId xmlns:a16="http://schemas.microsoft.com/office/drawing/2014/main" id="{92AFC05E-155A-45CE-B050-17FE09F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219">
            <a:extLst xmlns:a="http://schemas.openxmlformats.org/drawingml/2006/main">
              <a:ext uri="{FF2B5EF4-FFF2-40B4-BE49-F238E27FC236}">
                <a16:creationId xmlns:a16="http://schemas.microsoft.com/office/drawing/2014/main" id="{985E4EF8-558C-431B-910C-5092ED3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앞에서 정한 것</a:t>
            </a:r>
          </a:p>
        </p:txBody>
      </p:sp>
      <p:sp>
        <p:nvSpPr>
          <p:cNvPr id="5" name="text-220">
            <a:extLst xmlns:a="http://schemas.openxmlformats.org/drawingml/2006/main">
              <a:ext uri="{FF2B5EF4-FFF2-40B4-BE49-F238E27FC236}">
                <a16:creationId xmlns:a16="http://schemas.microsoft.com/office/drawing/2014/main" id="{8773025D-9C9E-4EAC-9EB7-5890984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업무 질문·두 지연 목표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Flink 입력과 Bronze 적재 책임</a:t>
            </a:r>
          </a:p>
        </p:txBody>
      </p:sp>
      <p:sp>
        <p:nvSpPr>
          <p:cNvPr id="6" name="panel-221">
            <a:extLst xmlns:a="http://schemas.openxmlformats.org/drawingml/2006/main">
              <a:ext uri="{FF2B5EF4-FFF2-40B4-BE49-F238E27FC236}">
                <a16:creationId xmlns:a16="http://schemas.microsoft.com/office/drawing/2014/main" id="{F483F0AD-5C28-46A0-B994-1438A4A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43100"/>
            <a:ext cx="5381625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222">
            <a:extLst xmlns:a="http://schemas.openxmlformats.org/drawingml/2006/main">
              <a:ext uri="{FF2B5EF4-FFF2-40B4-BE49-F238E27FC236}">
                <a16:creationId xmlns:a16="http://schemas.microsoft.com/office/drawing/2014/main" id="{86678BB0-2080-461B-924F-192F0E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492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30분 동안 확정</a:t>
            </a:r>
          </a:p>
        </p:txBody>
      </p:sp>
      <p:sp>
        <p:nvSpPr>
          <p:cNvPr id="8" name="text-223">
            <a:extLst xmlns:a="http://schemas.openxmlformats.org/drawingml/2006/main">
              <a:ext uri="{FF2B5EF4-FFF2-40B4-BE49-F238E27FC236}">
                <a16:creationId xmlns:a16="http://schemas.microsoft.com/office/drawing/2014/main" id="{49A57845-9433-45CE-A87D-7070ED3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도메인·원천 테이블·PK/FK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의미와 Bronze 보존 정보</a:t>
            </a:r>
          </a:p>
        </p:txBody>
      </p:sp>
      <p:sp>
        <p:nvSpPr>
          <p:cNvPr id="9" name="panel-224">
            <a:extLst xmlns:a="http://schemas.openxmlformats.org/drawingml/2006/main">
              <a:ext uri="{FF2B5EF4-FFF2-40B4-BE49-F238E27FC236}">
                <a16:creationId xmlns:a16="http://schemas.microsoft.com/office/drawing/2014/main" id="{D231E374-ED7E-40A1-90F3-3A865AA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0" name="text-225">
            <a:extLst xmlns:a="http://schemas.openxmlformats.org/drawingml/2006/main">
              <a:ext uri="{FF2B5EF4-FFF2-40B4-BE49-F238E27FC236}">
                <a16:creationId xmlns:a16="http://schemas.microsoft.com/office/drawing/2014/main" id="{EBB6F536-5F18-4F02-B003-16A0A3C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도메인·테이블은 오늘 확정합니다 · DDL 구현은 수업 사이에 이어갑니다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1DA7D-6D24-4705-BECF-C29B84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1EA9EA9E-1811-4C89-B375-2587843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5A673288-7123-404B-B360-F8FBE9E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28925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D3F65DCF-B16A-4121-9FC0-34B29F1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A4AF2A9B-4790-4685-AB60-7E92F76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원천 테이블과 변경 의미 확정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2537-090E-4F5A-BEB0-31A70AC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00D05031-C79D-4FF1-8B64-E29E0D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D8B1809-7B23-47C6-A634-91FE42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D16BC-0A8A-4648-B4A3-8501FA2FB6E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77533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작성할 곳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완성할 작은 범위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관계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테이블2~3개와 PK/FK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키의 값이 생기나요?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수정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키에서 무엇이 바뀌나요?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삭제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삭제 또는 상태 변경의 업무 의미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03-panel-12">
            <a:extLst xmlns:a="http://schemas.openxmlformats.org/drawingml/2006/main">
              <a:ext uri="{FF2B5EF4-FFF2-40B4-BE49-F238E27FC236}">
                <a16:creationId xmlns:a16="http://schemas.microsoft.com/office/drawing/2014/main" id="{543B2CEE-63C0-41FC-8285-42A98310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2" name="s03-text-13">
            <a:extLst xmlns:a="http://schemas.openxmlformats.org/drawingml/2006/main">
              <a:ext uri="{FF2B5EF4-FFF2-40B4-BE49-F238E27FC236}">
                <a16:creationId xmlns:a16="http://schemas.microsoft.com/office/drawing/2014/main" id="{DF47F7B7-CF78-40D7-8BC1-417B06DB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3번: 테이블명·한 행의 의미·PK/FK·변경 사례를 확정합니다</a:t>
            </a:r>
          </a:p>
        </p:txBody>
      </p:sp>
    </p:spTree>
    <p:extLst>
      <p:ext uri="{BB962C8B-B14F-4D97-AF65-F5344CB8AC3E}">
        <p14:creationId xmlns:p14="http://schemas.microsoft.com/office/powerpoint/2010/main" val="18992612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재전달 뒤에도 같아야 할 결과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입력 한 사례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같은 변경이 다시 오면?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기대 결과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어떤 현재 값·지표가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같아야 하나요?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확인 근거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어느 테이블의 어떤 키를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무슨 값으로 확인하나요?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7번: 재전달 기대값 하나와 조회 조건 하나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서로의 설계에 질문하기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설계 설명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업무 질문과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선택 이유를 짧게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검토 질문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키·삭제·재전달·지연 중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모호한 한 가지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반영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바꿀 결정 또는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다음 확인할 질문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학습지 8번: 받은 질문 하나와 설계에 반영할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B6B0015B-B8EA-4B4C-905F-B3F6BA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082AB1B7-5E48-4855-A593-12FC0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확정한 설계와 다음 구현</a:t>
            </a:r>
          </a:p>
        </p:txBody>
      </p:sp>
      <p:sp>
        <p:nvSpPr>
          <p:cNvPr id="3" name="panel-12">
            <a:extLst xmlns:a="http://schemas.openxmlformats.org/drawingml/2006/main">
              <a:ext uri="{FF2B5EF4-FFF2-40B4-BE49-F238E27FC236}">
                <a16:creationId xmlns:a16="http://schemas.microsoft.com/office/drawing/2014/main" id="{6F4B333A-B93C-4C43-9A52-EACF284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1251AA-5B97-46EB-A4DB-2C52C9A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B923C"/>
                </a:solidFill>
                <a:latin typeface="Apple SD Gothic Neo"/>
                <a:ea typeface="Apple SD Gothic Neo"/>
                <a:cs typeface="Apple SD Gothic Neo"/>
              </a:rPr>
              <a:t>오늘 확정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C09D8CB6-AB44-4F96-96B5-66D8C8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도메인·테이블·키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변경 의미와 Bronze 적재 책임</a:t>
            </a:r>
          </a:p>
        </p:txBody>
      </p:sp>
      <p:sp>
        <p:nvSpPr>
          <p:cNvPr id="6" name="panel-15">
            <a:extLst xmlns:a="http://schemas.openxmlformats.org/drawingml/2006/main">
              <a:ext uri="{FF2B5EF4-FFF2-40B4-BE49-F238E27FC236}">
                <a16:creationId xmlns:a16="http://schemas.microsoft.com/office/drawing/2014/main" id="{0B2D55D8-9C7F-4C87-8D32-2B2FFA5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77318CBF-B971-485F-8400-292420F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보류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32686024-13AE-4BA2-B7DD-D07146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아직 근거가 부족한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규칙과 측정 기준</a:t>
            </a:r>
          </a:p>
        </p:txBody>
      </p:sp>
      <p:sp>
        <p:nvSpPr>
          <p:cNvPr id="9" name="panel-18">
            <a:extLst xmlns:a="http://schemas.openxmlformats.org/drawingml/2006/main">
              <a:ext uri="{FF2B5EF4-FFF2-40B4-BE49-F238E27FC236}">
                <a16:creationId xmlns:a16="http://schemas.microsoft.com/office/drawing/2014/main" id="{62735B1F-9078-4105-8F7B-2BA988B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43100"/>
            <a:ext cx="3517900" cy="30289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EB5CE859-BCEA-411F-9600-B98DD6A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209800"/>
            <a:ext cx="306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다음 구현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BF639332-1D7C-4974-BD7D-BF933B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086100"/>
            <a:ext cx="3060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현재 상태 규칙과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기대값 검증</a:t>
            </a:r>
          </a:p>
        </p:txBody>
      </p:sp>
      <p:sp>
        <p:nvSpPr>
          <p:cNvPr id="12" name="panel-21">
            <a:extLst xmlns:a="http://schemas.openxmlformats.org/drawingml/2006/main">
              <a:ext uri="{FF2B5EF4-FFF2-40B4-BE49-F238E27FC236}">
                <a16:creationId xmlns:a16="http://schemas.microsoft.com/office/drawing/2014/main" id="{196FD7CB-9990-4410-ACF1-7568C8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BFE407A2-C8C3-4B00-B5D5-7A4FCBA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8회차까지 수업을 진행하며 발표는 별도 일정입니다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2405-4B2B-43CC-AB28-99A98CA4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A77E9DDC-7EBD-4AD6-B74C-6335425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46FCE60-13B5-482E-B7C5-B432A80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027250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88">
            <a:extLst xmlns:a="http://schemas.openxmlformats.org/drawingml/2006/main">
              <a:ext uri="{FF2B5EF4-FFF2-40B4-BE49-F238E27FC236}">
                <a16:creationId xmlns:a16="http://schemas.microsoft.com/office/drawing/2014/main" id="{3FACE06D-642C-40DE-B2AB-80664F8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3회차 · 파이프라인 설계</a:t>
            </a:r>
          </a:p>
        </p:txBody>
      </p:sp>
      <p:sp>
        <p:nvSpPr>
          <p:cNvPr id="2" name="text-289">
            <a:extLst xmlns:a="http://schemas.openxmlformats.org/drawingml/2006/main">
              <a:ext uri="{FF2B5EF4-FFF2-40B4-BE49-F238E27FC236}">
                <a16:creationId xmlns:a16="http://schemas.microsoft.com/office/drawing/2014/main" id="{CEB16302-CD5B-4618-AE56-6B25AC2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자료와 수업 후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04C44-333E-48E7-9FC2-4D07734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6" name="text-291">
            <a:extLst xmlns:a="http://schemas.openxmlformats.org/drawingml/2006/main">
              <a:ext uri="{FF2B5EF4-FFF2-40B4-BE49-F238E27FC236}">
                <a16:creationId xmlns:a16="http://schemas.microsoft.com/office/drawing/2014/main" id="{4B7EDF4D-82C0-44DB-A2E4-0F05106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CDC · Iceberg 스터디  |  3회차</a:t>
            </a:r>
          </a:p>
        </p:txBody>
      </p:sp>
      <p:sp>
        <p:nvSpPr>
          <p:cNvPr id="7" name="text-292">
            <a:extLst xmlns:a="http://schemas.openxmlformats.org/drawingml/2006/main">
              <a:ext uri="{FF2B5EF4-FFF2-40B4-BE49-F238E27FC236}">
                <a16:creationId xmlns:a16="http://schemas.microsoft.com/office/drawing/2014/main" id="{C3793EAC-B61C-49C5-80B3-5CE8FD5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7B5CA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E91D3-139C-4269-BCD4-585539793F5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D3E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확인할 내용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334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자료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labs/session03 · 설계 학습지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공통 실행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docs/self-study.md · 계획부터 확인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 입력·적재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Raw format · Kafka metadata · append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처리와 저장</a:t>
                      </a:r>
                    </a:p>
                  </a:txBody>
                  <a:tcPr marL="152400" marR="152400" marT="95250" marB="95250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8FAF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 checkpoint · Iceberg 구조·commit</a:t>
                      </a:r>
                    </a:p>
                  </a:txBody>
                  <a:tcPr marL="152400" marR="152400" marT="95250" marB="95250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03-text-14">
            <a:extLst xmlns:a="http://schemas.openxmlformats.org/drawingml/2006/main">
              <a:ext uri="{FF2B5EF4-FFF2-40B4-BE49-F238E27FC236}">
                <a16:creationId xmlns:a16="http://schemas.microsoft.com/office/drawing/2014/main" id="{3895669D-D476-436C-AE01-240E65E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87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설계 이유를 먼저 남기고, 필요한 동작만 확인합니다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2D3EE"/>
                </a:solidFill>
                <a:latin typeface="Apple SD Gothic Neo"/>
                <a:ea typeface="Apple SD Gothic Neo"/>
                <a:cs typeface="Apple SD Gothic Neo"/>
              </a:rPr>
              <a:t>공식 문서: labs/session03/references.md</a:t>
            </a:r>
          </a:p>
        </p:txBody>
      </p:sp>
    </p:spTree>
    <p:extLst>
      <p:ext uri="{BB962C8B-B14F-4D97-AF65-F5344CB8AC3E}">
        <p14:creationId xmlns:p14="http://schemas.microsoft.com/office/powerpoint/2010/main" val="180801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2026-10-24T13:00:39.1360000Z</dcterms:created>
  <dcterms:modified xsi:type="dcterms:W3CDTF">2026-10-24T13:00:39.1360000Z</dcterms:modified>
</coreProperties>
</file>