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925de3d7c541464d" Type="http://schemas.openxmlformats.org/officeDocument/2006/relationships/extended-properties" Target="docProps/app.xml"/><Relationship Id="Rca0ff7f3bd0145a3" Type="http://schemas.openxmlformats.org/package/2006/relationships/metadata/core-properties" Target="docProps/core.xml"/><Relationship Id="Rfbd6c6b210d34efe"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a86da156a5094936"/>
  </p:sldMasterIdLst>
  <p:notesMasterIdLst>
    <p:notesMasterId xmlns:r="http://schemas.openxmlformats.org/officeDocument/2006/relationships" r:id="R959919216ad84a89"/>
  </p:notesMasterIdLst>
  <p:sldIdLst>
    <p:sldId xmlns:r="http://schemas.openxmlformats.org/officeDocument/2006/relationships" id="256" r:id="Rcd6ac60b31544d86"/>
    <p:sldId xmlns:r="http://schemas.openxmlformats.org/officeDocument/2006/relationships" id="257" r:id="R83bcc3eab5f94734"/>
    <p:sldId xmlns:r="http://schemas.openxmlformats.org/officeDocument/2006/relationships" id="258" r:id="Reb4c9df6a1cb4001"/>
    <p:sldId xmlns:r="http://schemas.openxmlformats.org/officeDocument/2006/relationships" id="259" r:id="R2bf29aa8b9e344aa"/>
    <p:sldId xmlns:r="http://schemas.openxmlformats.org/officeDocument/2006/relationships" id="260" r:id="R8e64449aadad45b9"/>
    <p:sldId xmlns:r="http://schemas.openxmlformats.org/officeDocument/2006/relationships" id="261" r:id="R9374f0c274774970"/>
    <p:sldId xmlns:r="http://schemas.openxmlformats.org/officeDocument/2006/relationships" id="262" r:id="Rd4b84e42b0f848eb"/>
    <p:sldId xmlns:r="http://schemas.openxmlformats.org/officeDocument/2006/relationships" id="263" r:id="R4fdbc13c5d19472c"/>
    <p:sldId xmlns:r="http://schemas.openxmlformats.org/officeDocument/2006/relationships" id="264" r:id="R19267c61717e4cd6"/>
    <p:sldId xmlns:r="http://schemas.openxmlformats.org/officeDocument/2006/relationships" id="265" r:id="R7f8fd82939314849"/>
    <p:sldId xmlns:r="http://schemas.openxmlformats.org/officeDocument/2006/relationships" id="266" r:id="Rfb2b5355a5244d86"/>
    <p:sldId xmlns:r="http://schemas.openxmlformats.org/officeDocument/2006/relationships" id="267" r:id="R69e3a921bdf14487"/>
    <p:sldId xmlns:r="http://schemas.openxmlformats.org/officeDocument/2006/relationships" id="268" r:id="R3563bae8ca3d4f8f"/>
    <p:sldId xmlns:r="http://schemas.openxmlformats.org/officeDocument/2006/relationships" id="269" r:id="R0bf47d1c1757441b"/>
    <p:sldId xmlns:r="http://schemas.openxmlformats.org/officeDocument/2006/relationships" id="270" r:id="Rb3795f86b6454d52"/>
    <p:sldId xmlns:r="http://schemas.openxmlformats.org/officeDocument/2006/relationships" id="271" r:id="Rbb36ec16002a40c9"/>
    <p:sldId xmlns:r="http://schemas.openxmlformats.org/officeDocument/2006/relationships" id="272" r:id="R07c204c6676e4b50"/>
    <p:sldId xmlns:r="http://schemas.openxmlformats.org/officeDocument/2006/relationships" id="273" r:id="R721536abbc5a492c"/>
    <p:sldId xmlns:r="http://schemas.openxmlformats.org/officeDocument/2006/relationships" id="274" r:id="Rb48b54285ec74c90"/>
    <p:sldId xmlns:r="http://schemas.openxmlformats.org/officeDocument/2006/relationships" id="275" r:id="Ra58ba20ccb2e4f13"/>
    <p:sldId xmlns:r="http://schemas.openxmlformats.org/officeDocument/2006/relationships" id="276" r:id="R54cc712c5bce4a10"/>
    <p:sldId xmlns:r="http://schemas.openxmlformats.org/officeDocument/2006/relationships" id="277" r:id="R917b2be8f6e540a7"/>
    <p:sldId xmlns:r="http://schemas.openxmlformats.org/officeDocument/2006/relationships" id="278" r:id="R9bf84db9cac54e4b"/>
    <p:sldId xmlns:r="http://schemas.openxmlformats.org/officeDocument/2006/relationships" id="279" r:id="R58eca19163d248e8"/>
    <p:sldId xmlns:r="http://schemas.openxmlformats.org/officeDocument/2006/relationships" id="280" r:id="R970fd71f2f7540d0"/>
    <p:sldId xmlns:r="http://schemas.openxmlformats.org/officeDocument/2006/relationships" id="281" r:id="R03585403ab2a44eb"/>
    <p:sldId xmlns:r="http://schemas.openxmlformats.org/officeDocument/2006/relationships" id="282" r:id="R23b4f309348f48af"/>
    <p:sldId xmlns:r="http://schemas.openxmlformats.org/officeDocument/2006/relationships" id="283" r:id="R9c2619b6fc5b4528"/>
    <p:sldId xmlns:r="http://schemas.openxmlformats.org/officeDocument/2006/relationships" id="284" r:id="Rc02ee230a4524ef5"/>
    <p:sldId xmlns:r="http://schemas.openxmlformats.org/officeDocument/2006/relationships" id="285" r:id="R7159dd0cf1fa420e"/>
    <p:sldId xmlns:ns0="http://schemas.openxmlformats.org/officeDocument/2006/relationships" id="286" ns0:id="rId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585403ab2a44eb" Type="http://schemas.openxmlformats.org/officeDocument/2006/relationships/slide" Target="slides/slide26.xml"/><Relationship Id="R07c204c6676e4b50" Type="http://schemas.openxmlformats.org/officeDocument/2006/relationships/slide" Target="slides/slide17.xml"/><Relationship Id="R0bf47d1c1757441b" Type="http://schemas.openxmlformats.org/officeDocument/2006/relationships/slide" Target="slides/slide14.xml"/><Relationship Id="R19267c61717e4cd6" Type="http://schemas.openxmlformats.org/officeDocument/2006/relationships/slide" Target="slides/slide9.xml"/><Relationship Id="R23b4f309348f48af" Type="http://schemas.openxmlformats.org/officeDocument/2006/relationships/slide" Target="slides/slide27.xml"/><Relationship Id="R2bf29aa8b9e344aa" Type="http://schemas.openxmlformats.org/officeDocument/2006/relationships/slide" Target="slides/slide4.xml"/><Relationship Id="R3563bae8ca3d4f8f" Type="http://schemas.openxmlformats.org/officeDocument/2006/relationships/slide" Target="slides/slide13.xml"/><Relationship Id="R4fdbc13c5d19472c" Type="http://schemas.openxmlformats.org/officeDocument/2006/relationships/slide" Target="slides/slide8.xml"/><Relationship Id="R54cc712c5bce4a10" Type="http://schemas.openxmlformats.org/officeDocument/2006/relationships/slide" Target="slides/slide21.xml"/><Relationship Id="R58eca19163d248e8" Type="http://schemas.openxmlformats.org/officeDocument/2006/relationships/slide" Target="slides/slide24.xml"/><Relationship Id="R64b3cdab29d74149" Type="http://schemas.openxmlformats.org/officeDocument/2006/relationships/theme" Target="theme/theme1.xml"/><Relationship Id="R69e3a921bdf14487" Type="http://schemas.openxmlformats.org/officeDocument/2006/relationships/slide" Target="slides/slide12.xml"/><Relationship Id="R7159dd0cf1fa420e" Type="http://schemas.openxmlformats.org/officeDocument/2006/relationships/slide" Target="slides/slide30.xml"/><Relationship Id="R721536abbc5a492c" Type="http://schemas.openxmlformats.org/officeDocument/2006/relationships/slide" Target="slides/slide18.xml"/><Relationship Id="R77c62d58e1524923" Type="http://schemas.openxmlformats.org/officeDocument/2006/relationships/tableStyles" Target="tableStyles.xml"/><Relationship Id="R7f8fd82939314849" Type="http://schemas.openxmlformats.org/officeDocument/2006/relationships/slide" Target="slides/slide10.xml"/><Relationship Id="R83bcc3eab5f94734" Type="http://schemas.openxmlformats.org/officeDocument/2006/relationships/slide" Target="slides/slide2.xml"/><Relationship Id="R8e64449aadad45b9" Type="http://schemas.openxmlformats.org/officeDocument/2006/relationships/slide" Target="slides/slide5.xml"/><Relationship Id="R917b2be8f6e540a7" Type="http://schemas.openxmlformats.org/officeDocument/2006/relationships/slide" Target="slides/slide22.xml"/><Relationship Id="R9374f0c274774970" Type="http://schemas.openxmlformats.org/officeDocument/2006/relationships/slide" Target="slides/slide6.xml"/><Relationship Id="R959919216ad84a89" Type="http://schemas.openxmlformats.org/officeDocument/2006/relationships/notesMaster" Target="notesMasters/notesMaster1.xml"/><Relationship Id="R970fd71f2f7540d0" Type="http://schemas.openxmlformats.org/officeDocument/2006/relationships/slide" Target="slides/slide25.xml"/><Relationship Id="R9bf84db9cac54e4b" Type="http://schemas.openxmlformats.org/officeDocument/2006/relationships/slide" Target="slides/slide23.xml"/><Relationship Id="R9c2619b6fc5b4528" Type="http://schemas.openxmlformats.org/officeDocument/2006/relationships/slide" Target="slides/slide28.xml"/><Relationship Id="Ra48dd200dacc48aa" Type="http://schemas.openxmlformats.org/officeDocument/2006/relationships/presProps" Target="presProps.xml"/><Relationship Id="Ra58ba20ccb2e4f13" Type="http://schemas.openxmlformats.org/officeDocument/2006/relationships/slide" Target="slides/slide20.xml"/><Relationship Id="Ra86da156a5094936" Type="http://schemas.openxmlformats.org/officeDocument/2006/relationships/slideMaster" Target="slideMasters/slideMaster1.xml"/><Relationship Id="Rb3795f86b6454d52" Type="http://schemas.openxmlformats.org/officeDocument/2006/relationships/slide" Target="slides/slide15.xml"/><Relationship Id="Rb48b54285ec74c90" Type="http://schemas.openxmlformats.org/officeDocument/2006/relationships/slide" Target="slides/slide19.xml"/><Relationship Id="Rbb36ec16002a40c9" Type="http://schemas.openxmlformats.org/officeDocument/2006/relationships/slide" Target="slides/slide16.xml"/><Relationship Id="Rc02ee230a4524ef5" Type="http://schemas.openxmlformats.org/officeDocument/2006/relationships/slide" Target="slides/slide29.xml"/><Relationship Id="Rcd6ac60b31544d86" Type="http://schemas.openxmlformats.org/officeDocument/2006/relationships/slide" Target="slides/slide1.xml"/><Relationship Id="Rd4b84e42b0f848eb" Type="http://schemas.openxmlformats.org/officeDocument/2006/relationships/slide" Target="slides/slide7.xml"/><Relationship Id="Reb4c9df6a1cb4001" Type="http://schemas.openxmlformats.org/officeDocument/2006/relationships/slide" Target="slides/slide3.xml"/><Relationship Id="Rfb2b5355a5244d86" Type="http://schemas.openxmlformats.org/officeDocument/2006/relationships/slide" Target="slides/slide11.xml"/><Relationship Id="rId36"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0c43e9a08bf744a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85a9cb7d7b954276" Type="http://schemas.openxmlformats.org/officeDocument/2006/relationships/notesMaster" Target="../notesMasters/notesMaster1.xml"/><Relationship Id="Raf1785cc045e429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d6e0625e6f549bc" Type="http://schemas.openxmlformats.org/officeDocument/2006/relationships/notesMaster" Target="../notesMasters/notesMaster1.xml"/><Relationship Id="R335398d51252468c"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6250c84205744ed" Type="http://schemas.openxmlformats.org/officeDocument/2006/relationships/slide" Target="../slides/slide3.xml"/><Relationship Id="Rc2fafaa86f33450a"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efeab0fcb1b4853" Type="http://schemas.openxmlformats.org/officeDocument/2006/relationships/notesMaster" Target="../notesMasters/notesMaster1.xml"/><Relationship Id="Rf1ee1a16fdcc4793"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7ae3cfc8fe74b49" Type="http://schemas.openxmlformats.org/officeDocument/2006/relationships/notesMaster" Target="../notesMasters/notesMaster1.xml"/><Relationship Id="Rc7ceeed0de99493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84d7c5301bf48ec" Type="http://schemas.openxmlformats.org/officeDocument/2006/relationships/slide" Target="../slides/slide6.xml"/><Relationship Id="Rfb526904d9cf4ce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2b3bf5f0a57471a" Type="http://schemas.openxmlformats.org/officeDocument/2006/relationships/slide" Target="../slides/slide7.xml"/><Relationship Id="Re7d08667d85b45c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a794235c6054441" Type="http://schemas.openxmlformats.org/officeDocument/2006/relationships/slide" Target="../slides/slide8.xml"/><Relationship Id="R5b29a4f738a54c1a"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96f674cd93247cd" Type="http://schemas.openxmlformats.org/officeDocument/2006/relationships/notesMaster" Target="../notesMasters/notesMaster1.xml"/><Relationship Id="R711077c3b5034de0"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f2c8b3a5297452a" Type="http://schemas.openxmlformats.org/officeDocument/2006/relationships/slide" Target="../slides/slide10.xml"/><Relationship Id="Rf26f7211adec400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d51765f74cf4a5b" Type="http://schemas.openxmlformats.org/officeDocument/2006/relationships/slide" Target="../slides/slide11.xml"/><Relationship Id="R98269b281a2f4c6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e5502be7f7146c7" Type="http://schemas.openxmlformats.org/officeDocument/2006/relationships/slide" Target="../slides/slide12.xml"/><Relationship Id="R6782f641f00d474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07b0f7ab5e6475c" Type="http://schemas.openxmlformats.org/officeDocument/2006/relationships/notesMaster" Target="../notesMasters/notesMaster1.xml"/><Relationship Id="R88dc00a3a421425a"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994785edcb7a4cf9" Type="http://schemas.openxmlformats.org/officeDocument/2006/relationships/slide" Target="../slides/slide14.xml"/><Relationship Id="Rcb1536e1a8de445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eb00eb8074d249a7" Type="http://schemas.openxmlformats.org/officeDocument/2006/relationships/slide" Target="../slides/slide15.xml"/><Relationship Id="Rf27f1fd01e354d3d"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6d54dccff044c45" Type="http://schemas.openxmlformats.org/officeDocument/2006/relationships/slide" Target="../slides/slide16.xml"/><Relationship Id="Rcd446b818c9540e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20c75a0ecb049bd" Type="http://schemas.openxmlformats.org/officeDocument/2006/relationships/slide" Target="../slides/slide17.xml"/><Relationship Id="R84164d789bc742f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842632c73af4008" Type="http://schemas.openxmlformats.org/officeDocument/2006/relationships/slide" Target="../slides/slide18.xml"/><Relationship Id="Rbdf8de926f364969"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6a6ea5aa013e4f3d" Type="http://schemas.openxmlformats.org/officeDocument/2006/relationships/notesMaster" Target="../notesMasters/notesMaster1.xml"/><Relationship Id="Rebf91de6df884f4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85ff7f0c05a4cda" Type="http://schemas.openxmlformats.org/officeDocument/2006/relationships/slide" Target="../slides/slide20.xml"/><Relationship Id="Ra47cf2f8cf8a486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2840f752433a4923" Type="http://schemas.openxmlformats.org/officeDocument/2006/relationships/slide" Target="../slides/slide21.xml"/><Relationship Id="Re50e30e15d86477f"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e52f3a64cfb411c" Type="http://schemas.openxmlformats.org/officeDocument/2006/relationships/notesMaster" Target="../notesMasters/notesMaster1.xml"/><Relationship Id="R802522aaf76d46f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ddb6e84fde646ba" Type="http://schemas.openxmlformats.org/officeDocument/2006/relationships/notesMaster" Target="../notesMasters/notesMaster1.xml"/><Relationship Id="Re205591de3514167"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f11eba127e4457a" Type="http://schemas.openxmlformats.org/officeDocument/2006/relationships/notesMaster" Target="../notesMasters/notesMaster1.xml"/><Relationship Id="Rdbc42be0097943bb"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cb738af725e44f4" Type="http://schemas.openxmlformats.org/officeDocument/2006/relationships/notesMaster" Target="../notesMasters/notesMaster1.xml"/><Relationship Id="Rabe7e2ef28084a1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bcb6f6ff0744db5" Type="http://schemas.openxmlformats.org/officeDocument/2006/relationships/notesMaster" Target="../notesMasters/notesMaster1.xml"/><Relationship Id="Rca2d5fb209fd4643"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5dc9878f59b14b4c" Type="http://schemas.openxmlformats.org/officeDocument/2006/relationships/slide" Target="../slides/slide27.xml"/><Relationship Id="Rfcee4a3f16f84b2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2b97d14ff5a4b94" Type="http://schemas.openxmlformats.org/officeDocument/2006/relationships/notesMaster" Target="../notesMasters/notesMaster1.xml"/><Relationship Id="R99ab8fc160d440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276c23054734524" Type="http://schemas.openxmlformats.org/officeDocument/2006/relationships/notesMaster" Target="../notesMasters/notesMaster1.xml"/><Relationship Id="Ra26cc404f7df416b"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00cb903661d46fe" Type="http://schemas.openxmlformats.org/officeDocument/2006/relationships/notesMaster" Target="../notesMasters/notesMaster1.xml"/><Relationship Id="Rf1f0aeddd74c431b"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a:t>
            </a:r>
          </a:p>
          <a:p xmlns:a="http://schemas.openxmlformats.org/drawingml/2006/main">
            <a:r>
              <a:t>4회차는 Spark SQL로 Silver의 현재 상태 규칙을 설계하고 검증한다.</a:t>
            </a:r>
          </a:p>
          <a:p xmlns:a="http://schemas.openxmlformats.org/drawingml/2006/main">
            <a:r>
              <a:t/>
            </a:r>
          </a:p>
          <a:p xmlns:a="http://schemas.openxmlformats.org/drawingml/2006/main">
            <a:r>
              <a:t>공식 문서</a:t>
            </a:r>
          </a:p>
          <a:p xmlns:a="http://schemas.openxmlformats.org/drawingml/2006/main">
            <a:r>
              <a:t>https://github.com/kim-dabin/cdc-lakehouse-study/blob/main/labs/README.md</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a:t>
            </a:r>
          </a:p>
          <a:p xmlns:a="http://schemas.openxmlformats.org/drawingml/2006/main">
            <a:r>
              <a:t>수집을 익힌 뒤 개인 프로젝트 구현에 들어가는 단계다.</a:t>
            </a:r>
          </a:p>
          <a:p xmlns:a="http://schemas.openxmlformats.org/drawingml/2006/main">
            <a:r>
              <a:t/>
            </a:r>
          </a:p>
          <a:p xmlns:a="http://schemas.openxmlformats.org/drawingml/2006/main">
            <a:r>
              <a:t>공식 문서</a:t>
            </a:r>
          </a:p>
          <a:p xmlns:a="http://schemas.openxmlformats.org/drawingml/2006/main">
            <a:r>
              <a:t>https://github.com/kim-dabin/cdc-lakehouse-study/blob/main/labs/README.md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3]</a:t>
            </a:r>
          </a:p>
          <a:p xmlns:a="http://schemas.openxmlformats.org/drawingml/2006/main">
            <a:r>
              <a:t>원천의 현재 행과 Bronze 변경 이력은 서로 다른 질문에 답한다.</a:t>
            </a:r>
          </a:p>
          <a:p xmlns:a="http://schemas.openxmlformats.org/drawingml/2006/main">
            <a:r>
              <a:t/>
            </a:r>
          </a:p>
          <a:p xmlns:a="http://schemas.openxmlformats.org/drawingml/2006/main">
            <a:r>
              <a:t>공식 문서</a:t>
            </a:r>
          </a:p>
          <a:p xmlns:a="http://schemas.openxmlformats.org/drawingml/2006/main">
            <a:r>
              <a:t>https://github.com/kim-dabin/cdc-lakehouse-study/blob/main/flink/ingest.sql.template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4]</a:t>
            </a:r>
          </a:p>
          <a:p xmlns:a="http://schemas.openxmlformats.org/drawingml/2006/main">
            <a:r>
              <a:t>이력을 그대로 합치거나 세면 현재 업무 상태를 잘못 읽을 수 있다.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5]</a:t>
            </a:r>
          </a:p>
          <a:p xmlns:a="http://schemas.openxmlformats.org/drawingml/2006/main">
            <a:r>
              <a:t>완료는 SQL 실행 성공이 아니라 기대 상태의 확인이다.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https://github.com/kim-dabin/cdc-lakehouse-study/tree/main/labs/session04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6]</a:t>
            </a:r>
          </a:p>
          <a:p xmlns:a="http://schemas.openxmlformats.org/drawingml/2006/main">
            <a:r>
              <a:t>Flink의 지속 적재와 Spark Silver 갱신은 별도 작업이다. 메달리온 구조에서 Kafka 토픽은 보관 기간이 정해진 통로이고, 첫 Iceberg 테이블인 Bronze는 메시지 원문에 위치 정보만 붙여 append해 재처리의 출발점이 된다. 첫 테이블에서 바로 중복 제거·가공을 하면, 원문을 따로 보관하지 않는 한 앞단 보관 기간이 지난 뒤 원문 이력을 다시 처리하기 어려우므로, 정리는 Silver에서 한다.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https://github.com/kim-dabin/cdc-lakehouse-study/blob/main/docs/architecture.md</a:t>
            </a:r>
          </a:p>
          <a:p xmlns:a="http://schemas.openxmlformats.org/drawingml/2006/main">
            <a:r>
              <a:t>https://spark.apache.org/docs/3.5.6/sql-ref.html</a:t>
            </a:r>
          </a:p>
          <a:p xmlns:a="http://schemas.openxmlformats.org/drawingml/2006/main">
            <a:r>
              <a:t>https://docs.databricks.com/aws/en/lakehouse/medallion</a:t>
            </a:r>
          </a:p>
          <a:p xmlns:a="http://schemas.openxmlformats.org/drawingml/2006/main">
            <a:r>
              <a:t>https://github.com/kim-dabin/cdc-lakehouse-study/blob/main/flink/ingest.sql.template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7]</a:t>
            </a:r>
          </a:p>
          <a:p xmlns:a="http://schemas.openxmlformats.org/drawingml/2006/main">
            <a:r>
              <a:t>Silver는 Bronze 원문을 업무 엔티티 단위로 믿고 쓸 수 있게 만드는 층이다(JSON 펴기·타입 맞추기·중복 정리·CDC 병합·늦은 변경 거절). 지표·집계는 Gold로 넘기고 Silver에는 집계하지 않은 레코드를 남긴다. 어떤 상태를 한 행으로 관리할지(현재 상태인지, 버전이 유효했던 기간인 SCD Type 2인지)와 그 키를 먼저 정한다. 이번 과정은 현재 상태 + 삭제 표시를 쓴다.</a:t>
            </a:r>
          </a:p>
          <a:p xmlns:a="http://schemas.openxmlformats.org/drawingml/2006/main"/>
          <a:p xmlns:a="http://schemas.openxmlformats.org/drawingml/2006/main">
            <a:r>
              <a:t>공식 문서</a:t>
            </a:r>
          </a:p>
          <a:p xmlns:a="http://schemas.openxmlformats.org/drawingml/2006/main">
            <a:r>
              <a:t>https://github.com/kim-dabin/cdc-lakehouse-study/blob/main/sql/01-source.sql</a:t>
            </a:r>
          </a:p>
          <a:p xmlns:a="http://schemas.openxmlformats.org/drawingml/2006/main">
            <a:r>
              <a:t>https://github.com/kim-dabin/cdc-lakehouse-study/blob/main/scripts/pipeline.py</a:t>
            </a:r>
          </a:p>
          <a:p xmlns:a="http://schemas.openxmlformats.org/drawingml/2006/main">
            <a:r>
              <a:t>https://docs.databricks.com/aws/en/lakehouse/medallion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8]</a:t>
            </a:r>
          </a:p>
          <a:p xmlns:a="http://schemas.openxmlformats.org/drawingml/2006/main">
            <a:r>
              <a:t>전달 중복·같은 변경의 재전달·업무 중복은 같은 문제가 아니다. 같은 전달 위치에 다른 원문이 보이면 중복이 아니라 충돌이므로 고르지 않고 멈춘다. Flink checkpoint의 EXACTLY_ONCE는 Kafka offset과 Bronze commit 사이의 보장이다. Debezium의 재전달, 상태 없이 earliest로 다시 띄운 job, 별도 작업인 Silver·Gold는 그 범위 밖이라 Silver에서 키와 버전으로 다시 정리한다.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https://kafka.apache.org/39/design/design/#the-consumer</a:t>
            </a:r>
          </a:p>
          <a:p xmlns:a="http://schemas.openxmlformats.org/drawingml/2006/main">
            <a:r>
              <a:t>https://github.com/kim-dabin/cdc-lakehouse-study/tree/main/labs/session04</a:t>
            </a:r>
          </a:p>
          <a:p xmlns:a="http://schemas.openxmlformats.org/drawingml/2006/main">
            <a:r>
              <a:t>https://nightlies.apache.org/flink/flink-docs-release-1.20/docs/concepts/stateful-stream-processing/#exactly-once-vs-at-least-once</a:t>
            </a:r>
          </a:p>
          <a:p xmlns:a="http://schemas.openxmlformats.org/drawingml/2006/main">
            <a:r>
              <a:t>https://iceberg.apache.org/docs/1.10.0/flink-writes/#notes</a:t>
            </a:r>
          </a:p>
          <a:p xmlns:a="http://schemas.openxmlformats.org/drawingml/2006/main">
            <a:r>
              <a:t>https://debezium.io/documentation/reference/3.2/connectors/postgresql.html#postgresql-when-things-go-wrong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9]</a:t>
            </a:r>
          </a:p>
          <a:p xmlns:a="http://schemas.openxmlformats.org/drawingml/2006/main">
            <a:r>
              <a:t>순서 규칙은 원천과 전달 경로가 제공하는 범위에서 정한다.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https://www.postgresql.org/docs/17/logicaldecoding-explanation.html</a:t>
            </a:r>
          </a:p>
          <a:p xmlns:a="http://schemas.openxmlformats.org/drawingml/2006/main">
            <a:r>
              <a:t>https://kafka.apache.org/39/design/design/#the-consumer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10]</a:t>
            </a:r>
          </a:p>
          <a:p xmlns:a="http://schemas.openxmlformats.org/drawingml/2006/main">
            <a:r>
              <a:t>JSON에서 꺼낸 값의 타입이 최신 선택 결과를 바꾼다. Spark 3.5.6 기본 설정(ANSI 꺼짐)에서는 CAST에 실패한 값이 오류 대신 NULL이 되므로, 실행기가 MERGE 전에 입력을 검사해 멈춘다.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https://spark.apache.org/docs/3.5.6/sql-ref-functions-builtin.html</a:t>
            </a:r>
          </a:p>
          <a:p xmlns:a="http://schemas.openxmlformats.org/drawingml/2006/main">
            <a:r>
              <a:t>https://debezium.io/documentation/reference/3.2/connectors/postgresql.html</a:t>
            </a:r>
          </a:p>
          <a:p xmlns:a="http://schemas.openxmlformats.org/drawingml/2006/main">
            <a:r>
              <a:t>https://spark.apache.org/docs/3.5.6/sql-ref-ansi-compliance.html</a:t>
            </a:r>
          </a:p>
          <a:p xmlns:a="http://schemas.openxmlformats.org/drawingml/2006/main">
            <a:r>
              <a:t>https://github.com/kim-dabin/cdc-lakehouse-study/blob/main/labs/session04/lab.py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11]</a:t>
            </a:r>
          </a:p>
          <a:p xmlns:a="http://schemas.openxmlformats.org/drawingml/2006/main">
            <a:r>
              <a:t>c/u/r은 after, d는 before에서 키와 값을 꺼낸다.</a:t>
            </a:r>
          </a:p>
          <a:p xmlns:a="http://schemas.openxmlformats.org/drawingml/2006/main">
            <a:r>
              <a:t/>
            </a:r>
          </a:p>
          <a:p xmlns:a="http://schemas.openxmlformats.org/drawingml/2006/main">
            <a:r>
              <a:t>공식 문서</a:t>
            </a:r>
          </a:p>
          <a:p xmlns:a="http://schemas.openxmlformats.org/drawingml/2006/main">
            <a:r>
              <a:t>https://github.com/kim-dabin/cdc-lakehouse-study/blob/main/sql/01-source.sql</a:t>
            </a:r>
          </a:p>
          <a:p xmlns:a="http://schemas.openxmlformats.org/drawingml/2006/main">
            <a:r>
              <a:t>https://github.com/kim-dabin/cdc-lakehouse-study/blob/main/scripts/pipeline.py</a:t>
            </a:r>
          </a:p>
          <a:p xmlns:a="http://schemas.openxmlformats.org/drawingml/2006/main">
            <a:r>
              <a:t>https://debezium.io/documentation/reference/3.2/connectors/postgresql.html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12]</a:t>
            </a:r>
          </a:p>
          <a:p xmlns:a="http://schemas.openxmlformats.org/drawingml/2006/main">
            <a:r>
              <a:t>runner가 LSN 상한 필터 전 전체 fixture에서 PK·숫자 버전·op·전달 위치·원문 충돌을 검사하고 위반이면 MERGE 전에 실패한다. 파싱·타입 변환 SQL만 실행해 입력 품질을 검증했다고 말할 수 없다.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https://spark.apache.org/docs/3.5.6/sql-ref-functions-builtin.html</a:t>
            </a:r>
          </a:p>
          <a:p xmlns:a="http://schemas.openxmlformats.org/drawingml/2006/main">
            <a:r>
              <a:t>https://github.com/kim-dabin/cdc-lakehouse-study/tree/main/labs/session04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13]</a:t>
            </a:r>
          </a:p>
          <a:p xmlns:a="http://schemas.openxmlformats.org/drawingml/2006/main">
            <a:r>
              <a:t>모든 이력을 보관하면서 최신 후보는 PK별 하나로 만든다.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14]</a:t>
            </a:r>
          </a:p>
          <a:p xmlns:a="http://schemas.openxmlformats.org/drawingml/2006/main">
            <a:r>
              <a:t>PARTITION BY는 엔티티 묶음, ORDER BY는 버전 우선순위다.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15]</a:t>
            </a:r>
          </a:p>
          <a:p xmlns:a="http://schemas.openxmlformats.org/drawingml/2006/main">
            <a:r>
              <a:t>행 중복 제거와 최신 상태 선택은 다르다.</a:t>
            </a:r>
          </a:p>
          <a:p xmlns:a="http://schemas.openxmlformats.org/drawingml/2006/main">
            <a:r>
              <a:t/>
            </a:r>
          </a:p>
          <a:p xmlns:a="http://schemas.openxmlformats.org/drawingml/2006/main">
            <a:r>
              <a:t>공식 문서</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16]</a:t>
            </a:r>
          </a:p>
          <a:p xmlns:a="http://schemas.openxmlformats.org/drawingml/2006/main">
            <a:r>
              <a:t>PK로 매칭하고 버전이 새로울 때 갱신하며 없는 키는 넣는다.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https://iceberg.apache.org/docs/1.10.0/spark-writes/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17]</a:t>
            </a:r>
          </a:p>
          <a:p xmlns:a="http://schemas.openxmlformats.org/drawingml/2006/main">
            <a:r>
              <a:t>도착이 늦은 과거 이벤트가 현재 상태를 덮지 않도록 한다.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https://github.com/kim-dabin/cdc-lakehouse-study/tree/main/labs/session04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18]</a:t>
            </a:r>
          </a:p>
          <a:p xmlns:a="http://schemas.openxmlformats.org/drawingml/2006/main">
            <a:r>
              <a:t>삭제한 버전을 남겨야 과거 변경을 거절할 근거가 남는다.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https://iceberg.apache.org/docs/1.10.0/spark-writes/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19]</a:t>
            </a:r>
          </a:p>
          <a:p xmlns:a="http://schemas.openxmlformats.org/drawingml/2006/main">
            <a:r>
              <a:t>원문·정규화·순위를 단계별로 확인한다. 이번 실습은 공통 lake.bronze.cdc_events(세 토픽을 한 테이블에 모음)가 아니라 refunds 토픽 하나만 담는 실습 전용 Bronze(1:1)와 전용 Silver를 쓴다. Bronze 열은 같다. 실습 Silver는 공통 refunds Silver에서 source_ts_ms를 빼고 topic·partition_id를 추가했다. 최신 순서와 MERGE 가드는 공통 파이프라인과 같다.</a:t>
            </a:r>
          </a:p>
          <a:p xmlns:a="http://schemas.openxmlformats.org/drawingml/2006/main"/>
          <a:p xmlns:a="http://schemas.openxmlformats.org/drawingml/2006/main">
            <a:r>
              <a:t>공식 문서</a:t>
            </a:r>
          </a:p>
          <a:p xmlns:a="http://schemas.openxmlformats.org/drawingml/2006/main">
            <a:r>
              <a:t>https://github.com/kim-dabin/cdc-lakehouse-study/tree/main/labs/session04</a:t>
            </a:r>
          </a:p>
          <a:p xmlns:a="http://schemas.openxmlformats.org/drawingml/2006/main">
            <a:r>
              <a:t>https://spark.apache.org/docs/3.5.6/sql-ref-syntax-qry-select-window.html</a:t>
            </a:r>
          </a:p>
          <a:p xmlns:a="http://schemas.openxmlformats.org/drawingml/2006/main">
            <a:r>
              <a:t>https://github.com/kim-dabin/cdc-lakehouse-study/blob/main/flink/ingest.sql.template</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20]</a:t>
            </a:r>
          </a:p>
          <a:p xmlns:a="http://schemas.openxmlformats.org/drawingml/2006/main">
            <a:r>
              <a:t>입력 범위를 늘리며 Silver의 같은 PK 한 행이 바뀌는 것을 본다.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21]</a:t>
            </a:r>
          </a:p>
          <a:p xmlns:a="http://schemas.openxmlformats.org/drawingml/2006/main">
            <a:r>
              <a:t>삭제 이력은 보존하면서 유효한 현재 환불에서 제외한다.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22]</a:t>
            </a:r>
          </a:p>
          <a:p xmlns:a="http://schemas.openxmlformats.org/drawingml/2006/main">
            <a:r>
              <a:t>동일 입력 재실행과 같은 전달 위치(offset 12)의 중복 뒤에도 d·LSN300·offset12와 PK 한 행을 유지한다. 실제 COW 실행에서는 값이 같아도 새 snapshot·파일이 생성됐다.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23]</a:t>
            </a:r>
          </a:p>
          <a:p xmlns:a="http://schemas.openxmlformats.org/drawingml/2006/main">
            <a:r>
              <a:t>동일 전달 위치의 삭제 중복 뒤, 과거 배치(upper_lsn=200)를 선택해 u200/offset13을 실제 incoming으로 MERGE에 넘긴다. target d300/offset12가 버전 가드를 통해 유지되고 guard_rejected=true인지 확인한다. 전체 후보가 d300을 고른 결과와 MERGE 가드 검증을 구분한다.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24]</a:t>
            </a:r>
          </a:p>
          <a:p xmlns:a="http://schemas.openxmlformats.org/drawingml/2006/main">
            <a:r>
              <a:t>SQL은 스캔·재분배·정렬·매칭·파일 쓰기와 commit으로 실행된다. Spark 3.5.6의 copy-on-write MERGE는 다시 쓸 파일을 WHEN MATCHED의 버전 조건이 아니라 ON 조건으로 고르므로, 업무 값이 같아도 새 파일과 snapshot이 생길 수 있다. 10/26 실행에서 관찰한 결과이며 모든 버전의 법칙은 아니다.</a:t>
            </a:r>
          </a:p>
          <a:p xmlns:a="http://schemas.openxmlformats.org/drawingml/2006/main"/>
          <a:p xmlns:a="http://schemas.openxmlformats.org/drawingml/2006/main">
            <a:r>
              <a:t>공식 문서</a:t>
            </a:r>
          </a:p>
          <a:p xmlns:a="http://schemas.openxmlformats.org/drawingml/2006/main">
            <a:r>
              <a:t>https://spark.apache.org/docs/3.5.6/sql-ref-syntax-qry-explain.html</a:t>
            </a:r>
          </a:p>
          <a:p xmlns:a="http://schemas.openxmlformats.org/drawingml/2006/main">
            <a:r>
              <a:t>https://spark.apache.org/docs/3.5.6/sql-ref-syntax-qry-select-window.html</a:t>
            </a:r>
          </a:p>
          <a:p xmlns:a="http://schemas.openxmlformats.org/drawingml/2006/main">
            <a:r>
              <a:t>https://iceberg.apache.org/docs/1.10.0/spark-writes/</a:t>
            </a:r>
          </a:p>
          <a:p xmlns:a="http://schemas.openxmlformats.org/drawingml/2006/main">
            <a:r>
              <a:t>https://iceberg.apache.org/docs/1.10.0/configuration/</a:t>
            </a:r>
          </a:p>
          <a:p xmlns:a="http://schemas.openxmlformats.org/drawingml/2006/main">
            <a:r>
              <a:t>https://iceberg.apache.org/docs/1.10.0/reliability/</a:t>
            </a:r>
          </a:p>
          <a:p xmlns:a="http://schemas.openxmlformats.org/drawingml/2006/main">
            <a:r>
              <a:t>https://spark.apache.org/docs/3.5.6/sql-performance-tuning.html</a:t>
            </a:r>
          </a:p>
          <a:p xmlns:a="http://schemas.openxmlformats.org/drawingml/2006/main">
            <a:r>
              <a:t>https://github.com/apache/spark/blob/v3.5.6/sql/catalyst/src/main/scala/org/apache/spark/sql/catalyst/analysis/RewriteMergeIntoTable.scala</a:t>
            </a:r>
          </a:p>
          <a:p xmlns:a="http://schemas.openxmlformats.org/drawingml/2006/main">
            <a:r>
              <a:t>https://iceberg.apache.org/docs/1.10.0/spark-procedures/#carry-over-rows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25]</a:t>
            </a:r>
          </a:p>
          <a:p xmlns:a="http://schemas.openxmlformats.org/drawingml/2006/main">
            <a:r>
              <a:t>Iceberg 테이블 commit은 세 원천 테이블을 동시에 확정하는 트랜잭션이 아니다.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26]</a:t>
            </a:r>
          </a:p>
          <a:p xmlns:a="http://schemas.openxmlformats.org/drawingml/2006/main">
            <a:r>
              <a:t>기준 구현은 매번 Bronze 전체를 읽는다. Bronze에 모든 이력이 남아 있으면 Silver의 모든 키가 ON 조건에 걸려, copy-on-write가 바뀐 값이 없어도 Silver 전체를 다시 쓴다. 매번 5분 안에 끝나는 5분 정기 실행만 세도 하루 최대 288번이고, 예전 파일은 snapshot 만료 전까지 남는다(정리는 7회차). Iceberg의 Spark 증분·스트리밍 읽기는 append snapshot만 읽으므로 MERGE로 덮어쓰는 Silver는 이어 읽을 수 없다. 그래서 다음 회차 Gold는 Silver의 현재 상태를 정해진 주기에 배치로 읽는다.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https://iceberg.apache.org/docs/1.10.0/spark-queries/</a:t>
            </a:r>
          </a:p>
          <a:p xmlns:a="http://schemas.openxmlformats.org/drawingml/2006/main">
            <a:r>
              <a:t>https://github.com/kim-dabin/cdc-lakehouse-study/blob/main/labs/README.md</a:t>
            </a:r>
          </a:p>
          <a:p xmlns:a="http://schemas.openxmlformats.org/drawingml/2006/main">
            <a:r>
              <a:t>https://iceberg.apache.org/docs/1.10.0/spark-queries/#incremental-read</a:t>
            </a:r>
          </a:p>
          <a:p xmlns:a="http://schemas.openxmlformats.org/drawingml/2006/main">
            <a:r>
              <a:t>https://iceberg.apache.org/docs/1.10.0/maintenance/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27]</a:t>
            </a:r>
          </a:p>
          <a:p xmlns:a="http://schemas.openxmlformats.org/drawingml/2006/main">
            <a:r>
              <a:t>키·버전·삭제 규칙은 그대로 두고, 실행 방식은 필요한 신선도로 고른다. 분 단위가 필요하면 지금 배치의 실행 시간부터 재고 증분 배치나 상시 스트리밍을 비교한다. Spark Structured Streaming은 micro-batch 입력에 같은 후보 규칙과 가드 MERGE를 쓰고 버전 비교를 테이블에서 한다. Flink upsert는 키별 최신 행을 job 상태로 들고 Iceberg 내부 삭제 파일과 새 행을 쓴다(업무 열 is_deleted와 다름). 기존 Silver와 맞는 상태에서 시작하거나 복구해야 하고, 상태를 잃거나 만료되면 늦게 온 과거 변경이 현재 값을 덮을 수 있다. 쌓인 삭제 파일은 정리해야 한다. 두 방식은 이번 수업에서 설계로만 다루었고 실행하지 않았다.</a:t>
            </a:r>
          </a:p>
          <a:p xmlns:a="http://schemas.openxmlformats.org/drawingml/2006/main"/>
          <a:p xmlns:a="http://schemas.openxmlformats.org/drawingml/2006/main">
            <a:r>
              <a:t>공식 문서</a:t>
            </a:r>
          </a:p>
          <a:p xmlns:a="http://schemas.openxmlformats.org/drawingml/2006/main">
            <a:r>
              <a:t>https://spark.apache.org/docs/3.5.6/sql-performance-tuning.html</a:t>
            </a:r>
          </a:p>
          <a:p xmlns:a="http://schemas.openxmlformats.org/drawingml/2006/main">
            <a:r>
              <a:t>https://iceberg.apache.org/docs/1.10.0/spark-writes/</a:t>
            </a:r>
          </a:p>
          <a:p xmlns:a="http://schemas.openxmlformats.org/drawingml/2006/main">
            <a:r>
              <a:t>https://iceberg.apache.org/docs/1.10.0/maintenance/</a:t>
            </a:r>
          </a:p>
          <a:p xmlns:a="http://schemas.openxmlformats.org/drawingml/2006/main">
            <a:r>
              <a:t>https://spark.apache.org/docs/3.5.6/structured-streaming-programming-guide.html#foreachbatch</a:t>
            </a:r>
          </a:p>
          <a:p xmlns:a="http://schemas.openxmlformats.org/drawingml/2006/main">
            <a:r>
              <a:t>https://iceberg.apache.org/docs/1.10.0/spark-structured-streaming/</a:t>
            </a:r>
          </a:p>
          <a:p xmlns:a="http://schemas.openxmlformats.org/drawingml/2006/main">
            <a:r>
              <a:t>https://iceberg.apache.org/docs/1.10.0/flink-writes/#upsert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28]</a:t>
            </a:r>
          </a:p>
          <a:p xmlns:a="http://schemas.openxmlformats.org/drawingml/2006/main">
            <a:r>
              <a:t>오늘 따라온 순서가 그대로 Silver 설계 순서다(학생 가이드 'Silver 설계 순서' 표, 학습지와 같은 순서). 필수 12분: 자기 테이블 하나의 한 행·PK, 최신 버전 범위와 삭제 규칙, ROW_NUMBER 최신 후보 SQL 뼈대를 정한다. 미구축 학생도 의사 SQL까지 남긴다. 확장 8분: 타입 정규화 상세, MERGE 가드, 다섯 기대값 표를 붙이고 가능하면 실행한다. 단계마다 답·근거·깨지는 조건을 함께 적고, 실행 결과와 예상만 한 결과를 구분한다.</a:t>
            </a:r>
          </a:p>
          <a:p xmlns:a="http://schemas.openxmlformats.org/drawingml/2006/main"/>
          <a:p xmlns:a="http://schemas.openxmlformats.org/drawingml/2006/main">
            <a:r>
              <a:t>공식 문서</a:t>
            </a:r>
          </a:p>
          <a:p xmlns:a="http://schemas.openxmlformats.org/drawingml/2006/main">
            <a:r>
              <a:t>https://github.com/kim-dabin/cdc-lakehouse-study/blob/main/labs/session03/design-worksheet.md</a:t>
            </a:r>
          </a:p>
          <a:p xmlns:a="http://schemas.openxmlformats.org/drawingml/2006/main">
            <a:r>
              <a:t>https://github.com/kim-dabin/cdc-lakehouse-study/blob/main/docs/project-template.md</a:t>
            </a:r>
          </a:p>
          <a:p xmlns:a="http://schemas.openxmlformats.org/drawingml/2006/main">
            <a:r>
              <a:t>https://github.com/kim-dabin/cdc-lakehouse-study/blob/main/labs/session04/student-guide.md</a:t>
            </a:r>
          </a:p>
          <a:p xmlns:a="http://schemas.openxmlformats.org/drawingml/2006/main">
            <a:r>
              <a:t>https://github.com/kim-dabin/cdc-lakehouse-study/blob/main/labs/session04/design-worksheet.md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29]</a:t>
            </a:r>
          </a:p>
          <a:p xmlns:a="http://schemas.openxmlformats.org/drawingml/2006/main">
            <a:r>
              <a:t>자신의 선택을 반례와 기대값으로 설명한다.</a:t>
            </a:r>
          </a:p>
          <a:p xmlns:a="http://schemas.openxmlformats.org/drawingml/2006/main">
            <a:r>
              <a:t/>
            </a:r>
          </a:p>
          <a:p xmlns:a="http://schemas.openxmlformats.org/drawingml/2006/main">
            <a:r>
              <a:t>공식 문서</a:t>
            </a:r>
          </a:p>
          <a:p xmlns:a="http://schemas.openxmlformats.org/drawingml/2006/main">
            <a:r>
              <a:t>https://github.com/kim-dabin/cdc-lakehouse-study/blob/main/labs/README.md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30]</a:t>
            </a:r>
          </a:p>
          <a:p xmlns:a="http://schemas.openxmlformats.org/drawingml/2006/main">
            <a:r>
              <a:t>Silver 계약·SQL·검증을 Gold 모델의 입력으로 넘긴다. 다음 회차에는 Gold가 Silver의 현재 상태를 30분 주기 배치로 읽도록 설계하고, 오늘 정한 키·삭제 규칙과 기대값을 dbt 테스트로 옮긴다. 가져갈 것은 refunds의 답이 아니라 질문 순서다. 한 행, 키, 최신의 근거, 삭제, 거절할 입력, 반영 조건, 갱신 방식, 기대값 순서로 묻고 답마다 근거를 남긴다.</a:t>
            </a:r>
          </a:p>
          <a:p xmlns:a="http://schemas.openxmlformats.org/drawingml/2006/main"/>
          <a:p xmlns:a="http://schemas.openxmlformats.org/drawingml/2006/main">
            <a:r>
              <a:t>공식 문서</a:t>
            </a:r>
          </a:p>
          <a:p xmlns:a="http://schemas.openxmlformats.org/drawingml/2006/main">
            <a:r>
              <a:t>https://spark.apache.org/docs/3.5.6/sql-ref-syntax-qry-select-window.html</a:t>
            </a:r>
          </a:p>
          <a:p xmlns:a="http://schemas.openxmlformats.org/drawingml/2006/main">
            <a:r>
              <a:t>https://iceberg.apache.org/docs/1.10.0/spark-writes/</a:t>
            </a:r>
          </a:p>
          <a:p xmlns:a="http://schemas.openxmlformats.org/drawingml/2006/main">
            <a:r>
              <a:t>https://iceberg.apache.org/docs/1.10.0/reliability/</a:t>
            </a:r>
          </a:p>
          <a:p xmlns:a="http://schemas.openxmlformats.org/drawingml/2006/main">
            <a:r>
              <a:t>https://github.com/kim-dabin/cdc-lakehouse-study/blob/main/labs/README.md</a:t>
            </a:r>
          </a:p>
          <a:p xmlns:a="http://schemas.openxmlformats.org/drawingml/2006/main">
            <a:r>
              <a:t>https://github.com/kim-dabin/cdc-lakehouse-study/blob/main/labs/session04/student-guide.md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31]</a:t>
            </a:r>
          </a:p>
          <a:p>
            <a:r>
              <a:t>부록 · Silver 스키마 설계. Bronze에 c·u·d 세 행으로 남은 같은 환불이 다섯 단계(행 고르기 → 타입 맞추기 → 삭제 표시 → 키마다 최신 하나 → 새 버전만 MERGE)를 거쳐 Silver에서 refund_id 하나에 한 행이 된다. 오른쪽 표처럼 자기 테이블에도 '설계 질문 · 열 · 타입 · 어디서'를 채운다. 열 이름·타입은 실습 실행기(lab.py)의 테이블 정의와 같다.</a:t>
            </a:r>
          </a:p>
          <a:p/>
          <a:p>
            <a:r>
              <a:t>공식 문서</a:t>
            </a:r>
          </a:p>
          <a:p>
            <a:r>
              <a:t>https://github.com/kim-dabin/cdc-lakehouse-study/blob/main/labs/session04/lab.py</a:t>
            </a:r>
          </a:p>
          <a:p>
            <a:r>
              <a:t>https://github.com/kim-dabin/cdc-lakehouse-study/blob/main/labs/session04/sql/01-latest.sql</a:t>
            </a:r>
          </a:p>
          <a:p>
            <a:r>
              <a:t>https://github.com/kim-dabin/cdc-lakehouse-study/blob/main/labs/session04/student-guide.md</a:t>
            </a:r>
          </a:p>
          <a:p>
            <a:r>
              <a:t>https://docs.databricks.com/aws/en/lakehouse/medallion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c2c5549ebb9846a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b4dedaaf2b54a4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2571986dc8843d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c4c72effc06414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53db17e5b774fb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aff6b7b52da452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094685-1EB5-4CBD-AC9A-C42C04D4B8F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A878AE-B2C1-4D2F-8A33-6B951F3807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998D0F7-4811-4D99-A7A6-31FBA3C755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8CF480-7062-46AB-A61D-E404E16C71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33599D4-BD08-42E0-8C02-7FF9561D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65D1B-EABA-44A1-8B0E-8C3C708F19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B952FA-5DA8-42A7-B253-30E7E1A589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C0EB4C4-18B4-4D3D-AD73-EE6C5433CE8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789514-56B3-4A2F-9E70-B6F42C0DA0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59AF48-E6F8-4073-BE7E-E1FE80E47B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5891f8d9f704b38" Type="http://schemas.openxmlformats.org/officeDocument/2006/relationships/slideLayout" Target="../slideLayouts/slideLayout4.xml"/><Relationship Id="R4f8f0f6ae03d4a97" Type="http://schemas.openxmlformats.org/officeDocument/2006/relationships/slideLayout" Target="../slideLayouts/slideLayout2.xml"/><Relationship Id="R66a89555f59b495a" Type="http://schemas.openxmlformats.org/officeDocument/2006/relationships/slideLayout" Target="../slideLayouts/slideLayout1.xml"/><Relationship Id="R6970f2295c3c49f8" Type="http://schemas.openxmlformats.org/officeDocument/2006/relationships/theme" Target="theme/theme2.xml"/><Relationship Id="Rdd370c02fef14411" Type="http://schemas.openxmlformats.org/officeDocument/2006/relationships/slideLayout" Target="../slideLayouts/slideLayout6.xml"/><Relationship Id="Re15d9618fca940c1" Type="http://schemas.openxmlformats.org/officeDocument/2006/relationships/slideLayout" Target="../slideLayouts/slideLayout5.xml"/><Relationship Id="Rf89b5246422446dd" Type="http://schemas.openxmlformats.org/officeDocument/2006/relationships/slideLayout" Target="../slideLayouts/slideLayout3.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a89555f59b495a"/>
    <p:sldLayoutId xmlns:r="http://schemas.openxmlformats.org/officeDocument/2006/relationships" id="2147483650" r:id="R4f8f0f6ae03d4a97"/>
    <p:sldLayoutId xmlns:r="http://schemas.openxmlformats.org/officeDocument/2006/relationships" id="2147483651" r:id="Rf89b5246422446dd"/>
    <p:sldLayoutId xmlns:r="http://schemas.openxmlformats.org/officeDocument/2006/relationships" id="2147483652" r:id="R05891f8d9f704b38"/>
    <p:sldLayoutId xmlns:r="http://schemas.openxmlformats.org/officeDocument/2006/relationships" id="2147483653" r:id="Re15d9618fca940c1"/>
    <p:sldLayoutId xmlns:r="http://schemas.openxmlformats.org/officeDocument/2006/relationships" id="2147483654" r:id="Rdd370c02fef144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d6ad75814f034a71" Type="http://schemas.openxmlformats.org/officeDocument/2006/relationships/notesSlide" Target="../notesSlides/notesSlide1.xml"/><Relationship Id="Rd8f26085f29248b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64610060e2c74ca6" Type="http://schemas.openxmlformats.org/officeDocument/2006/relationships/image" Target="../media/image.png"/><Relationship Id="R701400602ef04ad2" Type="http://schemas.openxmlformats.org/officeDocument/2006/relationships/slideLayout" Target="../slideLayouts/slideLayout6.xml"/><Relationship Id="Rb204c729a9cc4a3d"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7644a558e6c47c8" Type="http://schemas.openxmlformats.org/officeDocument/2006/relationships/slideLayout" Target="../slideLayouts/slideLayout6.xml"/><Relationship Id="R7dff880881e1468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6e34c56f2fd4fe6" Type="http://schemas.openxmlformats.org/officeDocument/2006/relationships/slideLayout" Target="../slideLayouts/slideLayout6.xml"/><Relationship Id="Rbb4d505d27fb42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ff9e2b1b0df43b3" Type="http://schemas.openxmlformats.org/officeDocument/2006/relationships/notesSlide" Target="../notesSlides/notesSlide5.xml"/><Relationship Id="Rd313544460da45d3"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18230c0f0349404e" Type="http://schemas.openxmlformats.org/officeDocument/2006/relationships/slideLayout" Target="../slideLayouts/slideLayout6.xml"/><Relationship Id="Re7aafe90e6cf4aa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02ac837fe9c4089" Type="http://schemas.openxmlformats.org/officeDocument/2006/relationships/notesSlide" Target="../notesSlides/notesSlide7.xml"/><Relationship Id="R4439c144789e4349"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285f7f2ab0de411f" Type="http://schemas.openxmlformats.org/officeDocument/2006/relationships/notesSlide" Target="../notesSlides/notesSlide8.xml"/><Relationship Id="R7802b6d08e054b4a"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4561014351247f3" Type="http://schemas.openxmlformats.org/officeDocument/2006/relationships/notesSlide" Target="../notesSlides/notesSlide9.xml"/><Relationship Id="R4efa8ef01d4446e4"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37c266f72d1143ad" Type="http://schemas.openxmlformats.org/officeDocument/2006/relationships/notesSlide" Target="../notesSlides/notesSlide10.xml"/><Relationship Id="R40a84c6eb6ce48aa"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ac7e1dfcbcfb4f64" Type="http://schemas.openxmlformats.org/officeDocument/2006/relationships/notesSlide" Target="../notesSlides/notesSlide11.xml"/><Relationship Id="Rbd0e5849652d4584"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62fbfe767c1427e" Type="http://schemas.openxmlformats.org/officeDocument/2006/relationships/notesSlide" Target="../notesSlides/notesSlide12.xml"/><Relationship Id="Rf4d59b40650944c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c820da2f3444482" Type="http://schemas.openxmlformats.org/officeDocument/2006/relationships/notesSlide" Target="../notesSlides/notesSlide13.xml"/><Relationship Id="R6f2743fb37db4a3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44bd5142e05047e4" Type="http://schemas.openxmlformats.org/officeDocument/2006/relationships/slideLayout" Target="../slideLayouts/slideLayout6.xml"/><Relationship Id="R5c8559cf318c43e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e4ebdaaaf014503" Type="http://schemas.openxmlformats.org/officeDocument/2006/relationships/notesSlide" Target="../notesSlides/notesSlide15.xml"/><Relationship Id="R72d23b16ce8f4326"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c0a9d741da53454f" Type="http://schemas.openxmlformats.org/officeDocument/2006/relationships/notesSlide" Target="../notesSlides/notesSlide16.xml"/><Relationship Id="Rfd09686cdedb4c7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1fc817ecc2043d6" Type="http://schemas.openxmlformats.org/officeDocument/2006/relationships/slideLayout" Target="../slideLayouts/slideLayout6.xml"/><Relationship Id="R6b369ddeeb324f8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2c4d35e32a140c8" Type="http://schemas.openxmlformats.org/officeDocument/2006/relationships/notesSlide" Target="../notesSlides/notesSlide18.xml"/><Relationship Id="R6cb5cb93075a407a"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30edee3848cb49a2" Type="http://schemas.openxmlformats.org/officeDocument/2006/relationships/slideLayout" Target="../slideLayouts/slideLayout6.xml"/><Relationship Id="R983d3e2b07ec4c3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5f02ea3041ad4d08" Type="http://schemas.openxmlformats.org/officeDocument/2006/relationships/notesSlide" Target="../notesSlides/notesSlide20.xml"/><Relationship Id="R85041af3725b432c"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9e6545fa2a14b2c" Type="http://schemas.openxmlformats.org/officeDocument/2006/relationships/notesSlide" Target="../notesSlides/notesSlide21.xml"/><Relationship Id="Rc16bd3521bf24685"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7b68b3e288894823" Type="http://schemas.openxmlformats.org/officeDocument/2006/relationships/slideLayout" Target="../slideLayouts/slideLayout6.xml"/><Relationship Id="Rbd480d8d0f8c4c0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cc28da5e9cb4c50" Type="http://schemas.openxmlformats.org/officeDocument/2006/relationships/notesSlide" Target="../notesSlides/notesSlide23.xml"/><Relationship Id="Rb6e290bfd00c486c"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b5b8178f5fe4837" Type="http://schemas.openxmlformats.org/officeDocument/2006/relationships/notesSlide" Target="../notesSlides/notesSlide24.xml"/><Relationship Id="Rc9d74917de6e476b"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72b76de5426242bb" Type="http://schemas.openxmlformats.org/officeDocument/2006/relationships/slideLayout" Target="../slideLayouts/slideLayout6.xml"/><Relationship Id="Rfcff644666a24ebf"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a1ab619f38624033" Type="http://schemas.openxmlformats.org/officeDocument/2006/relationships/notesSlide" Target="../notesSlides/notesSlide26.xml"/><Relationship Id="Rc182df8832ea45d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22708d36d15c4907" Type="http://schemas.openxmlformats.org/officeDocument/2006/relationships/notesSlide" Target="../notesSlides/notesSlide27.xml"/><Relationship Id="R6817e8ce39924aaa"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72ee7fbc9de4577" Type="http://schemas.openxmlformats.org/officeDocument/2006/relationships/slideLayout" Target="../slideLayouts/slideLayout6.xml"/><Relationship Id="Rabd49692ab3a46eb"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6884af92d4e64a7d" Type="http://schemas.openxmlformats.org/officeDocument/2006/relationships/slideLayout" Target="../slideLayouts/slideLayout6.xml"/><Relationship Id="Rd49a74ceb846404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407fa8d87a4d4976" Type="http://schemas.openxmlformats.org/officeDocument/2006/relationships/slideLayout" Target="../slideLayouts/slideLayout6.xml"/><Relationship Id="R9f7edab56ffa418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E6B6716-0B0E-47BB-96F7-1297EBBC555B}"/>
              </a:ext>
            </a:extLst>
          </p:cNvPr>
          <p:cNvSpPr>
            <a:spLocks xmlns:a="http://schemas.openxmlformats.org/drawingml/2006/main" noGrp="1"/>
          </p:cNvSpPr>
          <p:nvPr/>
        </p:nvSpPr>
        <p:spPr>
          <a:xfrm xmlns:a="http://schemas.openxmlformats.org/drawingml/2006/main">
            <a:off x="609600" y="5715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CDC / Iceberg 프로젝트 스터디</a:t>
            </a:r>
          </a:p>
        </p:txBody>
      </p:sp>
      <p:sp>
        <p:nvSpPr>
          <p:cNvPr id="2" name="text-1">
            <a:extLst xmlns:a="http://schemas.openxmlformats.org/drawingml/2006/main">
              <a:ext uri="{FF2B5EF4-FFF2-40B4-BE49-F238E27FC236}">
                <a16:creationId xmlns:a16="http://schemas.microsoft.com/office/drawing/2014/main" id="{06E7E411-999A-4CDA-8864-5F55F5C81061}"/>
              </a:ext>
            </a:extLst>
          </p:cNvPr>
          <p:cNvSpPr>
            <a:spLocks xmlns:a="http://schemas.openxmlformats.org/drawingml/2006/main" noGrp="1"/>
          </p:cNvSpPr>
          <p:nvPr/>
        </p:nvSpPr>
        <p:spPr>
          <a:xfrm xmlns:a="http://schemas.openxmlformats.org/drawingml/2006/main">
            <a:off x="609600" y="1466850"/>
            <a:ext cx="10858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8FAFC"/>
                </a:solidFill>
                <a:latin typeface="Apple SD Gothic Neo"/>
                <a:ea typeface="Apple SD Gothic Neo"/>
                <a:cs typeface="Apple SD Gothic Neo"/>
              </a:defRPr>
            </a:defPPr>
            <a:lvl1pPr algn="l">
              <a:buNone/>
              <a:defRPr sz="4650" b="1">
                <a:solidFill>
                  <a:srgbClr val="F8FAFC"/>
                </a:solidFill>
                <a:latin typeface="Apple SD Gothic Neo"/>
                <a:ea typeface="Apple SD Gothic Neo"/>
                <a:cs typeface="Apple SD Gothic Neo"/>
              </a:defRPr>
            </a:lvl1pPr>
            <a:lvl2pPr algn="l">
              <a:buNone/>
              <a:defRPr sz="4650" b="1">
                <a:solidFill>
                  <a:srgbClr val="F8FAFC"/>
                </a:solidFill>
                <a:latin typeface="Apple SD Gothic Neo"/>
                <a:ea typeface="Apple SD Gothic Neo"/>
                <a:cs typeface="Apple SD Gothic Neo"/>
              </a:defRPr>
            </a:lvl2pPr>
            <a:lvl3pPr algn="l">
              <a:buNone/>
              <a:defRPr sz="4650" b="1">
                <a:solidFill>
                  <a:srgbClr val="F8FAFC"/>
                </a:solidFill>
                <a:latin typeface="Apple SD Gothic Neo"/>
                <a:ea typeface="Apple SD Gothic Neo"/>
                <a:cs typeface="Apple SD Gothic Neo"/>
              </a:defRPr>
            </a:lvl3pPr>
            <a:lvl4pPr algn="l">
              <a:buNone/>
              <a:defRPr sz="4650" b="1">
                <a:solidFill>
                  <a:srgbClr val="F8FAFC"/>
                </a:solidFill>
                <a:latin typeface="Apple SD Gothic Neo"/>
                <a:ea typeface="Apple SD Gothic Neo"/>
                <a:cs typeface="Apple SD Gothic Neo"/>
              </a:defRPr>
            </a:lvl4pPr>
            <a:lvl5pPr algn="l">
              <a:buNone/>
              <a:defRPr sz="4650" b="1">
                <a:solidFill>
                  <a:srgbClr val="F8FAFC"/>
                </a:solidFill>
                <a:latin typeface="Apple SD Gothic Neo"/>
                <a:ea typeface="Apple SD Gothic Neo"/>
                <a:cs typeface="Apple SD Gothic Neo"/>
              </a:defRPr>
            </a:lvl5pPr>
            <a:lvl6pPr algn="l">
              <a:buNone/>
              <a:defRPr sz="4650" b="1">
                <a:solidFill>
                  <a:srgbClr val="F8FAFC"/>
                </a:solidFill>
                <a:latin typeface="Apple SD Gothic Neo"/>
                <a:ea typeface="Apple SD Gothic Neo"/>
                <a:cs typeface="Apple SD Gothic Neo"/>
              </a:defRPr>
            </a:lvl6pPr>
            <a:lvl7pPr algn="l">
              <a:buNone/>
              <a:defRPr sz="4650" b="1">
                <a:solidFill>
                  <a:srgbClr val="F8FAFC"/>
                </a:solidFill>
                <a:latin typeface="Apple SD Gothic Neo"/>
                <a:ea typeface="Apple SD Gothic Neo"/>
                <a:cs typeface="Apple SD Gothic Neo"/>
              </a:defRPr>
            </a:lvl7pPr>
            <a:lvl8pPr algn="l">
              <a:buNone/>
              <a:defRPr sz="4650" b="1">
                <a:solidFill>
                  <a:srgbClr val="F8FAFC"/>
                </a:solidFill>
                <a:latin typeface="Apple SD Gothic Neo"/>
                <a:ea typeface="Apple SD Gothic Neo"/>
                <a:cs typeface="Apple SD Gothic Neo"/>
              </a:defRPr>
            </a:lvl8pPr>
            <a:lvl9pPr algn="l">
              <a:buNone/>
              <a:defRPr sz="4650" b="1">
                <a:solidFill>
                  <a:srgbClr val="F8FAFC"/>
                </a:solidFill>
                <a:latin typeface="Apple SD Gothic Neo"/>
                <a:ea typeface="Apple SD Gothic Neo"/>
                <a:cs typeface="Apple SD Gothic Neo"/>
              </a:defRPr>
            </a:lvl9pPr>
          </a:lstStyle>
          <a:p xmlns:a="http://schemas.openxmlformats.org/drawingml/2006/main">
            <a:pPr algn="l">
              <a:buNone/>
              <a:defRPr sz="4650" b="1">
                <a:solidFill>
                  <a:srgbClr val="F8FAFC"/>
                </a:solidFill>
                <a:latin typeface="Apple SD Gothic Neo"/>
                <a:ea typeface="Apple SD Gothic Neo"/>
                <a:cs typeface="Apple SD Gothic Neo"/>
              </a:defRPr>
            </a:pPr>
            <a:r>
              <a:rPr sz="4650" b="1">
                <a:solidFill>
                  <a:srgbClr val="F8FAFC"/>
                </a:solidFill>
                <a:latin typeface="Apple SD Gothic Neo"/>
                <a:ea typeface="Apple SD Gothic Neo"/>
                <a:cs typeface="Apple SD Gothic Neo"/>
              </a:rPr>
              <a:t>변경 이력에서</a:t>
            </a:r>
          </a:p>
          <a:p xmlns:a="http://schemas.openxmlformats.org/drawingml/2006/main">
            <a:pPr algn="l">
              <a:buNone/>
              <a:defRPr sz="4650" b="1">
                <a:solidFill>
                  <a:srgbClr val="F8FAFC"/>
                </a:solidFill>
                <a:latin typeface="Apple SD Gothic Neo"/>
                <a:ea typeface="Apple SD Gothic Neo"/>
                <a:cs typeface="Apple SD Gothic Neo"/>
              </a:defRPr>
            </a:pPr>
            <a:r>
              <a:rPr sz="4650" b="1">
                <a:solidFill>
                  <a:srgbClr val="F8FAFC"/>
                </a:solidFill>
                <a:latin typeface="Apple SD Gothic Neo"/>
                <a:ea typeface="Apple SD Gothic Neo"/>
                <a:cs typeface="Apple SD Gothic Neo"/>
              </a:rPr>
              <a:t>현재 상태로</a:t>
            </a:r>
          </a:p>
        </p:txBody>
      </p:sp>
      <p:sp>
        <p:nvSpPr>
          <p:cNvPr id="3" name="">
            <a:extLst xmlns:a="http://schemas.openxmlformats.org/drawingml/2006/main">
              <a:ext uri="{FF2B5EF4-FFF2-40B4-BE49-F238E27FC236}">
                <a16:creationId xmlns:a16="http://schemas.microsoft.com/office/drawing/2014/main" id="{C96D2B3F-196B-4441-ACAE-1D00FF4B3CDA}"/>
              </a:ext>
            </a:extLst>
          </p:cNvPr>
          <p:cNvSpPr>
            <a:spLocks xmlns:a="http://schemas.openxmlformats.org/drawingml/2006/main" noGrp="1"/>
          </p:cNvSpPr>
          <p:nvPr/>
        </p:nvSpPr>
        <p:spPr>
          <a:xfrm xmlns:a="http://schemas.openxmlformats.org/drawingml/2006/main">
            <a:off x="609600" y="3524250"/>
            <a:ext cx="1676400" cy="47625"/>
          </a:xfrm>
          <a:prstGeom xmlns:a="http://schemas.openxmlformats.org/drawingml/2006/main" prst="rect">
            <a:avLst/>
          </a:prstGeom>
          <a:solidFill xmlns:a="http://schemas.openxmlformats.org/drawingml/2006/main">
            <a:srgbClr val="22D3EE"/>
          </a:solidFill>
          <a:ln xmlns:a="http://schemas.openxmlformats.org/drawingml/2006/main" w="0">
            <a:noFill/>
          </a:ln>
        </p:spPr>
      </p:sp>
      <p:sp>
        <p:nvSpPr>
          <p:cNvPr id="4" name="text-2">
            <a:extLst xmlns:a="http://schemas.openxmlformats.org/drawingml/2006/main">
              <a:ext uri="{FF2B5EF4-FFF2-40B4-BE49-F238E27FC236}">
                <a16:creationId xmlns:a16="http://schemas.microsoft.com/office/drawing/2014/main" id="{544D45B2-6D0C-4A5E-8FCD-D8CBF8D265E1}"/>
              </a:ext>
            </a:extLst>
          </p:cNvPr>
          <p:cNvSpPr>
            <a:spLocks xmlns:a="http://schemas.openxmlformats.org/drawingml/2006/main" noGrp="1"/>
          </p:cNvSpPr>
          <p:nvPr/>
        </p:nvSpPr>
        <p:spPr>
          <a:xfrm xmlns:a="http://schemas.openxmlformats.org/drawingml/2006/main">
            <a:off x="609600" y="39243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7B5CA"/>
                </a:solidFill>
                <a:latin typeface="Apple SD Gothic Neo"/>
                <a:ea typeface="Apple SD Gothic Neo"/>
                <a:cs typeface="Apple SD Gothic Neo"/>
              </a:defRPr>
            </a:defPPr>
            <a:lvl1pPr algn="l">
              <a:buNone/>
              <a:defRPr sz="2325" b="0">
                <a:solidFill>
                  <a:srgbClr val="A7B5CA"/>
                </a:solidFill>
                <a:latin typeface="Apple SD Gothic Neo"/>
                <a:ea typeface="Apple SD Gothic Neo"/>
                <a:cs typeface="Apple SD Gothic Neo"/>
              </a:defRPr>
            </a:lvl1pPr>
            <a:lvl2pPr algn="l">
              <a:buNone/>
              <a:defRPr sz="2325" b="0">
                <a:solidFill>
                  <a:srgbClr val="A7B5CA"/>
                </a:solidFill>
                <a:latin typeface="Apple SD Gothic Neo"/>
                <a:ea typeface="Apple SD Gothic Neo"/>
                <a:cs typeface="Apple SD Gothic Neo"/>
              </a:defRPr>
            </a:lvl2pPr>
            <a:lvl3pPr algn="l">
              <a:buNone/>
              <a:defRPr sz="2325" b="0">
                <a:solidFill>
                  <a:srgbClr val="A7B5CA"/>
                </a:solidFill>
                <a:latin typeface="Apple SD Gothic Neo"/>
                <a:ea typeface="Apple SD Gothic Neo"/>
                <a:cs typeface="Apple SD Gothic Neo"/>
              </a:defRPr>
            </a:lvl3pPr>
            <a:lvl4pPr algn="l">
              <a:buNone/>
              <a:defRPr sz="2325" b="0">
                <a:solidFill>
                  <a:srgbClr val="A7B5CA"/>
                </a:solidFill>
                <a:latin typeface="Apple SD Gothic Neo"/>
                <a:ea typeface="Apple SD Gothic Neo"/>
                <a:cs typeface="Apple SD Gothic Neo"/>
              </a:defRPr>
            </a:lvl4pPr>
            <a:lvl5pPr algn="l">
              <a:buNone/>
              <a:defRPr sz="2325" b="0">
                <a:solidFill>
                  <a:srgbClr val="A7B5CA"/>
                </a:solidFill>
                <a:latin typeface="Apple SD Gothic Neo"/>
                <a:ea typeface="Apple SD Gothic Neo"/>
                <a:cs typeface="Apple SD Gothic Neo"/>
              </a:defRPr>
            </a:lvl5pPr>
            <a:lvl6pPr algn="l">
              <a:buNone/>
              <a:defRPr sz="2325" b="0">
                <a:solidFill>
                  <a:srgbClr val="A7B5CA"/>
                </a:solidFill>
                <a:latin typeface="Apple SD Gothic Neo"/>
                <a:ea typeface="Apple SD Gothic Neo"/>
                <a:cs typeface="Apple SD Gothic Neo"/>
              </a:defRPr>
            </a:lvl6pPr>
            <a:lvl7pPr algn="l">
              <a:buNone/>
              <a:defRPr sz="2325" b="0">
                <a:solidFill>
                  <a:srgbClr val="A7B5CA"/>
                </a:solidFill>
                <a:latin typeface="Apple SD Gothic Neo"/>
                <a:ea typeface="Apple SD Gothic Neo"/>
                <a:cs typeface="Apple SD Gothic Neo"/>
              </a:defRPr>
            </a:lvl7pPr>
            <a:lvl8pPr algn="l">
              <a:buNone/>
              <a:defRPr sz="2325" b="0">
                <a:solidFill>
                  <a:srgbClr val="A7B5CA"/>
                </a:solidFill>
                <a:latin typeface="Apple SD Gothic Neo"/>
                <a:ea typeface="Apple SD Gothic Neo"/>
                <a:cs typeface="Apple SD Gothic Neo"/>
              </a:defRPr>
            </a:lvl8pPr>
            <a:lvl9pPr algn="l">
              <a:buNone/>
              <a:defRPr sz="2325" b="0">
                <a:solidFill>
                  <a:srgbClr val="A7B5CA"/>
                </a:solidFill>
                <a:latin typeface="Apple SD Gothic Neo"/>
                <a:ea typeface="Apple SD Gothic Neo"/>
                <a:cs typeface="Apple SD Gothic Neo"/>
              </a:defRPr>
            </a:lvl9pPr>
          </a:lstStyle>
          <a:p xmlns:a="http://schemas.openxmlformats.org/drawingml/2006/main">
            <a:pPr algn="l">
              <a:buNone/>
              <a:defRPr sz="2325" b="0">
                <a:solidFill>
                  <a:srgbClr val="A7B5CA"/>
                </a:solidFill>
                <a:latin typeface="Apple SD Gothic Neo"/>
                <a:ea typeface="Apple SD Gothic Neo"/>
                <a:cs typeface="Apple SD Gothic Neo"/>
              </a:defRPr>
            </a:pPr>
            <a:r>
              <a:rPr sz="2325" b="0">
                <a:solidFill>
                  <a:srgbClr val="A7B5CA"/>
                </a:solidFill>
                <a:latin typeface="Apple SD Gothic Neo"/>
                <a:ea typeface="Apple SD Gothic Neo"/>
                <a:cs typeface="Apple SD Gothic Neo"/>
              </a:rPr>
              <a:t>Spark SQL · 중복 제거 · 버전 조건 MERGE</a:t>
            </a:r>
          </a:p>
        </p:txBody>
      </p:sp>
      <p:sp>
        <p:nvSpPr>
          <p:cNvPr id="5" name="text-3">
            <a:extLst xmlns:a="http://schemas.openxmlformats.org/drawingml/2006/main">
              <a:ext uri="{FF2B5EF4-FFF2-40B4-BE49-F238E27FC236}">
                <a16:creationId xmlns:a16="http://schemas.microsoft.com/office/drawing/2014/main" id="{09413CA0-7499-4E3E-9D3E-2F9ADD43D6C7}"/>
              </a:ext>
            </a:extLst>
          </p:cNvPr>
          <p:cNvSpPr>
            <a:spLocks xmlns:a="http://schemas.openxmlformats.org/drawingml/2006/main" noGrp="1"/>
          </p:cNvSpPr>
          <p:nvPr/>
        </p:nvSpPr>
        <p:spPr>
          <a:xfrm xmlns:a="http://schemas.openxmlformats.org/drawingml/2006/main">
            <a:off x="609600" y="554355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4D399"/>
                </a:solidFill>
                <a:latin typeface="Apple SD Gothic Neo"/>
                <a:ea typeface="Apple SD Gothic Neo"/>
                <a:cs typeface="Apple SD Gothic Neo"/>
              </a:defRPr>
            </a:defPPr>
            <a:lvl1pPr algn="l">
              <a:buNone/>
              <a:defRPr sz="1875" b="0">
                <a:solidFill>
                  <a:srgbClr val="34D399"/>
                </a:solidFill>
                <a:latin typeface="Apple SD Gothic Neo"/>
                <a:ea typeface="Apple SD Gothic Neo"/>
                <a:cs typeface="Apple SD Gothic Neo"/>
              </a:defRPr>
            </a:lvl1pPr>
            <a:lvl2pPr algn="l">
              <a:buNone/>
              <a:defRPr sz="1875" b="0">
                <a:solidFill>
                  <a:srgbClr val="34D399"/>
                </a:solidFill>
                <a:latin typeface="Apple SD Gothic Neo"/>
                <a:ea typeface="Apple SD Gothic Neo"/>
                <a:cs typeface="Apple SD Gothic Neo"/>
              </a:defRPr>
            </a:lvl2pPr>
            <a:lvl3pPr algn="l">
              <a:buNone/>
              <a:defRPr sz="1875" b="0">
                <a:solidFill>
                  <a:srgbClr val="34D399"/>
                </a:solidFill>
                <a:latin typeface="Apple SD Gothic Neo"/>
                <a:ea typeface="Apple SD Gothic Neo"/>
                <a:cs typeface="Apple SD Gothic Neo"/>
              </a:defRPr>
            </a:lvl3pPr>
            <a:lvl4pPr algn="l">
              <a:buNone/>
              <a:defRPr sz="1875" b="0">
                <a:solidFill>
                  <a:srgbClr val="34D399"/>
                </a:solidFill>
                <a:latin typeface="Apple SD Gothic Neo"/>
                <a:ea typeface="Apple SD Gothic Neo"/>
                <a:cs typeface="Apple SD Gothic Neo"/>
              </a:defRPr>
            </a:lvl4pPr>
            <a:lvl5pPr algn="l">
              <a:buNone/>
              <a:defRPr sz="1875" b="0">
                <a:solidFill>
                  <a:srgbClr val="34D399"/>
                </a:solidFill>
                <a:latin typeface="Apple SD Gothic Neo"/>
                <a:ea typeface="Apple SD Gothic Neo"/>
                <a:cs typeface="Apple SD Gothic Neo"/>
              </a:defRPr>
            </a:lvl5pPr>
            <a:lvl6pPr algn="l">
              <a:buNone/>
              <a:defRPr sz="1875" b="0">
                <a:solidFill>
                  <a:srgbClr val="34D399"/>
                </a:solidFill>
                <a:latin typeface="Apple SD Gothic Neo"/>
                <a:ea typeface="Apple SD Gothic Neo"/>
                <a:cs typeface="Apple SD Gothic Neo"/>
              </a:defRPr>
            </a:lvl6pPr>
            <a:lvl7pPr algn="l">
              <a:buNone/>
              <a:defRPr sz="1875" b="0">
                <a:solidFill>
                  <a:srgbClr val="34D399"/>
                </a:solidFill>
                <a:latin typeface="Apple SD Gothic Neo"/>
                <a:ea typeface="Apple SD Gothic Neo"/>
                <a:cs typeface="Apple SD Gothic Neo"/>
              </a:defRPr>
            </a:lvl7pPr>
            <a:lvl8pPr algn="l">
              <a:buNone/>
              <a:defRPr sz="1875" b="0">
                <a:solidFill>
                  <a:srgbClr val="34D399"/>
                </a:solidFill>
                <a:latin typeface="Apple SD Gothic Neo"/>
                <a:ea typeface="Apple SD Gothic Neo"/>
                <a:cs typeface="Apple SD Gothic Neo"/>
              </a:defRPr>
            </a:lvl8pPr>
            <a:lvl9pPr algn="l">
              <a:buNone/>
              <a:defRPr sz="1875" b="0">
                <a:solidFill>
                  <a:srgbClr val="34D399"/>
                </a:solidFill>
                <a:latin typeface="Apple SD Gothic Neo"/>
                <a:ea typeface="Apple SD Gothic Neo"/>
                <a:cs typeface="Apple SD Gothic Neo"/>
              </a:defRPr>
            </a:lvl9pPr>
          </a:lstStyle>
          <a:p xmlns:a="http://schemas.openxmlformats.org/drawingml/2006/main">
            <a:pPr algn="l">
              <a:buNone/>
              <a:defRPr sz="1875" b="0">
                <a:solidFill>
                  <a:srgbClr val="34D399"/>
                </a:solidFill>
                <a:latin typeface="Apple SD Gothic Neo"/>
                <a:ea typeface="Apple SD Gothic Neo"/>
                <a:cs typeface="Apple SD Gothic Neo"/>
              </a:defRPr>
            </a:pPr>
            <a:r>
              <a:rPr sz="1875" b="0">
                <a:solidFill>
                  <a:srgbClr val="34D399"/>
                </a:solidFill>
                <a:latin typeface="Apple SD Gothic Neo"/>
                <a:ea typeface="Apple SD Gothic Neo"/>
                <a:cs typeface="Apple SD Gothic Neo"/>
              </a:rPr>
              <a:t>공통 예제의 규칙을 내 테이블 설계로 옮깁니다</a:t>
            </a:r>
          </a:p>
        </p:txBody>
      </p:sp>
      <p:sp>
        <p:nvSpPr>
          <p:cNvPr id="6" name="">
            <a:extLst xmlns:a="http://schemas.openxmlformats.org/drawingml/2006/main">
              <a:ext uri="{FF2B5EF4-FFF2-40B4-BE49-F238E27FC236}">
                <a16:creationId xmlns:a16="http://schemas.microsoft.com/office/drawing/2014/main" id="{BACBE9BC-103F-4273-BC74-39A862668092}"/>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4">
            <a:extLst xmlns:a="http://schemas.openxmlformats.org/drawingml/2006/main">
              <a:ext uri="{FF2B5EF4-FFF2-40B4-BE49-F238E27FC236}">
                <a16:creationId xmlns:a16="http://schemas.microsoft.com/office/drawing/2014/main" id="{3BB9D8AC-43EF-41E0-887C-CB7CB258FE4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
            <a:extLst xmlns:a="http://schemas.openxmlformats.org/drawingml/2006/main">
              <a:ext uri="{FF2B5EF4-FFF2-40B4-BE49-F238E27FC236}">
                <a16:creationId xmlns:a16="http://schemas.microsoft.com/office/drawing/2014/main" id="{F2AF13BD-9796-4D64-874F-0DA80CD29DA6}"/>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01</a:t>
            </a:r>
          </a:p>
        </p:txBody>
      </p:sp>
    </p:spTree>
    <p:extLst>
      <p:ext uri="{BB962C8B-B14F-4D97-AF65-F5344CB8AC3E}">
        <p14:creationId xmlns:p14="http://schemas.microsoft.com/office/powerpoint/2010/main" val="2095960341"/>
      </p:ext>
    </p:extLst>
  </p:cSld>
</p:sld>
</file>

<file path=ppt/slides/slide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BF6B7DD-DE05-4944-97F8-F7A2197CB1DF}"/>
              </a:ext>
            </a:extLst>
          </p:cNvPr>
          <p:cNvPicPr>
            <a:picLocks xmlns:a="http://schemas.openxmlformats.org/drawingml/2006/main" noChangeAspect="1"/>
          </p:cNvPicPr>
          <p:nvPr/>
        </p:nvPicPr>
        <p:blipFill>
          <a:blip xmlns:r="http://schemas.openxmlformats.org/officeDocument/2006/relationships" xmlns:a="http://schemas.openxmlformats.org/drawingml/2006/main" r:embed="R64610060e2c74c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9261296"/>
      </p:ext>
    </p:extLst>
  </p:cSld>
</p:sld>
</file>

<file path=ppt/slides/slide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같은 환불의 원천과 Bronze</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03</a:t>
            </a:r>
          </a:p>
        </p:txBody>
      </p:sp>
      <p:graphicFrame>
        <p:nvGraphicFramePr>
          <p:cNvPr id="10" name="">
            <a:extLst xmlns:a="http://schemas.openxmlformats.org/drawingml/2006/main">
              <a:ext uri="{FF2B5EF4-FFF2-40B4-BE49-F238E27FC236}">
                <a16:creationId xmlns:a16="http://schemas.microsoft.com/office/drawing/2014/main" id="{9F0920B2-6096-41BB-864B-F7DB62C98180}"/>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환불 변경</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같은 refund_id의 이력</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변경 후 원천</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생성 c</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after.amount = 20000</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현재 환불 1행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정정 u</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20000 → 30000</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현재 환불 1행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철회 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before.amount = 30000</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현재 환불 0행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Bronze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c / u / d 세 이력 보존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주문·결제는 유지</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161">
            <a:extLst xmlns:a="http://schemas.openxmlformats.org/drawingml/2006/main">
              <a:ext uri="{FF2B5EF4-FFF2-40B4-BE49-F238E27FC236}">
                <a16:creationId xmlns:a16="http://schemas.microsoft.com/office/drawing/2014/main" id="{7D6DB973-27F6-4FFF-9AF6-A62C893D3DBC}"/>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162">
            <a:extLst xmlns:a="http://schemas.openxmlformats.org/drawingml/2006/main">
              <a:ext uri="{FF2B5EF4-FFF2-40B4-BE49-F238E27FC236}">
                <a16:creationId xmlns:a16="http://schemas.microsoft.com/office/drawing/2014/main" id="{E04F9E40-532B-486E-AC95-8DACBA0C0BBF}"/>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공통 의미 복습 · 결제 100000원, 환불 한 건의 생성·정정·철회</a:t>
            </a:r>
          </a:p>
        </p:txBody>
      </p:sp>
    </p:spTree>
    <p:extLst>
      <p:ext uri="{BB962C8B-B14F-4D97-AF65-F5344CB8AC3E}">
        <p14:creationId xmlns:p14="http://schemas.microsoft.com/office/powerpoint/2010/main" val="1899261296"/>
      </p:ext>
    </p:extLst>
  </p:cSld>
</p:sld>
</file>

<file path=ppt/slides/slide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환불 이력 세 줄은 환불 세 건이 아닙니다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04</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이력의 질문</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무슨 변경이 있었나요?</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키의 여러 버전 보관</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현재 상태의 질문</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지금 유효한 환불은?</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키·버전·삭제 규칙 필요</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20000원과 30000원은 같은 환불의 서로 다른 버전입니다</a:t>
            </a:r>
          </a:p>
        </p:txBody>
      </p:sp>
    </p:spTree>
    <p:extLst>
      <p:ext uri="{BB962C8B-B14F-4D97-AF65-F5344CB8AC3E}">
        <p14:creationId xmlns:p14="http://schemas.microsoft.com/office/powerpoint/2010/main" val="1899261296"/>
      </p:ext>
    </p:extLst>
  </p:cSld>
</p:sld>
</file>

<file path=ppt/slides/slide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오늘 확인할 다섯 가지 결과</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05</a:t>
            </a:r>
          </a:p>
        </p:txBody>
      </p:sp>
      <p:graphicFrame>
        <p:nvGraphicFramePr>
          <p:cNvPr id="10" name="">
            <a:extLst xmlns:a="http://schemas.openxmlformats.org/drawingml/2006/main">
              <a:ext uri="{FF2B5EF4-FFF2-40B4-BE49-F238E27FC236}">
                <a16:creationId xmlns:a16="http://schemas.microsoft.com/office/drawing/2014/main" id="{829A1295-1A21-4C3F-B93A-E44F66389DD6}"/>
              </a:ext>
            </a:extLst>
          </p:cNvPr>
          <p:cNvGraphicFramePr/>
          <p:nvPr/>
        </p:nvGraphicFramePr>
        <p:xfrm>
          <a:off xmlns:a="http://schemas.openxmlformats.org/drawingml/2006/main" x="609600" y="1695450"/>
          <a:ext xmlns:a="http://schemas.openxmlformats.org/drawingml/2006/main" cx="10972800" cy="4171950"/>
        </p:xfrm>
        <a:graphic xmlns:a="http://schemas.openxmlformats.org/drawingml/2006/main">
          <a:graphicData uri="http://schemas.openxmlformats.org/drawingml/2006/table">
            <a:tbl>
              <a:tblPr/>
              <a:tblGrid>
                <a:gridCol w="3333750"/>
                <a:gridCol w="7639050"/>
              </a:tblGrid>
              <a:tr h="579438">
                <a:tc>
                  <a:txBody>
                    <a:bodyPr/>
                    <a:lstStyle/>
                    <a:p>
                      <a:r>
                        <a:rPr sz="1875" b="1">
                          <a:solidFill>
                            <a:srgbClr val="22D3EE"/>
                          </a:solidFill>
                          <a:latin typeface="Apple SD Gothic Neo"/>
                          <a:ea typeface="Apple SD Gothic Neo"/>
                          <a:cs typeface="Apple SD Gothic Neo"/>
                        </a:rPr>
                        <a:t>검증할 것</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기대 상태</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579438">
                <a:tc>
                  <a:txBody>
                    <a:bodyPr/>
                    <a:lstStyle/>
                    <a:p>
                      <a:r>
                        <a:rPr sz="1875" b="0">
                          <a:solidFill>
                            <a:srgbClr val="F8FAFC"/>
                          </a:solidFill>
                          <a:latin typeface="Apple SD Gothic Neo"/>
                          <a:ea typeface="Apple SD Gothic Neo"/>
                          <a:cs typeface="Apple SD Gothic Neo"/>
                        </a:rPr>
                        <a:t>PK 한 행</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키는 현재 snapshot에 한 행 보존</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최신 버전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비교 범위 안에서 최신 원천 버전 선택</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삭제 유지</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늦은 과거 UPDATE가 삭제를 바꾸지 않기</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같은 입력 재실행</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업무 결과 유지 · 물리 쓰기와 구분</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무효 입력 거절</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검증 위반이면 MERGE 전에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229">
            <a:extLst xmlns:a="http://schemas.openxmlformats.org/drawingml/2006/main">
              <a:ext uri="{FF2B5EF4-FFF2-40B4-BE49-F238E27FC236}">
                <a16:creationId xmlns:a16="http://schemas.microsoft.com/office/drawing/2014/main" id="{E81AC006-5800-4122-9396-527FFC8F6CC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230">
            <a:extLst xmlns:a="http://schemas.openxmlformats.org/drawingml/2006/main">
              <a:ext uri="{FF2B5EF4-FFF2-40B4-BE49-F238E27FC236}">
                <a16:creationId xmlns:a16="http://schemas.microsoft.com/office/drawing/2014/main" id="{C637AF07-C22A-4E6A-9560-94EF4B350AE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개인 원천 DDL을 한 테이블의 Silver 계약으로 연결합니다</a:t>
            </a:r>
          </a:p>
        </p:txBody>
      </p:sp>
    </p:spTree>
    <p:extLst>
      <p:ext uri="{BB962C8B-B14F-4D97-AF65-F5344CB8AC3E}">
        <p14:creationId xmlns:p14="http://schemas.microsoft.com/office/powerpoint/2010/main" val="1899261296"/>
      </p:ext>
    </p:extLst>
  </p:cSld>
</p:sld>
</file>

<file path=ppt/slides/slide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Bronze에서 Silver로 갱신하는 경로</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06</a:t>
            </a:r>
          </a:p>
        </p:txBody>
      </p:sp>
      <p:sp>
        <p:nvSpPr>
          <p:cNvPr id="52" name="s03-panel-36">
            <a:extLst xmlns:a="http://schemas.openxmlformats.org/drawingml/2006/main">
              <a:ext uri="{FF2B5EF4-FFF2-40B4-BE49-F238E27FC236}">
                <a16:creationId xmlns:a16="http://schemas.microsoft.com/office/drawing/2014/main" id="{E7E5E4E0-4F6D-43DB-B082-CC379C1E02C0}"/>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3" name="s03-text-37">
            <a:extLst xmlns:a="http://schemas.openxmlformats.org/drawingml/2006/main">
              <a:ext uri="{FF2B5EF4-FFF2-40B4-BE49-F238E27FC236}">
                <a16:creationId xmlns:a16="http://schemas.microsoft.com/office/drawing/2014/main" id="{B6E4DFE2-D67B-4ED0-809C-FA42008A80BF}"/>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오늘은 Bronze 규격 고정 입력으로 전용 Silver 규칙을 검증합니다</a:t>
            </a:r>
          </a:p>
        </p:txBody>
      </p:sp>
      <p:sp>
        <p:nvSpPr>
          <p:cNvPr id="54" name="">
            <a:extLst xmlns:a="http://schemas.openxmlformats.org/drawingml/2006/main">
              <a:ext uri="{FF2B5EF4-FFF2-40B4-BE49-F238E27FC236}">
                <a16:creationId xmlns:a16="http://schemas.microsoft.com/office/drawing/2014/main" id="{2D8FAA6D-8B6F-48D0-9A4E-3B8A13C11902}"/>
              </a:ext>
            </a:extLst>
          </p:cNvPr>
          <p:cNvSpPr>
            <a:spLocks xmlns:a="http://schemas.openxmlformats.org/drawingml/2006/main" noGrp="1"/>
          </p:cNvSpPr>
          <p:nvPr/>
        </p:nvSpPr>
        <p:spPr>
          <a:xfrm xmlns:a="http://schemas.openxmlformats.org/drawingml/2006/main">
            <a:off x="609600" y="1581150"/>
            <a:ext cx="6448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A7B5CA"/>
                </a:solidFill>
                <a:latin typeface="Apple SD Gothic Neo"/>
                <a:ea typeface="Apple SD Gothic Neo"/>
                <a:cs typeface="Apple SD Gothic Neo"/>
              </a:defRPr>
            </a:defPPr>
            <a:lvl1pPr>
              <a:defRPr sz="1575" b="0">
                <a:solidFill>
                  <a:srgbClr val="A7B5CA"/>
                </a:solidFill>
                <a:latin typeface="Apple SD Gothic Neo"/>
                <a:ea typeface="Apple SD Gothic Neo"/>
                <a:cs typeface="Apple SD Gothic Neo"/>
              </a:defRPr>
            </a:lvl1pPr>
            <a:lvl2pPr>
              <a:defRPr sz="1575" b="0">
                <a:solidFill>
                  <a:srgbClr val="A7B5CA"/>
                </a:solidFill>
                <a:latin typeface="Apple SD Gothic Neo"/>
                <a:ea typeface="Apple SD Gothic Neo"/>
                <a:cs typeface="Apple SD Gothic Neo"/>
              </a:defRPr>
            </a:lvl2pPr>
            <a:lvl3pPr>
              <a:defRPr sz="1575" b="0">
                <a:solidFill>
                  <a:srgbClr val="A7B5CA"/>
                </a:solidFill>
                <a:latin typeface="Apple SD Gothic Neo"/>
                <a:ea typeface="Apple SD Gothic Neo"/>
                <a:cs typeface="Apple SD Gothic Neo"/>
              </a:defRPr>
            </a:lvl3pPr>
            <a:lvl4pPr>
              <a:defRPr sz="1575" b="0">
                <a:solidFill>
                  <a:srgbClr val="A7B5CA"/>
                </a:solidFill>
                <a:latin typeface="Apple SD Gothic Neo"/>
                <a:ea typeface="Apple SD Gothic Neo"/>
                <a:cs typeface="Apple SD Gothic Neo"/>
              </a:defRPr>
            </a:lvl4pPr>
            <a:lvl5pPr>
              <a:defRPr sz="1575" b="0">
                <a:solidFill>
                  <a:srgbClr val="A7B5CA"/>
                </a:solidFill>
                <a:latin typeface="Apple SD Gothic Neo"/>
                <a:ea typeface="Apple SD Gothic Neo"/>
                <a:cs typeface="Apple SD Gothic Neo"/>
              </a:defRPr>
            </a:lvl5pPr>
            <a:lvl6pPr>
              <a:defRPr sz="1575" b="0">
                <a:solidFill>
                  <a:srgbClr val="A7B5CA"/>
                </a:solidFill>
                <a:latin typeface="Apple SD Gothic Neo"/>
                <a:ea typeface="Apple SD Gothic Neo"/>
                <a:cs typeface="Apple SD Gothic Neo"/>
              </a:defRPr>
            </a:lvl6pPr>
            <a:lvl7pPr>
              <a:defRPr sz="1575" b="0">
                <a:solidFill>
                  <a:srgbClr val="A7B5CA"/>
                </a:solidFill>
                <a:latin typeface="Apple SD Gothic Neo"/>
                <a:ea typeface="Apple SD Gothic Neo"/>
                <a:cs typeface="Apple SD Gothic Neo"/>
              </a:defRPr>
            </a:lvl7pPr>
            <a:lvl8pPr>
              <a:defRPr sz="1575" b="0">
                <a:solidFill>
                  <a:srgbClr val="A7B5CA"/>
                </a:solidFill>
                <a:latin typeface="Apple SD Gothic Neo"/>
                <a:ea typeface="Apple SD Gothic Neo"/>
                <a:cs typeface="Apple SD Gothic Neo"/>
              </a:defRPr>
            </a:lvl8pPr>
            <a:lvl9pPr>
              <a:defRPr sz="1575" b="0">
                <a:solidFill>
                  <a:srgbClr val="A7B5CA"/>
                </a:solidFill>
                <a:latin typeface="Apple SD Gothic Neo"/>
                <a:ea typeface="Apple SD Gothic Neo"/>
                <a:cs typeface="Apple SD Gothic Neo"/>
              </a:defRPr>
            </a:lvl9pPr>
          </a:lstStyle>
          <a:p xmlns:a="http://schemas.openxmlformats.org/drawingml/2006/main">
            <a:pPr>
              <a:defRPr sz="1575" b="0">
                <a:solidFill>
                  <a:srgbClr val="A7B5CA"/>
                </a:solidFill>
                <a:latin typeface="Apple SD Gothic Neo"/>
                <a:ea typeface="Apple SD Gothic Neo"/>
                <a:cs typeface="Apple SD Gothic Neo"/>
              </a:defRPr>
            </a:pPr>
            <a:r>
              <a:rPr sz="1575" b="0">
                <a:solidFill>
                  <a:srgbClr val="A7B5CA"/>
                </a:solidFill>
                <a:latin typeface="Apple SD Gothic Neo"/>
                <a:ea typeface="Apple SD Gothic Neo"/>
                <a:cs typeface="Apple SD Gothic Neo"/>
              </a:rPr>
              <a:t>지난 회차의 수집 흐름</a:t>
            </a:r>
          </a:p>
        </p:txBody>
      </p:sp>
      <p:sp>
        <p:nvSpPr>
          <p:cNvPr id="55" name="">
            <a:extLst xmlns:a="http://schemas.openxmlformats.org/drawingml/2006/main">
              <a:ext uri="{FF2B5EF4-FFF2-40B4-BE49-F238E27FC236}">
                <a16:creationId xmlns:a16="http://schemas.microsoft.com/office/drawing/2014/main" id="{9D9D8C00-632E-49ED-A535-3399648B8E70}"/>
              </a:ext>
            </a:extLst>
          </p:cNvPr>
          <p:cNvSpPr>
            <a:spLocks xmlns:a="http://schemas.openxmlformats.org/drawingml/2006/main" noGrp="1"/>
          </p:cNvSpPr>
          <p:nvPr/>
        </p:nvSpPr>
        <p:spPr>
          <a:xfrm xmlns:a="http://schemas.openxmlformats.org/drawingml/2006/main">
            <a:off x="7172325" y="1581150"/>
            <a:ext cx="3076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1">
                <a:solidFill>
                  <a:srgbClr val="22D3EE"/>
                </a:solidFill>
                <a:latin typeface="Apple SD Gothic Neo"/>
                <a:ea typeface="Apple SD Gothic Neo"/>
                <a:cs typeface="Apple SD Gothic Neo"/>
              </a:defRPr>
            </a:defPPr>
            <a:lvl1pPr>
              <a:defRPr sz="1575" b="1">
                <a:solidFill>
                  <a:srgbClr val="22D3EE"/>
                </a:solidFill>
                <a:latin typeface="Apple SD Gothic Neo"/>
                <a:ea typeface="Apple SD Gothic Neo"/>
                <a:cs typeface="Apple SD Gothic Neo"/>
              </a:defRPr>
            </a:lvl1pPr>
            <a:lvl2pPr>
              <a:defRPr sz="1575" b="1">
                <a:solidFill>
                  <a:srgbClr val="22D3EE"/>
                </a:solidFill>
                <a:latin typeface="Apple SD Gothic Neo"/>
                <a:ea typeface="Apple SD Gothic Neo"/>
                <a:cs typeface="Apple SD Gothic Neo"/>
              </a:defRPr>
            </a:lvl2pPr>
            <a:lvl3pPr>
              <a:defRPr sz="1575" b="1">
                <a:solidFill>
                  <a:srgbClr val="22D3EE"/>
                </a:solidFill>
                <a:latin typeface="Apple SD Gothic Neo"/>
                <a:ea typeface="Apple SD Gothic Neo"/>
                <a:cs typeface="Apple SD Gothic Neo"/>
              </a:defRPr>
            </a:lvl3pPr>
            <a:lvl4pPr>
              <a:defRPr sz="1575" b="1">
                <a:solidFill>
                  <a:srgbClr val="22D3EE"/>
                </a:solidFill>
                <a:latin typeface="Apple SD Gothic Neo"/>
                <a:ea typeface="Apple SD Gothic Neo"/>
                <a:cs typeface="Apple SD Gothic Neo"/>
              </a:defRPr>
            </a:lvl4pPr>
            <a:lvl5pPr>
              <a:defRPr sz="1575" b="1">
                <a:solidFill>
                  <a:srgbClr val="22D3EE"/>
                </a:solidFill>
                <a:latin typeface="Apple SD Gothic Neo"/>
                <a:ea typeface="Apple SD Gothic Neo"/>
                <a:cs typeface="Apple SD Gothic Neo"/>
              </a:defRPr>
            </a:lvl5pPr>
            <a:lvl6pPr>
              <a:defRPr sz="1575" b="1">
                <a:solidFill>
                  <a:srgbClr val="22D3EE"/>
                </a:solidFill>
                <a:latin typeface="Apple SD Gothic Neo"/>
                <a:ea typeface="Apple SD Gothic Neo"/>
                <a:cs typeface="Apple SD Gothic Neo"/>
              </a:defRPr>
            </a:lvl6pPr>
            <a:lvl7pPr>
              <a:defRPr sz="1575" b="1">
                <a:solidFill>
                  <a:srgbClr val="22D3EE"/>
                </a:solidFill>
                <a:latin typeface="Apple SD Gothic Neo"/>
                <a:ea typeface="Apple SD Gothic Neo"/>
                <a:cs typeface="Apple SD Gothic Neo"/>
              </a:defRPr>
            </a:lvl7pPr>
            <a:lvl8pPr>
              <a:defRPr sz="1575" b="1">
                <a:solidFill>
                  <a:srgbClr val="22D3EE"/>
                </a:solidFill>
                <a:latin typeface="Apple SD Gothic Neo"/>
                <a:ea typeface="Apple SD Gothic Neo"/>
                <a:cs typeface="Apple SD Gothic Neo"/>
              </a:defRPr>
            </a:lvl8pPr>
            <a:lvl9pPr>
              <a:defRPr sz="1575" b="1">
                <a:solidFill>
                  <a:srgbClr val="22D3EE"/>
                </a:solidFill>
                <a:latin typeface="Apple SD Gothic Neo"/>
                <a:ea typeface="Apple SD Gothic Neo"/>
                <a:cs typeface="Apple SD Gothic Neo"/>
              </a:defRPr>
            </a:lvl9pPr>
          </a:lstStyle>
          <a:p xmlns:a="http://schemas.openxmlformats.org/drawingml/2006/main">
            <a:pPr>
              <a:defRPr sz="1575" b="1">
                <a:solidFill>
                  <a:srgbClr val="22D3EE"/>
                </a:solidFill>
                <a:latin typeface="Apple SD Gothic Neo"/>
                <a:ea typeface="Apple SD Gothic Neo"/>
                <a:cs typeface="Apple SD Gothic Neo"/>
              </a:defRPr>
            </a:pPr>
            <a:r>
              <a:rPr sz="1575" b="1">
                <a:solidFill>
                  <a:srgbClr val="22D3EE"/>
                </a:solidFill>
                <a:latin typeface="Apple SD Gothic Neo"/>
                <a:ea typeface="Apple SD Gothic Neo"/>
                <a:cs typeface="Apple SD Gothic Neo"/>
              </a:rPr>
              <a:t>오늘: Spark SQL로 Silver 갱신</a:t>
            </a:r>
          </a:p>
        </p:txBody>
      </p:sp>
      <p:sp>
        <p:nvSpPr>
          <p:cNvPr id="56" name="">
            <a:extLst xmlns:a="http://schemas.openxmlformats.org/drawingml/2006/main">
              <a:ext uri="{FF2B5EF4-FFF2-40B4-BE49-F238E27FC236}">
                <a16:creationId xmlns:a16="http://schemas.microsoft.com/office/drawing/2014/main" id="{BEC80236-BFFA-4E42-B2F9-DEAD95353A2F}"/>
              </a:ext>
            </a:extLst>
          </p:cNvPr>
          <p:cNvSpPr>
            <a:spLocks xmlns:a="http://schemas.openxmlformats.org/drawingml/2006/main" noGrp="1"/>
          </p:cNvSpPr>
          <p:nvPr/>
        </p:nvSpPr>
        <p:spPr>
          <a:xfrm xmlns:a="http://schemas.openxmlformats.org/drawingml/2006/main">
            <a:off x="10363200" y="1581150"/>
            <a:ext cx="1219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A7B5CA"/>
                </a:solidFill>
                <a:latin typeface="Apple SD Gothic Neo"/>
                <a:ea typeface="Apple SD Gothic Neo"/>
                <a:cs typeface="Apple SD Gothic Neo"/>
              </a:defRPr>
            </a:defPPr>
            <a:lvl1pPr>
              <a:defRPr sz="1575" b="0">
                <a:solidFill>
                  <a:srgbClr val="A7B5CA"/>
                </a:solidFill>
                <a:latin typeface="Apple SD Gothic Neo"/>
                <a:ea typeface="Apple SD Gothic Neo"/>
                <a:cs typeface="Apple SD Gothic Neo"/>
              </a:defRPr>
            </a:lvl1pPr>
            <a:lvl2pPr>
              <a:defRPr sz="1575" b="0">
                <a:solidFill>
                  <a:srgbClr val="A7B5CA"/>
                </a:solidFill>
                <a:latin typeface="Apple SD Gothic Neo"/>
                <a:ea typeface="Apple SD Gothic Neo"/>
                <a:cs typeface="Apple SD Gothic Neo"/>
              </a:defRPr>
            </a:lvl2pPr>
            <a:lvl3pPr>
              <a:defRPr sz="1575" b="0">
                <a:solidFill>
                  <a:srgbClr val="A7B5CA"/>
                </a:solidFill>
                <a:latin typeface="Apple SD Gothic Neo"/>
                <a:ea typeface="Apple SD Gothic Neo"/>
                <a:cs typeface="Apple SD Gothic Neo"/>
              </a:defRPr>
            </a:lvl3pPr>
            <a:lvl4pPr>
              <a:defRPr sz="1575" b="0">
                <a:solidFill>
                  <a:srgbClr val="A7B5CA"/>
                </a:solidFill>
                <a:latin typeface="Apple SD Gothic Neo"/>
                <a:ea typeface="Apple SD Gothic Neo"/>
                <a:cs typeface="Apple SD Gothic Neo"/>
              </a:defRPr>
            </a:lvl4pPr>
            <a:lvl5pPr>
              <a:defRPr sz="1575" b="0">
                <a:solidFill>
                  <a:srgbClr val="A7B5CA"/>
                </a:solidFill>
                <a:latin typeface="Apple SD Gothic Neo"/>
                <a:ea typeface="Apple SD Gothic Neo"/>
                <a:cs typeface="Apple SD Gothic Neo"/>
              </a:defRPr>
            </a:lvl5pPr>
            <a:lvl6pPr>
              <a:defRPr sz="1575" b="0">
                <a:solidFill>
                  <a:srgbClr val="A7B5CA"/>
                </a:solidFill>
                <a:latin typeface="Apple SD Gothic Neo"/>
                <a:ea typeface="Apple SD Gothic Neo"/>
                <a:cs typeface="Apple SD Gothic Neo"/>
              </a:defRPr>
            </a:lvl6pPr>
            <a:lvl7pPr>
              <a:defRPr sz="1575" b="0">
                <a:solidFill>
                  <a:srgbClr val="A7B5CA"/>
                </a:solidFill>
                <a:latin typeface="Apple SD Gothic Neo"/>
                <a:ea typeface="Apple SD Gothic Neo"/>
                <a:cs typeface="Apple SD Gothic Neo"/>
              </a:defRPr>
            </a:lvl7pPr>
            <a:lvl8pPr>
              <a:defRPr sz="1575" b="0">
                <a:solidFill>
                  <a:srgbClr val="A7B5CA"/>
                </a:solidFill>
                <a:latin typeface="Apple SD Gothic Neo"/>
                <a:ea typeface="Apple SD Gothic Neo"/>
                <a:cs typeface="Apple SD Gothic Neo"/>
              </a:defRPr>
            </a:lvl8pPr>
            <a:lvl9pPr>
              <a:defRPr sz="1575" b="0">
                <a:solidFill>
                  <a:srgbClr val="A7B5CA"/>
                </a:solidFill>
                <a:latin typeface="Apple SD Gothic Neo"/>
                <a:ea typeface="Apple SD Gothic Neo"/>
                <a:cs typeface="Apple SD Gothic Neo"/>
              </a:defRPr>
            </a:lvl9pPr>
          </a:lstStyle>
          <a:p xmlns:a="http://schemas.openxmlformats.org/drawingml/2006/main">
            <a:pPr>
              <a:defRPr sz="1575" b="0">
                <a:solidFill>
                  <a:srgbClr val="A7B5CA"/>
                </a:solidFill>
                <a:latin typeface="Apple SD Gothic Neo"/>
                <a:ea typeface="Apple SD Gothic Neo"/>
                <a:cs typeface="Apple SD Gothic Neo"/>
              </a:defRPr>
            </a:pPr>
            <a:r>
              <a:rPr sz="1575" b="0">
                <a:solidFill>
                  <a:srgbClr val="A7B5CA"/>
                </a:solidFill>
                <a:latin typeface="Apple SD Gothic Neo"/>
                <a:ea typeface="Apple SD Gothic Neo"/>
                <a:cs typeface="Apple SD Gothic Neo"/>
              </a:rPr>
              <a:t>후속</a:t>
            </a:r>
          </a:p>
        </p:txBody>
      </p:sp>
      <p:sp>
        <p:nvSpPr>
          <p:cNvPr id="57" name="">
            <a:extLst xmlns:a="http://schemas.openxmlformats.org/drawingml/2006/main">
              <a:ext uri="{FF2B5EF4-FFF2-40B4-BE49-F238E27FC236}">
                <a16:creationId xmlns:a16="http://schemas.microsoft.com/office/drawing/2014/main" id="{183B7BB3-C38E-46B5-98CE-B81E964EE72D}"/>
              </a:ext>
            </a:extLst>
          </p:cNvPr>
          <p:cNvSpPr>
            <a:spLocks xmlns:a="http://schemas.openxmlformats.org/drawingml/2006/main" noGrp="1"/>
          </p:cNvSpPr>
          <p:nvPr/>
        </p:nvSpPr>
        <p:spPr>
          <a:xfrm xmlns:a="http://schemas.openxmlformats.org/drawingml/2006/main">
            <a:off x="609600" y="2000250"/>
            <a:ext cx="1466850" cy="1619250"/>
          </a:xfrm>
          <a:prstGeom xmlns:a="http://schemas.openxmlformats.org/drawingml/2006/main" prst="roundRect">
            <a:avLst>
              <a:gd name="adj" fmla="val 6494"/>
            </a:avLst>
          </a:prstGeom>
          <a:solidFill xmlns:a="http://schemas.openxmlformats.org/drawingml/2006/main">
            <a:srgbClr val="1E293B"/>
          </a:solidFill>
          <a:ln xmlns:a="http://schemas.openxmlformats.org/drawingml/2006/main" w="9525">
            <a:solidFill>
              <a:srgbClr val="22D3EE"/>
            </a:solidFill>
          </a:ln>
        </p:spPr>
      </p:sp>
      <p:sp>
        <p:nvSpPr>
          <p:cNvPr id="58" name="">
            <a:extLst xmlns:a="http://schemas.openxmlformats.org/drawingml/2006/main">
              <a:ext uri="{FF2B5EF4-FFF2-40B4-BE49-F238E27FC236}">
                <a16:creationId xmlns:a16="http://schemas.microsoft.com/office/drawing/2014/main" id="{C5A9BEE6-13AD-4395-827E-32F9DBD0B02B}"/>
              </a:ext>
            </a:extLst>
          </p:cNvPr>
          <p:cNvSpPr>
            <a:spLocks xmlns:a="http://schemas.openxmlformats.org/drawingml/2006/main" noGrp="1"/>
          </p:cNvSpPr>
          <p:nvPr/>
        </p:nvSpPr>
        <p:spPr>
          <a:xfrm xmlns:a="http://schemas.openxmlformats.org/drawingml/2006/main">
            <a:off x="733425" y="2152650"/>
            <a:ext cx="1219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PostgreSQL</a:t>
            </a:r>
          </a:p>
        </p:txBody>
      </p:sp>
      <p:sp>
        <p:nvSpPr>
          <p:cNvPr id="59" name="">
            <a:extLst xmlns:a="http://schemas.openxmlformats.org/drawingml/2006/main">
              <a:ext uri="{FF2B5EF4-FFF2-40B4-BE49-F238E27FC236}">
                <a16:creationId xmlns:a16="http://schemas.microsoft.com/office/drawing/2014/main" id="{679D4F36-F14A-4682-A520-EC58A2E8A4AF}"/>
              </a:ext>
            </a:extLst>
          </p:cNvPr>
          <p:cNvSpPr>
            <a:spLocks xmlns:a="http://schemas.openxmlformats.org/drawingml/2006/main" noGrp="1"/>
          </p:cNvSpPr>
          <p:nvPr/>
        </p:nvSpPr>
        <p:spPr>
          <a:xfrm xmlns:a="http://schemas.openxmlformats.org/drawingml/2006/main">
            <a:off x="733425" y="2733675"/>
            <a:ext cx="1219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서비스 원천</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주문·결제·환불</a:t>
            </a:r>
          </a:p>
        </p:txBody>
      </p:sp>
      <p:sp>
        <p:nvSpPr>
          <p:cNvPr id="60" name="">
            <a:extLst xmlns:a="http://schemas.openxmlformats.org/drawingml/2006/main">
              <a:ext uri="{FF2B5EF4-FFF2-40B4-BE49-F238E27FC236}">
                <a16:creationId xmlns:a16="http://schemas.microsoft.com/office/drawing/2014/main" id="{D1947ED6-1AE7-4D2C-BC56-0F7405F7FAF7}"/>
              </a:ext>
            </a:extLst>
          </p:cNvPr>
          <p:cNvSpPr>
            <a:spLocks xmlns:a="http://schemas.openxmlformats.org/drawingml/2006/main" noGrp="1"/>
          </p:cNvSpPr>
          <p:nvPr/>
        </p:nvSpPr>
        <p:spPr>
          <a:xfrm xmlns:a="http://schemas.openxmlformats.org/drawingml/2006/main">
            <a:off x="2190750" y="2000250"/>
            <a:ext cx="1571625" cy="1619250"/>
          </a:xfrm>
          <a:prstGeom xmlns:a="http://schemas.openxmlformats.org/drawingml/2006/main" prst="roundRect">
            <a:avLst>
              <a:gd name="adj" fmla="val 6061"/>
            </a:avLst>
          </a:prstGeom>
          <a:solidFill xmlns:a="http://schemas.openxmlformats.org/drawingml/2006/main">
            <a:srgbClr val="1E293B"/>
          </a:solidFill>
          <a:ln xmlns:a="http://schemas.openxmlformats.org/drawingml/2006/main" w="9525">
            <a:solidFill>
              <a:srgbClr val="22D3EE"/>
            </a:solidFill>
          </a:ln>
        </p:spPr>
      </p:sp>
      <p:sp>
        <p:nvSpPr>
          <p:cNvPr id="61" name="">
            <a:extLst xmlns:a="http://schemas.openxmlformats.org/drawingml/2006/main">
              <a:ext uri="{FF2B5EF4-FFF2-40B4-BE49-F238E27FC236}">
                <a16:creationId xmlns:a16="http://schemas.microsoft.com/office/drawing/2014/main" id="{26AB16D1-F0FA-4EB5-BD15-B82A429DAB4D}"/>
              </a:ext>
            </a:extLst>
          </p:cNvPr>
          <p:cNvSpPr>
            <a:spLocks xmlns:a="http://schemas.openxmlformats.org/drawingml/2006/main" noGrp="1"/>
          </p:cNvSpPr>
          <p:nvPr/>
        </p:nvSpPr>
        <p:spPr>
          <a:xfrm xmlns:a="http://schemas.openxmlformats.org/drawingml/2006/main">
            <a:off x="2314575" y="2152650"/>
            <a:ext cx="1323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Debezium</a:t>
            </a:r>
          </a:p>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 Kafka</a:t>
            </a:r>
          </a:p>
        </p:txBody>
      </p:sp>
      <p:sp>
        <p:nvSpPr>
          <p:cNvPr id="62" name="">
            <a:extLst xmlns:a="http://schemas.openxmlformats.org/drawingml/2006/main">
              <a:ext uri="{FF2B5EF4-FFF2-40B4-BE49-F238E27FC236}">
                <a16:creationId xmlns:a16="http://schemas.microsoft.com/office/drawing/2014/main" id="{AC382D2E-4AF3-4D39-9B52-0A8256D4A42E}"/>
              </a:ext>
            </a:extLst>
          </p:cNvPr>
          <p:cNvSpPr>
            <a:spLocks xmlns:a="http://schemas.openxmlformats.org/drawingml/2006/main" noGrp="1"/>
          </p:cNvSpPr>
          <p:nvPr/>
        </p:nvSpPr>
        <p:spPr>
          <a:xfrm xmlns:a="http://schemas.openxmlformats.org/drawingml/2006/main">
            <a:off x="2314575" y="2733675"/>
            <a:ext cx="1323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변경 이벤트</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보관</a:t>
            </a:r>
          </a:p>
        </p:txBody>
      </p:sp>
      <p:sp>
        <p:nvSpPr>
          <p:cNvPr id="63" name="">
            <a:extLst xmlns:a="http://schemas.openxmlformats.org/drawingml/2006/main">
              <a:ext uri="{FF2B5EF4-FFF2-40B4-BE49-F238E27FC236}">
                <a16:creationId xmlns:a16="http://schemas.microsoft.com/office/drawing/2014/main" id="{1315254B-5628-47E8-AD44-A2FFFFF413F9}"/>
              </a:ext>
            </a:extLst>
          </p:cNvPr>
          <p:cNvSpPr>
            <a:spLocks xmlns:a="http://schemas.openxmlformats.org/drawingml/2006/main" noGrp="1"/>
          </p:cNvSpPr>
          <p:nvPr/>
        </p:nvSpPr>
        <p:spPr>
          <a:xfrm xmlns:a="http://schemas.openxmlformats.org/drawingml/2006/main">
            <a:off x="3876675" y="2000250"/>
            <a:ext cx="1371600" cy="1619250"/>
          </a:xfrm>
          <a:prstGeom xmlns:a="http://schemas.openxmlformats.org/drawingml/2006/main" prst="roundRect">
            <a:avLst>
              <a:gd name="adj" fmla="val 6944"/>
            </a:avLst>
          </a:prstGeom>
          <a:solidFill xmlns:a="http://schemas.openxmlformats.org/drawingml/2006/main">
            <a:srgbClr val="1E293B"/>
          </a:solidFill>
          <a:ln xmlns:a="http://schemas.openxmlformats.org/drawingml/2006/main" w="9525">
            <a:solidFill>
              <a:srgbClr val="22D3EE"/>
            </a:solidFill>
          </a:ln>
        </p:spPr>
      </p:sp>
      <p:sp>
        <p:nvSpPr>
          <p:cNvPr id="64" name="">
            <a:extLst xmlns:a="http://schemas.openxmlformats.org/drawingml/2006/main">
              <a:ext uri="{FF2B5EF4-FFF2-40B4-BE49-F238E27FC236}">
                <a16:creationId xmlns:a16="http://schemas.microsoft.com/office/drawing/2014/main" id="{688FA60C-AD8B-4FC6-B892-5114DA384B84}"/>
              </a:ext>
            </a:extLst>
          </p:cNvPr>
          <p:cNvSpPr>
            <a:spLocks xmlns:a="http://schemas.openxmlformats.org/drawingml/2006/main" noGrp="1"/>
          </p:cNvSpPr>
          <p:nvPr/>
        </p:nvSpPr>
        <p:spPr>
          <a:xfrm xmlns:a="http://schemas.openxmlformats.org/drawingml/2006/main">
            <a:off x="4000500" y="2152650"/>
            <a:ext cx="11239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Flink</a:t>
            </a:r>
          </a:p>
        </p:txBody>
      </p:sp>
      <p:sp>
        <p:nvSpPr>
          <p:cNvPr id="65" name="">
            <a:extLst xmlns:a="http://schemas.openxmlformats.org/drawingml/2006/main">
              <a:ext uri="{FF2B5EF4-FFF2-40B4-BE49-F238E27FC236}">
                <a16:creationId xmlns:a16="http://schemas.microsoft.com/office/drawing/2014/main" id="{B8BA32C4-29E8-4D39-ABE0-A31651EFF5EA}"/>
              </a:ext>
            </a:extLst>
          </p:cNvPr>
          <p:cNvSpPr>
            <a:spLocks xmlns:a="http://schemas.openxmlformats.org/drawingml/2006/main" noGrp="1"/>
          </p:cNvSpPr>
          <p:nvPr/>
        </p:nvSpPr>
        <p:spPr>
          <a:xfrm xmlns:a="http://schemas.openxmlformats.org/drawingml/2006/main">
            <a:off x="4000500" y="2733675"/>
            <a:ext cx="11239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지속 처리</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원문 append</a:t>
            </a:r>
          </a:p>
        </p:txBody>
      </p:sp>
      <p:sp>
        <p:nvSpPr>
          <p:cNvPr id="66" name="">
            <a:extLst xmlns:a="http://schemas.openxmlformats.org/drawingml/2006/main">
              <a:ext uri="{FF2B5EF4-FFF2-40B4-BE49-F238E27FC236}">
                <a16:creationId xmlns:a16="http://schemas.microsoft.com/office/drawing/2014/main" id="{005CD296-46C9-4D8C-98BB-0EF7F1490DA9}"/>
              </a:ext>
            </a:extLst>
          </p:cNvPr>
          <p:cNvSpPr>
            <a:spLocks xmlns:a="http://schemas.openxmlformats.org/drawingml/2006/main" noGrp="1"/>
          </p:cNvSpPr>
          <p:nvPr/>
        </p:nvSpPr>
        <p:spPr>
          <a:xfrm xmlns:a="http://schemas.openxmlformats.org/drawingml/2006/main">
            <a:off x="5362575" y="2000250"/>
            <a:ext cx="1695450" cy="1619250"/>
          </a:xfrm>
          <a:prstGeom xmlns:a="http://schemas.openxmlformats.org/drawingml/2006/main" prst="roundRect">
            <a:avLst>
              <a:gd name="adj" fmla="val 5882"/>
            </a:avLst>
          </a:prstGeom>
          <a:solidFill xmlns:a="http://schemas.openxmlformats.org/drawingml/2006/main">
            <a:srgbClr val="1E293B"/>
          </a:solidFill>
          <a:ln xmlns:a="http://schemas.openxmlformats.org/drawingml/2006/main" w="9525">
            <a:solidFill>
              <a:srgbClr val="22D3EE"/>
            </a:solidFill>
          </a:ln>
        </p:spPr>
      </p:sp>
      <p:sp>
        <p:nvSpPr>
          <p:cNvPr id="67" name="">
            <a:extLst xmlns:a="http://schemas.openxmlformats.org/drawingml/2006/main">
              <a:ext uri="{FF2B5EF4-FFF2-40B4-BE49-F238E27FC236}">
                <a16:creationId xmlns:a16="http://schemas.microsoft.com/office/drawing/2014/main" id="{F2243075-3588-45AB-857E-4247CC625D65}"/>
              </a:ext>
            </a:extLst>
          </p:cNvPr>
          <p:cNvSpPr>
            <a:spLocks xmlns:a="http://schemas.openxmlformats.org/drawingml/2006/main" noGrp="1"/>
          </p:cNvSpPr>
          <p:nvPr/>
        </p:nvSpPr>
        <p:spPr>
          <a:xfrm xmlns:a="http://schemas.openxmlformats.org/drawingml/2006/main">
            <a:off x="5486400" y="2152650"/>
            <a:ext cx="1447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Iceberg</a:t>
            </a:r>
          </a:p>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Bronze</a:t>
            </a:r>
          </a:p>
        </p:txBody>
      </p:sp>
      <p:sp>
        <p:nvSpPr>
          <p:cNvPr id="68" name="">
            <a:extLst xmlns:a="http://schemas.openxmlformats.org/drawingml/2006/main">
              <a:ext uri="{FF2B5EF4-FFF2-40B4-BE49-F238E27FC236}">
                <a16:creationId xmlns:a16="http://schemas.microsoft.com/office/drawing/2014/main" id="{97CF7264-C8B4-48DF-8B18-F17077618290}"/>
              </a:ext>
            </a:extLst>
          </p:cNvPr>
          <p:cNvSpPr>
            <a:spLocks xmlns:a="http://schemas.openxmlformats.org/drawingml/2006/main" noGrp="1"/>
          </p:cNvSpPr>
          <p:nvPr/>
        </p:nvSpPr>
        <p:spPr>
          <a:xfrm xmlns:a="http://schemas.openxmlformats.org/drawingml/2006/main">
            <a:off x="5486400" y="2733675"/>
            <a:ext cx="144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변경 이력</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append 보관</a:t>
            </a:r>
          </a:p>
        </p:txBody>
      </p:sp>
      <p:sp>
        <p:nvSpPr>
          <p:cNvPr id="69" name="">
            <a:extLst xmlns:a="http://schemas.openxmlformats.org/drawingml/2006/main">
              <a:ext uri="{FF2B5EF4-FFF2-40B4-BE49-F238E27FC236}">
                <a16:creationId xmlns:a16="http://schemas.microsoft.com/office/drawing/2014/main" id="{472B2670-BF10-4F4A-ADBF-76EF27394B7B}"/>
              </a:ext>
            </a:extLst>
          </p:cNvPr>
          <p:cNvSpPr>
            <a:spLocks xmlns:a="http://schemas.openxmlformats.org/drawingml/2006/main" noGrp="1"/>
          </p:cNvSpPr>
          <p:nvPr/>
        </p:nvSpPr>
        <p:spPr>
          <a:xfrm xmlns:a="http://schemas.openxmlformats.org/drawingml/2006/main">
            <a:off x="7172325" y="2000250"/>
            <a:ext cx="1504950" cy="1619250"/>
          </a:xfrm>
          <a:prstGeom xmlns:a="http://schemas.openxmlformats.org/drawingml/2006/main" prst="roundRect">
            <a:avLst>
              <a:gd name="adj" fmla="val 6329"/>
            </a:avLst>
          </a:prstGeom>
          <a:solidFill xmlns:a="http://schemas.openxmlformats.org/drawingml/2006/main">
            <a:srgbClr val="1E293B"/>
          </a:solidFill>
          <a:ln xmlns:a="http://schemas.openxmlformats.org/drawingml/2006/main" w="19050">
            <a:solidFill>
              <a:srgbClr val="22D3EE"/>
            </a:solidFill>
          </a:ln>
        </p:spPr>
      </p:sp>
      <p:sp>
        <p:nvSpPr>
          <p:cNvPr id="70" name="">
            <a:extLst xmlns:a="http://schemas.openxmlformats.org/drawingml/2006/main">
              <a:ext uri="{FF2B5EF4-FFF2-40B4-BE49-F238E27FC236}">
                <a16:creationId xmlns:a16="http://schemas.microsoft.com/office/drawing/2014/main" id="{A3C92ECC-A8A9-4FFF-89D1-E1C9BBB0B91B}"/>
              </a:ext>
            </a:extLst>
          </p:cNvPr>
          <p:cNvSpPr>
            <a:spLocks xmlns:a="http://schemas.openxmlformats.org/drawingml/2006/main" noGrp="1"/>
          </p:cNvSpPr>
          <p:nvPr/>
        </p:nvSpPr>
        <p:spPr>
          <a:xfrm xmlns:a="http://schemas.openxmlformats.org/drawingml/2006/main">
            <a:off x="7296150" y="2152650"/>
            <a:ext cx="1257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Spark SQL</a:t>
            </a:r>
          </a:p>
        </p:txBody>
      </p:sp>
      <p:sp>
        <p:nvSpPr>
          <p:cNvPr id="71" name="">
            <a:extLst xmlns:a="http://schemas.openxmlformats.org/drawingml/2006/main">
              <a:ext uri="{FF2B5EF4-FFF2-40B4-BE49-F238E27FC236}">
                <a16:creationId xmlns:a16="http://schemas.microsoft.com/office/drawing/2014/main" id="{5C37D9CF-745D-436E-AB2E-CAED8F50EA1E}"/>
              </a:ext>
            </a:extLst>
          </p:cNvPr>
          <p:cNvSpPr>
            <a:spLocks xmlns:a="http://schemas.openxmlformats.org/drawingml/2006/main" noGrp="1"/>
          </p:cNvSpPr>
          <p:nvPr/>
        </p:nvSpPr>
        <p:spPr>
          <a:xfrm xmlns:a="http://schemas.openxmlformats.org/drawingml/2006/main">
            <a:off x="7296150" y="2733675"/>
            <a:ext cx="1257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정규화</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최신 후보</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버전 MERGE</a:t>
            </a:r>
          </a:p>
        </p:txBody>
      </p:sp>
      <p:sp>
        <p:nvSpPr>
          <p:cNvPr id="72" name="">
            <a:extLst xmlns:a="http://schemas.openxmlformats.org/drawingml/2006/main">
              <a:ext uri="{FF2B5EF4-FFF2-40B4-BE49-F238E27FC236}">
                <a16:creationId xmlns:a16="http://schemas.microsoft.com/office/drawing/2014/main" id="{2BB71902-34A5-498B-A0AA-2A3D4D923BC2}"/>
              </a:ext>
            </a:extLst>
          </p:cNvPr>
          <p:cNvSpPr>
            <a:spLocks xmlns:a="http://schemas.openxmlformats.org/drawingml/2006/main" noGrp="1"/>
          </p:cNvSpPr>
          <p:nvPr/>
        </p:nvSpPr>
        <p:spPr>
          <a:xfrm xmlns:a="http://schemas.openxmlformats.org/drawingml/2006/main">
            <a:off x="8791575" y="2000250"/>
            <a:ext cx="1457325" cy="1619250"/>
          </a:xfrm>
          <a:prstGeom xmlns:a="http://schemas.openxmlformats.org/drawingml/2006/main" prst="roundRect">
            <a:avLst>
              <a:gd name="adj" fmla="val 6536"/>
            </a:avLst>
          </a:prstGeom>
          <a:solidFill xmlns:a="http://schemas.openxmlformats.org/drawingml/2006/main">
            <a:srgbClr val="1E293B"/>
          </a:solidFill>
          <a:ln xmlns:a="http://schemas.openxmlformats.org/drawingml/2006/main" w="19050">
            <a:solidFill>
              <a:srgbClr val="22D3EE"/>
            </a:solidFill>
          </a:ln>
        </p:spPr>
      </p:sp>
      <p:sp>
        <p:nvSpPr>
          <p:cNvPr id="73" name="">
            <a:extLst xmlns:a="http://schemas.openxmlformats.org/drawingml/2006/main">
              <a:ext uri="{FF2B5EF4-FFF2-40B4-BE49-F238E27FC236}">
                <a16:creationId xmlns:a16="http://schemas.microsoft.com/office/drawing/2014/main" id="{FEA66A92-A44D-4C63-8EF6-9BE2D39454D3}"/>
              </a:ext>
            </a:extLst>
          </p:cNvPr>
          <p:cNvSpPr>
            <a:spLocks xmlns:a="http://schemas.openxmlformats.org/drawingml/2006/main" noGrp="1"/>
          </p:cNvSpPr>
          <p:nvPr/>
        </p:nvSpPr>
        <p:spPr>
          <a:xfrm xmlns:a="http://schemas.openxmlformats.org/drawingml/2006/main">
            <a:off x="8915400" y="2152650"/>
            <a:ext cx="1209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Iceberg</a:t>
            </a:r>
          </a:p>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Silver</a:t>
            </a:r>
          </a:p>
        </p:txBody>
      </p:sp>
      <p:sp>
        <p:nvSpPr>
          <p:cNvPr id="74" name="">
            <a:extLst xmlns:a="http://schemas.openxmlformats.org/drawingml/2006/main">
              <a:ext uri="{FF2B5EF4-FFF2-40B4-BE49-F238E27FC236}">
                <a16:creationId xmlns:a16="http://schemas.microsoft.com/office/drawing/2014/main" id="{1CC6EF42-FA00-4687-A6FE-04A6C95B8A34}"/>
              </a:ext>
            </a:extLst>
          </p:cNvPr>
          <p:cNvSpPr>
            <a:spLocks xmlns:a="http://schemas.openxmlformats.org/drawingml/2006/main" noGrp="1"/>
          </p:cNvSpPr>
          <p:nvPr/>
        </p:nvSpPr>
        <p:spPr>
          <a:xfrm xmlns:a="http://schemas.openxmlformats.org/drawingml/2006/main">
            <a:off x="8915400" y="2733675"/>
            <a:ext cx="12096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엔티티 한 행</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삭제·버전 보존</a:t>
            </a:r>
          </a:p>
        </p:txBody>
      </p:sp>
      <p:sp>
        <p:nvSpPr>
          <p:cNvPr id="75" name="">
            <a:extLst xmlns:a="http://schemas.openxmlformats.org/drawingml/2006/main">
              <a:ext uri="{FF2B5EF4-FFF2-40B4-BE49-F238E27FC236}">
                <a16:creationId xmlns:a16="http://schemas.microsoft.com/office/drawing/2014/main" id="{0740E1BD-9C45-49A8-BDA2-520278C95DF6}"/>
              </a:ext>
            </a:extLst>
          </p:cNvPr>
          <p:cNvSpPr>
            <a:spLocks xmlns:a="http://schemas.openxmlformats.org/drawingml/2006/main" noGrp="1"/>
          </p:cNvSpPr>
          <p:nvPr/>
        </p:nvSpPr>
        <p:spPr>
          <a:xfrm xmlns:a="http://schemas.openxmlformats.org/drawingml/2006/main">
            <a:off x="10363200" y="2000250"/>
            <a:ext cx="1219200" cy="1619250"/>
          </a:xfrm>
          <a:prstGeom xmlns:a="http://schemas.openxmlformats.org/drawingml/2006/main" prst="roundRect">
            <a:avLst>
              <a:gd name="adj" fmla="val 7813"/>
            </a:avLst>
          </a:prstGeom>
          <a:solidFill xmlns:a="http://schemas.openxmlformats.org/drawingml/2006/main">
            <a:srgbClr val="151F31"/>
          </a:solidFill>
          <a:ln xmlns:a="http://schemas.openxmlformats.org/drawingml/2006/main" w="9525">
            <a:solidFill>
              <a:srgbClr val="334155"/>
            </a:solidFill>
          </a:ln>
        </p:spPr>
      </p:sp>
      <p:sp>
        <p:nvSpPr>
          <p:cNvPr id="76" name="">
            <a:extLst xmlns:a="http://schemas.openxmlformats.org/drawingml/2006/main">
              <a:ext uri="{FF2B5EF4-FFF2-40B4-BE49-F238E27FC236}">
                <a16:creationId xmlns:a16="http://schemas.microsoft.com/office/drawing/2014/main" id="{F9D0EF30-3160-46A7-9BB8-C5B2C94422FF}"/>
              </a:ext>
            </a:extLst>
          </p:cNvPr>
          <p:cNvSpPr>
            <a:spLocks xmlns:a="http://schemas.openxmlformats.org/drawingml/2006/main" noGrp="1"/>
          </p:cNvSpPr>
          <p:nvPr/>
        </p:nvSpPr>
        <p:spPr>
          <a:xfrm xmlns:a="http://schemas.openxmlformats.org/drawingml/2006/main">
            <a:off x="10487025" y="2152650"/>
            <a:ext cx="971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A7B5CA"/>
                </a:solidFill>
                <a:latin typeface="Apple SD Gothic Neo"/>
                <a:ea typeface="Apple SD Gothic Neo"/>
                <a:cs typeface="Apple SD Gothic Neo"/>
              </a:defRPr>
            </a:defPPr>
            <a:lvl1pPr>
              <a:defRPr sz="1650" b="1">
                <a:solidFill>
                  <a:srgbClr val="A7B5CA"/>
                </a:solidFill>
                <a:latin typeface="Apple SD Gothic Neo"/>
                <a:ea typeface="Apple SD Gothic Neo"/>
                <a:cs typeface="Apple SD Gothic Neo"/>
              </a:defRPr>
            </a:lvl1pPr>
            <a:lvl2pPr>
              <a:defRPr sz="1650" b="1">
                <a:solidFill>
                  <a:srgbClr val="A7B5CA"/>
                </a:solidFill>
                <a:latin typeface="Apple SD Gothic Neo"/>
                <a:ea typeface="Apple SD Gothic Neo"/>
                <a:cs typeface="Apple SD Gothic Neo"/>
              </a:defRPr>
            </a:lvl2pPr>
            <a:lvl3pPr>
              <a:defRPr sz="1650" b="1">
                <a:solidFill>
                  <a:srgbClr val="A7B5CA"/>
                </a:solidFill>
                <a:latin typeface="Apple SD Gothic Neo"/>
                <a:ea typeface="Apple SD Gothic Neo"/>
                <a:cs typeface="Apple SD Gothic Neo"/>
              </a:defRPr>
            </a:lvl3pPr>
            <a:lvl4pPr>
              <a:defRPr sz="1650" b="1">
                <a:solidFill>
                  <a:srgbClr val="A7B5CA"/>
                </a:solidFill>
                <a:latin typeface="Apple SD Gothic Neo"/>
                <a:ea typeface="Apple SD Gothic Neo"/>
                <a:cs typeface="Apple SD Gothic Neo"/>
              </a:defRPr>
            </a:lvl4pPr>
            <a:lvl5pPr>
              <a:defRPr sz="1650" b="1">
                <a:solidFill>
                  <a:srgbClr val="A7B5CA"/>
                </a:solidFill>
                <a:latin typeface="Apple SD Gothic Neo"/>
                <a:ea typeface="Apple SD Gothic Neo"/>
                <a:cs typeface="Apple SD Gothic Neo"/>
              </a:defRPr>
            </a:lvl5pPr>
            <a:lvl6pPr>
              <a:defRPr sz="1650" b="1">
                <a:solidFill>
                  <a:srgbClr val="A7B5CA"/>
                </a:solidFill>
                <a:latin typeface="Apple SD Gothic Neo"/>
                <a:ea typeface="Apple SD Gothic Neo"/>
                <a:cs typeface="Apple SD Gothic Neo"/>
              </a:defRPr>
            </a:lvl6pPr>
            <a:lvl7pPr>
              <a:defRPr sz="1650" b="1">
                <a:solidFill>
                  <a:srgbClr val="A7B5CA"/>
                </a:solidFill>
                <a:latin typeface="Apple SD Gothic Neo"/>
                <a:ea typeface="Apple SD Gothic Neo"/>
                <a:cs typeface="Apple SD Gothic Neo"/>
              </a:defRPr>
            </a:lvl7pPr>
            <a:lvl8pPr>
              <a:defRPr sz="1650" b="1">
                <a:solidFill>
                  <a:srgbClr val="A7B5CA"/>
                </a:solidFill>
                <a:latin typeface="Apple SD Gothic Neo"/>
                <a:ea typeface="Apple SD Gothic Neo"/>
                <a:cs typeface="Apple SD Gothic Neo"/>
              </a:defRPr>
            </a:lvl8pPr>
            <a:lvl9pPr>
              <a:defRPr sz="1650" b="1">
                <a:solidFill>
                  <a:srgbClr val="A7B5CA"/>
                </a:solidFill>
                <a:latin typeface="Apple SD Gothic Neo"/>
                <a:ea typeface="Apple SD Gothic Neo"/>
                <a:cs typeface="Apple SD Gothic Neo"/>
              </a:defRPr>
            </a:lvl9pPr>
          </a:lstStyle>
          <a:p xmlns:a="http://schemas.openxmlformats.org/drawingml/2006/main">
            <a:pPr>
              <a:defRPr sz="1650" b="1">
                <a:solidFill>
                  <a:srgbClr val="A7B5CA"/>
                </a:solidFill>
                <a:latin typeface="Apple SD Gothic Neo"/>
                <a:ea typeface="Apple SD Gothic Neo"/>
                <a:cs typeface="Apple SD Gothic Neo"/>
              </a:defRPr>
            </a:pPr>
            <a:r>
              <a:rPr sz="1650" b="1">
                <a:solidFill>
                  <a:srgbClr val="A7B5CA"/>
                </a:solidFill>
                <a:latin typeface="Apple SD Gothic Neo"/>
                <a:ea typeface="Apple SD Gothic Neo"/>
                <a:cs typeface="Apple SD Gothic Neo"/>
              </a:rPr>
              <a:t>Gold</a:t>
            </a:r>
          </a:p>
        </p:txBody>
      </p:sp>
      <p:sp>
        <p:nvSpPr>
          <p:cNvPr id="77" name="">
            <a:extLst xmlns:a="http://schemas.openxmlformats.org/drawingml/2006/main">
              <a:ext uri="{FF2B5EF4-FFF2-40B4-BE49-F238E27FC236}">
                <a16:creationId xmlns:a16="http://schemas.microsoft.com/office/drawing/2014/main" id="{F39A95FA-8F3C-4A51-B749-736282FF673A}"/>
              </a:ext>
            </a:extLst>
          </p:cNvPr>
          <p:cNvSpPr>
            <a:spLocks xmlns:a="http://schemas.openxmlformats.org/drawingml/2006/main" noGrp="1"/>
          </p:cNvSpPr>
          <p:nvPr/>
        </p:nvSpPr>
        <p:spPr>
          <a:xfrm xmlns:a="http://schemas.openxmlformats.org/drawingml/2006/main">
            <a:off x="10487025" y="2733675"/>
            <a:ext cx="971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C8AA3"/>
                </a:solidFill>
                <a:latin typeface="Apple SD Gothic Neo"/>
                <a:ea typeface="Apple SD Gothic Neo"/>
                <a:cs typeface="Apple SD Gothic Neo"/>
              </a:defRPr>
            </a:defPPr>
            <a:lvl1pPr>
              <a:defRPr sz="1500" b="0">
                <a:solidFill>
                  <a:srgbClr val="7C8AA3"/>
                </a:solidFill>
                <a:latin typeface="Apple SD Gothic Neo"/>
                <a:ea typeface="Apple SD Gothic Neo"/>
                <a:cs typeface="Apple SD Gothic Neo"/>
              </a:defRPr>
            </a:lvl1pPr>
            <a:lvl2pPr>
              <a:defRPr sz="1500" b="0">
                <a:solidFill>
                  <a:srgbClr val="7C8AA3"/>
                </a:solidFill>
                <a:latin typeface="Apple SD Gothic Neo"/>
                <a:ea typeface="Apple SD Gothic Neo"/>
                <a:cs typeface="Apple SD Gothic Neo"/>
              </a:defRPr>
            </a:lvl2pPr>
            <a:lvl3pPr>
              <a:defRPr sz="1500" b="0">
                <a:solidFill>
                  <a:srgbClr val="7C8AA3"/>
                </a:solidFill>
                <a:latin typeface="Apple SD Gothic Neo"/>
                <a:ea typeface="Apple SD Gothic Neo"/>
                <a:cs typeface="Apple SD Gothic Neo"/>
              </a:defRPr>
            </a:lvl3pPr>
            <a:lvl4pPr>
              <a:defRPr sz="1500" b="0">
                <a:solidFill>
                  <a:srgbClr val="7C8AA3"/>
                </a:solidFill>
                <a:latin typeface="Apple SD Gothic Neo"/>
                <a:ea typeface="Apple SD Gothic Neo"/>
                <a:cs typeface="Apple SD Gothic Neo"/>
              </a:defRPr>
            </a:lvl4pPr>
            <a:lvl5pPr>
              <a:defRPr sz="1500" b="0">
                <a:solidFill>
                  <a:srgbClr val="7C8AA3"/>
                </a:solidFill>
                <a:latin typeface="Apple SD Gothic Neo"/>
                <a:ea typeface="Apple SD Gothic Neo"/>
                <a:cs typeface="Apple SD Gothic Neo"/>
              </a:defRPr>
            </a:lvl5pPr>
            <a:lvl6pPr>
              <a:defRPr sz="1500" b="0">
                <a:solidFill>
                  <a:srgbClr val="7C8AA3"/>
                </a:solidFill>
                <a:latin typeface="Apple SD Gothic Neo"/>
                <a:ea typeface="Apple SD Gothic Neo"/>
                <a:cs typeface="Apple SD Gothic Neo"/>
              </a:defRPr>
            </a:lvl6pPr>
            <a:lvl7pPr>
              <a:defRPr sz="1500" b="0">
                <a:solidFill>
                  <a:srgbClr val="7C8AA3"/>
                </a:solidFill>
                <a:latin typeface="Apple SD Gothic Neo"/>
                <a:ea typeface="Apple SD Gothic Neo"/>
                <a:cs typeface="Apple SD Gothic Neo"/>
              </a:defRPr>
            </a:lvl7pPr>
            <a:lvl8pPr>
              <a:defRPr sz="1500" b="0">
                <a:solidFill>
                  <a:srgbClr val="7C8AA3"/>
                </a:solidFill>
                <a:latin typeface="Apple SD Gothic Neo"/>
                <a:ea typeface="Apple SD Gothic Neo"/>
                <a:cs typeface="Apple SD Gothic Neo"/>
              </a:defRPr>
            </a:lvl8pPr>
            <a:lvl9pPr>
              <a:defRPr sz="1500" b="0">
                <a:solidFill>
                  <a:srgbClr val="7C8AA3"/>
                </a:solidFill>
                <a:latin typeface="Apple SD Gothic Neo"/>
                <a:ea typeface="Apple SD Gothic Neo"/>
                <a:cs typeface="Apple SD Gothic Neo"/>
              </a:defRPr>
            </a:lvl9pPr>
          </a:lstStyle>
          <a:p xmlns:a="http://schemas.openxmlformats.org/drawingml/2006/main">
            <a:pPr>
              <a:defRPr sz="1500" b="0">
                <a:solidFill>
                  <a:srgbClr val="7C8AA3"/>
                </a:solidFill>
                <a:latin typeface="Apple SD Gothic Neo"/>
                <a:ea typeface="Apple SD Gothic Neo"/>
                <a:cs typeface="Apple SD Gothic Neo"/>
              </a:defRPr>
            </a:pPr>
            <a:r>
              <a:rPr sz="1500" b="0">
                <a:solidFill>
                  <a:srgbClr val="7C8AA3"/>
                </a:solidFill>
                <a:latin typeface="Apple SD Gothic Neo"/>
                <a:ea typeface="Apple SD Gothic Neo"/>
                <a:cs typeface="Apple SD Gothic Neo"/>
              </a:rPr>
              <a:t>dbt</a:t>
            </a:r>
          </a:p>
          <a:p xmlns:a="http://schemas.openxmlformats.org/drawingml/2006/main">
            <a:pPr>
              <a:defRPr sz="1500" b="0">
                <a:solidFill>
                  <a:srgbClr val="7C8AA3"/>
                </a:solidFill>
                <a:latin typeface="Apple SD Gothic Neo"/>
                <a:ea typeface="Apple SD Gothic Neo"/>
                <a:cs typeface="Apple SD Gothic Neo"/>
              </a:defRPr>
            </a:pPr>
            <a:r>
              <a:rPr sz="1500" b="0">
                <a:solidFill>
                  <a:srgbClr val="7C8AA3"/>
                </a:solidFill>
                <a:latin typeface="Apple SD Gothic Neo"/>
                <a:ea typeface="Apple SD Gothic Neo"/>
                <a:cs typeface="Apple SD Gothic Neo"/>
              </a:rPr>
              <a:t>다음 회차</a:t>
            </a:r>
          </a:p>
        </p:txBody>
      </p:sp>
      <p:sp>
        <p:nvSpPr>
          <p:cNvPr id="78" name="">
            <a:extLst xmlns:a="http://schemas.openxmlformats.org/drawingml/2006/main">
              <a:ext uri="{FF2B5EF4-FFF2-40B4-BE49-F238E27FC236}">
                <a16:creationId xmlns:a16="http://schemas.microsoft.com/office/drawing/2014/main" id="{707834EB-1F53-4730-A5FA-DF0741A3708A}"/>
              </a:ext>
            </a:extLst>
          </p:cNvPr>
          <p:cNvSpPr>
            <a:spLocks xmlns:a="http://schemas.openxmlformats.org/drawingml/2006/main" noGrp="1"/>
          </p:cNvSpPr>
          <p:nvPr/>
        </p:nvSpPr>
        <p:spPr>
          <a:xfrm xmlns:a="http://schemas.openxmlformats.org/drawingml/2006/main">
            <a:off x="2076450"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79" name="">
            <a:extLst xmlns:a="http://schemas.openxmlformats.org/drawingml/2006/main">
              <a:ext uri="{FF2B5EF4-FFF2-40B4-BE49-F238E27FC236}">
                <a16:creationId xmlns:a16="http://schemas.microsoft.com/office/drawing/2014/main" id="{7F64C8B0-2AAD-4D9D-A030-62AB0F5ED987}"/>
              </a:ext>
            </a:extLst>
          </p:cNvPr>
          <p:cNvSpPr>
            <a:spLocks xmlns:a="http://schemas.openxmlformats.org/drawingml/2006/main" noGrp="1"/>
          </p:cNvSpPr>
          <p:nvPr/>
        </p:nvSpPr>
        <p:spPr>
          <a:xfrm xmlns:a="http://schemas.openxmlformats.org/drawingml/2006/main">
            <a:off x="376237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0" name="">
            <a:extLst xmlns:a="http://schemas.openxmlformats.org/drawingml/2006/main">
              <a:ext uri="{FF2B5EF4-FFF2-40B4-BE49-F238E27FC236}">
                <a16:creationId xmlns:a16="http://schemas.microsoft.com/office/drawing/2014/main" id="{8815645B-89BA-4B60-B4C3-26E7C9825838}"/>
              </a:ext>
            </a:extLst>
          </p:cNvPr>
          <p:cNvSpPr>
            <a:spLocks xmlns:a="http://schemas.openxmlformats.org/drawingml/2006/main" noGrp="1"/>
          </p:cNvSpPr>
          <p:nvPr/>
        </p:nvSpPr>
        <p:spPr>
          <a:xfrm xmlns:a="http://schemas.openxmlformats.org/drawingml/2006/main">
            <a:off x="524827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1" name="">
            <a:extLst xmlns:a="http://schemas.openxmlformats.org/drawingml/2006/main">
              <a:ext uri="{FF2B5EF4-FFF2-40B4-BE49-F238E27FC236}">
                <a16:creationId xmlns:a16="http://schemas.microsoft.com/office/drawing/2014/main" id="{3657EC1F-97F8-4164-8C06-82FFF9BB1B3C}"/>
              </a:ext>
            </a:extLst>
          </p:cNvPr>
          <p:cNvSpPr>
            <a:spLocks xmlns:a="http://schemas.openxmlformats.org/drawingml/2006/main" noGrp="1"/>
          </p:cNvSpPr>
          <p:nvPr/>
        </p:nvSpPr>
        <p:spPr>
          <a:xfrm xmlns:a="http://schemas.openxmlformats.org/drawingml/2006/main">
            <a:off x="705802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2" name="">
            <a:extLst xmlns:a="http://schemas.openxmlformats.org/drawingml/2006/main">
              <a:ext uri="{FF2B5EF4-FFF2-40B4-BE49-F238E27FC236}">
                <a16:creationId xmlns:a16="http://schemas.microsoft.com/office/drawing/2014/main" id="{50C0494A-B791-447A-851E-DCFD26E85BCB}"/>
              </a:ext>
            </a:extLst>
          </p:cNvPr>
          <p:cNvSpPr>
            <a:spLocks xmlns:a="http://schemas.openxmlformats.org/drawingml/2006/main" noGrp="1"/>
          </p:cNvSpPr>
          <p:nvPr/>
        </p:nvSpPr>
        <p:spPr>
          <a:xfrm xmlns:a="http://schemas.openxmlformats.org/drawingml/2006/main">
            <a:off x="867727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3" name="">
            <a:extLst xmlns:a="http://schemas.openxmlformats.org/drawingml/2006/main">
              <a:ext uri="{FF2B5EF4-FFF2-40B4-BE49-F238E27FC236}">
                <a16:creationId xmlns:a16="http://schemas.microsoft.com/office/drawing/2014/main" id="{CDCAAF23-C8EA-49A7-A545-DC5C9396F313}"/>
              </a:ext>
            </a:extLst>
          </p:cNvPr>
          <p:cNvSpPr>
            <a:spLocks xmlns:a="http://schemas.openxmlformats.org/drawingml/2006/main" noGrp="1"/>
          </p:cNvSpPr>
          <p:nvPr/>
        </p:nvSpPr>
        <p:spPr>
          <a:xfrm xmlns:a="http://schemas.openxmlformats.org/drawingml/2006/main">
            <a:off x="10248900" y="2771775"/>
            <a:ext cx="114300" cy="95250"/>
          </a:xfrm>
          <a:prstGeom xmlns:a="http://schemas.openxmlformats.org/drawingml/2006/main" prst="rightArrow">
            <a:avLst/>
          </a:prstGeom>
          <a:solidFill xmlns:a="http://schemas.openxmlformats.org/drawingml/2006/main">
            <a:srgbClr val="334155"/>
          </a:solidFill>
          <a:ln xmlns:a="http://schemas.openxmlformats.org/drawingml/2006/main" w="0">
            <a:noFill/>
          </a:ln>
        </p:spPr>
      </p:sp>
      <p:sp>
        <p:nvSpPr>
          <p:cNvPr id="84" name="">
            <a:extLst xmlns:a="http://schemas.openxmlformats.org/drawingml/2006/main">
              <a:ext uri="{FF2B5EF4-FFF2-40B4-BE49-F238E27FC236}">
                <a16:creationId xmlns:a16="http://schemas.microsoft.com/office/drawing/2014/main" id="{D3F8645E-61C1-48AB-91E9-4C51FCB37C96}"/>
              </a:ext>
            </a:extLst>
          </p:cNvPr>
          <p:cNvSpPr>
            <a:spLocks xmlns:a="http://schemas.openxmlformats.org/drawingml/2006/main" noGrp="1"/>
          </p:cNvSpPr>
          <p:nvPr/>
        </p:nvSpPr>
        <p:spPr>
          <a:xfrm xmlns:a="http://schemas.openxmlformats.org/drawingml/2006/main">
            <a:off x="609600" y="4095750"/>
            <a:ext cx="6448425" cy="1143000"/>
          </a:xfrm>
          <a:prstGeom xmlns:a="http://schemas.openxmlformats.org/drawingml/2006/main" prst="roundRect">
            <a:avLst>
              <a:gd name="adj" fmla="val 8333"/>
            </a:avLst>
          </a:prstGeom>
          <a:solidFill xmlns:a="http://schemas.openxmlformats.org/drawingml/2006/main">
            <a:srgbClr val="1E293B"/>
          </a:solidFill>
          <a:ln xmlns:a="http://schemas.openxmlformats.org/drawingml/2006/main" w="9525">
            <a:solidFill>
              <a:srgbClr val="334155"/>
            </a:solidFill>
          </a:ln>
        </p:spPr>
      </p:sp>
      <p:sp>
        <p:nvSpPr>
          <p:cNvPr id="85" name="">
            <a:extLst xmlns:a="http://schemas.openxmlformats.org/drawingml/2006/main">
              <a:ext uri="{FF2B5EF4-FFF2-40B4-BE49-F238E27FC236}">
                <a16:creationId xmlns:a16="http://schemas.microsoft.com/office/drawing/2014/main" id="{9011605E-C93F-4E57-A10D-4F124A6437BC}"/>
              </a:ext>
            </a:extLst>
          </p:cNvPr>
          <p:cNvSpPr>
            <a:spLocks xmlns:a="http://schemas.openxmlformats.org/drawingml/2006/main" noGrp="1"/>
          </p:cNvSpPr>
          <p:nvPr/>
        </p:nvSpPr>
        <p:spPr>
          <a:xfrm xmlns:a="http://schemas.openxmlformats.org/drawingml/2006/main">
            <a:off x="781050" y="4229100"/>
            <a:ext cx="61055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2D3EE"/>
                </a:solidFill>
                <a:latin typeface="Apple SD Gothic Neo"/>
                <a:ea typeface="Apple SD Gothic Neo"/>
                <a:cs typeface="Apple SD Gothic Neo"/>
              </a:defRPr>
            </a:defPPr>
            <a:lvl1pPr>
              <a:defRPr sz="1725" b="1">
                <a:solidFill>
                  <a:srgbClr val="22D3EE"/>
                </a:solidFill>
                <a:latin typeface="Apple SD Gothic Neo"/>
                <a:ea typeface="Apple SD Gothic Neo"/>
                <a:cs typeface="Apple SD Gothic Neo"/>
              </a:defRPr>
            </a:lvl1pPr>
            <a:lvl2pPr>
              <a:defRPr sz="1725" b="1">
                <a:solidFill>
                  <a:srgbClr val="22D3EE"/>
                </a:solidFill>
                <a:latin typeface="Apple SD Gothic Neo"/>
                <a:ea typeface="Apple SD Gothic Neo"/>
                <a:cs typeface="Apple SD Gothic Neo"/>
              </a:defRPr>
            </a:lvl2pPr>
            <a:lvl3pPr>
              <a:defRPr sz="1725" b="1">
                <a:solidFill>
                  <a:srgbClr val="22D3EE"/>
                </a:solidFill>
                <a:latin typeface="Apple SD Gothic Neo"/>
                <a:ea typeface="Apple SD Gothic Neo"/>
                <a:cs typeface="Apple SD Gothic Neo"/>
              </a:defRPr>
            </a:lvl3pPr>
            <a:lvl4pPr>
              <a:defRPr sz="1725" b="1">
                <a:solidFill>
                  <a:srgbClr val="22D3EE"/>
                </a:solidFill>
                <a:latin typeface="Apple SD Gothic Neo"/>
                <a:ea typeface="Apple SD Gothic Neo"/>
                <a:cs typeface="Apple SD Gothic Neo"/>
              </a:defRPr>
            </a:lvl4pPr>
            <a:lvl5pPr>
              <a:defRPr sz="1725" b="1">
                <a:solidFill>
                  <a:srgbClr val="22D3EE"/>
                </a:solidFill>
                <a:latin typeface="Apple SD Gothic Neo"/>
                <a:ea typeface="Apple SD Gothic Neo"/>
                <a:cs typeface="Apple SD Gothic Neo"/>
              </a:defRPr>
            </a:lvl5pPr>
            <a:lvl6pPr>
              <a:defRPr sz="1725" b="1">
                <a:solidFill>
                  <a:srgbClr val="22D3EE"/>
                </a:solidFill>
                <a:latin typeface="Apple SD Gothic Neo"/>
                <a:ea typeface="Apple SD Gothic Neo"/>
                <a:cs typeface="Apple SD Gothic Neo"/>
              </a:defRPr>
            </a:lvl6pPr>
            <a:lvl7pPr>
              <a:defRPr sz="1725" b="1">
                <a:solidFill>
                  <a:srgbClr val="22D3EE"/>
                </a:solidFill>
                <a:latin typeface="Apple SD Gothic Neo"/>
                <a:ea typeface="Apple SD Gothic Neo"/>
                <a:cs typeface="Apple SD Gothic Neo"/>
              </a:defRPr>
            </a:lvl7pPr>
            <a:lvl8pPr>
              <a:defRPr sz="1725" b="1">
                <a:solidFill>
                  <a:srgbClr val="22D3EE"/>
                </a:solidFill>
                <a:latin typeface="Apple SD Gothic Neo"/>
                <a:ea typeface="Apple SD Gothic Neo"/>
                <a:cs typeface="Apple SD Gothic Neo"/>
              </a:defRPr>
            </a:lvl8pPr>
            <a:lvl9pPr>
              <a:defRPr sz="1725" b="1">
                <a:solidFill>
                  <a:srgbClr val="22D3EE"/>
                </a:solidFill>
                <a:latin typeface="Apple SD Gothic Neo"/>
                <a:ea typeface="Apple SD Gothic Neo"/>
                <a:cs typeface="Apple SD Gothic Neo"/>
              </a:defRPr>
            </a:lvl9pPr>
          </a:lstStyle>
          <a:p xmlns:a="http://schemas.openxmlformats.org/drawingml/2006/main">
            <a:pPr>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이번 실험의 입력</a:t>
            </a:r>
          </a:p>
        </p:txBody>
      </p:sp>
      <p:sp>
        <p:nvSpPr>
          <p:cNvPr id="86" name="">
            <a:extLst xmlns:a="http://schemas.openxmlformats.org/drawingml/2006/main">
              <a:ext uri="{FF2B5EF4-FFF2-40B4-BE49-F238E27FC236}">
                <a16:creationId xmlns:a16="http://schemas.microsoft.com/office/drawing/2014/main" id="{A59523CC-71E7-4AE1-B916-6694F8AB9FEE}"/>
              </a:ext>
            </a:extLst>
          </p:cNvPr>
          <p:cNvSpPr>
            <a:spLocks xmlns:a="http://schemas.openxmlformats.org/drawingml/2006/main" noGrp="1"/>
          </p:cNvSpPr>
          <p:nvPr/>
        </p:nvSpPr>
        <p:spPr>
          <a:xfrm xmlns:a="http://schemas.openxmlformats.org/drawingml/2006/main">
            <a:off x="781050" y="4600575"/>
            <a:ext cx="61055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F8FAFC"/>
                </a:solidFill>
                <a:latin typeface="Apple SD Gothic Neo"/>
                <a:ea typeface="Apple SD Gothic Neo"/>
                <a:cs typeface="Apple SD Gothic Neo"/>
              </a:defRPr>
            </a:defPPr>
            <a:lvl1pPr>
              <a:defRPr sz="1650" b="0">
                <a:solidFill>
                  <a:srgbClr val="F8FAFC"/>
                </a:solidFill>
                <a:latin typeface="Apple SD Gothic Neo"/>
                <a:ea typeface="Apple SD Gothic Neo"/>
                <a:cs typeface="Apple SD Gothic Neo"/>
              </a:defRPr>
            </a:lvl1pPr>
            <a:lvl2pPr>
              <a:defRPr sz="1650" b="0">
                <a:solidFill>
                  <a:srgbClr val="F8FAFC"/>
                </a:solidFill>
                <a:latin typeface="Apple SD Gothic Neo"/>
                <a:ea typeface="Apple SD Gothic Neo"/>
                <a:cs typeface="Apple SD Gothic Neo"/>
              </a:defRPr>
            </a:lvl2pPr>
            <a:lvl3pPr>
              <a:defRPr sz="1650" b="0">
                <a:solidFill>
                  <a:srgbClr val="F8FAFC"/>
                </a:solidFill>
                <a:latin typeface="Apple SD Gothic Neo"/>
                <a:ea typeface="Apple SD Gothic Neo"/>
                <a:cs typeface="Apple SD Gothic Neo"/>
              </a:defRPr>
            </a:lvl3pPr>
            <a:lvl4pPr>
              <a:defRPr sz="1650" b="0">
                <a:solidFill>
                  <a:srgbClr val="F8FAFC"/>
                </a:solidFill>
                <a:latin typeface="Apple SD Gothic Neo"/>
                <a:ea typeface="Apple SD Gothic Neo"/>
                <a:cs typeface="Apple SD Gothic Neo"/>
              </a:defRPr>
            </a:lvl4pPr>
            <a:lvl5pPr>
              <a:defRPr sz="1650" b="0">
                <a:solidFill>
                  <a:srgbClr val="F8FAFC"/>
                </a:solidFill>
                <a:latin typeface="Apple SD Gothic Neo"/>
                <a:ea typeface="Apple SD Gothic Neo"/>
                <a:cs typeface="Apple SD Gothic Neo"/>
              </a:defRPr>
            </a:lvl5pPr>
            <a:lvl6pPr>
              <a:defRPr sz="1650" b="0">
                <a:solidFill>
                  <a:srgbClr val="F8FAFC"/>
                </a:solidFill>
                <a:latin typeface="Apple SD Gothic Neo"/>
                <a:ea typeface="Apple SD Gothic Neo"/>
                <a:cs typeface="Apple SD Gothic Neo"/>
              </a:defRPr>
            </a:lvl6pPr>
            <a:lvl7pPr>
              <a:defRPr sz="1650" b="0">
                <a:solidFill>
                  <a:srgbClr val="F8FAFC"/>
                </a:solidFill>
                <a:latin typeface="Apple SD Gothic Neo"/>
                <a:ea typeface="Apple SD Gothic Neo"/>
                <a:cs typeface="Apple SD Gothic Neo"/>
              </a:defRPr>
            </a:lvl7pPr>
            <a:lvl8pPr>
              <a:defRPr sz="1650" b="0">
                <a:solidFill>
                  <a:srgbClr val="F8FAFC"/>
                </a:solidFill>
                <a:latin typeface="Apple SD Gothic Neo"/>
                <a:ea typeface="Apple SD Gothic Neo"/>
                <a:cs typeface="Apple SD Gothic Neo"/>
              </a:defRPr>
            </a:lvl8pPr>
            <a:lvl9pPr>
              <a:defRPr sz="1650" b="0">
                <a:solidFill>
                  <a:srgbClr val="F8FAFC"/>
                </a:solidFill>
                <a:latin typeface="Apple SD Gothic Neo"/>
                <a:ea typeface="Apple SD Gothic Neo"/>
                <a:cs typeface="Apple SD Gothic Neo"/>
              </a:defRPr>
            </a:lvl9pPr>
          </a:lstStyle>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Bronze 규격의 고정 fixture를 전용 영역에 준비</a:t>
            </a:r>
          </a:p>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실제 CDC 수집·기존 공통 테이블 갱신과 구분</a:t>
            </a:r>
          </a:p>
        </p:txBody>
      </p:sp>
      <p:sp>
        <p:nvSpPr>
          <p:cNvPr id="87" name="">
            <a:extLst xmlns:a="http://schemas.openxmlformats.org/drawingml/2006/main">
              <a:ext uri="{FF2B5EF4-FFF2-40B4-BE49-F238E27FC236}">
                <a16:creationId xmlns:a16="http://schemas.microsoft.com/office/drawing/2014/main" id="{837E25B9-05BD-4376-AB03-910100D7DF2B}"/>
              </a:ext>
            </a:extLst>
          </p:cNvPr>
          <p:cNvSpPr>
            <a:spLocks xmlns:a="http://schemas.openxmlformats.org/drawingml/2006/main" noGrp="1"/>
          </p:cNvSpPr>
          <p:nvPr/>
        </p:nvSpPr>
        <p:spPr>
          <a:xfrm xmlns:a="http://schemas.openxmlformats.org/drawingml/2006/main">
            <a:off x="7172325" y="4095750"/>
            <a:ext cx="4410075" cy="1143000"/>
          </a:xfrm>
          <a:prstGeom xmlns:a="http://schemas.openxmlformats.org/drawingml/2006/main" prst="roundRect">
            <a:avLst>
              <a:gd name="adj" fmla="val 8333"/>
            </a:avLst>
          </a:prstGeom>
          <a:solidFill xmlns:a="http://schemas.openxmlformats.org/drawingml/2006/main">
            <a:srgbClr val="1E293B"/>
          </a:solidFill>
          <a:ln xmlns:a="http://schemas.openxmlformats.org/drawingml/2006/main" w="9525">
            <a:solidFill>
              <a:srgbClr val="22D3EE"/>
            </a:solidFill>
          </a:ln>
        </p:spPr>
      </p:sp>
      <p:sp>
        <p:nvSpPr>
          <p:cNvPr id="88" name="">
            <a:extLst xmlns:a="http://schemas.openxmlformats.org/drawingml/2006/main">
              <a:ext uri="{FF2B5EF4-FFF2-40B4-BE49-F238E27FC236}">
                <a16:creationId xmlns:a16="http://schemas.microsoft.com/office/drawing/2014/main" id="{B4BB442C-5138-47DF-A369-92542CA91FE9}"/>
              </a:ext>
            </a:extLst>
          </p:cNvPr>
          <p:cNvSpPr>
            <a:spLocks xmlns:a="http://schemas.openxmlformats.org/drawingml/2006/main" noGrp="1"/>
          </p:cNvSpPr>
          <p:nvPr/>
        </p:nvSpPr>
        <p:spPr>
          <a:xfrm xmlns:a="http://schemas.openxmlformats.org/drawingml/2006/main">
            <a:off x="7343775" y="4229100"/>
            <a:ext cx="40671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2D3EE"/>
                </a:solidFill>
                <a:latin typeface="Apple SD Gothic Neo"/>
                <a:ea typeface="Apple SD Gothic Neo"/>
                <a:cs typeface="Apple SD Gothic Neo"/>
              </a:defRPr>
            </a:defPPr>
            <a:lvl1pPr>
              <a:defRPr sz="1725" b="1">
                <a:solidFill>
                  <a:srgbClr val="22D3EE"/>
                </a:solidFill>
                <a:latin typeface="Apple SD Gothic Neo"/>
                <a:ea typeface="Apple SD Gothic Neo"/>
                <a:cs typeface="Apple SD Gothic Neo"/>
              </a:defRPr>
            </a:lvl1pPr>
            <a:lvl2pPr>
              <a:defRPr sz="1725" b="1">
                <a:solidFill>
                  <a:srgbClr val="22D3EE"/>
                </a:solidFill>
                <a:latin typeface="Apple SD Gothic Neo"/>
                <a:ea typeface="Apple SD Gothic Neo"/>
                <a:cs typeface="Apple SD Gothic Neo"/>
              </a:defRPr>
            </a:lvl2pPr>
            <a:lvl3pPr>
              <a:defRPr sz="1725" b="1">
                <a:solidFill>
                  <a:srgbClr val="22D3EE"/>
                </a:solidFill>
                <a:latin typeface="Apple SD Gothic Neo"/>
                <a:ea typeface="Apple SD Gothic Neo"/>
                <a:cs typeface="Apple SD Gothic Neo"/>
              </a:defRPr>
            </a:lvl3pPr>
            <a:lvl4pPr>
              <a:defRPr sz="1725" b="1">
                <a:solidFill>
                  <a:srgbClr val="22D3EE"/>
                </a:solidFill>
                <a:latin typeface="Apple SD Gothic Neo"/>
                <a:ea typeface="Apple SD Gothic Neo"/>
                <a:cs typeface="Apple SD Gothic Neo"/>
              </a:defRPr>
            </a:lvl4pPr>
            <a:lvl5pPr>
              <a:defRPr sz="1725" b="1">
                <a:solidFill>
                  <a:srgbClr val="22D3EE"/>
                </a:solidFill>
                <a:latin typeface="Apple SD Gothic Neo"/>
                <a:ea typeface="Apple SD Gothic Neo"/>
                <a:cs typeface="Apple SD Gothic Neo"/>
              </a:defRPr>
            </a:lvl5pPr>
            <a:lvl6pPr>
              <a:defRPr sz="1725" b="1">
                <a:solidFill>
                  <a:srgbClr val="22D3EE"/>
                </a:solidFill>
                <a:latin typeface="Apple SD Gothic Neo"/>
                <a:ea typeface="Apple SD Gothic Neo"/>
                <a:cs typeface="Apple SD Gothic Neo"/>
              </a:defRPr>
            </a:lvl6pPr>
            <a:lvl7pPr>
              <a:defRPr sz="1725" b="1">
                <a:solidFill>
                  <a:srgbClr val="22D3EE"/>
                </a:solidFill>
                <a:latin typeface="Apple SD Gothic Neo"/>
                <a:ea typeface="Apple SD Gothic Neo"/>
                <a:cs typeface="Apple SD Gothic Neo"/>
              </a:defRPr>
            </a:lvl7pPr>
            <a:lvl8pPr>
              <a:defRPr sz="1725" b="1">
                <a:solidFill>
                  <a:srgbClr val="22D3EE"/>
                </a:solidFill>
                <a:latin typeface="Apple SD Gothic Neo"/>
                <a:ea typeface="Apple SD Gothic Neo"/>
                <a:cs typeface="Apple SD Gothic Neo"/>
              </a:defRPr>
            </a:lvl8pPr>
            <a:lvl9pPr>
              <a:defRPr sz="1725" b="1">
                <a:solidFill>
                  <a:srgbClr val="22D3EE"/>
                </a:solidFill>
                <a:latin typeface="Apple SD Gothic Neo"/>
                <a:ea typeface="Apple SD Gothic Neo"/>
                <a:cs typeface="Apple SD Gothic Neo"/>
              </a:defRPr>
            </a:lvl9pPr>
          </a:lstStyle>
          <a:p xmlns:a="http://schemas.openxmlformats.org/drawingml/2006/main">
            <a:pPr>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실행 역할</a:t>
            </a:r>
          </a:p>
        </p:txBody>
      </p:sp>
      <p:sp>
        <p:nvSpPr>
          <p:cNvPr id="89" name="">
            <a:extLst xmlns:a="http://schemas.openxmlformats.org/drawingml/2006/main">
              <a:ext uri="{FF2B5EF4-FFF2-40B4-BE49-F238E27FC236}">
                <a16:creationId xmlns:a16="http://schemas.microsoft.com/office/drawing/2014/main" id="{8F8C2DE5-7B78-44FD-B4FA-737AFAAF5F54}"/>
              </a:ext>
            </a:extLst>
          </p:cNvPr>
          <p:cNvSpPr>
            <a:spLocks xmlns:a="http://schemas.openxmlformats.org/drawingml/2006/main" noGrp="1"/>
          </p:cNvSpPr>
          <p:nvPr/>
        </p:nvSpPr>
        <p:spPr>
          <a:xfrm xmlns:a="http://schemas.openxmlformats.org/drawingml/2006/main">
            <a:off x="7343775" y="4600575"/>
            <a:ext cx="40671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F8FAFC"/>
                </a:solidFill>
                <a:latin typeface="Apple SD Gothic Neo"/>
                <a:ea typeface="Apple SD Gothic Neo"/>
                <a:cs typeface="Apple SD Gothic Neo"/>
              </a:defRPr>
            </a:defPPr>
            <a:lvl1pPr>
              <a:defRPr sz="1650" b="0">
                <a:solidFill>
                  <a:srgbClr val="F8FAFC"/>
                </a:solidFill>
                <a:latin typeface="Apple SD Gothic Neo"/>
                <a:ea typeface="Apple SD Gothic Neo"/>
                <a:cs typeface="Apple SD Gothic Neo"/>
              </a:defRPr>
            </a:lvl1pPr>
            <a:lvl2pPr>
              <a:defRPr sz="1650" b="0">
                <a:solidFill>
                  <a:srgbClr val="F8FAFC"/>
                </a:solidFill>
                <a:latin typeface="Apple SD Gothic Neo"/>
                <a:ea typeface="Apple SD Gothic Neo"/>
                <a:cs typeface="Apple SD Gothic Neo"/>
              </a:defRPr>
            </a:lvl2pPr>
            <a:lvl3pPr>
              <a:defRPr sz="1650" b="0">
                <a:solidFill>
                  <a:srgbClr val="F8FAFC"/>
                </a:solidFill>
                <a:latin typeface="Apple SD Gothic Neo"/>
                <a:ea typeface="Apple SD Gothic Neo"/>
                <a:cs typeface="Apple SD Gothic Neo"/>
              </a:defRPr>
            </a:lvl3pPr>
            <a:lvl4pPr>
              <a:defRPr sz="1650" b="0">
                <a:solidFill>
                  <a:srgbClr val="F8FAFC"/>
                </a:solidFill>
                <a:latin typeface="Apple SD Gothic Neo"/>
                <a:ea typeface="Apple SD Gothic Neo"/>
                <a:cs typeface="Apple SD Gothic Neo"/>
              </a:defRPr>
            </a:lvl4pPr>
            <a:lvl5pPr>
              <a:defRPr sz="1650" b="0">
                <a:solidFill>
                  <a:srgbClr val="F8FAFC"/>
                </a:solidFill>
                <a:latin typeface="Apple SD Gothic Neo"/>
                <a:ea typeface="Apple SD Gothic Neo"/>
                <a:cs typeface="Apple SD Gothic Neo"/>
              </a:defRPr>
            </a:lvl5pPr>
            <a:lvl6pPr>
              <a:defRPr sz="1650" b="0">
                <a:solidFill>
                  <a:srgbClr val="F8FAFC"/>
                </a:solidFill>
                <a:latin typeface="Apple SD Gothic Neo"/>
                <a:ea typeface="Apple SD Gothic Neo"/>
                <a:cs typeface="Apple SD Gothic Neo"/>
              </a:defRPr>
            </a:lvl6pPr>
            <a:lvl7pPr>
              <a:defRPr sz="1650" b="0">
                <a:solidFill>
                  <a:srgbClr val="F8FAFC"/>
                </a:solidFill>
                <a:latin typeface="Apple SD Gothic Neo"/>
                <a:ea typeface="Apple SD Gothic Neo"/>
                <a:cs typeface="Apple SD Gothic Neo"/>
              </a:defRPr>
            </a:lvl7pPr>
            <a:lvl8pPr>
              <a:defRPr sz="1650" b="0">
                <a:solidFill>
                  <a:srgbClr val="F8FAFC"/>
                </a:solidFill>
                <a:latin typeface="Apple SD Gothic Neo"/>
                <a:ea typeface="Apple SD Gothic Neo"/>
                <a:cs typeface="Apple SD Gothic Neo"/>
              </a:defRPr>
            </a:lvl8pPr>
            <a:lvl9pPr>
              <a:defRPr sz="1650" b="0">
                <a:solidFill>
                  <a:srgbClr val="F8FAFC"/>
                </a:solidFill>
                <a:latin typeface="Apple SD Gothic Neo"/>
                <a:ea typeface="Apple SD Gothic Neo"/>
                <a:cs typeface="Apple SD Gothic Neo"/>
              </a:defRPr>
            </a:lvl9pPr>
          </a:lstStyle>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Python runner: SQL 제출·순서·결과 확인</a:t>
            </a:r>
          </a:p>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Spark: 분산 처리·파일 쓰기·commit</a:t>
            </a:r>
          </a:p>
        </p:txBody>
      </p:sp>
    </p:spTree>
    <p:extLst>
      <p:ext uri="{BB962C8B-B14F-4D97-AF65-F5344CB8AC3E}">
        <p14:creationId xmlns:p14="http://schemas.microsoft.com/office/powerpoint/2010/main" val="1899261296"/>
      </p:ext>
    </p:extLst>
  </p:cSld>
</p:sld>
</file>

<file path=ppt/slides/slide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Silver 한 행의 의미와 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07</a:t>
            </a:r>
          </a:p>
        </p:txBody>
      </p:sp>
      <p:graphicFrame>
        <p:nvGraphicFramePr>
          <p:cNvPr id="10" name="">
            <a:extLst xmlns:a="http://schemas.openxmlformats.org/drawingml/2006/main">
              <a:ext uri="{FF2B5EF4-FFF2-40B4-BE49-F238E27FC236}">
                <a16:creationId xmlns:a16="http://schemas.microsoft.com/office/drawing/2014/main" id="{829A1295-1A21-4C3F-B93A-E44F66389DD6}"/>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3333750"/>
                <a:gridCol w="7639050"/>
              </a:tblGrid>
              <a:tr h="695325">
                <a:tc>
                  <a:txBody>
                    <a:bodyPr/>
                    <a:lstStyle/>
                    <a:p>
                      <a:r>
                        <a:rPr sz="1875" b="1">
                          <a:solidFill>
                            <a:srgbClr val="22D3EE"/>
                          </a:solidFill>
                          <a:latin typeface="Apple SD Gothic Neo"/>
                          <a:ea typeface="Apple SD Gothic Neo"/>
                          <a:cs typeface="Apple SD Gothic Neo"/>
                        </a:rPr>
                        <a:t>현재 상태 한 행</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엔티티 키</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주문 한 건의 현재 상태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orders.order_id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결제 한 건의 현재 상태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payments.payment_id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환불 한 건의 현재 상태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refunds.refund_id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같은 결제에 여러 환불</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payment_id로 환불을 하나로 줄이지 않기</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229">
            <a:extLst xmlns:a="http://schemas.openxmlformats.org/drawingml/2006/main">
              <a:ext uri="{FF2B5EF4-FFF2-40B4-BE49-F238E27FC236}">
                <a16:creationId xmlns:a16="http://schemas.microsoft.com/office/drawing/2014/main" id="{E81AC006-5800-4122-9396-527FFC8F6CC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230">
            <a:extLst xmlns:a="http://schemas.openxmlformats.org/drawingml/2006/main">
              <a:ext uri="{FF2B5EF4-FFF2-40B4-BE49-F238E27FC236}">
                <a16:creationId xmlns:a16="http://schemas.microsoft.com/office/drawing/2014/main" id="{C637AF07-C22A-4E6A-9560-94EF4B350AE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Silver의 한 행 의미와 엔티티 키를 먼저 맞춥니다</a:t>
            </a:r>
          </a:p>
        </p:txBody>
      </p:sp>
    </p:spTree>
    <p:extLst>
      <p:ext uri="{BB962C8B-B14F-4D97-AF65-F5344CB8AC3E}">
        <p14:creationId xmlns:p14="http://schemas.microsoft.com/office/powerpoint/2010/main" val="1899261296"/>
      </p:ext>
    </p:extLst>
  </p:cSld>
</p:sld>
</file>

<file path=ppt/slides/slide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중복 세 가지와 충돌을 구분합니다</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08</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유형</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구분할 근거</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오늘 규칙의 범위</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전달 중복</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topic / partition / offset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전달 레코드의 반복</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변경 재전달</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원천 버전, 다른 offset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PK별 현재 상태 한 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업무 중복</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서로 다른 PK의 유사 업무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별도 업무 정책 필요</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전달 위치 충돌</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topic·partition·offset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다른 원문이면 실행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같은 금액이라는 이유만으로 서로 다른 환불을 중복으로 보지 않습니다</a:t>
            </a:r>
          </a:p>
        </p:txBody>
      </p:sp>
    </p:spTree>
    <p:extLst>
      <p:ext uri="{BB962C8B-B14F-4D97-AF65-F5344CB8AC3E}">
        <p14:creationId xmlns:p14="http://schemas.microsoft.com/office/powerpoint/2010/main" val="602725031"/>
      </p:ext>
    </p:extLst>
  </p:cSld>
</p:sld>
</file>

<file path=ppt/slides/slide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최신 버전의 기준</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09</a:t>
            </a:r>
          </a:p>
        </p:txBody>
      </p:sp>
      <p:sp>
        <p:nvSpPr>
          <p:cNvPr id="18" name="s03-panel-38">
            <a:extLst xmlns:a="http://schemas.openxmlformats.org/drawingml/2006/main">
              <a:ext uri="{FF2B5EF4-FFF2-40B4-BE49-F238E27FC236}">
                <a16:creationId xmlns:a16="http://schemas.microsoft.com/office/drawing/2014/main" id="{4D522876-18A8-48F6-9B1E-5E6233135031}"/>
              </a:ext>
            </a:extLst>
          </p:cNvPr>
          <p:cNvSpPr>
            <a:spLocks xmlns:a="http://schemas.openxmlformats.org/drawingml/2006/main" noGrp="1"/>
          </p:cNvSpPr>
          <p:nvPr/>
        </p:nvSpPr>
        <p:spPr>
          <a:xfrm xmlns:a="http://schemas.openxmlformats.org/drawingml/2006/main">
            <a:off x="609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9" name="s03-text-39">
            <a:extLst xmlns:a="http://schemas.openxmlformats.org/drawingml/2006/main">
              <a:ext uri="{FF2B5EF4-FFF2-40B4-BE49-F238E27FC236}">
                <a16:creationId xmlns:a16="http://schemas.microsoft.com/office/drawing/2014/main" id="{A56B8419-29A5-4307-B258-38277CBAED01}"/>
              </a:ext>
            </a:extLst>
          </p:cNvPr>
          <p:cNvSpPr>
            <a:spLocks xmlns:a="http://schemas.openxmlformats.org/drawingml/2006/main" noGrp="1"/>
          </p:cNvSpPr>
          <p:nvPr/>
        </p:nvSpPr>
        <p:spPr>
          <a:xfrm xmlns:a="http://schemas.openxmlformats.org/drawingml/2006/main">
            <a:off x="819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먼저 원천 버전</a:t>
            </a:r>
          </a:p>
        </p:txBody>
      </p:sp>
      <p:sp>
        <p:nvSpPr>
          <p:cNvPr id="20" name="s03-text-40">
            <a:extLst xmlns:a="http://schemas.openxmlformats.org/drawingml/2006/main">
              <a:ext uri="{FF2B5EF4-FFF2-40B4-BE49-F238E27FC236}">
                <a16:creationId xmlns:a16="http://schemas.microsoft.com/office/drawing/2014/main" id="{849CDED0-6089-41BB-95F2-613D94F0A165}"/>
              </a:ext>
            </a:extLst>
          </p:cNvPr>
          <p:cNvSpPr>
            <a:spLocks xmlns:a="http://schemas.openxmlformats.org/drawingml/2006/main" noGrp="1"/>
          </p:cNvSpPr>
          <p:nvPr/>
        </p:nvSpPr>
        <p:spPr>
          <a:xfrm xmlns:a="http://schemas.openxmlformats.org/drawingml/2006/main">
            <a:off x="819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source.lsn을</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숫자로 비교</a:t>
            </a:r>
          </a:p>
        </p:txBody>
      </p:sp>
      <p:sp>
        <p:nvSpPr>
          <p:cNvPr id="21" name="s03-panel-41">
            <a:extLst xmlns:a="http://schemas.openxmlformats.org/drawingml/2006/main">
              <a:ext uri="{FF2B5EF4-FFF2-40B4-BE49-F238E27FC236}">
                <a16:creationId xmlns:a16="http://schemas.microsoft.com/office/drawing/2014/main" id="{C95F1E3D-A1C5-40C0-AA5A-F92BCAFB334C}"/>
              </a:ext>
            </a:extLst>
          </p:cNvPr>
          <p:cNvSpPr>
            <a:spLocks xmlns:a="http://schemas.openxmlformats.org/drawingml/2006/main" noGrp="1"/>
          </p:cNvSpPr>
          <p:nvPr/>
        </p:nvSpPr>
        <p:spPr>
          <a:xfrm xmlns:a="http://schemas.openxmlformats.org/drawingml/2006/main">
            <a:off x="43561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2" name="s03-text-42">
            <a:extLst xmlns:a="http://schemas.openxmlformats.org/drawingml/2006/main">
              <a:ext uri="{FF2B5EF4-FFF2-40B4-BE49-F238E27FC236}">
                <a16:creationId xmlns:a16="http://schemas.microsoft.com/office/drawing/2014/main" id="{ABD1C8D6-6953-42DB-A1B2-C87696DBA1EA}"/>
              </a:ext>
            </a:extLst>
          </p:cNvPr>
          <p:cNvSpPr>
            <a:spLocks xmlns:a="http://schemas.openxmlformats.org/drawingml/2006/main" noGrp="1"/>
          </p:cNvSpPr>
          <p:nvPr/>
        </p:nvSpPr>
        <p:spPr>
          <a:xfrm xmlns:a="http://schemas.openxmlformats.org/drawingml/2006/main">
            <a:off x="45656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같은 LSN일 때</a:t>
            </a:r>
          </a:p>
        </p:txBody>
      </p:sp>
      <p:sp>
        <p:nvSpPr>
          <p:cNvPr id="23" name="s03-text-43">
            <a:extLst xmlns:a="http://schemas.openxmlformats.org/drawingml/2006/main">
              <a:ext uri="{FF2B5EF4-FFF2-40B4-BE49-F238E27FC236}">
                <a16:creationId xmlns:a16="http://schemas.microsoft.com/office/drawing/2014/main" id="{4DA1AB5A-70E7-4A2F-9050-B42060395635}"/>
              </a:ext>
            </a:extLst>
          </p:cNvPr>
          <p:cNvSpPr>
            <a:spLocks xmlns:a="http://schemas.openxmlformats.org/drawingml/2006/main" noGrp="1"/>
          </p:cNvSpPr>
          <p:nvPr/>
        </p:nvSpPr>
        <p:spPr>
          <a:xfrm xmlns:a="http://schemas.openxmlformats.org/drawingml/2006/main">
            <a:off x="45656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토픽·파티션의</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kafka_offset 비교</a:t>
            </a:r>
          </a:p>
        </p:txBody>
      </p:sp>
      <p:sp>
        <p:nvSpPr>
          <p:cNvPr id="24" name="s03-panel-44">
            <a:extLst xmlns:a="http://schemas.openxmlformats.org/drawingml/2006/main">
              <a:ext uri="{FF2B5EF4-FFF2-40B4-BE49-F238E27FC236}">
                <a16:creationId xmlns:a16="http://schemas.microsoft.com/office/drawing/2014/main" id="{C96F8D07-D0F2-4307-A8FE-634C00F663D7}"/>
              </a:ext>
            </a:extLst>
          </p:cNvPr>
          <p:cNvSpPr>
            <a:spLocks xmlns:a="http://schemas.openxmlformats.org/drawingml/2006/main" noGrp="1"/>
          </p:cNvSpPr>
          <p:nvPr/>
        </p:nvSpPr>
        <p:spPr>
          <a:xfrm xmlns:a="http://schemas.openxmlformats.org/drawingml/2006/main">
            <a:off x="8102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5" name="s03-text-45">
            <a:extLst xmlns:a="http://schemas.openxmlformats.org/drawingml/2006/main">
              <a:ext uri="{FF2B5EF4-FFF2-40B4-BE49-F238E27FC236}">
                <a16:creationId xmlns:a16="http://schemas.microsoft.com/office/drawing/2014/main" id="{0E444FC2-D9D7-485E-BE2E-439F8066A340}"/>
              </a:ext>
            </a:extLst>
          </p:cNvPr>
          <p:cNvSpPr>
            <a:spLocks xmlns:a="http://schemas.openxmlformats.org/drawingml/2006/main" noGrp="1"/>
          </p:cNvSpPr>
          <p:nvPr/>
        </p:nvSpPr>
        <p:spPr>
          <a:xfrm xmlns:a="http://schemas.openxmlformats.org/drawingml/2006/main">
            <a:off x="8312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4D399"/>
                </a:solidFill>
                <a:latin typeface="Apple SD Gothic Neo"/>
                <a:ea typeface="Apple SD Gothic Neo"/>
                <a:cs typeface="Apple SD Gothic Neo"/>
              </a:defRPr>
            </a:defPPr>
            <a:lvl1pPr algn="l">
              <a:buNone/>
              <a:defRPr sz="2100" b="1">
                <a:solidFill>
                  <a:srgbClr val="34D399"/>
                </a:solidFill>
                <a:latin typeface="Apple SD Gothic Neo"/>
                <a:ea typeface="Apple SD Gothic Neo"/>
                <a:cs typeface="Apple SD Gothic Neo"/>
              </a:defRPr>
            </a:lvl1pPr>
            <a:lvl2pPr algn="l">
              <a:buNone/>
              <a:defRPr sz="2100" b="1">
                <a:solidFill>
                  <a:srgbClr val="34D399"/>
                </a:solidFill>
                <a:latin typeface="Apple SD Gothic Neo"/>
                <a:ea typeface="Apple SD Gothic Neo"/>
                <a:cs typeface="Apple SD Gothic Neo"/>
              </a:defRPr>
            </a:lvl2pPr>
            <a:lvl3pPr algn="l">
              <a:buNone/>
              <a:defRPr sz="2100" b="1">
                <a:solidFill>
                  <a:srgbClr val="34D399"/>
                </a:solidFill>
                <a:latin typeface="Apple SD Gothic Neo"/>
                <a:ea typeface="Apple SD Gothic Neo"/>
                <a:cs typeface="Apple SD Gothic Neo"/>
              </a:defRPr>
            </a:lvl3pPr>
            <a:lvl4pPr algn="l">
              <a:buNone/>
              <a:defRPr sz="2100" b="1">
                <a:solidFill>
                  <a:srgbClr val="34D399"/>
                </a:solidFill>
                <a:latin typeface="Apple SD Gothic Neo"/>
                <a:ea typeface="Apple SD Gothic Neo"/>
                <a:cs typeface="Apple SD Gothic Neo"/>
              </a:defRPr>
            </a:lvl4pPr>
            <a:lvl5pPr algn="l">
              <a:buNone/>
              <a:defRPr sz="2100" b="1">
                <a:solidFill>
                  <a:srgbClr val="34D399"/>
                </a:solidFill>
                <a:latin typeface="Apple SD Gothic Neo"/>
                <a:ea typeface="Apple SD Gothic Neo"/>
                <a:cs typeface="Apple SD Gothic Neo"/>
              </a:defRPr>
            </a:lvl5pPr>
            <a:lvl6pPr algn="l">
              <a:buNone/>
              <a:defRPr sz="2100" b="1">
                <a:solidFill>
                  <a:srgbClr val="34D399"/>
                </a:solidFill>
                <a:latin typeface="Apple SD Gothic Neo"/>
                <a:ea typeface="Apple SD Gothic Neo"/>
                <a:cs typeface="Apple SD Gothic Neo"/>
              </a:defRPr>
            </a:lvl6pPr>
            <a:lvl7pPr algn="l">
              <a:buNone/>
              <a:defRPr sz="2100" b="1">
                <a:solidFill>
                  <a:srgbClr val="34D399"/>
                </a:solidFill>
                <a:latin typeface="Apple SD Gothic Neo"/>
                <a:ea typeface="Apple SD Gothic Neo"/>
                <a:cs typeface="Apple SD Gothic Neo"/>
              </a:defRPr>
            </a:lvl7pPr>
            <a:lvl8pPr algn="l">
              <a:buNone/>
              <a:defRPr sz="2100" b="1">
                <a:solidFill>
                  <a:srgbClr val="34D399"/>
                </a:solidFill>
                <a:latin typeface="Apple SD Gothic Neo"/>
                <a:ea typeface="Apple SD Gothic Neo"/>
                <a:cs typeface="Apple SD Gothic Neo"/>
              </a:defRPr>
            </a:lvl8pPr>
            <a:lvl9pPr algn="l">
              <a:buNone/>
              <a:defRPr sz="2100" b="1">
                <a:solidFill>
                  <a:srgbClr val="34D399"/>
                </a:solidFill>
                <a:latin typeface="Apple SD Gothic Neo"/>
                <a:ea typeface="Apple SD Gothic Neo"/>
                <a:cs typeface="Apple SD Gothic Neo"/>
              </a:defRPr>
            </a:lvl9pPr>
          </a:lstStyle>
          <a:p xmlns:a="http://schemas.openxmlformats.org/drawingml/2006/main">
            <a:pPr algn="l">
              <a:buNone/>
              <a:defRPr sz="2100" b="1">
                <a:solidFill>
                  <a:srgbClr val="34D399"/>
                </a:solidFill>
                <a:latin typeface="Apple SD Gothic Neo"/>
                <a:ea typeface="Apple SD Gothic Neo"/>
                <a:cs typeface="Apple SD Gothic Neo"/>
              </a:defRPr>
            </a:pPr>
            <a:r>
              <a:rPr sz="2100" b="1">
                <a:solidFill>
                  <a:srgbClr val="34D399"/>
                </a:solidFill>
                <a:latin typeface="Apple SD Gothic Neo"/>
                <a:ea typeface="Apple SD Gothic Neo"/>
                <a:cs typeface="Apple SD Gothic Neo"/>
              </a:rPr>
              <a:t>이번 예제 범위</a:t>
            </a:r>
          </a:p>
        </p:txBody>
      </p:sp>
      <p:sp>
        <p:nvSpPr>
          <p:cNvPr id="26" name="s03-text-46">
            <a:extLst xmlns:a="http://schemas.openxmlformats.org/drawingml/2006/main">
              <a:ext uri="{FF2B5EF4-FFF2-40B4-BE49-F238E27FC236}">
                <a16:creationId xmlns:a16="http://schemas.microsoft.com/office/drawing/2014/main" id="{6AE703BE-E880-4D0A-87CF-70D1569B89D1}"/>
              </a:ext>
            </a:extLst>
          </p:cNvPr>
          <p:cNvSpPr>
            <a:spLocks xmlns:a="http://schemas.openxmlformats.org/drawingml/2006/main" noGrp="1"/>
          </p:cNvSpPr>
          <p:nvPr/>
        </p:nvSpPr>
        <p:spPr>
          <a:xfrm xmlns:a="http://schemas.openxmlformats.org/drawingml/2006/main">
            <a:off x="8312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단일 원천</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토픽별 1파티션</a:t>
            </a:r>
          </a:p>
        </p:txBody>
      </p:sp>
      <p:sp>
        <p:nvSpPr>
          <p:cNvPr id="27" name="s03-panel-47">
            <a:extLst xmlns:a="http://schemas.openxmlformats.org/drawingml/2006/main">
              <a:ext uri="{FF2B5EF4-FFF2-40B4-BE49-F238E27FC236}">
                <a16:creationId xmlns:a16="http://schemas.microsoft.com/office/drawing/2014/main" id="{39198901-CF90-42FA-B755-AF757D9692A9}"/>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8" name="s03-text-48">
            <a:extLst xmlns:a="http://schemas.openxmlformats.org/drawingml/2006/main">
              <a:ext uri="{FF2B5EF4-FFF2-40B4-BE49-F238E27FC236}">
                <a16:creationId xmlns:a16="http://schemas.microsoft.com/office/drawing/2014/main" id="{C9057E26-398A-4E73-88DA-C9798DEECCC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다른 원천·다른 파티션의 offset을 전역 순서로 비교하지 않습니다</a:t>
            </a:r>
          </a:p>
        </p:txBody>
      </p:sp>
    </p:spTree>
    <p:extLst>
      <p:ext uri="{BB962C8B-B14F-4D97-AF65-F5344CB8AC3E}">
        <p14:creationId xmlns:p14="http://schemas.microsoft.com/office/powerpoint/2010/main" val="602725031"/>
      </p:ext>
    </p:extLst>
  </p:cSld>
</p:sld>
</file>

<file path=ppt/slides/slide1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10423D12-C7CD-4E5F-B520-DCFEF4ABEBBE}"/>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24669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FA9E28AF-273F-4E66-8DB7-E82FC020D46D}"/>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24669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LSN은 문자열이 아니라 숫자로 비교합니다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10</a:t>
            </a:r>
          </a:p>
        </p:txBody>
      </p:sp>
      <p:sp>
        <p:nvSpPr>
          <p:cNvPr id="10" name="first-flink-panel-11">
            <a:extLst xmlns:a="http://schemas.openxmlformats.org/drawingml/2006/main">
              <a:ext uri="{FF2B5EF4-FFF2-40B4-BE49-F238E27FC236}">
                <a16:creationId xmlns:a16="http://schemas.microsoft.com/office/drawing/2014/main" id="{154B38B2-59A8-450B-A475-084B1C07CD62}"/>
              </a:ext>
            </a:extLst>
          </p:cNvPr>
          <p:cNvSpPr>
            <a:spLocks xmlns:a="http://schemas.openxmlformats.org/drawingml/2006/main" noGrp="1"/>
          </p:cNvSpPr>
          <p:nvPr/>
        </p:nvSpPr>
        <p:spPr>
          <a:xfrm xmlns:a="http://schemas.openxmlformats.org/drawingml/2006/main">
            <a:off x="609600" y="1695450"/>
            <a:ext cx="3238500" cy="1543050"/>
          </a:xfrm>
          <a:prstGeom xmlns:a="http://schemas.openxmlformats.org/drawingml/2006/main" prst="roundRect">
            <a:avLst>
              <a:gd name="adj" fmla="val 5556"/>
            </a:avLst>
          </a:prstGeom>
          <a:solidFill xmlns:a="http://schemas.openxmlformats.org/drawingml/2006/main">
            <a:srgbClr val="1E293B"/>
          </a:solidFill>
          <a:ln xmlns:a="http://schemas.openxmlformats.org/drawingml/2006/main" w="9525">
            <a:solidFill>
              <a:srgbClr val="22D3EE"/>
            </a:solidFill>
          </a:ln>
        </p:spPr>
      </p:sp>
      <p:sp>
        <p:nvSpPr>
          <p:cNvPr id="11" name="first-flink-text-12">
            <a:extLst xmlns:a="http://schemas.openxmlformats.org/drawingml/2006/main">
              <a:ext uri="{FF2B5EF4-FFF2-40B4-BE49-F238E27FC236}">
                <a16:creationId xmlns:a16="http://schemas.microsoft.com/office/drawing/2014/main" id="{99F335F2-4C7C-44AE-86C8-867DBCF5CD4A}"/>
              </a:ext>
            </a:extLst>
          </p:cNvPr>
          <p:cNvSpPr>
            <a:spLocks xmlns:a="http://schemas.openxmlformats.org/drawingml/2006/main" noGrp="1"/>
          </p:cNvSpPr>
          <p:nvPr/>
        </p:nvSpPr>
        <p:spPr>
          <a:xfrm xmlns:a="http://schemas.openxmlformats.org/drawingml/2006/main">
            <a:off x="762000" y="18288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문자열 비교</a:t>
            </a:r>
          </a:p>
        </p:txBody>
      </p:sp>
      <p:sp>
        <p:nvSpPr>
          <p:cNvPr id="12" name="first-flink-text-13">
            <a:extLst xmlns:a="http://schemas.openxmlformats.org/drawingml/2006/main">
              <a:ext uri="{FF2B5EF4-FFF2-40B4-BE49-F238E27FC236}">
                <a16:creationId xmlns:a16="http://schemas.microsoft.com/office/drawing/2014/main" id="{F772FBC8-8573-4341-BD98-5E6D20A6E8BE}"/>
              </a:ext>
            </a:extLst>
          </p:cNvPr>
          <p:cNvSpPr>
            <a:spLocks xmlns:a="http://schemas.openxmlformats.org/drawingml/2006/main" noGrp="1"/>
          </p:cNvSpPr>
          <p:nvPr/>
        </p:nvSpPr>
        <p:spPr>
          <a:xfrm xmlns:a="http://schemas.openxmlformats.org/drawingml/2006/main">
            <a:off x="762000" y="2286000"/>
            <a:ext cx="2933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Apple SD Gothic Neo"/>
                <a:ea typeface="Apple SD Gothic Neo"/>
                <a:cs typeface="Apple SD Gothic Neo"/>
              </a:defRPr>
            </a:defPPr>
            <a:lvl1pPr algn="l">
              <a:buNone/>
              <a:defRPr sz="1725" b="0">
                <a:solidFill>
                  <a:srgbClr val="F8FAFC"/>
                </a:solidFill>
                <a:latin typeface="Apple SD Gothic Neo"/>
                <a:ea typeface="Apple SD Gothic Neo"/>
                <a:cs typeface="Apple SD Gothic Neo"/>
              </a:defRPr>
            </a:lvl1pPr>
            <a:lvl2pPr algn="l">
              <a:buNone/>
              <a:defRPr sz="1725" b="0">
                <a:solidFill>
                  <a:srgbClr val="F8FAFC"/>
                </a:solidFill>
                <a:latin typeface="Apple SD Gothic Neo"/>
                <a:ea typeface="Apple SD Gothic Neo"/>
                <a:cs typeface="Apple SD Gothic Neo"/>
              </a:defRPr>
            </a:lvl2pPr>
            <a:lvl3pPr algn="l">
              <a:buNone/>
              <a:defRPr sz="1725" b="0">
                <a:solidFill>
                  <a:srgbClr val="F8FAFC"/>
                </a:solidFill>
                <a:latin typeface="Apple SD Gothic Neo"/>
                <a:ea typeface="Apple SD Gothic Neo"/>
                <a:cs typeface="Apple SD Gothic Neo"/>
              </a:defRPr>
            </a:lvl3pPr>
            <a:lvl4pPr algn="l">
              <a:buNone/>
              <a:defRPr sz="1725" b="0">
                <a:solidFill>
                  <a:srgbClr val="F8FAFC"/>
                </a:solidFill>
                <a:latin typeface="Apple SD Gothic Neo"/>
                <a:ea typeface="Apple SD Gothic Neo"/>
                <a:cs typeface="Apple SD Gothic Neo"/>
              </a:defRPr>
            </a:lvl4pPr>
            <a:lvl5pPr algn="l">
              <a:buNone/>
              <a:defRPr sz="1725" b="0">
                <a:solidFill>
                  <a:srgbClr val="F8FAFC"/>
                </a:solidFill>
                <a:latin typeface="Apple SD Gothic Neo"/>
                <a:ea typeface="Apple SD Gothic Neo"/>
                <a:cs typeface="Apple SD Gothic Neo"/>
              </a:defRPr>
            </a:lvl5pPr>
            <a:lvl6pPr algn="l">
              <a:buNone/>
              <a:defRPr sz="1725" b="0">
                <a:solidFill>
                  <a:srgbClr val="F8FAFC"/>
                </a:solidFill>
                <a:latin typeface="Apple SD Gothic Neo"/>
                <a:ea typeface="Apple SD Gothic Neo"/>
                <a:cs typeface="Apple SD Gothic Neo"/>
              </a:defRPr>
            </a:lvl6pPr>
            <a:lvl7pPr algn="l">
              <a:buNone/>
              <a:defRPr sz="1725" b="0">
                <a:solidFill>
                  <a:srgbClr val="F8FAFC"/>
                </a:solidFill>
                <a:latin typeface="Apple SD Gothic Neo"/>
                <a:ea typeface="Apple SD Gothic Neo"/>
                <a:cs typeface="Apple SD Gothic Neo"/>
              </a:defRPr>
            </a:lvl7pPr>
            <a:lvl8pPr algn="l">
              <a:buNone/>
              <a:defRPr sz="1725" b="0">
                <a:solidFill>
                  <a:srgbClr val="F8FAFC"/>
                </a:solidFill>
                <a:latin typeface="Apple SD Gothic Neo"/>
                <a:ea typeface="Apple SD Gothic Neo"/>
                <a:cs typeface="Apple SD Gothic Neo"/>
              </a:defRPr>
            </a:lvl8pPr>
            <a:lvl9pPr algn="l">
              <a:buNone/>
              <a:defRPr sz="1725" b="0">
                <a:solidFill>
                  <a:srgbClr val="F8FAFC"/>
                </a:solidFill>
                <a:latin typeface="Apple SD Gothic Neo"/>
                <a:ea typeface="Apple SD Gothic Neo"/>
                <a:cs typeface="Apple SD Gothic Neo"/>
              </a:defRPr>
            </a:lvl9pPr>
          </a:lstStyle>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문자열 내림차순은</a:t>
            </a:r>
          </a:p>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'9'가 '10'보다 앞</a:t>
            </a:r>
          </a:p>
        </p:txBody>
      </p:sp>
      <p:sp>
        <p:nvSpPr>
          <p:cNvPr id="13" name="first-flink-panel-14">
            <a:extLst xmlns:a="http://schemas.openxmlformats.org/drawingml/2006/main">
              <a:ext uri="{FF2B5EF4-FFF2-40B4-BE49-F238E27FC236}">
                <a16:creationId xmlns:a16="http://schemas.microsoft.com/office/drawing/2014/main" id="{DDC08225-9885-4586-8807-4F375A3F28C6}"/>
              </a:ext>
            </a:extLst>
          </p:cNvPr>
          <p:cNvSpPr>
            <a:spLocks xmlns:a="http://schemas.openxmlformats.org/drawingml/2006/main" noGrp="1"/>
          </p:cNvSpPr>
          <p:nvPr/>
        </p:nvSpPr>
        <p:spPr>
          <a:xfrm xmlns:a="http://schemas.openxmlformats.org/drawingml/2006/main">
            <a:off x="4476750" y="1695450"/>
            <a:ext cx="3238500" cy="1543050"/>
          </a:xfrm>
          <a:prstGeom xmlns:a="http://schemas.openxmlformats.org/drawingml/2006/main" prst="roundRect">
            <a:avLst>
              <a:gd name="adj" fmla="val 5556"/>
            </a:avLst>
          </a:prstGeom>
          <a:solidFill xmlns:a="http://schemas.openxmlformats.org/drawingml/2006/main">
            <a:srgbClr val="1E293B"/>
          </a:solidFill>
          <a:ln xmlns:a="http://schemas.openxmlformats.org/drawingml/2006/main" w="9525">
            <a:solidFill>
              <a:srgbClr val="22D3EE"/>
            </a:solidFill>
          </a:ln>
        </p:spPr>
      </p:sp>
      <p:sp>
        <p:nvSpPr>
          <p:cNvPr id="14" name="first-flink-text-15">
            <a:extLst xmlns:a="http://schemas.openxmlformats.org/drawingml/2006/main">
              <a:ext uri="{FF2B5EF4-FFF2-40B4-BE49-F238E27FC236}">
                <a16:creationId xmlns:a16="http://schemas.microsoft.com/office/drawing/2014/main" id="{6CE639F7-EED9-4445-8C8C-F586683B68AB}"/>
              </a:ext>
            </a:extLst>
          </p:cNvPr>
          <p:cNvSpPr>
            <a:spLocks xmlns:a="http://schemas.openxmlformats.org/drawingml/2006/main" noGrp="1"/>
          </p:cNvSpPr>
          <p:nvPr/>
        </p:nvSpPr>
        <p:spPr>
          <a:xfrm xmlns:a="http://schemas.openxmlformats.org/drawingml/2006/main">
            <a:off x="4629150" y="18288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숫자 비교</a:t>
            </a:r>
          </a:p>
        </p:txBody>
      </p:sp>
      <p:sp>
        <p:nvSpPr>
          <p:cNvPr id="15" name="first-flink-text-16">
            <a:extLst xmlns:a="http://schemas.openxmlformats.org/drawingml/2006/main">
              <a:ext uri="{FF2B5EF4-FFF2-40B4-BE49-F238E27FC236}">
                <a16:creationId xmlns:a16="http://schemas.microsoft.com/office/drawing/2014/main" id="{76CEE14C-A6E9-4BE3-ACBB-29C2E99DF1CB}"/>
              </a:ext>
            </a:extLst>
          </p:cNvPr>
          <p:cNvSpPr>
            <a:spLocks xmlns:a="http://schemas.openxmlformats.org/drawingml/2006/main" noGrp="1"/>
          </p:cNvSpPr>
          <p:nvPr/>
        </p:nvSpPr>
        <p:spPr>
          <a:xfrm xmlns:a="http://schemas.openxmlformats.org/drawingml/2006/main">
            <a:off x="4629150" y="2286000"/>
            <a:ext cx="2933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Apple SD Gothic Neo"/>
                <a:ea typeface="Apple SD Gothic Neo"/>
                <a:cs typeface="Apple SD Gothic Neo"/>
              </a:defRPr>
            </a:defPPr>
            <a:lvl1pPr algn="l">
              <a:buNone/>
              <a:defRPr sz="1725" b="0">
                <a:solidFill>
                  <a:srgbClr val="F8FAFC"/>
                </a:solidFill>
                <a:latin typeface="Apple SD Gothic Neo"/>
                <a:ea typeface="Apple SD Gothic Neo"/>
                <a:cs typeface="Apple SD Gothic Neo"/>
              </a:defRPr>
            </a:lvl1pPr>
            <a:lvl2pPr algn="l">
              <a:buNone/>
              <a:defRPr sz="1725" b="0">
                <a:solidFill>
                  <a:srgbClr val="F8FAFC"/>
                </a:solidFill>
                <a:latin typeface="Apple SD Gothic Neo"/>
                <a:ea typeface="Apple SD Gothic Neo"/>
                <a:cs typeface="Apple SD Gothic Neo"/>
              </a:defRPr>
            </a:lvl2pPr>
            <a:lvl3pPr algn="l">
              <a:buNone/>
              <a:defRPr sz="1725" b="0">
                <a:solidFill>
                  <a:srgbClr val="F8FAFC"/>
                </a:solidFill>
                <a:latin typeface="Apple SD Gothic Neo"/>
                <a:ea typeface="Apple SD Gothic Neo"/>
                <a:cs typeface="Apple SD Gothic Neo"/>
              </a:defRPr>
            </a:lvl3pPr>
            <a:lvl4pPr algn="l">
              <a:buNone/>
              <a:defRPr sz="1725" b="0">
                <a:solidFill>
                  <a:srgbClr val="F8FAFC"/>
                </a:solidFill>
                <a:latin typeface="Apple SD Gothic Neo"/>
                <a:ea typeface="Apple SD Gothic Neo"/>
                <a:cs typeface="Apple SD Gothic Neo"/>
              </a:defRPr>
            </a:lvl4pPr>
            <a:lvl5pPr algn="l">
              <a:buNone/>
              <a:defRPr sz="1725" b="0">
                <a:solidFill>
                  <a:srgbClr val="F8FAFC"/>
                </a:solidFill>
                <a:latin typeface="Apple SD Gothic Neo"/>
                <a:ea typeface="Apple SD Gothic Neo"/>
                <a:cs typeface="Apple SD Gothic Neo"/>
              </a:defRPr>
            </a:lvl5pPr>
            <a:lvl6pPr algn="l">
              <a:buNone/>
              <a:defRPr sz="1725" b="0">
                <a:solidFill>
                  <a:srgbClr val="F8FAFC"/>
                </a:solidFill>
                <a:latin typeface="Apple SD Gothic Neo"/>
                <a:ea typeface="Apple SD Gothic Neo"/>
                <a:cs typeface="Apple SD Gothic Neo"/>
              </a:defRPr>
            </a:lvl6pPr>
            <a:lvl7pPr algn="l">
              <a:buNone/>
              <a:defRPr sz="1725" b="0">
                <a:solidFill>
                  <a:srgbClr val="F8FAFC"/>
                </a:solidFill>
                <a:latin typeface="Apple SD Gothic Neo"/>
                <a:ea typeface="Apple SD Gothic Neo"/>
                <a:cs typeface="Apple SD Gothic Neo"/>
              </a:defRPr>
            </a:lvl7pPr>
            <a:lvl8pPr algn="l">
              <a:buNone/>
              <a:defRPr sz="1725" b="0">
                <a:solidFill>
                  <a:srgbClr val="F8FAFC"/>
                </a:solidFill>
                <a:latin typeface="Apple SD Gothic Neo"/>
                <a:ea typeface="Apple SD Gothic Neo"/>
                <a:cs typeface="Apple SD Gothic Neo"/>
              </a:defRPr>
            </a:lvl8pPr>
            <a:lvl9pPr algn="l">
              <a:buNone/>
              <a:defRPr sz="1725" b="0">
                <a:solidFill>
                  <a:srgbClr val="F8FAFC"/>
                </a:solidFill>
                <a:latin typeface="Apple SD Gothic Neo"/>
                <a:ea typeface="Apple SD Gothic Neo"/>
                <a:cs typeface="Apple SD Gothic Neo"/>
              </a:defRPr>
            </a:lvl9pPr>
          </a:lstStyle>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BIGINT 10이</a:t>
            </a:r>
          </a:p>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BIGINT 9보다 큽니다</a:t>
            </a:r>
          </a:p>
        </p:txBody>
      </p:sp>
      <p:sp>
        <p:nvSpPr>
          <p:cNvPr id="16" name="first-flink-panel-17">
            <a:extLst xmlns:a="http://schemas.openxmlformats.org/drawingml/2006/main">
              <a:ext uri="{FF2B5EF4-FFF2-40B4-BE49-F238E27FC236}">
                <a16:creationId xmlns:a16="http://schemas.microsoft.com/office/drawing/2014/main" id="{CEE424CD-DF9D-4A3E-AB7A-614B05ABBA79}"/>
              </a:ext>
            </a:extLst>
          </p:cNvPr>
          <p:cNvSpPr>
            <a:spLocks xmlns:a="http://schemas.openxmlformats.org/drawingml/2006/main" noGrp="1"/>
          </p:cNvSpPr>
          <p:nvPr/>
        </p:nvSpPr>
        <p:spPr>
          <a:xfrm xmlns:a="http://schemas.openxmlformats.org/drawingml/2006/main">
            <a:off x="8343900" y="1695450"/>
            <a:ext cx="3238500" cy="1543050"/>
          </a:xfrm>
          <a:prstGeom xmlns:a="http://schemas.openxmlformats.org/drawingml/2006/main" prst="roundRect">
            <a:avLst>
              <a:gd name="adj" fmla="val 5556"/>
            </a:avLst>
          </a:prstGeom>
          <a:solidFill xmlns:a="http://schemas.openxmlformats.org/drawingml/2006/main">
            <a:srgbClr val="1E293B"/>
          </a:solidFill>
          <a:ln xmlns:a="http://schemas.openxmlformats.org/drawingml/2006/main" w="9525">
            <a:solidFill>
              <a:srgbClr val="22D3EE"/>
            </a:solidFill>
          </a:ln>
        </p:spPr>
      </p:sp>
      <p:sp>
        <p:nvSpPr>
          <p:cNvPr id="17" name="first-flink-text-18">
            <a:extLst xmlns:a="http://schemas.openxmlformats.org/drawingml/2006/main">
              <a:ext uri="{FF2B5EF4-FFF2-40B4-BE49-F238E27FC236}">
                <a16:creationId xmlns:a16="http://schemas.microsoft.com/office/drawing/2014/main" id="{19C5F11A-8C6B-40E4-8972-ECDAAB8DDFBC}"/>
              </a:ext>
            </a:extLst>
          </p:cNvPr>
          <p:cNvSpPr>
            <a:spLocks xmlns:a="http://schemas.openxmlformats.org/drawingml/2006/main" noGrp="1"/>
          </p:cNvSpPr>
          <p:nvPr/>
        </p:nvSpPr>
        <p:spPr>
          <a:xfrm xmlns:a="http://schemas.openxmlformats.org/drawingml/2006/main">
            <a:off x="8496300" y="18288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변환 실패</a:t>
            </a:r>
          </a:p>
        </p:txBody>
      </p:sp>
      <p:sp>
        <p:nvSpPr>
          <p:cNvPr id="18" name="first-flink-text-19">
            <a:extLst xmlns:a="http://schemas.openxmlformats.org/drawingml/2006/main">
              <a:ext uri="{FF2B5EF4-FFF2-40B4-BE49-F238E27FC236}">
                <a16:creationId xmlns:a16="http://schemas.microsoft.com/office/drawing/2014/main" id="{762E460C-14EA-4870-83D1-D2B6DE000F69}"/>
              </a:ext>
            </a:extLst>
          </p:cNvPr>
          <p:cNvSpPr>
            <a:spLocks xmlns:a="http://schemas.openxmlformats.org/drawingml/2006/main" noGrp="1"/>
          </p:cNvSpPr>
          <p:nvPr/>
        </p:nvSpPr>
        <p:spPr>
          <a:xfrm xmlns:a="http://schemas.openxmlformats.org/drawingml/2006/main">
            <a:off x="8496300" y="2286000"/>
            <a:ext cx="2933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Apple SD Gothic Neo"/>
                <a:ea typeface="Apple SD Gothic Neo"/>
                <a:cs typeface="Apple SD Gothic Neo"/>
              </a:defRPr>
            </a:defPPr>
            <a:lvl1pPr algn="l">
              <a:buNone/>
              <a:defRPr sz="1725" b="0">
                <a:solidFill>
                  <a:srgbClr val="F8FAFC"/>
                </a:solidFill>
                <a:latin typeface="Apple SD Gothic Neo"/>
                <a:ea typeface="Apple SD Gothic Neo"/>
                <a:cs typeface="Apple SD Gothic Neo"/>
              </a:defRPr>
            </a:lvl1pPr>
            <a:lvl2pPr algn="l">
              <a:buNone/>
              <a:defRPr sz="1725" b="0">
                <a:solidFill>
                  <a:srgbClr val="F8FAFC"/>
                </a:solidFill>
                <a:latin typeface="Apple SD Gothic Neo"/>
                <a:ea typeface="Apple SD Gothic Neo"/>
                <a:cs typeface="Apple SD Gothic Neo"/>
              </a:defRPr>
            </a:lvl2pPr>
            <a:lvl3pPr algn="l">
              <a:buNone/>
              <a:defRPr sz="1725" b="0">
                <a:solidFill>
                  <a:srgbClr val="F8FAFC"/>
                </a:solidFill>
                <a:latin typeface="Apple SD Gothic Neo"/>
                <a:ea typeface="Apple SD Gothic Neo"/>
                <a:cs typeface="Apple SD Gothic Neo"/>
              </a:defRPr>
            </a:lvl3pPr>
            <a:lvl4pPr algn="l">
              <a:buNone/>
              <a:defRPr sz="1725" b="0">
                <a:solidFill>
                  <a:srgbClr val="F8FAFC"/>
                </a:solidFill>
                <a:latin typeface="Apple SD Gothic Neo"/>
                <a:ea typeface="Apple SD Gothic Neo"/>
                <a:cs typeface="Apple SD Gothic Neo"/>
              </a:defRPr>
            </a:lvl4pPr>
            <a:lvl5pPr algn="l">
              <a:buNone/>
              <a:defRPr sz="1725" b="0">
                <a:solidFill>
                  <a:srgbClr val="F8FAFC"/>
                </a:solidFill>
                <a:latin typeface="Apple SD Gothic Neo"/>
                <a:ea typeface="Apple SD Gothic Neo"/>
                <a:cs typeface="Apple SD Gothic Neo"/>
              </a:defRPr>
            </a:lvl5pPr>
            <a:lvl6pPr algn="l">
              <a:buNone/>
              <a:defRPr sz="1725" b="0">
                <a:solidFill>
                  <a:srgbClr val="F8FAFC"/>
                </a:solidFill>
                <a:latin typeface="Apple SD Gothic Neo"/>
                <a:ea typeface="Apple SD Gothic Neo"/>
                <a:cs typeface="Apple SD Gothic Neo"/>
              </a:defRPr>
            </a:lvl6pPr>
            <a:lvl7pPr algn="l">
              <a:buNone/>
              <a:defRPr sz="1725" b="0">
                <a:solidFill>
                  <a:srgbClr val="F8FAFC"/>
                </a:solidFill>
                <a:latin typeface="Apple SD Gothic Neo"/>
                <a:ea typeface="Apple SD Gothic Neo"/>
                <a:cs typeface="Apple SD Gothic Neo"/>
              </a:defRPr>
            </a:lvl7pPr>
            <a:lvl8pPr algn="l">
              <a:buNone/>
              <a:defRPr sz="1725" b="0">
                <a:solidFill>
                  <a:srgbClr val="F8FAFC"/>
                </a:solidFill>
                <a:latin typeface="Apple SD Gothic Neo"/>
                <a:ea typeface="Apple SD Gothic Neo"/>
                <a:cs typeface="Apple SD Gothic Neo"/>
              </a:defRPr>
            </a:lvl8pPr>
            <a:lvl9pPr algn="l">
              <a:buNone/>
              <a:defRPr sz="1725" b="0">
                <a:solidFill>
                  <a:srgbClr val="F8FAFC"/>
                </a:solidFill>
                <a:latin typeface="Apple SD Gothic Neo"/>
                <a:ea typeface="Apple SD Gothic Neo"/>
                <a:cs typeface="Apple SD Gothic Neo"/>
              </a:defRPr>
            </a:lvl9pPr>
          </a:lstStyle>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기본 CAST는 NULL 반환</a:t>
            </a:r>
          </a:p>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실행기가 MERGE 전 중단</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3467100"/>
            <a:ext cx="10972800" cy="1819275"/>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3581400"/>
            <a:ext cx="10572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CAST(get_json_object(payload, '$.source.lsn')</a:t>
            </a:r>
          </a:p>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     AS BIGINT) AS source_lsn</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타입이 바뀌면 최신 후보의 순서도 달라질 수 있습니다</a:t>
            </a:r>
          </a:p>
        </p:txBody>
      </p:sp>
    </p:spTree>
    <p:extLst>
      <p:ext uri="{BB962C8B-B14F-4D97-AF65-F5344CB8AC3E}">
        <p14:creationId xmlns:p14="http://schemas.microsoft.com/office/powerpoint/2010/main" val="1899261296"/>
      </p:ext>
    </p:extLst>
  </p:cSld>
</p:sld>
</file>

<file path=ppt/slides/slide1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변경 종류에 따라 행을 고릅니다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11</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{"op":"u",</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"before":{"refund_id":"refund-r1","amount":20000},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"after":{"refund_id":"refund-r1","amount":30000},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"source":{"lsn":200}}</a:t>
            </a:r>
          </a:p>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{"op":"d",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"before":{"refund_id":"refund-r1","amount":30000},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"after":null,"source":{"lsn":300}}</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고정 입력 축약 · c/u/r은 after, d는 before · tombstone은 별개</a:t>
            </a:r>
          </a:p>
        </p:txBody>
      </p:sp>
    </p:spTree>
    <p:extLst>
      <p:ext uri="{BB962C8B-B14F-4D97-AF65-F5344CB8AC3E}">
        <p14:creationId xmlns:p14="http://schemas.microsoft.com/office/powerpoint/2010/main" val="1899261296"/>
      </p:ext>
    </p:extLst>
  </p:cSld>
</p:sld>
</file>

<file path=ppt/slides/slide1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정규화와 유효 입력</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12</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정규화한 컬럼</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타입</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확인할 조건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refund_id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STRING</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NULL PK이면 MERGE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amount / source_lsn</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BIGINT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NULL·변환 실패이면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op / 전달 위치</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c/u/r/d · 같은 토픽/파티션</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알 수 없는 op·충돌이면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is_deleted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BOOLEAN</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검증된 op = d이면 true</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runner가 상한 필터 전 전체 fixture를 검증합니다 · 파싱 SELECT 자체는 입력 검증이 아닙니다</a:t>
            </a:r>
          </a:p>
        </p:txBody>
      </p:sp>
    </p:spTree>
    <p:extLst>
      <p:ext uri="{BB962C8B-B14F-4D97-AF65-F5344CB8AC3E}">
        <p14:creationId xmlns:p14="http://schemas.microsoft.com/office/powerpoint/2010/main" val="602725031"/>
      </p:ext>
    </p:extLst>
  </p:cSld>
</p:sld>
</file>

<file path=ppt/slides/slide1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같은 키의 후보에 순위를 매깁니다</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13</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같은 refund_id</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버전·상태</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후보 순위</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생성 c</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LSN 100 / 20000 / false</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rn = 3</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정정 u</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LSN 200 / 30000 / false</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rn = 2</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철회 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LSN 300 / 30000 / true</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rn = 1</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선택 결과</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마지막 삭제 후보 한 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이후 유효 상태 필터</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삭제도 순위에 포함합니다 · 먼저 제외하면 초기 구축에서 삭제가 빠집니다</a:t>
            </a:r>
          </a:p>
        </p:txBody>
      </p:sp>
    </p:spTree>
    <p:extLst>
      <p:ext uri="{BB962C8B-B14F-4D97-AF65-F5344CB8AC3E}">
        <p14:creationId xmlns:p14="http://schemas.microsoft.com/office/powerpoint/2010/main" val="602725031"/>
      </p:ext>
    </p:extLst>
  </p:cSld>
</p:sld>
</file>

<file path=ppt/slides/slide1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ROW_NUMBER로 최신 후보를 고릅니다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14</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WITH ranked AS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SELECT *, ROW_NUMBER() OVER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PARTITION BY refund_id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ORDER BY source_lsn DESC, kafka_offset DESC</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 AS rn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FROM typed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SELECT refund_id, amount, is_deleted, source_lsn, kafka_offset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FROM ranked WHERE rn = 1</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PARTITION BY는 엔티티 묶음 · ORDER BY는 버전 우선순위</a:t>
            </a:r>
          </a:p>
        </p:txBody>
      </p:sp>
    </p:spTree>
    <p:extLst>
      <p:ext uri="{BB962C8B-B14F-4D97-AF65-F5344CB8AC3E}">
        <p14:creationId xmlns:p14="http://schemas.microsoft.com/office/powerpoint/2010/main" val="1899261296"/>
      </p:ext>
    </p:extLst>
  </p:cSld>
</p:sld>
</file>

<file path=ppt/slides/slide1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DISTINCT와 MAX(amount)의 한계</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15</a:t>
            </a:r>
          </a:p>
        </p:txBody>
      </p:sp>
      <p:sp>
        <p:nvSpPr>
          <p:cNvPr id="18" name="s03-panel-38">
            <a:extLst xmlns:a="http://schemas.openxmlformats.org/drawingml/2006/main">
              <a:ext uri="{FF2B5EF4-FFF2-40B4-BE49-F238E27FC236}">
                <a16:creationId xmlns:a16="http://schemas.microsoft.com/office/drawing/2014/main" id="{4D522876-18A8-48F6-9B1E-5E6233135031}"/>
              </a:ext>
            </a:extLst>
          </p:cNvPr>
          <p:cNvSpPr>
            <a:spLocks xmlns:a="http://schemas.openxmlformats.org/drawingml/2006/main" noGrp="1"/>
          </p:cNvSpPr>
          <p:nvPr/>
        </p:nvSpPr>
        <p:spPr>
          <a:xfrm xmlns:a="http://schemas.openxmlformats.org/drawingml/2006/main">
            <a:off x="609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9" name="s03-text-39">
            <a:extLst xmlns:a="http://schemas.openxmlformats.org/drawingml/2006/main">
              <a:ext uri="{FF2B5EF4-FFF2-40B4-BE49-F238E27FC236}">
                <a16:creationId xmlns:a16="http://schemas.microsoft.com/office/drawing/2014/main" id="{A56B8419-29A5-4307-B258-38277CBAED01}"/>
              </a:ext>
            </a:extLst>
          </p:cNvPr>
          <p:cNvSpPr>
            <a:spLocks xmlns:a="http://schemas.openxmlformats.org/drawingml/2006/main" noGrp="1"/>
          </p:cNvSpPr>
          <p:nvPr/>
        </p:nvSpPr>
        <p:spPr>
          <a:xfrm xmlns:a="http://schemas.openxmlformats.org/drawingml/2006/main">
            <a:off x="819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DISTINCT</a:t>
            </a:r>
          </a:p>
        </p:txBody>
      </p:sp>
      <p:sp>
        <p:nvSpPr>
          <p:cNvPr id="20" name="s03-text-40">
            <a:extLst xmlns:a="http://schemas.openxmlformats.org/drawingml/2006/main">
              <a:ext uri="{FF2B5EF4-FFF2-40B4-BE49-F238E27FC236}">
                <a16:creationId xmlns:a16="http://schemas.microsoft.com/office/drawing/2014/main" id="{849CDED0-6089-41BB-95F2-613D94F0A165}"/>
              </a:ext>
            </a:extLst>
          </p:cNvPr>
          <p:cNvSpPr>
            <a:spLocks xmlns:a="http://schemas.openxmlformats.org/drawingml/2006/main" noGrp="1"/>
          </p:cNvSpPr>
          <p:nvPr/>
        </p:nvSpPr>
        <p:spPr>
          <a:xfrm xmlns:a="http://schemas.openxmlformats.org/drawingml/2006/main">
            <a:off x="819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다른 버전이면</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여러 행이 남습니다</a:t>
            </a:r>
          </a:p>
        </p:txBody>
      </p:sp>
      <p:sp>
        <p:nvSpPr>
          <p:cNvPr id="21" name="s03-panel-41">
            <a:extLst xmlns:a="http://schemas.openxmlformats.org/drawingml/2006/main">
              <a:ext uri="{FF2B5EF4-FFF2-40B4-BE49-F238E27FC236}">
                <a16:creationId xmlns:a16="http://schemas.microsoft.com/office/drawing/2014/main" id="{C95F1E3D-A1C5-40C0-AA5A-F92BCAFB334C}"/>
              </a:ext>
            </a:extLst>
          </p:cNvPr>
          <p:cNvSpPr>
            <a:spLocks xmlns:a="http://schemas.openxmlformats.org/drawingml/2006/main" noGrp="1"/>
          </p:cNvSpPr>
          <p:nvPr/>
        </p:nvSpPr>
        <p:spPr>
          <a:xfrm xmlns:a="http://schemas.openxmlformats.org/drawingml/2006/main">
            <a:off x="43561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2" name="s03-text-42">
            <a:extLst xmlns:a="http://schemas.openxmlformats.org/drawingml/2006/main">
              <a:ext uri="{FF2B5EF4-FFF2-40B4-BE49-F238E27FC236}">
                <a16:creationId xmlns:a16="http://schemas.microsoft.com/office/drawing/2014/main" id="{ABD1C8D6-6953-42DB-A1B2-C87696DBA1EA}"/>
              </a:ext>
            </a:extLst>
          </p:cNvPr>
          <p:cNvSpPr>
            <a:spLocks xmlns:a="http://schemas.openxmlformats.org/drawingml/2006/main" noGrp="1"/>
          </p:cNvSpPr>
          <p:nvPr/>
        </p:nvSpPr>
        <p:spPr>
          <a:xfrm xmlns:a="http://schemas.openxmlformats.org/drawingml/2006/main">
            <a:off x="45656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MAX(amount)</a:t>
            </a:r>
          </a:p>
        </p:txBody>
      </p:sp>
      <p:sp>
        <p:nvSpPr>
          <p:cNvPr id="23" name="s03-text-43">
            <a:extLst xmlns:a="http://schemas.openxmlformats.org/drawingml/2006/main">
              <a:ext uri="{FF2B5EF4-FFF2-40B4-BE49-F238E27FC236}">
                <a16:creationId xmlns:a16="http://schemas.microsoft.com/office/drawing/2014/main" id="{4DA1AB5A-70E7-4A2F-9050-B42060395635}"/>
              </a:ext>
            </a:extLst>
          </p:cNvPr>
          <p:cNvSpPr>
            <a:spLocks xmlns:a="http://schemas.openxmlformats.org/drawingml/2006/main" noGrp="1"/>
          </p:cNvSpPr>
          <p:nvPr/>
        </p:nvSpPr>
        <p:spPr>
          <a:xfrm xmlns:a="http://schemas.openxmlformats.org/drawingml/2006/main">
            <a:off x="45656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30000 → 10000 정정</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과거 30000을 선택</a:t>
            </a:r>
          </a:p>
        </p:txBody>
      </p:sp>
      <p:sp>
        <p:nvSpPr>
          <p:cNvPr id="24" name="s03-panel-44">
            <a:extLst xmlns:a="http://schemas.openxmlformats.org/drawingml/2006/main">
              <a:ext uri="{FF2B5EF4-FFF2-40B4-BE49-F238E27FC236}">
                <a16:creationId xmlns:a16="http://schemas.microsoft.com/office/drawing/2014/main" id="{C96F8D07-D0F2-4307-A8FE-634C00F663D7}"/>
              </a:ext>
            </a:extLst>
          </p:cNvPr>
          <p:cNvSpPr>
            <a:spLocks xmlns:a="http://schemas.openxmlformats.org/drawingml/2006/main" noGrp="1"/>
          </p:cNvSpPr>
          <p:nvPr/>
        </p:nvSpPr>
        <p:spPr>
          <a:xfrm xmlns:a="http://schemas.openxmlformats.org/drawingml/2006/main">
            <a:off x="8102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5" name="s03-text-45">
            <a:extLst xmlns:a="http://schemas.openxmlformats.org/drawingml/2006/main">
              <a:ext uri="{FF2B5EF4-FFF2-40B4-BE49-F238E27FC236}">
                <a16:creationId xmlns:a16="http://schemas.microsoft.com/office/drawing/2014/main" id="{0E444FC2-D9D7-485E-BE2E-439F8066A340}"/>
              </a:ext>
            </a:extLst>
          </p:cNvPr>
          <p:cNvSpPr>
            <a:spLocks xmlns:a="http://schemas.openxmlformats.org/drawingml/2006/main" noGrp="1"/>
          </p:cNvSpPr>
          <p:nvPr/>
        </p:nvSpPr>
        <p:spPr>
          <a:xfrm xmlns:a="http://schemas.openxmlformats.org/drawingml/2006/main">
            <a:off x="8312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4D399"/>
                </a:solidFill>
                <a:latin typeface="Apple SD Gothic Neo"/>
                <a:ea typeface="Apple SD Gothic Neo"/>
                <a:cs typeface="Apple SD Gothic Neo"/>
              </a:defRPr>
            </a:defPPr>
            <a:lvl1pPr algn="l">
              <a:buNone/>
              <a:defRPr sz="2100" b="1">
                <a:solidFill>
                  <a:srgbClr val="34D399"/>
                </a:solidFill>
                <a:latin typeface="Apple SD Gothic Neo"/>
                <a:ea typeface="Apple SD Gothic Neo"/>
                <a:cs typeface="Apple SD Gothic Neo"/>
              </a:defRPr>
            </a:lvl1pPr>
            <a:lvl2pPr algn="l">
              <a:buNone/>
              <a:defRPr sz="2100" b="1">
                <a:solidFill>
                  <a:srgbClr val="34D399"/>
                </a:solidFill>
                <a:latin typeface="Apple SD Gothic Neo"/>
                <a:ea typeface="Apple SD Gothic Neo"/>
                <a:cs typeface="Apple SD Gothic Neo"/>
              </a:defRPr>
            </a:lvl2pPr>
            <a:lvl3pPr algn="l">
              <a:buNone/>
              <a:defRPr sz="2100" b="1">
                <a:solidFill>
                  <a:srgbClr val="34D399"/>
                </a:solidFill>
                <a:latin typeface="Apple SD Gothic Neo"/>
                <a:ea typeface="Apple SD Gothic Neo"/>
                <a:cs typeface="Apple SD Gothic Neo"/>
              </a:defRPr>
            </a:lvl3pPr>
            <a:lvl4pPr algn="l">
              <a:buNone/>
              <a:defRPr sz="2100" b="1">
                <a:solidFill>
                  <a:srgbClr val="34D399"/>
                </a:solidFill>
                <a:latin typeface="Apple SD Gothic Neo"/>
                <a:ea typeface="Apple SD Gothic Neo"/>
                <a:cs typeface="Apple SD Gothic Neo"/>
              </a:defRPr>
            </a:lvl4pPr>
            <a:lvl5pPr algn="l">
              <a:buNone/>
              <a:defRPr sz="2100" b="1">
                <a:solidFill>
                  <a:srgbClr val="34D399"/>
                </a:solidFill>
                <a:latin typeface="Apple SD Gothic Neo"/>
                <a:ea typeface="Apple SD Gothic Neo"/>
                <a:cs typeface="Apple SD Gothic Neo"/>
              </a:defRPr>
            </a:lvl5pPr>
            <a:lvl6pPr algn="l">
              <a:buNone/>
              <a:defRPr sz="2100" b="1">
                <a:solidFill>
                  <a:srgbClr val="34D399"/>
                </a:solidFill>
                <a:latin typeface="Apple SD Gothic Neo"/>
                <a:ea typeface="Apple SD Gothic Neo"/>
                <a:cs typeface="Apple SD Gothic Neo"/>
              </a:defRPr>
            </a:lvl6pPr>
            <a:lvl7pPr algn="l">
              <a:buNone/>
              <a:defRPr sz="2100" b="1">
                <a:solidFill>
                  <a:srgbClr val="34D399"/>
                </a:solidFill>
                <a:latin typeface="Apple SD Gothic Neo"/>
                <a:ea typeface="Apple SD Gothic Neo"/>
                <a:cs typeface="Apple SD Gothic Neo"/>
              </a:defRPr>
            </a:lvl7pPr>
            <a:lvl8pPr algn="l">
              <a:buNone/>
              <a:defRPr sz="2100" b="1">
                <a:solidFill>
                  <a:srgbClr val="34D399"/>
                </a:solidFill>
                <a:latin typeface="Apple SD Gothic Neo"/>
                <a:ea typeface="Apple SD Gothic Neo"/>
                <a:cs typeface="Apple SD Gothic Neo"/>
              </a:defRPr>
            </a:lvl8pPr>
            <a:lvl9pPr algn="l">
              <a:buNone/>
              <a:defRPr sz="2100" b="1">
                <a:solidFill>
                  <a:srgbClr val="34D399"/>
                </a:solidFill>
                <a:latin typeface="Apple SD Gothic Neo"/>
                <a:ea typeface="Apple SD Gothic Neo"/>
                <a:cs typeface="Apple SD Gothic Neo"/>
              </a:defRPr>
            </a:lvl9pPr>
          </a:lstStyle>
          <a:p xmlns:a="http://schemas.openxmlformats.org/drawingml/2006/main">
            <a:pPr algn="l">
              <a:buNone/>
              <a:defRPr sz="2100" b="1">
                <a:solidFill>
                  <a:srgbClr val="34D399"/>
                </a:solidFill>
                <a:latin typeface="Apple SD Gothic Neo"/>
                <a:ea typeface="Apple SD Gothic Neo"/>
                <a:cs typeface="Apple SD Gothic Neo"/>
              </a:defRPr>
            </a:pPr>
            <a:r>
              <a:rPr sz="2100" b="1">
                <a:solidFill>
                  <a:srgbClr val="34D399"/>
                </a:solidFill>
                <a:latin typeface="Apple SD Gothic Neo"/>
                <a:ea typeface="Apple SD Gothic Neo"/>
                <a:cs typeface="Apple SD Gothic Neo"/>
              </a:rPr>
              <a:t>버전으로 선택</a:t>
            </a:r>
          </a:p>
        </p:txBody>
      </p:sp>
      <p:sp>
        <p:nvSpPr>
          <p:cNvPr id="26" name="s03-text-46">
            <a:extLst xmlns:a="http://schemas.openxmlformats.org/drawingml/2006/main">
              <a:ext uri="{FF2B5EF4-FFF2-40B4-BE49-F238E27FC236}">
                <a16:creationId xmlns:a16="http://schemas.microsoft.com/office/drawing/2014/main" id="{6AE703BE-E880-4D0A-87CF-70D1569B89D1}"/>
              </a:ext>
            </a:extLst>
          </p:cNvPr>
          <p:cNvSpPr>
            <a:spLocks xmlns:a="http://schemas.openxmlformats.org/drawingml/2006/main" noGrp="1"/>
          </p:cNvSpPr>
          <p:nvPr/>
        </p:nvSpPr>
        <p:spPr>
          <a:xfrm xmlns:a="http://schemas.openxmlformats.org/drawingml/2006/main">
            <a:off x="8312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최신 버전의</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현재 금액은 10000</a:t>
            </a:r>
          </a:p>
        </p:txBody>
      </p:sp>
      <p:sp>
        <p:nvSpPr>
          <p:cNvPr id="27" name="s03-panel-47">
            <a:extLst xmlns:a="http://schemas.openxmlformats.org/drawingml/2006/main">
              <a:ext uri="{FF2B5EF4-FFF2-40B4-BE49-F238E27FC236}">
                <a16:creationId xmlns:a16="http://schemas.microsoft.com/office/drawing/2014/main" id="{39198901-CF90-42FA-B755-AF757D9692A9}"/>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8" name="s03-text-48">
            <a:extLst xmlns:a="http://schemas.openxmlformats.org/drawingml/2006/main">
              <a:ext uri="{FF2B5EF4-FFF2-40B4-BE49-F238E27FC236}">
                <a16:creationId xmlns:a16="http://schemas.microsoft.com/office/drawing/2014/main" id="{C9057E26-398A-4E73-88DA-C9798DEECCC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가상 반례 30000 → 10000 · 공통 fixture는 20000 → 30000입니다</a:t>
            </a:r>
          </a:p>
        </p:txBody>
      </p:sp>
    </p:spTree>
    <p:extLst>
      <p:ext uri="{BB962C8B-B14F-4D97-AF65-F5344CB8AC3E}">
        <p14:creationId xmlns:p14="http://schemas.microsoft.com/office/powerpoint/2010/main" val="602725031"/>
      </p:ext>
    </p:extLst>
  </p:cSld>
</p:sld>
</file>

<file path=ppt/slides/slide1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MERGE의 세 가지 판단</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16</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MERGE INTO {silver} AS 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USING {incoming} AS s</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ON t.refund_id = s.refund_id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WHEN MATCHED AND ( /* 다음 장의 버전 조건 */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THEN UPDATE SET /* 키 이외의 값·삭제·버전 컬럼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WHEN NOT MATCHED THEN INSERT ( /* 명시한 컬럼 */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VALUES ( /* 대응하는 s 컬럼 */ )</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MERGE 구조 요약 · 실행할 전체 SQL은 sql/02-merge.sql에 있습니다</a:t>
            </a:r>
          </a:p>
        </p:txBody>
      </p:sp>
    </p:spTree>
    <p:extLst>
      <p:ext uri="{BB962C8B-B14F-4D97-AF65-F5344CB8AC3E}">
        <p14:creationId xmlns:p14="http://schemas.microsoft.com/office/powerpoint/2010/main" val="1899261296"/>
      </p:ext>
    </p:extLst>
  </p:cSld>
</p:sld>
</file>

<file path=ppt/slides/slide1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버전 가드와 늦은 변경</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17</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WHEN MATCHED AND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s.source_lsn &gt; t.source_lsn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OR (s.source_lsn = t.source_lsn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AND s.kafka_offset &gt; t.kafka_offset)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THEN UPDATE SET ...</a:t>
            </a:r>
          </a:p>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대상: 삭제 LSN 300 / 입력: 과거 UPDATE LSN 200, offset 999</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이 입력은 대상을 갱신할까요?</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ROW_NUMBER는 입력 배치 안의 최신 · MERGE 가드는 기존 target과 비교</a:t>
            </a:r>
          </a:p>
        </p:txBody>
      </p:sp>
    </p:spTree>
    <p:extLst>
      <p:ext uri="{BB962C8B-B14F-4D97-AF65-F5344CB8AC3E}">
        <p14:creationId xmlns:p14="http://schemas.microsoft.com/office/powerpoint/2010/main" val="1899261296"/>
      </p:ext>
    </p:extLst>
  </p:cSld>
</p:sld>
</file>

<file path=ppt/slides/slide1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삭제 표시와 재처리</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18</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현재 snapshot의 보존 행</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refund_id 한 행</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amount = 30000</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is_deleted = true</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source_lsn = 300</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현재 유효한 환불</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WHERE NOT is_deleted</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조회 결과 0행</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과거 UPDATE로 부활 방지</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삭제 행의 amount는 마지막 before 값이며 유효한 환불액이 아닙니다</a:t>
            </a:r>
          </a:p>
        </p:txBody>
      </p:sp>
    </p:spTree>
    <p:extLst>
      <p:ext uri="{BB962C8B-B14F-4D97-AF65-F5344CB8AC3E}">
        <p14:creationId xmlns:p14="http://schemas.microsoft.com/office/powerpoint/2010/main" val="1899261296"/>
      </p:ext>
    </p:extLst>
  </p:cSld>
</p:sld>
</file>

<file path=ppt/slides/slide1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F78952D-7C81-4B58-9F76-59D6A1DC8C55}"/>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D5A63AAA-B4F3-4E9F-A97E-15A31EDE7FB5}"/>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A — 고정 입력에서 후보 SELECT</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19</a:t>
            </a:r>
          </a:p>
        </p:txBody>
      </p:sp>
      <p:sp>
        <p:nvSpPr>
          <p:cNvPr id="10" name="first-flink-panel-71">
            <a:extLst xmlns:a="http://schemas.openxmlformats.org/drawingml/2006/main">
              <a:ext uri="{FF2B5EF4-FFF2-40B4-BE49-F238E27FC236}">
                <a16:creationId xmlns:a16="http://schemas.microsoft.com/office/drawing/2014/main" id="{61520F5F-FE2F-4BAA-8F2C-E1763E6A3C44}"/>
              </a:ext>
            </a:extLst>
          </p:cNvPr>
          <p:cNvSpPr>
            <a:spLocks xmlns:a="http://schemas.openxmlformats.org/drawingml/2006/main" noGrp="1"/>
          </p:cNvSpPr>
          <p:nvPr/>
        </p:nvSpPr>
        <p:spPr>
          <a:xfrm xmlns:a="http://schemas.openxmlformats.org/drawingml/2006/main">
            <a:off x="6096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1" name="first-flink-text-72">
            <a:extLst xmlns:a="http://schemas.openxmlformats.org/drawingml/2006/main">
              <a:ext uri="{FF2B5EF4-FFF2-40B4-BE49-F238E27FC236}">
                <a16:creationId xmlns:a16="http://schemas.microsoft.com/office/drawing/2014/main" id="{6E081DC7-44FF-4601-8282-7059A2E86352}"/>
              </a:ext>
            </a:extLst>
          </p:cNvPr>
          <p:cNvSpPr>
            <a:spLocks xmlns:a="http://schemas.openxmlformats.org/drawingml/2006/main" noGrp="1"/>
          </p:cNvSpPr>
          <p:nvPr/>
        </p:nvSpPr>
        <p:spPr>
          <a:xfrm xmlns:a="http://schemas.openxmlformats.org/drawingml/2006/main">
            <a:off x="7620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① 고정 원문</a:t>
            </a:r>
          </a:p>
        </p:txBody>
      </p:sp>
      <p:sp>
        <p:nvSpPr>
          <p:cNvPr id="12" name="first-flink-text-73">
            <a:extLst xmlns:a="http://schemas.openxmlformats.org/drawingml/2006/main">
              <a:ext uri="{FF2B5EF4-FFF2-40B4-BE49-F238E27FC236}">
                <a16:creationId xmlns:a16="http://schemas.microsoft.com/office/drawing/2014/main" id="{00012702-5688-447A-B914-4E85CE486EC0}"/>
              </a:ext>
            </a:extLst>
          </p:cNvPr>
          <p:cNvSpPr>
            <a:spLocks xmlns:a="http://schemas.openxmlformats.org/drawingml/2006/main" noGrp="1"/>
          </p:cNvSpPr>
          <p:nvPr/>
        </p:nvSpPr>
        <p:spPr>
          <a:xfrm xmlns:a="http://schemas.openxmlformats.org/drawingml/2006/main">
            <a:off x="7620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c / u / d를</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처음부터 준비</a:t>
            </a:r>
          </a:p>
        </p:txBody>
      </p:sp>
      <p:sp>
        <p:nvSpPr>
          <p:cNvPr id="13" name="first-flink-panel-74">
            <a:extLst xmlns:a="http://schemas.openxmlformats.org/drawingml/2006/main">
              <a:ext uri="{FF2B5EF4-FFF2-40B4-BE49-F238E27FC236}">
                <a16:creationId xmlns:a16="http://schemas.microsoft.com/office/drawing/2014/main" id="{66EBB230-AD99-4DE0-8661-64D22FF42D79}"/>
              </a:ext>
            </a:extLst>
          </p:cNvPr>
          <p:cNvSpPr>
            <a:spLocks xmlns:a="http://schemas.openxmlformats.org/drawingml/2006/main" noGrp="1"/>
          </p:cNvSpPr>
          <p:nvPr/>
        </p:nvSpPr>
        <p:spPr>
          <a:xfrm xmlns:a="http://schemas.openxmlformats.org/drawingml/2006/main">
            <a:off x="447675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4" name="first-flink-text-75">
            <a:extLst xmlns:a="http://schemas.openxmlformats.org/drawingml/2006/main">
              <a:ext uri="{FF2B5EF4-FFF2-40B4-BE49-F238E27FC236}">
                <a16:creationId xmlns:a16="http://schemas.microsoft.com/office/drawing/2014/main" id="{BA90D0AC-A49B-45C1-B932-80AECF81060C}"/>
              </a:ext>
            </a:extLst>
          </p:cNvPr>
          <p:cNvSpPr>
            <a:spLocks xmlns:a="http://schemas.openxmlformats.org/drawingml/2006/main" noGrp="1"/>
          </p:cNvSpPr>
          <p:nvPr/>
        </p:nvSpPr>
        <p:spPr>
          <a:xfrm xmlns:a="http://schemas.openxmlformats.org/drawingml/2006/main">
            <a:off x="462915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② 정규화</a:t>
            </a:r>
          </a:p>
        </p:txBody>
      </p:sp>
      <p:sp>
        <p:nvSpPr>
          <p:cNvPr id="15" name="first-flink-text-76">
            <a:extLst xmlns:a="http://schemas.openxmlformats.org/drawingml/2006/main">
              <a:ext uri="{FF2B5EF4-FFF2-40B4-BE49-F238E27FC236}">
                <a16:creationId xmlns:a16="http://schemas.microsoft.com/office/drawing/2014/main" id="{6B9FD24C-BD07-45DA-8DAB-F8E85E49C7BF}"/>
              </a:ext>
            </a:extLst>
          </p:cNvPr>
          <p:cNvSpPr>
            <a:spLocks xmlns:a="http://schemas.openxmlformats.org/drawingml/2006/main" noGrp="1"/>
          </p:cNvSpPr>
          <p:nvPr/>
        </p:nvSpPr>
        <p:spPr>
          <a:xfrm xmlns:a="http://schemas.openxmlformats.org/drawingml/2006/main">
            <a:off x="462915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op·before/after</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숫자 LSN·offset</a:t>
            </a:r>
          </a:p>
        </p:txBody>
      </p:sp>
      <p:sp>
        <p:nvSpPr>
          <p:cNvPr id="16" name="first-flink-panel-77">
            <a:extLst xmlns:a="http://schemas.openxmlformats.org/drawingml/2006/main">
              <a:ext uri="{FF2B5EF4-FFF2-40B4-BE49-F238E27FC236}">
                <a16:creationId xmlns:a16="http://schemas.microsoft.com/office/drawing/2014/main" id="{BEE5561B-EE73-4CF6-9B24-919C9BD76277}"/>
              </a:ext>
            </a:extLst>
          </p:cNvPr>
          <p:cNvSpPr>
            <a:spLocks xmlns:a="http://schemas.openxmlformats.org/drawingml/2006/main" noGrp="1"/>
          </p:cNvSpPr>
          <p:nvPr/>
        </p:nvSpPr>
        <p:spPr>
          <a:xfrm xmlns:a="http://schemas.openxmlformats.org/drawingml/2006/main">
            <a:off x="83439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7" name="first-flink-text-78">
            <a:extLst xmlns:a="http://schemas.openxmlformats.org/drawingml/2006/main">
              <a:ext uri="{FF2B5EF4-FFF2-40B4-BE49-F238E27FC236}">
                <a16:creationId xmlns:a16="http://schemas.microsoft.com/office/drawing/2014/main" id="{A5F9849C-892C-4D82-A53D-1A15A5B7967F}"/>
              </a:ext>
            </a:extLst>
          </p:cNvPr>
          <p:cNvSpPr>
            <a:spLocks xmlns:a="http://schemas.openxmlformats.org/drawingml/2006/main" noGrp="1"/>
          </p:cNvSpPr>
          <p:nvPr/>
        </p:nvSpPr>
        <p:spPr>
          <a:xfrm xmlns:a="http://schemas.openxmlformats.org/drawingml/2006/main">
            <a:off x="84963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③ 최신 후보</a:t>
            </a:r>
          </a:p>
        </p:txBody>
      </p:sp>
      <p:sp>
        <p:nvSpPr>
          <p:cNvPr id="18" name="first-flink-text-79">
            <a:extLst xmlns:a="http://schemas.openxmlformats.org/drawingml/2006/main">
              <a:ext uri="{FF2B5EF4-FFF2-40B4-BE49-F238E27FC236}">
                <a16:creationId xmlns:a16="http://schemas.microsoft.com/office/drawing/2014/main" id="{607F98D7-F09A-447B-BA5C-FF32B0BFDB17}"/>
              </a:ext>
            </a:extLst>
          </p:cNvPr>
          <p:cNvSpPr>
            <a:spLocks xmlns:a="http://schemas.openxmlformats.org/drawingml/2006/main" noGrp="1"/>
          </p:cNvSpPr>
          <p:nvPr/>
        </p:nvSpPr>
        <p:spPr>
          <a:xfrm xmlns:a="http://schemas.openxmlformats.org/drawingml/2006/main">
            <a:off x="84963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rn = 1</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LSN 300의 삭제</a:t>
            </a:r>
          </a:p>
        </p:txBody>
      </p:sp>
      <p:sp>
        <p:nvSpPr>
          <p:cNvPr id="21" name="first-flink-panel-80">
            <a:extLst xmlns:a="http://schemas.openxmlformats.org/drawingml/2006/main">
              <a:ext uri="{FF2B5EF4-FFF2-40B4-BE49-F238E27FC236}">
                <a16:creationId xmlns:a16="http://schemas.microsoft.com/office/drawing/2014/main" id="{AD838563-AAC4-41A8-A328-79B3297DAEA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2" name="first-flink-text-81">
            <a:extLst xmlns:a="http://schemas.openxmlformats.org/drawingml/2006/main">
              <a:ext uri="{FF2B5EF4-FFF2-40B4-BE49-F238E27FC236}">
                <a16:creationId xmlns:a16="http://schemas.microsoft.com/office/drawing/2014/main" id="{397CC13A-F433-462A-8D5F-CCFE115E8B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A · 고정 입력 전체의 최신 후보 확인, 다음은 상한별 단계 재생</a:t>
            </a:r>
          </a:p>
        </p:txBody>
      </p:sp>
    </p:spTree>
    <p:extLst>
      <p:ext uri="{BB962C8B-B14F-4D97-AF65-F5344CB8AC3E}">
        <p14:creationId xmlns:p14="http://schemas.microsoft.com/office/powerpoint/2010/main" val="1899261296"/>
      </p:ext>
    </p:extLst>
  </p:cSld>
</p:sld>
</file>

<file path=ppt/slides/slide2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B — 생성과 정정을 차례로 반영</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20</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2781300"/>
        </p:xfrm>
        <a:graphic xmlns:a="http://schemas.openxmlformats.org/drawingml/2006/main">
          <a:graphicData uri="http://schemas.openxmlformats.org/drawingml/2006/table">
            <a:tbl>
              <a:tblPr/>
              <a:tblGrid>
                <a:gridCol w="2286000"/>
                <a:gridCol w="3810000"/>
                <a:gridCol w="4876800"/>
              </a:tblGrid>
              <a:tr h="869156">
                <a:tc>
                  <a:txBody>
                    <a:bodyPr/>
                    <a:lstStyle/>
                    <a:p>
                      <a:r>
                        <a:rPr sz="1875" b="1">
                          <a:solidFill>
                            <a:srgbClr val="22D3EE"/>
                          </a:solidFill>
                          <a:latin typeface="Apple SD Gothic Neo"/>
                          <a:ea typeface="Apple SD Gothic Neo"/>
                          <a:cs typeface="Apple SD Gothic Neo"/>
                        </a:rPr>
                        <a:t>선택한 고정 입력 범위</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현재 snapshot의 보존 행</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확인할 값</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69156">
                <a:tc>
                  <a:txBody>
                    <a:bodyPr/>
                    <a:lstStyle/>
                    <a:p>
                      <a:r>
                        <a:rPr sz="1875" b="0">
                          <a:solidFill>
                            <a:srgbClr val="F8FAFC"/>
                          </a:solidFill>
                          <a:latin typeface="Apple SD Gothic Neo"/>
                          <a:ea typeface="Apple SD Gothic Neo"/>
                          <a:cs typeface="Apple SD Gothic Neo"/>
                        </a:rPr>
                        <a:t>c까지 · LSN ≤ 100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refund_id 1행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20000 / false / LSN 100</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u까지 · LSN ≤ 200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refund_id 1행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30000 / false / LSN 200</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해석</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입력 범위를 선택한 실험</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새 CDC 도착·운영 watermark 아님</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B · 전체 후보 d300 확인 후 c100부터 범위를 선택해 적용합니다</a:t>
            </a:r>
          </a:p>
        </p:txBody>
      </p:sp>
    </p:spTree>
    <p:extLst>
      <p:ext uri="{BB962C8B-B14F-4D97-AF65-F5344CB8AC3E}">
        <p14:creationId xmlns:p14="http://schemas.microsoft.com/office/powerpoint/2010/main" val="602725031"/>
      </p:ext>
    </p:extLst>
  </p:cSld>
</p:sld>
</file>

<file path=ppt/slides/slide2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B — 삭제를 현재 상태에 반영</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21</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현재 snapshot의 보존 행</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COUNT(*) = 1</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is_deleted = true</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source_lsn = 300</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현재 유효 행</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WHERE NOT is_deleted</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COUNT(*) = 0</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격리 테이블만 변경</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삭제 직전 값은 남기고, 현재 조회에서 삭제 표시 행을 제외합니다</a:t>
            </a:r>
          </a:p>
        </p:txBody>
      </p:sp>
    </p:spTree>
    <p:extLst>
      <p:ext uri="{BB962C8B-B14F-4D97-AF65-F5344CB8AC3E}">
        <p14:creationId xmlns:p14="http://schemas.microsoft.com/office/powerpoint/2010/main" val="1899261296"/>
      </p:ext>
    </p:extLst>
  </p:cSld>
</p:sld>
</file>

<file path=ppt/slides/slide2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C — 같은 입력과 중복을 다시 적용</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22</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2781300"/>
        </p:xfrm>
        <a:graphic xmlns:a="http://schemas.openxmlformats.org/drawingml/2006/main">
          <a:graphicData uri="http://schemas.openxmlformats.org/drawingml/2006/table">
            <a:tbl>
              <a:tblPr/>
              <a:tblGrid>
                <a:gridCol w="2286000"/>
                <a:gridCol w="3810000"/>
                <a:gridCol w="4876800"/>
              </a:tblGrid>
              <a:tr h="869156">
                <a:tc>
                  <a:txBody>
                    <a:bodyPr/>
                    <a:lstStyle/>
                    <a:p>
                      <a:r>
                        <a:rPr sz="1875" b="1">
                          <a:solidFill>
                            <a:srgbClr val="22D3EE"/>
                          </a:solidFill>
                          <a:latin typeface="Apple SD Gothic Neo"/>
                          <a:ea typeface="Apple SD Gothic Neo"/>
                          <a:cs typeface="Apple SD Gothic Neo"/>
                        </a:rPr>
                        <a:t>재적용 입력</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업무 결과 기대</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추가로 볼 것</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69156">
                <a:tc>
                  <a:txBody>
                    <a:bodyPr/>
                    <a:lstStyle/>
                    <a:p>
                      <a:r>
                        <a:rPr sz="1875" b="0">
                          <a:solidFill>
                            <a:srgbClr val="F8FAFC"/>
                          </a:solidFill>
                          <a:latin typeface="Apple SD Gothic Neo"/>
                          <a:ea typeface="Apple SD Gothic Neo"/>
                          <a:cs typeface="Apple SD Gothic Neo"/>
                        </a:rPr>
                        <a:t>동일 입력</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PK 한 행 · 삭제 유지</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10/26 기록: 새 snapshot·파일</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위치 중복·23장</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삭제 · LSN300 · offset12 유지</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topic·partition·offset</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검증 근거</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금액·is_deleted·PK 건수</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논리 결과와 물리 쓰기 구분</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C · 업무 결과의 멱등성과 snapshot·파일 쓰기 비용을 나눠 봅니다</a:t>
            </a:r>
          </a:p>
        </p:txBody>
      </p:sp>
    </p:spTree>
    <p:extLst>
      <p:ext uri="{BB962C8B-B14F-4D97-AF65-F5344CB8AC3E}">
        <p14:creationId xmlns:p14="http://schemas.microsoft.com/office/powerpoint/2010/main" val="602725031"/>
      </p:ext>
    </p:extLst>
  </p:cSld>
</p:sld>
</file>

<file path=ppt/slides/slide2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F78952D-7C81-4B58-9F76-59D6A1DC8C55}"/>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D5A63AAA-B4F3-4E9F-A97E-15A31EDE7FB5}"/>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C — 삭제 뒤 과거 UPDATE</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23</a:t>
            </a:r>
          </a:p>
        </p:txBody>
      </p:sp>
      <p:sp>
        <p:nvSpPr>
          <p:cNvPr id="10" name="first-flink-panel-71">
            <a:extLst xmlns:a="http://schemas.openxmlformats.org/drawingml/2006/main">
              <a:ext uri="{FF2B5EF4-FFF2-40B4-BE49-F238E27FC236}">
                <a16:creationId xmlns:a16="http://schemas.microsoft.com/office/drawing/2014/main" id="{61520F5F-FE2F-4BAA-8F2C-E1763E6A3C44}"/>
              </a:ext>
            </a:extLst>
          </p:cNvPr>
          <p:cNvSpPr>
            <a:spLocks xmlns:a="http://schemas.openxmlformats.org/drawingml/2006/main" noGrp="1"/>
          </p:cNvSpPr>
          <p:nvPr/>
        </p:nvSpPr>
        <p:spPr>
          <a:xfrm xmlns:a="http://schemas.openxmlformats.org/drawingml/2006/main">
            <a:off x="6096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1" name="first-flink-text-72">
            <a:extLst xmlns:a="http://schemas.openxmlformats.org/drawingml/2006/main">
              <a:ext uri="{FF2B5EF4-FFF2-40B4-BE49-F238E27FC236}">
                <a16:creationId xmlns:a16="http://schemas.microsoft.com/office/drawing/2014/main" id="{6E081DC7-44FF-4601-8282-7059A2E86352}"/>
              </a:ext>
            </a:extLst>
          </p:cNvPr>
          <p:cNvSpPr>
            <a:spLocks xmlns:a="http://schemas.openxmlformats.org/drawingml/2006/main" noGrp="1"/>
          </p:cNvSpPr>
          <p:nvPr/>
        </p:nvSpPr>
        <p:spPr>
          <a:xfrm xmlns:a="http://schemas.openxmlformats.org/drawingml/2006/main">
            <a:off x="7620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① 과거 배치 선택</a:t>
            </a:r>
          </a:p>
        </p:txBody>
      </p:sp>
      <p:sp>
        <p:nvSpPr>
          <p:cNvPr id="12" name="first-flink-text-73">
            <a:extLst xmlns:a="http://schemas.openxmlformats.org/drawingml/2006/main">
              <a:ext uri="{FF2B5EF4-FFF2-40B4-BE49-F238E27FC236}">
                <a16:creationId xmlns:a16="http://schemas.microsoft.com/office/drawing/2014/main" id="{00012702-5688-447A-B914-4E85CE486EC0}"/>
              </a:ext>
            </a:extLst>
          </p:cNvPr>
          <p:cNvSpPr>
            <a:spLocks xmlns:a="http://schemas.openxmlformats.org/drawingml/2006/main" noGrp="1"/>
          </p:cNvSpPr>
          <p:nvPr/>
        </p:nvSpPr>
        <p:spPr>
          <a:xfrm xmlns:a="http://schemas.openxmlformats.org/drawingml/2006/main">
            <a:off x="7620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upper_lsn = 200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incoming u200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offset 13</a:t>
            </a:r>
          </a:p>
        </p:txBody>
      </p:sp>
      <p:sp>
        <p:nvSpPr>
          <p:cNvPr id="13" name="first-flink-panel-74">
            <a:extLst xmlns:a="http://schemas.openxmlformats.org/drawingml/2006/main">
              <a:ext uri="{FF2B5EF4-FFF2-40B4-BE49-F238E27FC236}">
                <a16:creationId xmlns:a16="http://schemas.microsoft.com/office/drawing/2014/main" id="{66EBB230-AD99-4DE0-8661-64D22FF42D79}"/>
              </a:ext>
            </a:extLst>
          </p:cNvPr>
          <p:cNvSpPr>
            <a:spLocks xmlns:a="http://schemas.openxmlformats.org/drawingml/2006/main" noGrp="1"/>
          </p:cNvSpPr>
          <p:nvPr/>
        </p:nvSpPr>
        <p:spPr>
          <a:xfrm xmlns:a="http://schemas.openxmlformats.org/drawingml/2006/main">
            <a:off x="447675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4" name="first-flink-text-75">
            <a:extLst xmlns:a="http://schemas.openxmlformats.org/drawingml/2006/main">
              <a:ext uri="{FF2B5EF4-FFF2-40B4-BE49-F238E27FC236}">
                <a16:creationId xmlns:a16="http://schemas.microsoft.com/office/drawing/2014/main" id="{BA90D0AC-A49B-45C1-B932-80AECF81060C}"/>
              </a:ext>
            </a:extLst>
          </p:cNvPr>
          <p:cNvSpPr>
            <a:spLocks xmlns:a="http://schemas.openxmlformats.org/drawingml/2006/main" noGrp="1"/>
          </p:cNvSpPr>
          <p:nvPr/>
        </p:nvSpPr>
        <p:spPr>
          <a:xfrm xmlns:a="http://schemas.openxmlformats.org/drawingml/2006/main">
            <a:off x="462915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② 대상과 비교</a:t>
            </a:r>
          </a:p>
        </p:txBody>
      </p:sp>
      <p:sp>
        <p:nvSpPr>
          <p:cNvPr id="15" name="first-flink-text-76">
            <a:extLst xmlns:a="http://schemas.openxmlformats.org/drawingml/2006/main">
              <a:ext uri="{FF2B5EF4-FFF2-40B4-BE49-F238E27FC236}">
                <a16:creationId xmlns:a16="http://schemas.microsoft.com/office/drawing/2014/main" id="{6B9FD24C-BD07-45DA-8DAB-F8E85E49C7BF}"/>
              </a:ext>
            </a:extLst>
          </p:cNvPr>
          <p:cNvSpPr>
            <a:spLocks xmlns:a="http://schemas.openxmlformats.org/drawingml/2006/main" noGrp="1"/>
          </p:cNvSpPr>
          <p:nvPr/>
        </p:nvSpPr>
        <p:spPr>
          <a:xfrm xmlns:a="http://schemas.openxmlformats.org/drawingml/2006/main">
            <a:off x="462915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target d300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offset 12</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LSN 우선 버전 가드</a:t>
            </a:r>
          </a:p>
        </p:txBody>
      </p:sp>
      <p:sp>
        <p:nvSpPr>
          <p:cNvPr id="16" name="first-flink-panel-77">
            <a:extLst xmlns:a="http://schemas.openxmlformats.org/drawingml/2006/main">
              <a:ext uri="{FF2B5EF4-FFF2-40B4-BE49-F238E27FC236}">
                <a16:creationId xmlns:a16="http://schemas.microsoft.com/office/drawing/2014/main" id="{BEE5561B-EE73-4CF6-9B24-919C9BD76277}"/>
              </a:ext>
            </a:extLst>
          </p:cNvPr>
          <p:cNvSpPr>
            <a:spLocks xmlns:a="http://schemas.openxmlformats.org/drawingml/2006/main" noGrp="1"/>
          </p:cNvSpPr>
          <p:nvPr/>
        </p:nvSpPr>
        <p:spPr>
          <a:xfrm xmlns:a="http://schemas.openxmlformats.org/drawingml/2006/main">
            <a:off x="83439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7" name="first-flink-text-78">
            <a:extLst xmlns:a="http://schemas.openxmlformats.org/drawingml/2006/main">
              <a:ext uri="{FF2B5EF4-FFF2-40B4-BE49-F238E27FC236}">
                <a16:creationId xmlns:a16="http://schemas.microsoft.com/office/drawing/2014/main" id="{A5F9849C-892C-4D82-A53D-1A15A5B7967F}"/>
              </a:ext>
            </a:extLst>
          </p:cNvPr>
          <p:cNvSpPr>
            <a:spLocks xmlns:a="http://schemas.openxmlformats.org/drawingml/2006/main" noGrp="1"/>
          </p:cNvSpPr>
          <p:nvPr/>
        </p:nvSpPr>
        <p:spPr>
          <a:xfrm xmlns:a="http://schemas.openxmlformats.org/drawingml/2006/main">
            <a:off x="84963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③ 삭제 상태 유지</a:t>
            </a:r>
          </a:p>
        </p:txBody>
      </p:sp>
      <p:sp>
        <p:nvSpPr>
          <p:cNvPr id="18" name="first-flink-text-79">
            <a:extLst xmlns:a="http://schemas.openxmlformats.org/drawingml/2006/main">
              <a:ext uri="{FF2B5EF4-FFF2-40B4-BE49-F238E27FC236}">
                <a16:creationId xmlns:a16="http://schemas.microsoft.com/office/drawing/2014/main" id="{607F98D7-F09A-447B-BA5C-FF32B0BFDB17}"/>
              </a:ext>
            </a:extLst>
          </p:cNvPr>
          <p:cNvSpPr>
            <a:spLocks xmlns:a="http://schemas.openxmlformats.org/drawingml/2006/main" noGrp="1"/>
          </p:cNvSpPr>
          <p:nvPr/>
        </p:nvSpPr>
        <p:spPr>
          <a:xfrm xmlns:a="http://schemas.openxmlformats.org/drawingml/2006/main">
            <a:off x="84963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guard_rejected = true</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삭제 LSN 300 보존</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현재 유효 환불 0행</a:t>
            </a:r>
          </a:p>
        </p:txBody>
      </p:sp>
      <p:sp>
        <p:nvSpPr>
          <p:cNvPr id="21" name="first-flink-panel-80">
            <a:extLst xmlns:a="http://schemas.openxmlformats.org/drawingml/2006/main">
              <a:ext uri="{FF2B5EF4-FFF2-40B4-BE49-F238E27FC236}">
                <a16:creationId xmlns:a16="http://schemas.microsoft.com/office/drawing/2014/main" id="{AD838563-AAC4-41A8-A328-79B3297DAEA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2" name="first-flink-text-81">
            <a:extLst xmlns:a="http://schemas.openxmlformats.org/drawingml/2006/main">
              <a:ext uri="{FF2B5EF4-FFF2-40B4-BE49-F238E27FC236}">
                <a16:creationId xmlns:a16="http://schemas.microsoft.com/office/drawing/2014/main" id="{397CC13A-F433-462A-8D5F-CCFE115E8B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C · full scan의 후보 선택과 분리해, 과거 입력을 가드에 직접 넘깁니다</a:t>
            </a:r>
          </a:p>
        </p:txBody>
      </p:sp>
    </p:spTree>
    <p:extLst>
      <p:ext uri="{BB962C8B-B14F-4D97-AF65-F5344CB8AC3E}">
        <p14:creationId xmlns:p14="http://schemas.microsoft.com/office/powerpoint/2010/main" val="1899261296"/>
      </p:ext>
    </p:extLst>
  </p:cSld>
</p:sld>
</file>

<file path=ppt/slides/slide2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4" name="">
            <a:extLst xmlns:a="http://schemas.openxmlformats.org/drawingml/2006/main">
              <a:ext uri="{FF2B5EF4-FFF2-40B4-BE49-F238E27FC236}">
                <a16:creationId xmlns:a16="http://schemas.microsoft.com/office/drawing/2014/main" id="{8EF59ED3-FFFF-4B76-8674-035859404D7A}"/>
              </a:ext>
            </a:extLst>
          </p:cNvPr>
          <p:cNvCxnSpPr>
            <a:stCxn xmlns:a="http://schemas.openxmlformats.org/drawingml/2006/main" id="16" idx="3"/>
            <a:endCxn xmlns:a="http://schemas.openxmlformats.org/drawingml/2006/main" id="19" idx="1"/>
          </p:cNvCxnSpPr>
          <p:nvPr/>
        </p:nvCxnSpPr>
        <p:spPr>
          <a:xfrm xmlns:a="http://schemas.openxmlformats.org/drawingml/2006/main">
            <a:off x="8705850" y="3381375"/>
            <a:ext cx="53340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23" name="">
            <a:extLst xmlns:a="http://schemas.openxmlformats.org/drawingml/2006/main">
              <a:ext uri="{FF2B5EF4-FFF2-40B4-BE49-F238E27FC236}">
                <a16:creationId xmlns:a16="http://schemas.microsoft.com/office/drawing/2014/main" id="{DC5D2799-DED4-44F2-A176-7D230D594055}"/>
              </a:ext>
            </a:extLst>
          </p:cNvPr>
          <p:cNvCxnSpPr>
            <a:stCxn xmlns:a="http://schemas.openxmlformats.org/drawingml/2006/main" id="13" idx="3"/>
            <a:endCxn xmlns:a="http://schemas.openxmlformats.org/drawingml/2006/main" id="16" idx="1"/>
          </p:cNvCxnSpPr>
          <p:nvPr/>
        </p:nvCxnSpPr>
        <p:spPr>
          <a:xfrm xmlns:a="http://schemas.openxmlformats.org/drawingml/2006/main">
            <a:off x="5829300" y="3381375"/>
            <a:ext cx="53340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22" name="">
            <a:extLst xmlns:a="http://schemas.openxmlformats.org/drawingml/2006/main">
              <a:ext uri="{FF2B5EF4-FFF2-40B4-BE49-F238E27FC236}">
                <a16:creationId xmlns:a16="http://schemas.microsoft.com/office/drawing/2014/main" id="{C3F1023C-6D0B-4400-B6C1-DF051D06CDED}"/>
              </a:ext>
            </a:extLst>
          </p:cNvPr>
          <p:cNvCxnSpPr>
            <a:stCxn xmlns:a="http://schemas.openxmlformats.org/drawingml/2006/main" id="10" idx="3"/>
            <a:endCxn xmlns:a="http://schemas.openxmlformats.org/drawingml/2006/main" id="13" idx="1"/>
          </p:cNvCxnSpPr>
          <p:nvPr/>
        </p:nvCxnSpPr>
        <p:spPr>
          <a:xfrm xmlns:a="http://schemas.openxmlformats.org/drawingml/2006/main">
            <a:off x="2952750" y="3381375"/>
            <a:ext cx="53340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Spark SQL과 MERGE 내부 처리</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24</a:t>
            </a:r>
          </a:p>
        </p:txBody>
      </p:sp>
      <p:sp>
        <p:nvSpPr>
          <p:cNvPr id="10" name="first-flink-panel-82">
            <a:extLst xmlns:a="http://schemas.openxmlformats.org/drawingml/2006/main">
              <a:ext uri="{FF2B5EF4-FFF2-40B4-BE49-F238E27FC236}">
                <a16:creationId xmlns:a16="http://schemas.microsoft.com/office/drawing/2014/main" id="{A47AD528-62D3-42F7-A20B-FA94EEB601B1}"/>
              </a:ext>
            </a:extLst>
          </p:cNvPr>
          <p:cNvSpPr>
            <a:spLocks xmlns:a="http://schemas.openxmlformats.org/drawingml/2006/main" noGrp="1"/>
          </p:cNvSpPr>
          <p:nvPr/>
        </p:nvSpPr>
        <p:spPr>
          <a:xfrm xmlns:a="http://schemas.openxmlformats.org/drawingml/2006/main">
            <a:off x="60960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11" name="first-flink-text-83">
            <a:extLst xmlns:a="http://schemas.openxmlformats.org/drawingml/2006/main">
              <a:ext uri="{FF2B5EF4-FFF2-40B4-BE49-F238E27FC236}">
                <a16:creationId xmlns:a16="http://schemas.microsoft.com/office/drawing/2014/main" id="{0BC6F7EB-F6AC-4B3B-AC11-942D79015CC4}"/>
              </a:ext>
            </a:extLst>
          </p:cNvPr>
          <p:cNvSpPr>
            <a:spLocks xmlns:a="http://schemas.openxmlformats.org/drawingml/2006/main" noGrp="1"/>
          </p:cNvSpPr>
          <p:nvPr/>
        </p:nvSpPr>
        <p:spPr>
          <a:xfrm xmlns:a="http://schemas.openxmlformats.org/drawingml/2006/main">
            <a:off x="76200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① 읽기·파싱</a:t>
            </a:r>
          </a:p>
        </p:txBody>
      </p:sp>
      <p:sp>
        <p:nvSpPr>
          <p:cNvPr id="12" name="first-flink-text-84">
            <a:extLst xmlns:a="http://schemas.openxmlformats.org/drawingml/2006/main">
              <a:ext uri="{FF2B5EF4-FFF2-40B4-BE49-F238E27FC236}">
                <a16:creationId xmlns:a16="http://schemas.microsoft.com/office/drawing/2014/main" id="{E87D94CF-9DA2-4553-B1B0-925522B66F8D}"/>
              </a:ext>
            </a:extLst>
          </p:cNvPr>
          <p:cNvSpPr>
            <a:spLocks xmlns:a="http://schemas.openxmlformats.org/drawingml/2006/main" noGrp="1"/>
          </p:cNvSpPr>
          <p:nvPr/>
        </p:nvSpPr>
        <p:spPr>
          <a:xfrm xmlns:a="http://schemas.openxmlformats.org/drawingml/2006/main">
            <a:off x="76200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입력·대상 scan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JSON·타입 변환</a:t>
            </a:r>
          </a:p>
        </p:txBody>
      </p:sp>
      <p:sp>
        <p:nvSpPr>
          <p:cNvPr id="13" name="first-flink-panel-85">
            <a:extLst xmlns:a="http://schemas.openxmlformats.org/drawingml/2006/main">
              <a:ext uri="{FF2B5EF4-FFF2-40B4-BE49-F238E27FC236}">
                <a16:creationId xmlns:a16="http://schemas.microsoft.com/office/drawing/2014/main" id="{4831E75D-3151-415F-9E55-37581C0143C3}"/>
              </a:ext>
            </a:extLst>
          </p:cNvPr>
          <p:cNvSpPr>
            <a:spLocks xmlns:a="http://schemas.openxmlformats.org/drawingml/2006/main" noGrp="1"/>
          </p:cNvSpPr>
          <p:nvPr/>
        </p:nvSpPr>
        <p:spPr>
          <a:xfrm xmlns:a="http://schemas.openxmlformats.org/drawingml/2006/main">
            <a:off x="348615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14" name="first-flink-text-86">
            <a:extLst xmlns:a="http://schemas.openxmlformats.org/drawingml/2006/main">
              <a:ext uri="{FF2B5EF4-FFF2-40B4-BE49-F238E27FC236}">
                <a16:creationId xmlns:a16="http://schemas.microsoft.com/office/drawing/2014/main" id="{E5EBCF0D-561F-4C4A-B3A1-8D85B7319158}"/>
              </a:ext>
            </a:extLst>
          </p:cNvPr>
          <p:cNvSpPr>
            <a:spLocks xmlns:a="http://schemas.openxmlformats.org/drawingml/2006/main" noGrp="1"/>
          </p:cNvSpPr>
          <p:nvPr/>
        </p:nvSpPr>
        <p:spPr>
          <a:xfrm xmlns:a="http://schemas.openxmlformats.org/drawingml/2006/main">
            <a:off x="363855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② 최신 후보</a:t>
            </a:r>
          </a:p>
        </p:txBody>
      </p:sp>
      <p:sp>
        <p:nvSpPr>
          <p:cNvPr id="15" name="first-flink-text-87">
            <a:extLst xmlns:a="http://schemas.openxmlformats.org/drawingml/2006/main">
              <a:ext uri="{FF2B5EF4-FFF2-40B4-BE49-F238E27FC236}">
                <a16:creationId xmlns:a16="http://schemas.microsoft.com/office/drawing/2014/main" id="{9496379E-FC76-4A59-8347-1E8B3F77AAF6}"/>
              </a:ext>
            </a:extLst>
          </p:cNvPr>
          <p:cNvSpPr>
            <a:spLocks xmlns:a="http://schemas.openxmlformats.org/drawingml/2006/main" noGrp="1"/>
          </p:cNvSpPr>
          <p:nvPr/>
        </p:nvSpPr>
        <p:spPr>
          <a:xfrm xmlns:a="http://schemas.openxmlformats.org/drawingml/2006/main">
            <a:off x="363855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PK 재분배·정렬</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ROW_NUMBER</a:t>
            </a:r>
          </a:p>
        </p:txBody>
      </p:sp>
      <p:sp>
        <p:nvSpPr>
          <p:cNvPr id="16" name="first-flink-panel-88">
            <a:extLst xmlns:a="http://schemas.openxmlformats.org/drawingml/2006/main">
              <a:ext uri="{FF2B5EF4-FFF2-40B4-BE49-F238E27FC236}">
                <a16:creationId xmlns:a16="http://schemas.microsoft.com/office/drawing/2014/main" id="{9469B9B9-A58C-425F-8A94-A9081A9B4A23}"/>
              </a:ext>
            </a:extLst>
          </p:cNvPr>
          <p:cNvSpPr>
            <a:spLocks xmlns:a="http://schemas.openxmlformats.org/drawingml/2006/main" noGrp="1"/>
          </p:cNvSpPr>
          <p:nvPr/>
        </p:nvSpPr>
        <p:spPr>
          <a:xfrm xmlns:a="http://schemas.openxmlformats.org/drawingml/2006/main">
            <a:off x="636270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17" name="first-flink-text-89">
            <a:extLst xmlns:a="http://schemas.openxmlformats.org/drawingml/2006/main">
              <a:ext uri="{FF2B5EF4-FFF2-40B4-BE49-F238E27FC236}">
                <a16:creationId xmlns:a16="http://schemas.microsoft.com/office/drawing/2014/main" id="{EA89F783-339B-42ED-B080-696F5A7CD209}"/>
              </a:ext>
            </a:extLst>
          </p:cNvPr>
          <p:cNvSpPr>
            <a:spLocks xmlns:a="http://schemas.openxmlformats.org/drawingml/2006/main" noGrp="1"/>
          </p:cNvSpPr>
          <p:nvPr/>
        </p:nvSpPr>
        <p:spPr>
          <a:xfrm xmlns:a="http://schemas.openxmlformats.org/drawingml/2006/main">
            <a:off x="651510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③ 대상 매칭</a:t>
            </a:r>
          </a:p>
        </p:txBody>
      </p:sp>
      <p:sp>
        <p:nvSpPr>
          <p:cNvPr id="18" name="first-flink-text-90">
            <a:extLst xmlns:a="http://schemas.openxmlformats.org/drawingml/2006/main">
              <a:ext uri="{FF2B5EF4-FFF2-40B4-BE49-F238E27FC236}">
                <a16:creationId xmlns:a16="http://schemas.microsoft.com/office/drawing/2014/main" id="{2BD360D7-40C2-4056-BB68-053E32DF8BA3}"/>
              </a:ext>
            </a:extLst>
          </p:cNvPr>
          <p:cNvSpPr>
            <a:spLocks xmlns:a="http://schemas.openxmlformats.org/drawingml/2006/main" noGrp="1"/>
          </p:cNvSpPr>
          <p:nvPr/>
        </p:nvSpPr>
        <p:spPr>
          <a:xfrm xmlns:a="http://schemas.openxmlformats.org/drawingml/2006/main">
            <a:off x="651510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같은 PK 조인</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버전 조건 평가</a:t>
            </a:r>
          </a:p>
        </p:txBody>
      </p:sp>
      <p:sp>
        <p:nvSpPr>
          <p:cNvPr id="19" name="first-flink-panel-91">
            <a:extLst xmlns:a="http://schemas.openxmlformats.org/drawingml/2006/main">
              <a:ext uri="{FF2B5EF4-FFF2-40B4-BE49-F238E27FC236}">
                <a16:creationId xmlns:a16="http://schemas.microsoft.com/office/drawing/2014/main" id="{3E609EB8-28E9-4D26-9FFF-F5DAC77809BB}"/>
              </a:ext>
            </a:extLst>
          </p:cNvPr>
          <p:cNvSpPr>
            <a:spLocks xmlns:a="http://schemas.openxmlformats.org/drawingml/2006/main" noGrp="1"/>
          </p:cNvSpPr>
          <p:nvPr/>
        </p:nvSpPr>
        <p:spPr>
          <a:xfrm xmlns:a="http://schemas.openxmlformats.org/drawingml/2006/main">
            <a:off x="923925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20" name="first-flink-text-92">
            <a:extLst xmlns:a="http://schemas.openxmlformats.org/drawingml/2006/main">
              <a:ext uri="{FF2B5EF4-FFF2-40B4-BE49-F238E27FC236}">
                <a16:creationId xmlns:a16="http://schemas.microsoft.com/office/drawing/2014/main" id="{AA2D985D-E96A-4E77-B1F2-AD648EE109FE}"/>
              </a:ext>
            </a:extLst>
          </p:cNvPr>
          <p:cNvSpPr>
            <a:spLocks xmlns:a="http://schemas.openxmlformats.org/drawingml/2006/main" noGrp="1"/>
          </p:cNvSpPr>
          <p:nvPr/>
        </p:nvSpPr>
        <p:spPr>
          <a:xfrm xmlns:a="http://schemas.openxmlformats.org/drawingml/2006/main">
            <a:off x="939165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④ 쓰기·commit</a:t>
            </a:r>
          </a:p>
        </p:txBody>
      </p:sp>
      <p:sp>
        <p:nvSpPr>
          <p:cNvPr id="21" name="first-flink-text-93">
            <a:extLst xmlns:a="http://schemas.openxmlformats.org/drawingml/2006/main">
              <a:ext uri="{FF2B5EF4-FFF2-40B4-BE49-F238E27FC236}">
                <a16:creationId xmlns:a16="http://schemas.microsoft.com/office/drawing/2014/main" id="{166EA9F9-1D01-4963-A76D-205552B59C50}"/>
              </a:ext>
            </a:extLst>
          </p:cNvPr>
          <p:cNvSpPr>
            <a:spLocks xmlns:a="http://schemas.openxmlformats.org/drawingml/2006/main" noGrp="1"/>
          </p:cNvSpPr>
          <p:nvPr/>
        </p:nvSpPr>
        <p:spPr>
          <a:xfrm xmlns:a="http://schemas.openxmlformats.org/drawingml/2006/main">
            <a:off x="939165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COW 파일 재작성</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metadata</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Catalog commit</a:t>
            </a:r>
          </a:p>
        </p:txBody>
      </p:sp>
      <p:sp>
        <p:nvSpPr>
          <p:cNvPr id="25" name="first-flink-panel-94">
            <a:extLst xmlns:a="http://schemas.openxmlformats.org/drawingml/2006/main">
              <a:ext uri="{FF2B5EF4-FFF2-40B4-BE49-F238E27FC236}">
                <a16:creationId xmlns:a16="http://schemas.microsoft.com/office/drawing/2014/main" id="{D12897DD-12C7-4BC9-B961-42387492781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6" name="first-flink-text-95">
            <a:extLst xmlns:a="http://schemas.openxmlformats.org/drawingml/2006/main">
              <a:ext uri="{FF2B5EF4-FFF2-40B4-BE49-F238E27FC236}">
                <a16:creationId xmlns:a16="http://schemas.microsoft.com/office/drawing/2014/main" id="{3D835D95-B5AA-44B2-9238-B6DF539937CE}"/>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10/26 실행 관찰: 같은 입력 재실행에도 새 snapshot·파일이 생겼습니다</a:t>
            </a:r>
          </a:p>
        </p:txBody>
      </p:sp>
      <p:sp>
        <p:nvSpPr>
          <p:cNvPr id="27" name="">
            <a:extLst xmlns:a="http://schemas.openxmlformats.org/drawingml/2006/main">
              <a:ext uri="{FF2B5EF4-FFF2-40B4-BE49-F238E27FC236}">
                <a16:creationId xmlns:a16="http://schemas.microsoft.com/office/drawing/2014/main" id="{18FEC86E-F83D-4D47-826B-D11416A6C4BB}"/>
              </a:ext>
            </a:extLst>
          </p:cNvPr>
          <p:cNvSpPr>
            <a:spLocks xmlns:a="http://schemas.openxmlformats.org/drawingml/2006/main" noGrp="1"/>
          </p:cNvSpPr>
          <p:nvPr/>
        </p:nvSpPr>
        <p:spPr>
          <a:xfrm xmlns:a="http://schemas.openxmlformats.org/drawingml/2006/main">
            <a:off x="609600" y="1562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A7B5CA"/>
                </a:solidFill>
                <a:latin typeface="Apple SD Gothic Neo"/>
                <a:ea typeface="Apple SD Gothic Neo"/>
                <a:cs typeface="Apple SD Gothic Neo"/>
              </a:defRPr>
            </a:defPPr>
            <a:lvl1pPr>
              <a:defRPr sz="1650">
                <a:solidFill>
                  <a:srgbClr val="A7B5CA"/>
                </a:solidFill>
                <a:latin typeface="Apple SD Gothic Neo"/>
                <a:ea typeface="Apple SD Gothic Neo"/>
                <a:cs typeface="Apple SD Gothic Neo"/>
              </a:defRPr>
            </a:lvl1pPr>
            <a:lvl2pPr>
              <a:defRPr sz="1650">
                <a:solidFill>
                  <a:srgbClr val="A7B5CA"/>
                </a:solidFill>
                <a:latin typeface="Apple SD Gothic Neo"/>
                <a:ea typeface="Apple SD Gothic Neo"/>
                <a:cs typeface="Apple SD Gothic Neo"/>
              </a:defRPr>
            </a:lvl2pPr>
            <a:lvl3pPr>
              <a:defRPr sz="1650">
                <a:solidFill>
                  <a:srgbClr val="A7B5CA"/>
                </a:solidFill>
                <a:latin typeface="Apple SD Gothic Neo"/>
                <a:ea typeface="Apple SD Gothic Neo"/>
                <a:cs typeface="Apple SD Gothic Neo"/>
              </a:defRPr>
            </a:lvl3pPr>
            <a:lvl4pPr>
              <a:defRPr sz="1650">
                <a:solidFill>
                  <a:srgbClr val="A7B5CA"/>
                </a:solidFill>
                <a:latin typeface="Apple SD Gothic Neo"/>
                <a:ea typeface="Apple SD Gothic Neo"/>
                <a:cs typeface="Apple SD Gothic Neo"/>
              </a:defRPr>
            </a:lvl4pPr>
            <a:lvl5pPr>
              <a:defRPr sz="1650">
                <a:solidFill>
                  <a:srgbClr val="A7B5CA"/>
                </a:solidFill>
                <a:latin typeface="Apple SD Gothic Neo"/>
                <a:ea typeface="Apple SD Gothic Neo"/>
                <a:cs typeface="Apple SD Gothic Neo"/>
              </a:defRPr>
            </a:lvl5pPr>
            <a:lvl6pPr>
              <a:defRPr sz="1650">
                <a:solidFill>
                  <a:srgbClr val="A7B5CA"/>
                </a:solidFill>
                <a:latin typeface="Apple SD Gothic Neo"/>
                <a:ea typeface="Apple SD Gothic Neo"/>
                <a:cs typeface="Apple SD Gothic Neo"/>
              </a:defRPr>
            </a:lvl6pPr>
            <a:lvl7pPr>
              <a:defRPr sz="1650">
                <a:solidFill>
                  <a:srgbClr val="A7B5CA"/>
                </a:solidFill>
                <a:latin typeface="Apple SD Gothic Neo"/>
                <a:ea typeface="Apple SD Gothic Neo"/>
                <a:cs typeface="Apple SD Gothic Neo"/>
              </a:defRPr>
            </a:lvl7pPr>
            <a:lvl8pPr>
              <a:defRPr sz="1650">
                <a:solidFill>
                  <a:srgbClr val="A7B5CA"/>
                </a:solidFill>
                <a:latin typeface="Apple SD Gothic Neo"/>
                <a:ea typeface="Apple SD Gothic Neo"/>
                <a:cs typeface="Apple SD Gothic Neo"/>
              </a:defRPr>
            </a:lvl8pPr>
            <a:lvl9pPr>
              <a:defRPr sz="1650">
                <a:solidFill>
                  <a:srgbClr val="A7B5CA"/>
                </a:solidFill>
                <a:latin typeface="Apple SD Gothic Neo"/>
                <a:ea typeface="Apple SD Gothic Neo"/>
                <a:cs typeface="Apple SD Gothic Neo"/>
              </a:defRPr>
            </a:lvl9pPr>
          </a:lstStyle>
          <a:p xmlns:a="http://schemas.openxmlformats.org/drawingml/2006/main">
            <a:pPr>
              <a:defRPr sz="1650">
                <a:solidFill>
                  <a:srgbClr val="A7B5CA"/>
                </a:solidFill>
                <a:latin typeface="Apple SD Gothic Neo"/>
                <a:ea typeface="Apple SD Gothic Neo"/>
                <a:cs typeface="Apple SD Gothic Neo"/>
              </a:defRPr>
            </a:pPr>
            <a:r>
              <a:rPr sz="1650">
                <a:solidFill>
                  <a:srgbClr val="A7B5CA"/>
                </a:solidFill>
                <a:latin typeface="Apple SD Gothic Neo"/>
                <a:ea typeface="Apple SD Gothic Neo"/>
                <a:cs typeface="Apple SD Gothic Neo"/>
              </a:rPr>
              <a:t>Driver: 실행 조정   Executor: 데이터 처리</a:t>
            </a:r>
          </a:p>
          <a:p xmlns:a="http://schemas.openxmlformats.org/drawingml/2006/main">
            <a:pPr>
              <a:defRPr sz="1650">
                <a:solidFill>
                  <a:srgbClr val="A7B5CA"/>
                </a:solidFill>
                <a:latin typeface="Apple SD Gothic Neo"/>
                <a:ea typeface="Apple SD Gothic Neo"/>
                <a:cs typeface="Apple SD Gothic Neo"/>
              </a:defRPr>
            </a:pPr>
            <a:r>
              <a:rPr sz="1650">
                <a:solidFill>
                  <a:srgbClr val="A7B5CA"/>
                </a:solidFill>
                <a:latin typeface="Apple SD Gothic Neo"/>
                <a:ea typeface="Apple SD Gothic Neo"/>
                <a:cs typeface="Apple SD Gothic Neo"/>
              </a:rPr>
              <a:t>실제 물리 stage는 최적화·분배 상태에 따라 달라집니다</a:t>
            </a:r>
          </a:p>
        </p:txBody>
      </p:sp>
    </p:spTree>
    <p:extLst>
      <p:ext uri="{BB962C8B-B14F-4D97-AF65-F5344CB8AC3E}">
        <p14:creationId xmlns:p14="http://schemas.microsoft.com/office/powerpoint/2010/main" val="1899261296"/>
      </p:ext>
    </p:extLst>
  </p:cSld>
</p:sld>
</file>

<file path=ppt/slides/slide2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F78952D-7C81-4B58-9F76-59D6A1DC8C55}"/>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D5A63AAA-B4F3-4E9F-A97E-15A31EDE7FB5}"/>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한 테이블의 commit과 세 테이블의 갱신</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25</a:t>
            </a:r>
          </a:p>
        </p:txBody>
      </p:sp>
      <p:sp>
        <p:nvSpPr>
          <p:cNvPr id="10" name="first-flink-panel-71">
            <a:extLst xmlns:a="http://schemas.openxmlformats.org/drawingml/2006/main">
              <a:ext uri="{FF2B5EF4-FFF2-40B4-BE49-F238E27FC236}">
                <a16:creationId xmlns:a16="http://schemas.microsoft.com/office/drawing/2014/main" id="{61520F5F-FE2F-4BAA-8F2C-E1763E6A3C44}"/>
              </a:ext>
            </a:extLst>
          </p:cNvPr>
          <p:cNvSpPr>
            <a:spLocks xmlns:a="http://schemas.openxmlformats.org/drawingml/2006/main" noGrp="1"/>
          </p:cNvSpPr>
          <p:nvPr/>
        </p:nvSpPr>
        <p:spPr>
          <a:xfrm xmlns:a="http://schemas.openxmlformats.org/drawingml/2006/main">
            <a:off x="6096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1" name="first-flink-text-72">
            <a:extLst xmlns:a="http://schemas.openxmlformats.org/drawingml/2006/main">
              <a:ext uri="{FF2B5EF4-FFF2-40B4-BE49-F238E27FC236}">
                <a16:creationId xmlns:a16="http://schemas.microsoft.com/office/drawing/2014/main" id="{6E081DC7-44FF-4601-8282-7059A2E86352}"/>
              </a:ext>
            </a:extLst>
          </p:cNvPr>
          <p:cNvSpPr>
            <a:spLocks xmlns:a="http://schemas.openxmlformats.org/drawingml/2006/main" noGrp="1"/>
          </p:cNvSpPr>
          <p:nvPr/>
        </p:nvSpPr>
        <p:spPr>
          <a:xfrm xmlns:a="http://schemas.openxmlformats.org/drawingml/2006/main">
            <a:off x="7620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orders commit</a:t>
            </a:r>
          </a:p>
        </p:txBody>
      </p:sp>
      <p:sp>
        <p:nvSpPr>
          <p:cNvPr id="12" name="first-flink-text-73">
            <a:extLst xmlns:a="http://schemas.openxmlformats.org/drawingml/2006/main">
              <a:ext uri="{FF2B5EF4-FFF2-40B4-BE49-F238E27FC236}">
                <a16:creationId xmlns:a16="http://schemas.microsoft.com/office/drawing/2014/main" id="{00012702-5688-447A-B914-4E85CE486EC0}"/>
              </a:ext>
            </a:extLst>
          </p:cNvPr>
          <p:cNvSpPr>
            <a:spLocks xmlns:a="http://schemas.openxmlformats.org/drawingml/2006/main" noGrp="1"/>
          </p:cNvSpPr>
          <p:nvPr/>
        </p:nvSpPr>
        <p:spPr>
          <a:xfrm xmlns:a="http://schemas.openxmlformats.org/drawingml/2006/main">
            <a:off x="7620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테이블 A 확정</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앞선 변경 유지</a:t>
            </a:r>
          </a:p>
        </p:txBody>
      </p:sp>
      <p:sp>
        <p:nvSpPr>
          <p:cNvPr id="13" name="first-flink-panel-74">
            <a:extLst xmlns:a="http://schemas.openxmlformats.org/drawingml/2006/main">
              <a:ext uri="{FF2B5EF4-FFF2-40B4-BE49-F238E27FC236}">
                <a16:creationId xmlns:a16="http://schemas.microsoft.com/office/drawing/2014/main" id="{66EBB230-AD99-4DE0-8661-64D22FF42D79}"/>
              </a:ext>
            </a:extLst>
          </p:cNvPr>
          <p:cNvSpPr>
            <a:spLocks xmlns:a="http://schemas.openxmlformats.org/drawingml/2006/main" noGrp="1"/>
          </p:cNvSpPr>
          <p:nvPr/>
        </p:nvSpPr>
        <p:spPr>
          <a:xfrm xmlns:a="http://schemas.openxmlformats.org/drawingml/2006/main">
            <a:off x="447675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4" name="first-flink-text-75">
            <a:extLst xmlns:a="http://schemas.openxmlformats.org/drawingml/2006/main">
              <a:ext uri="{FF2B5EF4-FFF2-40B4-BE49-F238E27FC236}">
                <a16:creationId xmlns:a16="http://schemas.microsoft.com/office/drawing/2014/main" id="{BA90D0AC-A49B-45C1-B932-80AECF81060C}"/>
              </a:ext>
            </a:extLst>
          </p:cNvPr>
          <p:cNvSpPr>
            <a:spLocks xmlns:a="http://schemas.openxmlformats.org/drawingml/2006/main" noGrp="1"/>
          </p:cNvSpPr>
          <p:nvPr/>
        </p:nvSpPr>
        <p:spPr>
          <a:xfrm xmlns:a="http://schemas.openxmlformats.org/drawingml/2006/main">
            <a:off x="462915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payments commit</a:t>
            </a:r>
          </a:p>
        </p:txBody>
      </p:sp>
      <p:sp>
        <p:nvSpPr>
          <p:cNvPr id="15" name="first-flink-text-76">
            <a:extLst xmlns:a="http://schemas.openxmlformats.org/drawingml/2006/main">
              <a:ext uri="{FF2B5EF4-FFF2-40B4-BE49-F238E27FC236}">
                <a16:creationId xmlns:a16="http://schemas.microsoft.com/office/drawing/2014/main" id="{6B9FD24C-BD07-45DA-8DAB-F8E85E49C7BF}"/>
              </a:ext>
            </a:extLst>
          </p:cNvPr>
          <p:cNvSpPr>
            <a:spLocks xmlns:a="http://schemas.openxmlformats.org/drawingml/2006/main" noGrp="1"/>
          </p:cNvSpPr>
          <p:nvPr/>
        </p:nvSpPr>
        <p:spPr>
          <a:xfrm xmlns:a="http://schemas.openxmlformats.org/drawingml/2006/main">
            <a:off x="462915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테이블 B 확정</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각자 snapshot</a:t>
            </a:r>
          </a:p>
        </p:txBody>
      </p:sp>
      <p:sp>
        <p:nvSpPr>
          <p:cNvPr id="16" name="first-flink-panel-77">
            <a:extLst xmlns:a="http://schemas.openxmlformats.org/drawingml/2006/main">
              <a:ext uri="{FF2B5EF4-FFF2-40B4-BE49-F238E27FC236}">
                <a16:creationId xmlns:a16="http://schemas.microsoft.com/office/drawing/2014/main" id="{BEE5561B-EE73-4CF6-9B24-919C9BD76277}"/>
              </a:ext>
            </a:extLst>
          </p:cNvPr>
          <p:cNvSpPr>
            <a:spLocks xmlns:a="http://schemas.openxmlformats.org/drawingml/2006/main" noGrp="1"/>
          </p:cNvSpPr>
          <p:nvPr/>
        </p:nvSpPr>
        <p:spPr>
          <a:xfrm xmlns:a="http://schemas.openxmlformats.org/drawingml/2006/main">
            <a:off x="83439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7" name="first-flink-text-78">
            <a:extLst xmlns:a="http://schemas.openxmlformats.org/drawingml/2006/main">
              <a:ext uri="{FF2B5EF4-FFF2-40B4-BE49-F238E27FC236}">
                <a16:creationId xmlns:a16="http://schemas.microsoft.com/office/drawing/2014/main" id="{A5F9849C-892C-4D82-A53D-1A15A5B7967F}"/>
              </a:ext>
            </a:extLst>
          </p:cNvPr>
          <p:cNvSpPr>
            <a:spLocks xmlns:a="http://schemas.openxmlformats.org/drawingml/2006/main" noGrp="1"/>
          </p:cNvSpPr>
          <p:nvPr/>
        </p:nvSpPr>
        <p:spPr>
          <a:xfrm xmlns:a="http://schemas.openxmlformats.org/drawingml/2006/main">
            <a:off x="84963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refunds commit</a:t>
            </a:r>
          </a:p>
        </p:txBody>
      </p:sp>
      <p:sp>
        <p:nvSpPr>
          <p:cNvPr id="18" name="first-flink-text-79">
            <a:extLst xmlns:a="http://schemas.openxmlformats.org/drawingml/2006/main">
              <a:ext uri="{FF2B5EF4-FFF2-40B4-BE49-F238E27FC236}">
                <a16:creationId xmlns:a16="http://schemas.microsoft.com/office/drawing/2014/main" id="{607F98D7-F09A-447B-BA5C-FF32B0BFDB17}"/>
              </a:ext>
            </a:extLst>
          </p:cNvPr>
          <p:cNvSpPr>
            <a:spLocks xmlns:a="http://schemas.openxmlformats.org/drawingml/2006/main" noGrp="1"/>
          </p:cNvSpPr>
          <p:nvPr/>
        </p:nvSpPr>
        <p:spPr>
          <a:xfrm xmlns:a="http://schemas.openxmlformats.org/drawingml/2006/main">
            <a:off x="84963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여기서 실패하면</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앞의 변경은 남음</a:t>
            </a:r>
          </a:p>
        </p:txBody>
      </p:sp>
      <p:sp>
        <p:nvSpPr>
          <p:cNvPr id="21" name="first-flink-panel-80">
            <a:extLst xmlns:a="http://schemas.openxmlformats.org/drawingml/2006/main">
              <a:ext uri="{FF2B5EF4-FFF2-40B4-BE49-F238E27FC236}">
                <a16:creationId xmlns:a16="http://schemas.microsoft.com/office/drawing/2014/main" id="{AD838563-AAC4-41A8-A328-79B3297DAEA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2" name="first-flink-text-81">
            <a:extLst xmlns:a="http://schemas.openxmlformats.org/drawingml/2006/main">
              <a:ext uri="{FF2B5EF4-FFF2-40B4-BE49-F238E27FC236}">
                <a16:creationId xmlns:a16="http://schemas.microsoft.com/office/drawing/2014/main" id="{397CC13A-F433-462A-8D5F-CCFE115E8B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테이블별 상태·마지막 성공·재시도 범위와 후속 작업 조건을 관리합니다</a:t>
            </a:r>
          </a:p>
        </p:txBody>
      </p:sp>
    </p:spTree>
    <p:extLst>
      <p:ext uri="{BB962C8B-B14F-4D97-AF65-F5344CB8AC3E}">
        <p14:creationId xmlns:p14="http://schemas.microsoft.com/office/powerpoint/2010/main" val="1899261296"/>
      </p:ext>
    </p:extLst>
  </p:cSld>
</p:sld>
</file>

<file path=ppt/slides/slide2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전체 재조회와 증분 처리의 비용</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26</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2781300"/>
        </p:xfrm>
        <a:graphic xmlns:a="http://schemas.openxmlformats.org/drawingml/2006/main">
          <a:graphicData uri="http://schemas.openxmlformats.org/drawingml/2006/table">
            <a:tbl>
              <a:tblPr/>
              <a:tblGrid>
                <a:gridCol w="2286000"/>
                <a:gridCol w="3810000"/>
                <a:gridCol w="4876800"/>
              </a:tblGrid>
              <a:tr h="869156">
                <a:tc>
                  <a:txBody>
                    <a:bodyPr/>
                    <a:lstStyle/>
                    <a:p>
                      <a:r>
                        <a:rPr sz="1875" b="1">
                          <a:solidFill>
                            <a:srgbClr val="22D3EE"/>
                          </a:solidFill>
                          <a:latin typeface="Apple SD Gothic Neo"/>
                          <a:ea typeface="Apple SD Gothic Neo"/>
                          <a:cs typeface="Apple SD Gothic Neo"/>
                        </a:rPr>
                        <a:t>갱신 방식</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입력과 후보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함께 설계할 것</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69156">
                <a:tc>
                  <a:txBody>
                    <a:bodyPr/>
                    <a:lstStyle/>
                    <a:p>
                      <a:r>
                        <a:rPr sz="1875" b="0">
                          <a:solidFill>
                            <a:srgbClr val="F8FAFC"/>
                          </a:solidFill>
                          <a:latin typeface="Apple SD Gothic Neo"/>
                          <a:ea typeface="Apple SD Gothic Neo"/>
                          <a:cs typeface="Apple SD Gothic Neo"/>
                        </a:rPr>
                        <a:t>기준 구현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전체 Bronze scan → 최신 후보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읽기·정렬·재작성 증가</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증분 구현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변경 범위 → 영향 키 → 후보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성공 위치·실패 재시도</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늦은 변경·삭제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놓친 키·과거 범위 재계산</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소급 정정은 6회차 연결</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MERGE를 쓴다는 사실만으로 입력 SELECT가 증분이 되지는 않습니다</a:t>
            </a:r>
          </a:p>
        </p:txBody>
      </p:sp>
    </p:spTree>
    <p:extLst>
      <p:ext uri="{BB962C8B-B14F-4D97-AF65-F5344CB8AC3E}">
        <p14:creationId xmlns:p14="http://schemas.microsoft.com/office/powerpoint/2010/main" val="602725031"/>
      </p:ext>
    </p:extLst>
  </p:cSld>
</p:sld>
</file>

<file path=ppt/slides/slide2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갱신 방식 선택과 운영 점검</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27</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선택지</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맞는 조건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운영 부담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주기 MERGE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수십 분 주기·SQL 검증</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매번 전체 scan·재작성</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Spark 스트리밍</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분 단위·같은 규칙·가드</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상시 작업·commit·파일 정리</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Flink upsert</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더 짧은 지연 요구</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상태 복구·삭제 파일 정리</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관측할 것</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입력·후보·무효행·결과</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마지막 성공·파일·충돌</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키·버전·삭제 규칙은 그대로, 실행 방식은 신선도 요구로 고릅니다</a:t>
            </a:r>
          </a:p>
        </p:txBody>
      </p:sp>
    </p:spTree>
    <p:extLst>
      <p:ext uri="{BB962C8B-B14F-4D97-AF65-F5344CB8AC3E}">
        <p14:creationId xmlns:p14="http://schemas.microsoft.com/office/powerpoint/2010/main" val="602725031"/>
      </p:ext>
    </p:extLst>
  </p:cSld>
</p:sld>
</file>

<file path=ppt/slides/slide2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내 테이블의 Silver 계약과 SQL — 약 20분</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28</a:t>
            </a:r>
          </a:p>
        </p:txBody>
      </p:sp>
      <p:graphicFrame>
        <p:nvGraphicFramePr>
          <p:cNvPr id="10" name="">
            <a:extLst xmlns:a="http://schemas.openxmlformats.org/drawingml/2006/main">
              <a:ext uri="{FF2B5EF4-FFF2-40B4-BE49-F238E27FC236}">
                <a16:creationId xmlns:a16="http://schemas.microsoft.com/office/drawing/2014/main" id="{829A1295-1A21-4C3F-B93A-E44F66389DD6}"/>
              </a:ext>
            </a:extLst>
          </p:cNvPr>
          <p:cNvGraphicFramePr/>
          <p:nvPr/>
        </p:nvGraphicFramePr>
        <p:xfrm>
          <a:off xmlns:a="http://schemas.openxmlformats.org/drawingml/2006/main" x="609600" y="1695450"/>
          <a:ext xmlns:a="http://schemas.openxmlformats.org/drawingml/2006/main" cx="10972800" cy="4867275"/>
        </p:xfrm>
        <a:graphic xmlns:a="http://schemas.openxmlformats.org/drawingml/2006/main">
          <a:graphicData uri="http://schemas.openxmlformats.org/drawingml/2006/table">
            <a:tbl>
              <a:tblPr/>
              <a:tblGrid>
                <a:gridCol w="3333750"/>
                <a:gridCol w="7639050"/>
              </a:tblGrid>
              <a:tr h="496661">
                <a:tc>
                  <a:txBody>
                    <a:bodyPr/>
                    <a:lstStyle/>
                    <a:p>
                      <a:r>
                        <a:rPr sz="1800" b="1">
                          <a:solidFill>
                            <a:srgbClr val="22D3EE"/>
                          </a:solidFill>
                          <a:latin typeface="Apple SD Gothic Neo"/>
                          <a:ea typeface="Apple SD Gothic Neo"/>
                          <a:cs typeface="Apple SD Gothic Neo"/>
                        </a:rPr>
                        <a:t>내 테이블 하나</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남길 규칙·초안</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496661">
                <a:tc>
                  <a:txBody>
                    <a:bodyPr/>
                    <a:lstStyle/>
                    <a:p>
                      <a:r>
                        <a:rPr sz="1800" b="0">
                          <a:solidFill>
                            <a:srgbClr val="F8FAFC"/>
                          </a:solidFill>
                          <a:latin typeface="Apple SD Gothic Neo"/>
                          <a:ea typeface="Apple SD Gothic Neo"/>
                          <a:cs typeface="Apple SD Gothic Neo"/>
                        </a:rPr>
                        <a:t>필수 1 · 한 행의 의미·PK</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어떤 업무 상태를 하나로 묶나요?</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필수 2 · 최신 버전·삭제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비교 범위와 삭제 의미·버전 보존</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필수 3 · 최신 후보 SQL</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PARTITION BY · ORDER BY · rn = 1</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확장 · 타입·MERGE 가드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상세 정규화와 새 버전 갱신 조건</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확장 · 다섯 기대값</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PK·최신·삭제·재실행·무효 입력 거절</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확장 · 실행·보류</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가능하면 실행 · 부족한 원천 정보 기록</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229">
            <a:extLst xmlns:a="http://schemas.openxmlformats.org/drawingml/2006/main">
              <a:ext uri="{FF2B5EF4-FFF2-40B4-BE49-F238E27FC236}">
                <a16:creationId xmlns:a16="http://schemas.microsoft.com/office/drawing/2014/main" id="{E81AC006-5800-4122-9396-527FFC8F6CC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230">
            <a:extLst xmlns:a="http://schemas.openxmlformats.org/drawingml/2006/main">
              <a:ext uri="{FF2B5EF4-FFF2-40B4-BE49-F238E27FC236}">
                <a16:creationId xmlns:a16="http://schemas.microsoft.com/office/drawing/2014/main" id="{C637AF07-C22A-4E6A-9560-94EF4B350AE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개인 활동 20분 · 필수 세 묶음 12분, SQL·검증 확장 8분</a:t>
            </a:r>
          </a:p>
        </p:txBody>
      </p:sp>
    </p:spTree>
    <p:extLst>
      <p:ext uri="{BB962C8B-B14F-4D97-AF65-F5344CB8AC3E}">
        <p14:creationId xmlns:p14="http://schemas.microsoft.com/office/powerpoint/2010/main" val="1899261296"/>
      </p:ext>
    </p:extLst>
  </p:cSld>
</p:sld>
</file>

<file path=ppt/slides/slide2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동료 검토 — 과거 변경이 늦게 온다면</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29</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동료에게 설명할 것</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키를 고른 이유</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최신 순서의 근거</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삭제 뒤 과거 UPDATE</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범위 재실행</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검토 뒤 남길 것</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확정한 규칙</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보완할 SQL·검증</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정보가 부족한 보류점</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평가 발표보다, 현재 한 일과 선택·막힌 점을 동료에게 나누는 시간입니다</a:t>
            </a:r>
          </a:p>
        </p:txBody>
      </p:sp>
    </p:spTree>
    <p:extLst>
      <p:ext uri="{BB962C8B-B14F-4D97-AF65-F5344CB8AC3E}">
        <p14:creationId xmlns:p14="http://schemas.microsoft.com/office/powerpoint/2010/main" val="1899261296"/>
      </p:ext>
    </p:extLst>
  </p:cSld>
</p:sld>
</file>

<file path=ppt/slides/slide3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남길 결과와 다음 회차</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30</a:t>
            </a:r>
          </a:p>
        </p:txBody>
      </p:sp>
      <p:sp>
        <p:nvSpPr>
          <p:cNvPr id="18" name="s03-panel-38">
            <a:extLst xmlns:a="http://schemas.openxmlformats.org/drawingml/2006/main">
              <a:ext uri="{FF2B5EF4-FFF2-40B4-BE49-F238E27FC236}">
                <a16:creationId xmlns:a16="http://schemas.microsoft.com/office/drawing/2014/main" id="{4D522876-18A8-48F6-9B1E-5E6233135031}"/>
              </a:ext>
            </a:extLst>
          </p:cNvPr>
          <p:cNvSpPr>
            <a:spLocks xmlns:a="http://schemas.openxmlformats.org/drawingml/2006/main" noGrp="1"/>
          </p:cNvSpPr>
          <p:nvPr/>
        </p:nvSpPr>
        <p:spPr>
          <a:xfrm xmlns:a="http://schemas.openxmlformats.org/drawingml/2006/main">
            <a:off x="609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9" name="s03-text-39">
            <a:extLst xmlns:a="http://schemas.openxmlformats.org/drawingml/2006/main">
              <a:ext uri="{FF2B5EF4-FFF2-40B4-BE49-F238E27FC236}">
                <a16:creationId xmlns:a16="http://schemas.microsoft.com/office/drawing/2014/main" id="{A56B8419-29A5-4307-B258-38277CBAED01}"/>
              </a:ext>
            </a:extLst>
          </p:cNvPr>
          <p:cNvSpPr>
            <a:spLocks xmlns:a="http://schemas.openxmlformats.org/drawingml/2006/main" noGrp="1"/>
          </p:cNvSpPr>
          <p:nvPr/>
        </p:nvSpPr>
        <p:spPr>
          <a:xfrm xmlns:a="http://schemas.openxmlformats.org/drawingml/2006/main">
            <a:off x="819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Silver 계약</a:t>
            </a:r>
          </a:p>
        </p:txBody>
      </p:sp>
      <p:sp>
        <p:nvSpPr>
          <p:cNvPr id="20" name="s03-text-40">
            <a:extLst xmlns:a="http://schemas.openxmlformats.org/drawingml/2006/main">
              <a:ext uri="{FF2B5EF4-FFF2-40B4-BE49-F238E27FC236}">
                <a16:creationId xmlns:a16="http://schemas.microsoft.com/office/drawing/2014/main" id="{849CDED0-6089-41BB-95F2-613D94F0A165}"/>
              </a:ext>
            </a:extLst>
          </p:cNvPr>
          <p:cNvSpPr>
            <a:spLocks xmlns:a="http://schemas.openxmlformats.org/drawingml/2006/main" noGrp="1"/>
          </p:cNvSpPr>
          <p:nvPr/>
        </p:nvSpPr>
        <p:spPr>
          <a:xfrm xmlns:a="http://schemas.openxmlformats.org/drawingml/2006/main">
            <a:off x="819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한 행·키·순서</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삭제·입력 범위</a:t>
            </a:r>
          </a:p>
        </p:txBody>
      </p:sp>
      <p:sp>
        <p:nvSpPr>
          <p:cNvPr id="21" name="s03-panel-41">
            <a:extLst xmlns:a="http://schemas.openxmlformats.org/drawingml/2006/main">
              <a:ext uri="{FF2B5EF4-FFF2-40B4-BE49-F238E27FC236}">
                <a16:creationId xmlns:a16="http://schemas.microsoft.com/office/drawing/2014/main" id="{C95F1E3D-A1C5-40C0-AA5A-F92BCAFB334C}"/>
              </a:ext>
            </a:extLst>
          </p:cNvPr>
          <p:cNvSpPr>
            <a:spLocks xmlns:a="http://schemas.openxmlformats.org/drawingml/2006/main" noGrp="1"/>
          </p:cNvSpPr>
          <p:nvPr/>
        </p:nvSpPr>
        <p:spPr>
          <a:xfrm xmlns:a="http://schemas.openxmlformats.org/drawingml/2006/main">
            <a:off x="43561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2" name="s03-text-42">
            <a:extLst xmlns:a="http://schemas.openxmlformats.org/drawingml/2006/main">
              <a:ext uri="{FF2B5EF4-FFF2-40B4-BE49-F238E27FC236}">
                <a16:creationId xmlns:a16="http://schemas.microsoft.com/office/drawing/2014/main" id="{ABD1C8D6-6953-42DB-A1B2-C87696DBA1EA}"/>
              </a:ext>
            </a:extLst>
          </p:cNvPr>
          <p:cNvSpPr>
            <a:spLocks xmlns:a="http://schemas.openxmlformats.org/drawingml/2006/main" noGrp="1"/>
          </p:cNvSpPr>
          <p:nvPr/>
        </p:nvSpPr>
        <p:spPr>
          <a:xfrm xmlns:a="http://schemas.openxmlformats.org/drawingml/2006/main">
            <a:off x="45656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SQL과 검증</a:t>
            </a:r>
          </a:p>
        </p:txBody>
      </p:sp>
      <p:sp>
        <p:nvSpPr>
          <p:cNvPr id="23" name="s03-text-43">
            <a:extLst xmlns:a="http://schemas.openxmlformats.org/drawingml/2006/main">
              <a:ext uri="{FF2B5EF4-FFF2-40B4-BE49-F238E27FC236}">
                <a16:creationId xmlns:a16="http://schemas.microsoft.com/office/drawing/2014/main" id="{4DA1AB5A-70E7-4A2F-9050-B42060395635}"/>
              </a:ext>
            </a:extLst>
          </p:cNvPr>
          <p:cNvSpPr>
            <a:spLocks xmlns:a="http://schemas.openxmlformats.org/drawingml/2006/main" noGrp="1"/>
          </p:cNvSpPr>
          <p:nvPr/>
        </p:nvSpPr>
        <p:spPr>
          <a:xfrm xmlns:a="http://schemas.openxmlformats.org/drawingml/2006/main">
            <a:off x="45656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정규화·최신 후보</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MERGE·예상/실제</a:t>
            </a:r>
          </a:p>
        </p:txBody>
      </p:sp>
      <p:sp>
        <p:nvSpPr>
          <p:cNvPr id="24" name="s03-panel-44">
            <a:extLst xmlns:a="http://schemas.openxmlformats.org/drawingml/2006/main">
              <a:ext uri="{FF2B5EF4-FFF2-40B4-BE49-F238E27FC236}">
                <a16:creationId xmlns:a16="http://schemas.microsoft.com/office/drawing/2014/main" id="{C96F8D07-D0F2-4307-A8FE-634C00F663D7}"/>
              </a:ext>
            </a:extLst>
          </p:cNvPr>
          <p:cNvSpPr>
            <a:spLocks xmlns:a="http://schemas.openxmlformats.org/drawingml/2006/main" noGrp="1"/>
          </p:cNvSpPr>
          <p:nvPr/>
        </p:nvSpPr>
        <p:spPr>
          <a:xfrm xmlns:a="http://schemas.openxmlformats.org/drawingml/2006/main">
            <a:off x="8102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5" name="s03-text-45">
            <a:extLst xmlns:a="http://schemas.openxmlformats.org/drawingml/2006/main">
              <a:ext uri="{FF2B5EF4-FFF2-40B4-BE49-F238E27FC236}">
                <a16:creationId xmlns:a16="http://schemas.microsoft.com/office/drawing/2014/main" id="{0E444FC2-D9D7-485E-BE2E-439F8066A340}"/>
              </a:ext>
            </a:extLst>
          </p:cNvPr>
          <p:cNvSpPr>
            <a:spLocks xmlns:a="http://schemas.openxmlformats.org/drawingml/2006/main" noGrp="1"/>
          </p:cNvSpPr>
          <p:nvPr/>
        </p:nvSpPr>
        <p:spPr>
          <a:xfrm xmlns:a="http://schemas.openxmlformats.org/drawingml/2006/main">
            <a:off x="8312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4D399"/>
                </a:solidFill>
                <a:latin typeface="Apple SD Gothic Neo"/>
                <a:ea typeface="Apple SD Gothic Neo"/>
                <a:cs typeface="Apple SD Gothic Neo"/>
              </a:defRPr>
            </a:defPPr>
            <a:lvl1pPr algn="l">
              <a:buNone/>
              <a:defRPr sz="2100" b="1">
                <a:solidFill>
                  <a:srgbClr val="34D399"/>
                </a:solidFill>
                <a:latin typeface="Apple SD Gothic Neo"/>
                <a:ea typeface="Apple SD Gothic Neo"/>
                <a:cs typeface="Apple SD Gothic Neo"/>
              </a:defRPr>
            </a:lvl1pPr>
            <a:lvl2pPr algn="l">
              <a:buNone/>
              <a:defRPr sz="2100" b="1">
                <a:solidFill>
                  <a:srgbClr val="34D399"/>
                </a:solidFill>
                <a:latin typeface="Apple SD Gothic Neo"/>
                <a:ea typeface="Apple SD Gothic Neo"/>
                <a:cs typeface="Apple SD Gothic Neo"/>
              </a:defRPr>
            </a:lvl2pPr>
            <a:lvl3pPr algn="l">
              <a:buNone/>
              <a:defRPr sz="2100" b="1">
                <a:solidFill>
                  <a:srgbClr val="34D399"/>
                </a:solidFill>
                <a:latin typeface="Apple SD Gothic Neo"/>
                <a:ea typeface="Apple SD Gothic Neo"/>
                <a:cs typeface="Apple SD Gothic Neo"/>
              </a:defRPr>
            </a:lvl3pPr>
            <a:lvl4pPr algn="l">
              <a:buNone/>
              <a:defRPr sz="2100" b="1">
                <a:solidFill>
                  <a:srgbClr val="34D399"/>
                </a:solidFill>
                <a:latin typeface="Apple SD Gothic Neo"/>
                <a:ea typeface="Apple SD Gothic Neo"/>
                <a:cs typeface="Apple SD Gothic Neo"/>
              </a:defRPr>
            </a:lvl4pPr>
            <a:lvl5pPr algn="l">
              <a:buNone/>
              <a:defRPr sz="2100" b="1">
                <a:solidFill>
                  <a:srgbClr val="34D399"/>
                </a:solidFill>
                <a:latin typeface="Apple SD Gothic Neo"/>
                <a:ea typeface="Apple SD Gothic Neo"/>
                <a:cs typeface="Apple SD Gothic Neo"/>
              </a:defRPr>
            </a:lvl5pPr>
            <a:lvl6pPr algn="l">
              <a:buNone/>
              <a:defRPr sz="2100" b="1">
                <a:solidFill>
                  <a:srgbClr val="34D399"/>
                </a:solidFill>
                <a:latin typeface="Apple SD Gothic Neo"/>
                <a:ea typeface="Apple SD Gothic Neo"/>
                <a:cs typeface="Apple SD Gothic Neo"/>
              </a:defRPr>
            </a:lvl6pPr>
            <a:lvl7pPr algn="l">
              <a:buNone/>
              <a:defRPr sz="2100" b="1">
                <a:solidFill>
                  <a:srgbClr val="34D399"/>
                </a:solidFill>
                <a:latin typeface="Apple SD Gothic Neo"/>
                <a:ea typeface="Apple SD Gothic Neo"/>
                <a:cs typeface="Apple SD Gothic Neo"/>
              </a:defRPr>
            </a:lvl7pPr>
            <a:lvl8pPr algn="l">
              <a:buNone/>
              <a:defRPr sz="2100" b="1">
                <a:solidFill>
                  <a:srgbClr val="34D399"/>
                </a:solidFill>
                <a:latin typeface="Apple SD Gothic Neo"/>
                <a:ea typeface="Apple SD Gothic Neo"/>
                <a:cs typeface="Apple SD Gothic Neo"/>
              </a:defRPr>
            </a:lvl8pPr>
            <a:lvl9pPr algn="l">
              <a:buNone/>
              <a:defRPr sz="2100" b="1">
                <a:solidFill>
                  <a:srgbClr val="34D399"/>
                </a:solidFill>
                <a:latin typeface="Apple SD Gothic Neo"/>
                <a:ea typeface="Apple SD Gothic Neo"/>
                <a:cs typeface="Apple SD Gothic Neo"/>
              </a:defRPr>
            </a:lvl9pPr>
          </a:lstStyle>
          <a:p xmlns:a="http://schemas.openxmlformats.org/drawingml/2006/main">
            <a:pPr algn="l">
              <a:buNone/>
              <a:defRPr sz="2100" b="1">
                <a:solidFill>
                  <a:srgbClr val="34D399"/>
                </a:solidFill>
                <a:latin typeface="Apple SD Gothic Neo"/>
                <a:ea typeface="Apple SD Gothic Neo"/>
                <a:cs typeface="Apple SD Gothic Neo"/>
              </a:defRPr>
            </a:pPr>
            <a:r>
              <a:rPr sz="2100" b="1">
                <a:solidFill>
                  <a:srgbClr val="34D399"/>
                </a:solidFill>
                <a:latin typeface="Apple SD Gothic Neo"/>
                <a:ea typeface="Apple SD Gothic Neo"/>
                <a:cs typeface="Apple SD Gothic Neo"/>
              </a:rPr>
              <a:t>다음 5회차</a:t>
            </a:r>
          </a:p>
        </p:txBody>
      </p:sp>
      <p:sp>
        <p:nvSpPr>
          <p:cNvPr id="26" name="s03-text-46">
            <a:extLst xmlns:a="http://schemas.openxmlformats.org/drawingml/2006/main">
              <a:ext uri="{FF2B5EF4-FFF2-40B4-BE49-F238E27FC236}">
                <a16:creationId xmlns:a16="http://schemas.microsoft.com/office/drawing/2014/main" id="{6AE703BE-E880-4D0A-87CF-70D1569B89D1}"/>
              </a:ext>
            </a:extLst>
          </p:cNvPr>
          <p:cNvSpPr>
            <a:spLocks xmlns:a="http://schemas.openxmlformats.org/drawingml/2006/main" noGrp="1"/>
          </p:cNvSpPr>
          <p:nvPr/>
        </p:nvSpPr>
        <p:spPr>
          <a:xfrm xmlns:a="http://schemas.openxmlformats.org/drawingml/2006/main">
            <a:off x="8312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dbt Gold 모델</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지표와 품질 테스트</a:t>
            </a:r>
          </a:p>
        </p:txBody>
      </p:sp>
      <p:sp>
        <p:nvSpPr>
          <p:cNvPr id="27" name="s03-panel-47">
            <a:extLst xmlns:a="http://schemas.openxmlformats.org/drawingml/2006/main">
              <a:ext uri="{FF2B5EF4-FFF2-40B4-BE49-F238E27FC236}">
                <a16:creationId xmlns:a16="http://schemas.microsoft.com/office/drawing/2014/main" id="{39198901-CF90-42FA-B755-AF757D9692A9}"/>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8" name="s03-text-48">
            <a:extLst xmlns:a="http://schemas.openxmlformats.org/drawingml/2006/main">
              <a:ext uri="{FF2B5EF4-FFF2-40B4-BE49-F238E27FC236}">
                <a16:creationId xmlns:a16="http://schemas.microsoft.com/office/drawing/2014/main" id="{C9057E26-398A-4E73-88DA-C9798DEECCC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결과 행의 업무 멱등성과 snapshot·파일 쓰기를 구분해 설명합니다</a:t>
            </a:r>
          </a:p>
        </p:txBody>
      </p:sp>
    </p:spTree>
    <p:extLst>
      <p:ext uri="{BB962C8B-B14F-4D97-AF65-F5344CB8AC3E}">
        <p14:creationId xmlns:p14="http://schemas.microsoft.com/office/powerpoint/2010/main" val="602725031"/>
      </p:ext>
    </p:extLst>
  </p:cSld>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pic>
        <p:nvPicPr>
          <p:cNvPr id="2" name="Silver 스키마 설계 그림" descr="schema-desig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2026-10-25T15:49:58.0870000Z</dcterms:created>
  <dcterms:modified xsi:type="dcterms:W3CDTF">2026-10-25T15:49:58.0870000Z</dcterms:modified>
</coreProperties>
</file>